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138e0b91a8426b" /><Relationship Type="http://schemas.openxmlformats.org/officeDocument/2006/relationships/extended-properties" Target="/docProps/app.xml" Id="R019fcc340fb2486a" /><Relationship Type="http://schemas.openxmlformats.org/officeDocument/2006/relationships/officeDocument" Target="/ppt/presentation.xml" Id="R3c74ddcd0c484d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5edec18b44d6f"/>
  </p:sldMasterIdLst>
  <p:notesMasterIdLst>
    <p:notesMasterId xmlns:r="http://schemas.openxmlformats.org/officeDocument/2006/relationships" r:id="R8fae25ee67eb4d77"/>
  </p:notesMasterIdLst>
  <p:sldIdLst>
    <p:sldId xmlns:r="http://schemas.openxmlformats.org/officeDocument/2006/relationships" id="256" r:id="Re022aa86800a4238"/>
    <p:sldId xmlns:r="http://schemas.openxmlformats.org/officeDocument/2006/relationships" id="257" r:id="R2f789da1920e4c61"/>
    <p:sldId xmlns:r="http://schemas.openxmlformats.org/officeDocument/2006/relationships" id="258" r:id="Rc8119d0d4f9e4f9d"/>
    <p:sldId xmlns:r="http://schemas.openxmlformats.org/officeDocument/2006/relationships" id="259" r:id="Re13b27453d454af3"/>
    <p:sldId xmlns:r="http://schemas.openxmlformats.org/officeDocument/2006/relationships" id="260" r:id="Ra8dd422fb50147aa"/>
    <p:sldId xmlns:r="http://schemas.openxmlformats.org/officeDocument/2006/relationships" id="261" r:id="Rbeef1fc852dc47c9"/>
    <p:sldId xmlns:r="http://schemas.openxmlformats.org/officeDocument/2006/relationships" id="262" r:id="Rff31f544150a4d1f"/>
    <p:sldId xmlns:r="http://schemas.openxmlformats.org/officeDocument/2006/relationships" id="263" r:id="R835d4d01dfff4c24"/>
    <p:sldId xmlns:r="http://schemas.openxmlformats.org/officeDocument/2006/relationships" id="264" r:id="R566f6844cbdb487d"/>
    <p:sldId xmlns:r="http://schemas.openxmlformats.org/officeDocument/2006/relationships" id="265" r:id="Rb97d1e2340e94181"/>
    <p:sldId xmlns:r="http://schemas.openxmlformats.org/officeDocument/2006/relationships" id="266" r:id="R393ed58211184e2b"/>
    <p:sldId xmlns:r="http://schemas.openxmlformats.org/officeDocument/2006/relationships" id="267" r:id="R3051458988254d17"/>
    <p:sldId xmlns:r="http://schemas.openxmlformats.org/officeDocument/2006/relationships" id="268" r:id="R355c4d565dc6435b"/>
    <p:sldId xmlns:r="http://schemas.openxmlformats.org/officeDocument/2006/relationships" id="269" r:id="Rb7748389cb3d4a7a"/>
    <p:sldId xmlns:r="http://schemas.openxmlformats.org/officeDocument/2006/relationships" id="270" r:id="R1a473fba95604e2f"/>
    <p:sldId xmlns:r="http://schemas.openxmlformats.org/officeDocument/2006/relationships" id="271" r:id="Rd8a190783df44470"/>
    <p:sldId xmlns:r="http://schemas.openxmlformats.org/officeDocument/2006/relationships" id="272" r:id="Rfacab8e4e72b401e"/>
    <p:sldId xmlns:r="http://schemas.openxmlformats.org/officeDocument/2006/relationships" id="273" r:id="R0a14a80cd5b44f50"/>
    <p:sldId xmlns:r="http://schemas.openxmlformats.org/officeDocument/2006/relationships" id="274" r:id="R8cfdfe3bc985406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943304e72c4e60" /><Relationship Type="http://schemas.openxmlformats.org/officeDocument/2006/relationships/slideMaster" Target="/ppt/slideMasters/slideMaster1.xml" Id="R3225edec18b44d6f" /><Relationship Type="http://schemas.openxmlformats.org/officeDocument/2006/relationships/notesMaster" Target="/ppt/notesMasters/notesMaster1.xml" Id="R8fae25ee67eb4d77" /><Relationship Type="http://schemas.openxmlformats.org/officeDocument/2006/relationships/presProps" Target="/ppt/presProps.xml" Id="R6f34a6f62d6d4824" /><Relationship Type="http://schemas.openxmlformats.org/officeDocument/2006/relationships/tableStyles" Target="/ppt/tableStyles.xml" Id="R0f9a5f21391e449d" /><Relationship Type="http://schemas.openxmlformats.org/officeDocument/2006/relationships/slide" Target="/ppt/slides/slide1.xml" Id="Re022aa86800a4238" /><Relationship Type="http://schemas.openxmlformats.org/officeDocument/2006/relationships/slide" Target="/ppt/slides/slide2.xml" Id="R2f789da1920e4c61" /><Relationship Type="http://schemas.openxmlformats.org/officeDocument/2006/relationships/slide" Target="/ppt/slides/slide3.xml" Id="Rc8119d0d4f9e4f9d" /><Relationship Type="http://schemas.openxmlformats.org/officeDocument/2006/relationships/slide" Target="/ppt/slides/slide4.xml" Id="Re13b27453d454af3" /><Relationship Type="http://schemas.openxmlformats.org/officeDocument/2006/relationships/slide" Target="/ppt/slides/slide5.xml" Id="Ra8dd422fb50147aa" /><Relationship Type="http://schemas.openxmlformats.org/officeDocument/2006/relationships/slide" Target="/ppt/slides/slide6.xml" Id="Rbeef1fc852dc47c9" /><Relationship Type="http://schemas.openxmlformats.org/officeDocument/2006/relationships/slide" Target="/ppt/slides/slide7.xml" Id="Rff31f544150a4d1f" /><Relationship Type="http://schemas.openxmlformats.org/officeDocument/2006/relationships/slide" Target="/ppt/slides/slide8.xml" Id="R835d4d01dfff4c24" /><Relationship Type="http://schemas.openxmlformats.org/officeDocument/2006/relationships/slide" Target="/ppt/slides/slide9.xml" Id="R566f6844cbdb487d" /><Relationship Type="http://schemas.openxmlformats.org/officeDocument/2006/relationships/slide" Target="/ppt/slides/slide10.xml" Id="Rb97d1e2340e94181" /><Relationship Type="http://schemas.openxmlformats.org/officeDocument/2006/relationships/slide" Target="/ppt/slides/slide11.xml" Id="R393ed58211184e2b" /><Relationship Type="http://schemas.openxmlformats.org/officeDocument/2006/relationships/slide" Target="/ppt/slides/slide12.xml" Id="R3051458988254d17" /><Relationship Type="http://schemas.openxmlformats.org/officeDocument/2006/relationships/slide" Target="/ppt/slides/slide13.xml" Id="R355c4d565dc6435b" /><Relationship Type="http://schemas.openxmlformats.org/officeDocument/2006/relationships/slide" Target="/ppt/slides/slide14.xml" Id="Rb7748389cb3d4a7a" /><Relationship Type="http://schemas.openxmlformats.org/officeDocument/2006/relationships/slide" Target="/ppt/slides/slide15.xml" Id="R1a473fba95604e2f" /><Relationship Type="http://schemas.openxmlformats.org/officeDocument/2006/relationships/slide" Target="/ppt/slides/slide16.xml" Id="Rd8a190783df44470" /><Relationship Type="http://schemas.openxmlformats.org/officeDocument/2006/relationships/slide" Target="/ppt/slides/slide17.xml" Id="Rfacab8e4e72b401e" /><Relationship Type="http://schemas.openxmlformats.org/officeDocument/2006/relationships/slide" Target="/ppt/slides/slide18.xml" Id="R0a14a80cd5b44f50" /><Relationship Type="http://schemas.openxmlformats.org/officeDocument/2006/relationships/slide" Target="/ppt/slides/slide19.xml" Id="R8cfdfe3bc98540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3809655158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6ffc6d1a5f4c6b" /><Relationship Type="http://schemas.openxmlformats.org/officeDocument/2006/relationships/notesMaster" Target="/ppt/notesMasters/notesMaster1.xml" Id="Rcbf7ef0f22f24e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b496e604bb4e4f" /><Relationship Type="http://schemas.openxmlformats.org/officeDocument/2006/relationships/notesMaster" Target="/ppt/notesMasters/notesMaster1.xml" Id="R848f7252d65a40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203699895a48b6" /><Relationship Type="http://schemas.openxmlformats.org/officeDocument/2006/relationships/notesMaster" Target="/ppt/notesMasters/notesMaster1.xml" Id="R9e04c590f3ca44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b0596b27184a01" /><Relationship Type="http://schemas.openxmlformats.org/officeDocument/2006/relationships/notesMaster" Target="/ppt/notesMasters/notesMaster1.xml" Id="R00404b9815f649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be4b5dd2db467a" /><Relationship Type="http://schemas.openxmlformats.org/officeDocument/2006/relationships/notesMaster" Target="/ppt/notesMasters/notesMaster1.xml" Id="R8621a6f7e98448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6249154b824b3c" /><Relationship Type="http://schemas.openxmlformats.org/officeDocument/2006/relationships/notesMaster" Target="/ppt/notesMasters/notesMaster1.xml" Id="R0819d8fe2bcb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7efefc8de84a2e" /><Relationship Type="http://schemas.openxmlformats.org/officeDocument/2006/relationships/notesMaster" Target="/ppt/notesMasters/notesMaster1.xml" Id="R90dea185b36147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1ccf484e3944b3" /><Relationship Type="http://schemas.openxmlformats.org/officeDocument/2006/relationships/notesMaster" Target="/ppt/notesMasters/notesMaster1.xml" Id="R39c9b17c8bca40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eecae90bfb46c7" /><Relationship Type="http://schemas.openxmlformats.org/officeDocument/2006/relationships/notesMaster" Target="/ppt/notesMasters/notesMaster1.xml" Id="R0c23ecb7809242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878325134b4140" /><Relationship Type="http://schemas.openxmlformats.org/officeDocument/2006/relationships/notesMaster" Target="/ppt/notesMasters/notesMaster1.xml" Id="R14d3868f8bdd45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055cecefe44177" /><Relationship Type="http://schemas.openxmlformats.org/officeDocument/2006/relationships/notesMaster" Target="/ppt/notesMasters/notesMaster1.xml" Id="R27a7fc225a6c42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037c9970784b48" /><Relationship Type="http://schemas.openxmlformats.org/officeDocument/2006/relationships/notesMaster" Target="/ppt/notesMasters/notesMaster1.xml" Id="R88bf961c15c14f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d34f59a2c34185" /><Relationship Type="http://schemas.openxmlformats.org/officeDocument/2006/relationships/notesMaster" Target="/ppt/notesMasters/notesMaster1.xml" Id="R06b3929cdc3f41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4ff948045b4311" /><Relationship Type="http://schemas.openxmlformats.org/officeDocument/2006/relationships/notesMaster" Target="/ppt/notesMasters/notesMaster1.xml" Id="R4416d15a777347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26c44c953d4321" /><Relationship Type="http://schemas.openxmlformats.org/officeDocument/2006/relationships/notesMaster" Target="/ppt/notesMasters/notesMaster1.xml" Id="R279313a167e542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2df003615d4375" /><Relationship Type="http://schemas.openxmlformats.org/officeDocument/2006/relationships/notesMaster" Target="/ppt/notesMasters/notesMaster1.xml" Id="Rc5107d8d15f948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35791934224cab" /><Relationship Type="http://schemas.openxmlformats.org/officeDocument/2006/relationships/notesMaster" Target="/ppt/notesMasters/notesMaster1.xml" Id="R4c482b7a9fe141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8d65e5e8cb4295" /><Relationship Type="http://schemas.openxmlformats.org/officeDocument/2006/relationships/notesMaster" Target="/ppt/notesMasters/notesMaster1.xml" Id="Re86aa4b50fbc4b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a581cb00c04d55" /><Relationship Type="http://schemas.openxmlformats.org/officeDocument/2006/relationships/notesMaster" Target="/ppt/notesMasters/notesMaster1.xml" Id="R6d6b200a567a4c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开场不念长标题。我的研究关注一个具体问题：我们往模型里增加一个输入变量时，它是否可能让原本达到要求的模型反而达不到要求？我希望保存这种失败的具体证据，再检验它能否帮助我们选择更小的特征集合。本次重点介绍研究设计，实验仍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用垃圾邮件解释输入、模型和目标。每封邮件是一行数据，词频、标点、大写统计是输入，是否垃圾邮件是标签。实际使用时我们希望减少输入采集和维护成本。但固定学习器在有限样本下训练时，增加或删除输入的效果取决于其他输入，不能只凭直觉。减少特征能否节省总成本仍需要把审计开销一起测量。本研究希望为删除测试提供可复查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C:/work/学校/A.SPBU/paper/ZhaoCHI/Paper/Master-mr2/MAJOR_REVISION_PROTOCOL.md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这一页限定问题。我要找的不是一个孤立的“坏变量”，而是一个可以复查的失败场景。输出包含哪个输入、与哪些其他输入组合、加入前后模型分数如何变化。所有实验都使用监督学习，分类和回归只是目标的两种类型。PCA成分可以作为分类器输入，随机采样和进化搜索可以选择输入，但这些步骤不会把预测任务切换成无监督学习或强化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只讲这一个数值例子。完整输入模型假设为0.90，取其95%得到门槛0.855。集合S训练的模型得分0.87，加入i重新训练后为0.84。除了输入集合之外，训练、验证和模型配置保持一致。这个由达标到不达标的变化，就是后面所有方法和实验围绕的证据。数字仅为教学示例，不是实验结果。必须强调，S可能只是完整输入的一部分，不能据此推出从完整集合删除i一定有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Illustrative utilities, not observed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这是整场答辩最重要的一页。按箭头走上排，再从右向左走下排。上排是审计：选一个变量i与上下文S，用两组输入分别训练相同类型的监督模型，检查有没有负向跨越门槛，保存可以复查的记录。有限预算下不断重复前三步。下排是独立的应用验证：把见证转化为一个待删除候选，交给没有参与候选选择的验证集，通过才采用，否则回到完整输入。最后在未用过的测试集上测压缩、预测损失和总成本。两排分别回答“发生过什么”和“是否值得采取行动”。下排属于计划中的决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合作博弈提供一种组织问题的语言：特征是参与者，输入集合是联盟，边际贡献是加入一个变量带来的变化。这里先把分数转成是否达标，再找所有上下文中最差的边际。出现从1到0的变化，最小值就是负一。经典Shapley或Banzhaf关注加权平均边际，本项目关注是否存在一个失败上下文。MinShap已有最小聚合思路，因此不把min本身说成首创。详细公式在附录，主讲只保留这条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Games.</a:t>
            </a:r>
          </a:p>
          <a:p xmlns:a="http://schemas.openxmlformats.org/drawingml/2006/main">
            <a:r>
              <a:t>Banzhaf (1965), Weighted Voting Doesn’t Work.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困难不在检查一对模型，而在输入组合太多。A先抽子集大小，再抽该大小内的子集。B使用训练侧互信息和相关结构引导候选上下文。两者只改变“去哪里找”，不会改变监督任务或判定标准。引导是否更有效是实验问题，不能因为使用了相关性就假定更好。找到负见证可以确认固定游戏中的这次失败；没有找到则可能是搜索遗漏。共同查询预算不等于共同实际耗时，因此还要测模型拟合和全流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按研究用途解释选择，而不是报六组数字。Abalone只有八个输入，我们可以检查所有组合，且提供回归任务。Madelon是有标签的合成分类数据，包含有信息变量、冗余和干扰，但生成角色不等于MinPPI真值。Spambase的词频和字符统计容易对应到实际输入。Fraud提供稀有正类任务，其28个PCA主成分加金额仍用于有标签监督分类。当前35个精确游戏只来自这四套数据；Gisette和ISOLET属于更广的原始基准范围，并未加入这35个游戏。完整样本量、变量构成与目标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§2–3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https://www.openml.org/api/v1/json/data/1597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这三项研究形成证据链，而不是三组互不相关的实验。第一层有精确参照，能判断发现是否充分，已经完成。第二层控制数据结构，解释为什么会漏，处于计划阶段。第三层独立验证删除收益，回答实际使用是否值得，也处于计划阶段。每层的结论都有边界，不能用第一层的结果替代第三层。项目内部对应E1、E2和E4，为答辩按研究问题顺序称Study1、2、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§6, §7,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八个输入共有256个子集，因此能计算完整参照。这是为什么使用小面板：我们需要知道漏了多少，而不是只展示几个找到的案例。A和B不能看到完整答案，只能按预算查询自己选的子集。最后才由评价程序与精确标签比较，主要看整个预算过程的召回。已经完成四数据集、七面板、五划分组成的35个固定游戏。这里的精确答案仅针对各八维面板，不能外推成原始高维任务的真值。没有有害输入时召回没有定义，仍保留这些案例，不挑更容易展示成功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真实数据看到差异后很难解释原因，所以第二项研究有目的地构造三个监督二分类机制。第一个是信号加无关变量，第二个增加带噪声的相关副本，第三个是两变量异或交互。仍然做完整枚举作为参照，再比较同预算A/B。每种五个预先固定实例，不根据结果换随机种子。这里“无关”或“冗余”是生成角色，不能直接当成有害标签。研究要检验这些结构如何改变见证和搜索难度，而不是预先假定任何一种一定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§22.3–23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第三项研究最接近实际使用价值。每个策略在选择验证集上只提交一个候选，再由独立gate判断是否满足事先设定的预测损失容忍度。通过采用候选，不通过回完整输入，不能反复试到通过。冻结决定后在非测试数据上重训，再测试。比较包括互信息、TreeSHAP、LOFO、RFE和由验证集选择这些候选的组合策略，主比较是MinPPI-A与该组合策略。公平性要求同一数据集内固定目标、划分、学习器、预处理规则、指标和容忍度，并纳入所有成本。分类AUC和回归R²分开解释，不能把其原始分数混合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果只讲三个认识。第一，35个小型游戏已完成，能够检查见证和遗漏。第二，当前这种B引导没有稳定优于随机A，不能包装成已证实的加速或优势。第三，是否值得删除还没有独立决策证据，因此接下来先做机制实验，再做独立删除实验。统计数字在附录，需要时回答。这里的负结果让我们更准确地限定算法适用条件，不推翻固定游戏中的见证定义。证据状态参考2026年9月26日台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§1–8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尾回到价值。希望交付的不只是一个重要性分数，而是一组可以核查的理由：哪个输入在什么组合下造成达标失败；有限预算搜索遗漏多少；采取删除行动是否值得其成本。前两者属于方法与发现评价，最后一项需要下一步实验支持。NSGA-II是未来把这种证据用于特征数量与预测表现权衡的可选应用，放在附录，当前不把它作为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§1, §7 and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备用页。固定数据、划分、预处理、学习器、随机种子、效用和配额才定义一个固定博弈。二分类ROC AUC，多分类macro OVR AUC，回归审计max(raw R²,0)，gate/test用raw R²。零值并非无预测价值。MinSS和MinBz在完整上下文支持上的最小值相等，这不表示经典加权指数相等。采样最小值不小于全域最小值，观察到负一足以证实固定游戏中的存在性，采样零或正一无法认证全局类别。改变任务或条件必须形成新实验与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最新证据日期为2026年9月26日。Study1为7面板×5划分，每游戏30对采样日程，共同边际查询上限800。该研究使用64/16/20划分，不访问test。召回面积先在同游戏平均日程，再到面板、数据集，最后四数据集等权；空有害集合保留覆盖率、召回为NA。Study3不可复用Study1效用表，独立gate需要重新定义数据角色。候选冻结后非测试80%重新拟合，预处理仍来自原64%训练。成本含指导、审计、选择、gate及最终refit。该页数值不能与旧高维实验混为同一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§7, §22–23</a:t>
            </a:r>
          </a:p>
          <a:p xmlns:a="http://schemas.openxmlformats.org/drawingml/2006/main">
            <a:r>
              <a:t>C:/work/学校/A.SPBU/paper/ZhaoCHI/Paper/Master-mr2/MR3_P3_FINDINGS.md §1–4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NSGA-II是进化多目标搜索方法，不是强化学习，也不是MinPPI必需组成。目标为保留特征比例|S|/p0和1-clip(U(S),0,1)，p0固定为过滤前维数。非支配解表达压缩与预测表现的折中。旧应用实验不能证明加上审计后必然加速，重新比较需要把审计和指导成本全部计入。当前核心路线先完成机制和独立删除决策，再决定是否扩展多目标搜索。相关理论来源：Shapley 1953，Banzhaf 1965，Lundberg &amp; Lee 2017，Zheng &amp; Raskutti 2026以及Deb et al. 2002。各页备注给出资料来源。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9ed022c27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f12b418b0408f" /><Relationship Type="http://schemas.openxmlformats.org/officeDocument/2006/relationships/slideLayout" Target="/ppt/slideLayouts/slideLayout1.xml" Id="R8217244b713f42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7244b713f42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229ba3d234675" /><Relationship Type="http://schemas.openxmlformats.org/officeDocument/2006/relationships/notesSlide" Target="/ppt/notesSlides/notesSlide1.xml" Id="R379db29d3df54b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64d4caf2c4044" /><Relationship Type="http://schemas.openxmlformats.org/officeDocument/2006/relationships/notesSlide" Target="/ppt/notesSlides/notesSlide2.xml" Id="R7a8c45ee4da447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9fece53bb46b6" /><Relationship Type="http://schemas.openxmlformats.org/officeDocument/2006/relationships/notesSlide" Target="/ppt/notesSlides/notesSlide3.xml" Id="Rfc6fd217a45d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6a5d14b3849ab" /><Relationship Type="http://schemas.openxmlformats.org/officeDocument/2006/relationships/notesSlide" Target="/ppt/notesSlides/notesSlide4.xml" Id="Rb6556335e3c84a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cee209fa4378" /><Relationship Type="http://schemas.openxmlformats.org/officeDocument/2006/relationships/notesSlide" Target="/ppt/notesSlides/notesSlide5.xml" Id="Re00aa78a3a7e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751ebde5f479e" /><Relationship Type="http://schemas.openxmlformats.org/officeDocument/2006/relationships/notesSlide" Target="/ppt/notesSlides/notesSlide6.xml" Id="Rcfe4bb4d3f9c43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7680282b74341" /><Relationship Type="http://schemas.openxmlformats.org/officeDocument/2006/relationships/notesSlide" Target="/ppt/notesSlides/notesSlide7.xml" Id="Rebed6b9b6a554d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253614d944818" /><Relationship Type="http://schemas.openxmlformats.org/officeDocument/2006/relationships/notesSlide" Target="/ppt/notesSlides/notesSlide8.xml" Id="R495139ba02dd4a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fecad239c4548" /><Relationship Type="http://schemas.openxmlformats.org/officeDocument/2006/relationships/notesSlide" Target="/ppt/notesSlides/notesSlide9.xml" Id="Rd62cdf6d9a6c47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6442e02754a89" /><Relationship Type="http://schemas.openxmlformats.org/officeDocument/2006/relationships/notesSlide" Target="/ppt/notesSlides/notesSlide10.xml" Id="R43a54cc06b7e4d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f5409187c4514" /><Relationship Type="http://schemas.openxmlformats.org/officeDocument/2006/relationships/notesSlide" Target="/ppt/notesSlides/notesSlide11.xml" Id="Rb756f0385d5448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5ea84714a4164" /><Relationship Type="http://schemas.openxmlformats.org/officeDocument/2006/relationships/notesSlide" Target="/ppt/notesSlides/notesSlide12.xml" Id="R2a5ce9f89aba4f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54944ee3b4d2c" /><Relationship Type="http://schemas.openxmlformats.org/officeDocument/2006/relationships/notesSlide" Target="/ppt/notesSlides/notesSlide13.xml" Id="Rdb4d4016d61a44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2f92dabe748d9" /><Relationship Type="http://schemas.openxmlformats.org/officeDocument/2006/relationships/notesSlide" Target="/ppt/notesSlides/notesSlide14.xml" Id="R00dc0f80943343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ea6ffdff84e0e" /><Relationship Type="http://schemas.openxmlformats.org/officeDocument/2006/relationships/notesSlide" Target="/ppt/notesSlides/notesSlide15.xml" Id="Rcabc988e3b2842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213bea49340e1" /><Relationship Type="http://schemas.openxmlformats.org/officeDocument/2006/relationships/notesSlide" Target="/ppt/notesSlides/notesSlide16.xml" Id="R1d3ba856984947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3ce98b3ea4c5b" /><Relationship Type="http://schemas.openxmlformats.org/officeDocument/2006/relationships/notesSlide" Target="/ppt/notesSlides/notesSlide17.xml" Id="R07cbc5de798c43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14dfac0c74994" /><Relationship Type="http://schemas.openxmlformats.org/officeDocument/2006/relationships/notesSlide" Target="/ppt/notesSlides/notesSlide18.xml" Id="R36edbc415f1c4b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41adcc0ed4ddc" /><Relationship Type="http://schemas.openxmlformats.org/officeDocument/2006/relationships/notesSlide" Target="/ppt/notesSlides/notesSlide19.xml" Id="Rd64ec391514e45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98530EB5-47B4-4B65-BE41-2DCBC6E0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70DC5CA-C6AE-4826-9610-B7B2F4A5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93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54B6575-61D4-4DD9-B29F-481582C0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71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AEBD0E1-99CC-4AB6-9185-B097AB19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When can an extra feature make a model worse?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1D0F134-363C-409E-8181-5E3B9CB6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77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2BE8C86-D37D-4332-B8B1-BA686DE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2500"/>
            <a:ext cx="609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42808F7-69AA-4613-85D3-0D93AB5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032500"/>
            <a:ext cx="5969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0AEC0DF-0DA4-4ED3-94B7-ECDC1789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5300"/>
            <a:ext cx="10160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</a:t>
            </a:r>
          </a:p>
        </p:txBody>
      </p:sp>
    </p:spTree>
    <p:extLst>
      <p:ext uri="{BB962C8B-B14F-4D97-AF65-F5344CB8AC3E}">
        <p14:creationId xmlns:p14="http://schemas.microsoft.com/office/powerpoint/2010/main" val="1324429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32AD3D93-0E29-4286-8E1E-B64BB9B9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feature selection needs evidence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B0EA3685-DF63-4882-8035-AE106656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717A140E-40F6-42F7-B660-F079CF62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5471DC01-7A5C-4C1B-AF1C-F22CBB8F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47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Example: a spam classifier uses many measurements of an email.</a:t>
            </a:r>
          </a:p>
        </p:txBody>
      </p:sp>
      <p:sp>
        <p:nvSpPr>
          <p:cNvPr id="5" name="stage-13">
            <a:extLst xmlns:a="http://schemas.openxmlformats.org/drawingml/2006/main">
              <a:ext uri="{FF2B5EF4-FFF2-40B4-BE49-F238E27FC236}">
                <a16:creationId xmlns:a16="http://schemas.microsoft.com/office/drawing/2014/main" id="{EFF395E5-49A8-4F88-835A-85D45E5F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3100"/>
            <a:ext cx="3937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FBAE5007-D03E-4142-8241-74EF960A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655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measurements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284ADF75-D82B-43B8-9713-526F9AE3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49700"/>
            <a:ext cx="3530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Word frequencies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Punctuation and capitals</a:t>
            </a:r>
          </a:p>
        </p:txBody>
      </p:sp>
      <p:sp>
        <p:nvSpPr>
          <p:cNvPr id="8" name="stage-16">
            <a:extLst xmlns:a="http://schemas.openxmlformats.org/drawingml/2006/main">
              <a:ext uri="{FF2B5EF4-FFF2-40B4-BE49-F238E27FC236}">
                <a16:creationId xmlns:a16="http://schemas.microsoft.com/office/drawing/2014/main" id="{FD0686A5-E78E-432D-BD6A-6710C9F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213100"/>
            <a:ext cx="3683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04D7649E-B43F-4A06-807F-18ED6122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5500"/>
            <a:ext cx="3276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a model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1564936E-2161-4211-9EA2-BB8C14D9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9700"/>
            <a:ext cx="3276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 from emails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with known labels</a:t>
            </a:r>
          </a:p>
        </p:txBody>
      </p:sp>
      <p:sp>
        <p:nvSpPr>
          <p:cNvPr id="11" name="stage-19">
            <a:extLst xmlns:a="http://schemas.openxmlformats.org/drawingml/2006/main">
              <a:ext uri="{FF2B5EF4-FFF2-40B4-BE49-F238E27FC236}">
                <a16:creationId xmlns:a16="http://schemas.microsoft.com/office/drawing/2014/main" id="{8E9B7892-D59A-4D26-BC92-1986695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13100"/>
            <a:ext cx="40005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9A75E979-53CE-4E3B-B514-5FBE35A0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365500"/>
            <a:ext cx="3594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F4DD68C7-563B-49CB-83FA-922B083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949700"/>
            <a:ext cx="35941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Spam or non-spam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99000" y="40830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3400" y="40830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8CEC1AD0-D4AD-4A62-856A-CBE7CAE0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469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reduce inputs?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FCC29084-7734-44F9-9892-8AEEAE28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549900"/>
            <a:ext cx="889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Less measurement and model cost. Fewer redundant inputs.</a:t>
            </a:r>
          </a:p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a smaller model must still meet the prediction requirement.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56C0F3A2-18A8-4D1E-8881-B982128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research need: an inspectable reason to test a feature for removal.</a:t>
            </a:r>
          </a:p>
        </p:txBody>
      </p:sp>
    </p:spTree>
    <p:extLst>
      <p:ext uri="{BB962C8B-B14F-4D97-AF65-F5344CB8AC3E}">
        <p14:creationId xmlns:p14="http://schemas.microsoft.com/office/powerpoint/2010/main" val="1493450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7479A7DD-80C4-4F1C-A735-1FC706B7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question and scope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303FE7FB-F2A6-4D72-A8F9-68AB714C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D4964630-53DD-4950-AD2D-3C6280B3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5661108E-B84E-4122-9C50-FE368D73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 we find a feature combination in which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adding one input breaks the performance requirement?</a:t>
            </a:r>
          </a:p>
        </p:txBody>
      </p:sp>
      <p:sp>
        <p:nvSpPr>
          <p:cNvPr id="5" name="rule-29">
            <a:extLst xmlns:a="http://schemas.openxmlformats.org/drawingml/2006/main">
              <a:ext uri="{FF2B5EF4-FFF2-40B4-BE49-F238E27FC236}">
                <a16:creationId xmlns:a16="http://schemas.microsoft.com/office/drawing/2014/main" id="{F56B4601-8C29-46E4-99F5-06FEAA87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B2734C81-7F6B-4FB5-B52D-F1E3211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4200"/>
            <a:ext cx="6540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What the method should provide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0E3C1AF9-4EDA-4C4F-867A-BAC87130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654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input involved, the other inputs present, and both model scores.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6EE9AA28-89F1-4EBF-AD34-8D1A5C8E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942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What must be tested separately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16F29684-31C0-4F69-B83F-D0922703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0927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Whether removing flagged inputs gives a useful smaller model.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4618C6A6-7A0E-49CC-AF96-0E28B18E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tasks remain supervised: labeled inputs predict a class or a numeric target.</a:t>
            </a:r>
          </a:p>
        </p:txBody>
      </p:sp>
    </p:spTree>
    <p:extLst>
      <p:ext uri="{BB962C8B-B14F-4D97-AF65-F5344CB8AC3E}">
        <p14:creationId xmlns:p14="http://schemas.microsoft.com/office/powerpoint/2010/main" val="281825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8D877C7C-C277-448A-ACA9-387797E6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example of the core idea</a:t>
            </a:r>
          </a:p>
        </p:txBody>
      </p:sp>
      <p:sp>
        <p:nvSpPr>
          <p:cNvPr id="2" name="rule-36">
            <a:extLst xmlns:a="http://schemas.openxmlformats.org/drawingml/2006/main">
              <a:ext uri="{FF2B5EF4-FFF2-40B4-BE49-F238E27FC236}">
                <a16:creationId xmlns:a16="http://schemas.microsoft.com/office/drawing/2014/main" id="{B92F35EA-B1C9-47D5-962F-1D052040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3F57E5EF-0F76-4F78-B678-5B6B879D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4AB9C4D8-10E8-44DC-B14C-0AB05F52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Illustration only. Minimum acceptable validation score: 0.855</a:t>
            </a:r>
          </a:p>
        </p:txBody>
      </p:sp>
      <p:sp>
        <p:nvSpPr>
          <p:cNvPr id="5" name="stage-39">
            <a:extLst xmlns:a="http://schemas.openxmlformats.org/drawingml/2006/main">
              <a:ext uri="{FF2B5EF4-FFF2-40B4-BE49-F238E27FC236}">
                <a16:creationId xmlns:a16="http://schemas.microsoft.com/office/drawing/2014/main" id="{2560B547-0DCF-45AD-93FC-6396618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E4F5FD1C-5A4B-4B24-967C-3784CC76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Model using a subset S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671A7129-2501-4FE4-A97A-A9934B1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0.87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Meets the requirement</a:t>
            </a:r>
          </a:p>
        </p:txBody>
      </p:sp>
      <p:sp>
        <p:nvSpPr>
          <p:cNvPr id="8" name="stage-42">
            <a:extLst xmlns:a="http://schemas.openxmlformats.org/drawingml/2006/main">
              <a:ext uri="{FF2B5EF4-FFF2-40B4-BE49-F238E27FC236}">
                <a16:creationId xmlns:a16="http://schemas.microsoft.com/office/drawing/2014/main" id="{8007D5CA-4626-4541-BF02-DB52254E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650720A6-825C-415B-B5BD-C0F11DE6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Model using S plus input i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02C1CCD1-09E1-4987-A194-4813FABF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0.84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Falls below the requirement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43688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BDA26B58-C80D-46C9-A26B-DDB99D4D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65500"/>
            <a:ext cx="25146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 input i</a:t>
            </a:r>
          </a:p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retrain</a:t>
            </a:r>
          </a:p>
        </p:txBody>
      </p:sp>
      <p:sp>
        <p:nvSpPr>
          <p:cNvPr id="13" name="text-46">
            <a:extLst xmlns:a="http://schemas.openxmlformats.org/drawingml/2006/main">
              <a:ext uri="{FF2B5EF4-FFF2-40B4-BE49-F238E27FC236}">
                <a16:creationId xmlns:a16="http://schemas.microsoft.com/office/drawing/2014/main" id="{9EA8104E-C15D-4F0B-A453-BCFFA5D6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Same training rows, learner settings and validation rows</a:t>
            </a:r>
          </a:p>
        </p:txBody>
      </p:sp>
      <p:sp>
        <p:nvSpPr>
          <p:cNvPr id="14" name="text-47">
            <a:extLst xmlns:a="http://schemas.openxmlformats.org/drawingml/2006/main">
              <a:ext uri="{FF2B5EF4-FFF2-40B4-BE49-F238E27FC236}">
                <a16:creationId xmlns:a16="http://schemas.microsoft.com/office/drawing/2014/main" id="{EC4727E0-1AD4-48BA-A190-EA12EC6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2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This pair is a witness: a concrete failure that another person can check.</a:t>
            </a:r>
          </a:p>
        </p:txBody>
      </p:sp>
      <p:sp>
        <p:nvSpPr>
          <p:cNvPr id="15" name="text-48">
            <a:extLst xmlns:a="http://schemas.openxmlformats.org/drawingml/2006/main">
              <a:ext uri="{FF2B5EF4-FFF2-40B4-BE49-F238E27FC236}">
                <a16:creationId xmlns:a16="http://schemas.microsoft.com/office/drawing/2014/main" id="{2478F554-2EB6-43CE-917C-8C40214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It motivates a deletion test. It does not prove that joint deletion will help.</a:t>
            </a:r>
          </a:p>
        </p:txBody>
      </p:sp>
    </p:spTree>
    <p:extLst>
      <p:ext uri="{BB962C8B-B14F-4D97-AF65-F5344CB8AC3E}">
        <p14:creationId xmlns:p14="http://schemas.microsoft.com/office/powerpoint/2010/main" val="1675838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49">
            <a:extLst xmlns:a="http://schemas.openxmlformats.org/drawingml/2006/main">
              <a:ext uri="{FF2B5EF4-FFF2-40B4-BE49-F238E27FC236}">
                <a16:creationId xmlns:a16="http://schemas.microsoft.com/office/drawing/2014/main" id="{633E706C-E20E-44C0-9B30-868C46FF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rule-50">
            <a:extLst xmlns:a="http://schemas.openxmlformats.org/drawingml/2006/main">
              <a:ext uri="{FF2B5EF4-FFF2-40B4-BE49-F238E27FC236}">
                <a16:creationId xmlns:a16="http://schemas.microsoft.com/office/drawing/2014/main" id="{37A6F195-F681-4858-8209-5BBA1EF7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2C773768-8A13-409F-BD33-1D9EFBC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52">
            <a:extLst xmlns:a="http://schemas.openxmlformats.org/drawingml/2006/main">
              <a:ext uri="{FF2B5EF4-FFF2-40B4-BE49-F238E27FC236}">
                <a16:creationId xmlns:a16="http://schemas.microsoft.com/office/drawing/2014/main" id="{F6A3D941-A079-45B5-AF6A-0BF8F4B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Fixed supervised task: labeled data, learner, split and performance requirement</a:t>
            </a:r>
          </a:p>
        </p:txBody>
      </p:sp>
      <p:sp>
        <p:nvSpPr>
          <p:cNvPr id="5" name="stage-53">
            <a:extLst xmlns:a="http://schemas.openxmlformats.org/drawingml/2006/main">
              <a:ext uri="{FF2B5EF4-FFF2-40B4-BE49-F238E27FC236}">
                <a16:creationId xmlns:a16="http://schemas.microsoft.com/office/drawing/2014/main" id="{55025544-F313-4AA2-809F-5529CABD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D5AF1863-6EB4-413D-BB4A-39C7F73E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1. Choose a context</a:t>
            </a:r>
          </a:p>
        </p:txBody>
      </p:sp>
      <p:sp>
        <p:nvSpPr>
          <p:cNvPr id="7" name="text-55">
            <a:extLst xmlns:a="http://schemas.openxmlformats.org/drawingml/2006/main">
              <a:ext uri="{FF2B5EF4-FFF2-40B4-BE49-F238E27FC236}">
                <a16:creationId xmlns:a16="http://schemas.microsoft.com/office/drawing/2014/main" id="{DDE89802-BBE0-4ADD-9EE1-7789D2FB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 input i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 inputs S</a:t>
            </a:r>
          </a:p>
        </p:txBody>
      </p:sp>
      <p:sp>
        <p:nvSpPr>
          <p:cNvPr id="8" name="stage-56">
            <a:extLst xmlns:a="http://schemas.openxmlformats.org/drawingml/2006/main">
              <a:ext uri="{FF2B5EF4-FFF2-40B4-BE49-F238E27FC236}">
                <a16:creationId xmlns:a16="http://schemas.microsoft.com/office/drawing/2014/main" id="{7190FB57-C77E-4A09-B469-85A86368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4500"/>
            <a:ext cx="4127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025AB9D7-A47A-42F8-9398-7A8A6647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1369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Test the addition</a:t>
            </a:r>
          </a:p>
        </p:txBody>
      </p:sp>
      <p:sp>
        <p:nvSpPr>
          <p:cNvPr id="10" name="text-58">
            <a:extLst xmlns:a="http://schemas.openxmlformats.org/drawingml/2006/main">
              <a:ext uri="{FF2B5EF4-FFF2-40B4-BE49-F238E27FC236}">
                <a16:creationId xmlns:a16="http://schemas.microsoft.com/office/drawing/2014/main" id="{A8D3737D-9105-45E6-8EBC-05516768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721100"/>
            <a:ext cx="3721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on S and on S+i.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validation scores.</a:t>
            </a:r>
          </a:p>
        </p:txBody>
      </p:sp>
      <p:sp>
        <p:nvSpPr>
          <p:cNvPr id="11" name="stage-59">
            <a:extLst xmlns:a="http://schemas.openxmlformats.org/drawingml/2006/main">
              <a:ext uri="{FF2B5EF4-FFF2-40B4-BE49-F238E27FC236}">
                <a16:creationId xmlns:a16="http://schemas.microsoft.com/office/drawing/2014/main" id="{B15D51B6-2F07-4974-99B9-4000332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9E38828B-E301-4508-A8D0-980BE748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3. Record failures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D709BB7B-E14B-4BF0-A65F-275FCAA2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Save only pass-to-fail: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i, S, scores and threshold.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3981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90100" y="39814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62">
            <a:extLst xmlns:a="http://schemas.openxmlformats.org/drawingml/2006/main">
              <a:ext uri="{FF2B5EF4-FFF2-40B4-BE49-F238E27FC236}">
                <a16:creationId xmlns:a16="http://schemas.microsoft.com/office/drawing/2014/main" id="{85AF48DC-0920-4D25-ACB5-7E49C6D1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FEATURE AUDIT</a:t>
            </a:r>
          </a:p>
        </p:txBody>
      </p:sp>
      <p:sp>
        <p:nvSpPr>
          <p:cNvPr id="17" name="stage-63">
            <a:extLst xmlns:a="http://schemas.openxmlformats.org/drawingml/2006/main">
              <a:ext uri="{FF2B5EF4-FFF2-40B4-BE49-F238E27FC236}">
                <a16:creationId xmlns:a16="http://schemas.microsoft.com/office/drawing/2014/main" id="{5A9248A4-CF75-4567-826B-FD8D7B56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8" name="text-64">
            <a:extLst xmlns:a="http://schemas.openxmlformats.org/drawingml/2006/main">
              <a:ext uri="{FF2B5EF4-FFF2-40B4-BE49-F238E27FC236}">
                <a16:creationId xmlns:a16="http://schemas.microsoft.com/office/drawing/2014/main" id="{9AAECA3C-AFD3-48E0-95C8-3651FD8D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4. Propose removal</a:t>
            </a:r>
          </a:p>
        </p:txBody>
      </p:sp>
      <p:sp>
        <p:nvSpPr>
          <p:cNvPr id="19" name="text-65">
            <a:extLst xmlns:a="http://schemas.openxmlformats.org/drawingml/2006/main">
              <a:ext uri="{FF2B5EF4-FFF2-40B4-BE49-F238E27FC236}">
                <a16:creationId xmlns:a16="http://schemas.microsoft.com/office/drawing/2014/main" id="{008A7CA4-9C25-44D4-A4D3-1733EEC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one candidate.</a:t>
            </a:r>
          </a:p>
        </p:txBody>
      </p:sp>
      <p:sp>
        <p:nvSpPr>
          <p:cNvPr id="20" name="stage-66">
            <a:extLst xmlns:a="http://schemas.openxmlformats.org/drawingml/2006/main">
              <a:ext uri="{FF2B5EF4-FFF2-40B4-BE49-F238E27FC236}">
                <a16:creationId xmlns:a16="http://schemas.microsoft.com/office/drawing/2014/main" id="{5CEB7A2A-19BA-4A97-8770-864FA7A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70600"/>
            <a:ext cx="4127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1" name="text-67">
            <a:extLst xmlns:a="http://schemas.openxmlformats.org/drawingml/2006/main">
              <a:ext uri="{FF2B5EF4-FFF2-40B4-BE49-F238E27FC236}">
                <a16:creationId xmlns:a16="http://schemas.microsoft.com/office/drawing/2014/main" id="{8073229A-8C0D-41D0-A292-97EBC6B6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2230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5. Independent check</a:t>
            </a:r>
          </a:p>
        </p:txBody>
      </p:sp>
      <p:sp>
        <p:nvSpPr>
          <p:cNvPr id="22" name="text-68">
            <a:extLst xmlns:a="http://schemas.openxmlformats.org/drawingml/2006/main">
              <a:ext uri="{FF2B5EF4-FFF2-40B4-BE49-F238E27FC236}">
                <a16:creationId xmlns:a16="http://schemas.microsoft.com/office/drawing/2014/main" id="{0291F047-4C98-4054-AA44-EEB73BCE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807200"/>
            <a:ext cx="3721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it or keep all inputs.</a:t>
            </a:r>
          </a:p>
        </p:txBody>
      </p:sp>
      <p:sp>
        <p:nvSpPr>
          <p:cNvPr id="23" name="stage-69">
            <a:extLst xmlns:a="http://schemas.openxmlformats.org/drawingml/2006/main">
              <a:ext uri="{FF2B5EF4-FFF2-40B4-BE49-F238E27FC236}">
                <a16:creationId xmlns:a16="http://schemas.microsoft.com/office/drawing/2014/main" id="{625FF8A5-7EE2-459E-9D36-ED28A604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4" name="text-70">
            <a:extLst xmlns:a="http://schemas.openxmlformats.org/drawingml/2006/main">
              <a:ext uri="{FF2B5EF4-FFF2-40B4-BE49-F238E27FC236}">
                <a16:creationId xmlns:a16="http://schemas.microsoft.com/office/drawing/2014/main" id="{A8C92A65-EEA6-47C6-93F6-0C9AA7A1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6. Held-out test</a:t>
            </a:r>
          </a:p>
        </p:txBody>
      </p:sp>
      <p:sp>
        <p:nvSpPr>
          <p:cNvPr id="25" name="text-71">
            <a:extLst xmlns:a="http://schemas.openxmlformats.org/drawingml/2006/main">
              <a:ext uri="{FF2B5EF4-FFF2-40B4-BE49-F238E27FC236}">
                <a16:creationId xmlns:a16="http://schemas.microsoft.com/office/drawing/2014/main" id="{B96086B1-F0A3-4DE9-98C8-19D90F1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size, loss and cost.</a:t>
            </a:r>
          </a:p>
        </p:txBody>
      </p:sp>
      <p:cxnSp>
        <p:nvCxnSpPr>
          <p:cNvPr id="56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668250" y="4978400"/>
            <a:ext cx="0" cy="1092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90100" y="68008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381500" y="6800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9" name="text-72">
            <a:extLst xmlns:a="http://schemas.openxmlformats.org/drawingml/2006/main">
              <a:ext uri="{FF2B5EF4-FFF2-40B4-BE49-F238E27FC236}">
                <a16:creationId xmlns:a16="http://schemas.microsoft.com/office/drawing/2014/main" id="{76EB0AD4-CB21-47E9-B9CF-E026D2FC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0800"/>
            <a:ext cx="914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Repeat the audit within a fixed query budget.</a:t>
            </a:r>
          </a:p>
        </p:txBody>
      </p:sp>
      <p:sp>
        <p:nvSpPr>
          <p:cNvPr id="30" name="text-73">
            <a:extLst xmlns:a="http://schemas.openxmlformats.org/drawingml/2006/main">
              <a:ext uri="{FF2B5EF4-FFF2-40B4-BE49-F238E27FC236}">
                <a16:creationId xmlns:a16="http://schemas.microsoft.com/office/drawing/2014/main" id="{454B8347-3FD6-41AE-A601-6D013BC7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6100"/>
            <a:ext cx="863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PLANNED DELETION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414504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3620A31C-0538-4D86-A912-60124C1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theory behind MinPPI</a:t>
            </a:r>
          </a:p>
        </p:txBody>
      </p:sp>
      <p:sp>
        <p:nvSpPr>
          <p:cNvPr id="2" name="rule-75">
            <a:extLst xmlns:a="http://schemas.openxmlformats.org/drawingml/2006/main">
              <a:ext uri="{FF2B5EF4-FFF2-40B4-BE49-F238E27FC236}">
                <a16:creationId xmlns:a16="http://schemas.microsoft.com/office/drawing/2014/main" id="{F9628555-C59A-448F-AF8B-6F03F593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2EEB98E1-0D00-4864-8ECF-174F5FA5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Game-theoretic idea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for a prediction model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input column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group of columns used to train a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Marginal contribution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change after adding one column to that group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77">
            <a:extLst xmlns:a="http://schemas.openxmlformats.org/drawingml/2006/main">
              <a:ext uri="{FF2B5EF4-FFF2-40B4-BE49-F238E27FC236}">
                <a16:creationId xmlns:a16="http://schemas.microsoft.com/office/drawing/2014/main" id="{0FD776EB-6481-492A-81AE-455A8662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checks the worst threshold change across feature groups.</a:t>
            </a:r>
          </a:p>
        </p:txBody>
      </p:sp>
      <p:sp>
        <p:nvSpPr>
          <p:cNvPr id="6" name="text-78">
            <a:extLst xmlns:a="http://schemas.openxmlformats.org/drawingml/2006/main">
              <a:ext uri="{FF2B5EF4-FFF2-40B4-BE49-F238E27FC236}">
                <a16:creationId xmlns:a16="http://schemas.microsoft.com/office/drawing/2014/main" id="{6A11767C-82D0-49D3-9657-A7D6CFDA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86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any group changes from pass to fail, that input has a negative witness.</a:t>
            </a:r>
          </a:p>
        </p:txBody>
      </p:sp>
      <p:sp>
        <p:nvSpPr>
          <p:cNvPr id="7" name="text-79">
            <a:extLst xmlns:a="http://schemas.openxmlformats.org/drawingml/2006/main">
              <a:ext uri="{FF2B5EF4-FFF2-40B4-BE49-F238E27FC236}">
                <a16:creationId xmlns:a16="http://schemas.microsoft.com/office/drawing/2014/main" id="{3C9679F2-A171-4D29-8AF3-EDBC7037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16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Minimum aggregation builds on prior work. Our focus is evidence at a fixed performance requirement.</a:t>
            </a:r>
          </a:p>
        </p:txBody>
      </p:sp>
    </p:spTree>
    <p:extLst>
      <p:ext uri="{BB962C8B-B14F-4D97-AF65-F5344CB8AC3E}">
        <p14:creationId xmlns:p14="http://schemas.microsoft.com/office/powerpoint/2010/main" val="1798057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0">
            <a:extLst xmlns:a="http://schemas.openxmlformats.org/drawingml/2006/main">
              <a:ext uri="{FF2B5EF4-FFF2-40B4-BE49-F238E27FC236}">
                <a16:creationId xmlns:a16="http://schemas.microsoft.com/office/drawing/2014/main" id="{F7C92142-11A1-4078-BD2E-0A7EC996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Finding witnesses within a limited budget</a:t>
            </a:r>
          </a:p>
        </p:txBody>
      </p:sp>
      <p:sp>
        <p:nvSpPr>
          <p:cNvPr id="2" name="rule-81">
            <a:extLst xmlns:a="http://schemas.openxmlformats.org/drawingml/2006/main">
              <a:ext uri="{FF2B5EF4-FFF2-40B4-BE49-F238E27FC236}">
                <a16:creationId xmlns:a16="http://schemas.microsoft.com/office/drawing/2014/main" id="{39445436-24F2-4AB1-95D3-D1EEF0A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72D5F8BA-DD10-4F63-B0F3-2FCD363A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E3097C71-D617-4CDC-8B25-B338A17C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Checking every combination becomes expensive as inputs grow.</a:t>
            </a:r>
          </a:p>
        </p:txBody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F995EEB7-346F-47B4-BFF8-085A6143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44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A: random exploration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C1B8B45A-375D-431E-80D3-26B7E7B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Try varied groups of inputs.</a:t>
            </a:r>
          </a:p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This is the reference search strategy.</a:t>
            </a:r>
          </a:p>
        </p:txBody>
      </p:sp>
      <p:sp>
        <p:nvSpPr>
          <p:cNvPr id="7" name="text-86">
            <a:extLst xmlns:a="http://schemas.openxmlformats.org/drawingml/2006/main">
              <a:ext uri="{FF2B5EF4-FFF2-40B4-BE49-F238E27FC236}">
                <a16:creationId xmlns:a16="http://schemas.microsoft.com/office/drawing/2014/main" id="{DD8D1403-D91E-4797-A806-6BEB0F63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544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B: guided exploration</a:t>
            </a:r>
          </a:p>
        </p:txBody>
      </p:sp>
      <p:sp>
        <p:nvSpPr>
          <p:cNvPr id="8" name="text-87">
            <a:extLst xmlns:a="http://schemas.openxmlformats.org/drawingml/2006/main">
              <a:ext uri="{FF2B5EF4-FFF2-40B4-BE49-F238E27FC236}">
                <a16:creationId xmlns:a16="http://schemas.microsoft.com/office/drawing/2014/main" id="{EA6FBA23-430D-47EE-9780-89EFDDC5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529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associations to propose groups worth testing.</a:t>
            </a:r>
          </a:p>
        </p:txBody>
      </p:sp>
      <p:sp>
        <p:nvSpPr>
          <p:cNvPr id="9" name="rule-88">
            <a:extLst xmlns:a="http://schemas.openxmlformats.org/drawingml/2006/main">
              <a:ext uri="{FF2B5EF4-FFF2-40B4-BE49-F238E27FC236}">
                <a16:creationId xmlns:a16="http://schemas.microsoft.com/office/drawing/2014/main" id="{F2A3FDE6-7511-4485-9D77-6304A1C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3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89">
            <a:extLst xmlns:a="http://schemas.openxmlformats.org/drawingml/2006/main">
              <a:ext uri="{FF2B5EF4-FFF2-40B4-BE49-F238E27FC236}">
                <a16:creationId xmlns:a16="http://schemas.microsoft.com/office/drawing/2014/main" id="{53EB7B82-D6F9-488D-897F-E352B38D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87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Both use the same two-model check and the same query budget.</a:t>
            </a:r>
          </a:p>
        </p:txBody>
      </p:sp>
      <p:sp>
        <p:nvSpPr>
          <p:cNvPr id="11" name="text-90">
            <a:extLst xmlns:a="http://schemas.openxmlformats.org/drawingml/2006/main">
              <a:ext uri="{FF2B5EF4-FFF2-40B4-BE49-F238E27FC236}">
                <a16:creationId xmlns:a16="http://schemas.microsoft.com/office/drawing/2014/main" id="{BC2948F3-02EE-4D39-AFB5-3ED7ECA7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found witness is checkable. An unvisited group may still hide one.</a:t>
            </a:r>
          </a:p>
        </p:txBody>
      </p:sp>
    </p:spTree>
    <p:extLst>
      <p:ext uri="{BB962C8B-B14F-4D97-AF65-F5344CB8AC3E}">
        <p14:creationId xmlns:p14="http://schemas.microsoft.com/office/powerpoint/2010/main" val="978807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1">
            <a:extLst xmlns:a="http://schemas.openxmlformats.org/drawingml/2006/main">
              <a:ext uri="{FF2B5EF4-FFF2-40B4-BE49-F238E27FC236}">
                <a16:creationId xmlns:a16="http://schemas.microsoft.com/office/drawing/2014/main" id="{EBEFFF04-0419-46C2-857E-E2575A4F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datasets fit the research</a:t>
            </a:r>
          </a:p>
        </p:txBody>
      </p:sp>
      <p:sp>
        <p:nvSpPr>
          <p:cNvPr id="2" name="rule-92">
            <a:extLst xmlns:a="http://schemas.openxmlformats.org/drawingml/2006/main">
              <a:ext uri="{FF2B5EF4-FFF2-40B4-BE49-F238E27FC236}">
                <a16:creationId xmlns:a16="http://schemas.microsoft.com/office/drawing/2014/main" id="{FA91113E-9D44-487E-ACD2-B24A8435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A8D5157F-B44B-44CA-B189-94EBA29E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63FA3ED1-7A96-4D06-B221-6D293150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core studies need checkable cases, known structure and real prediction tasks.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410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 and target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for inclusion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predict ring count.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Eight inputs allow every subset to be checked. Covers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Signal, redundant and distractor columns predict a synthetic class.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generating structure challenges feature search.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 and character statistics predict spam.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Real inputs give interpretable classification examples.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PCA components and amount predict fraud.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Rare positive cases test a different classification setting.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C0681C38-FC2B-4522-9932-25C50C3F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four are supervised tasks. PCA describes inputs, not a change of learning task.</a:t>
            </a:r>
          </a:p>
        </p:txBody>
      </p:sp>
      <p:sp>
        <p:nvSpPr>
          <p:cNvPr id="7" name="text-96">
            <a:extLst xmlns:a="http://schemas.openxmlformats.org/drawingml/2006/main">
              <a:ext uri="{FF2B5EF4-FFF2-40B4-BE49-F238E27FC236}">
                <a16:creationId xmlns:a16="http://schemas.microsoft.com/office/drawing/2014/main" id="{E258F91D-CCBF-4EF8-B2CB-EBCE820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40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 broader benchmark also includes Gisette and ISOLET. Details are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528125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97">
            <a:extLst xmlns:a="http://schemas.openxmlformats.org/drawingml/2006/main">
              <a:ext uri="{FF2B5EF4-FFF2-40B4-BE49-F238E27FC236}">
                <a16:creationId xmlns:a16="http://schemas.microsoft.com/office/drawing/2014/main" id="{BC503ACA-79B5-4330-84D9-89597B45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Three studies answer three different questions</a:t>
            </a:r>
          </a:p>
        </p:txBody>
      </p:sp>
      <p:sp>
        <p:nvSpPr>
          <p:cNvPr id="2" name="rule-98">
            <a:extLst xmlns:a="http://schemas.openxmlformats.org/drawingml/2006/main">
              <a:ext uri="{FF2B5EF4-FFF2-40B4-BE49-F238E27FC236}">
                <a16:creationId xmlns:a16="http://schemas.microsoft.com/office/drawing/2014/main" id="{E4F2C77B-6838-4F00-BAB2-40ABEB2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F1701A17-5F2D-42AE-A373-599A4DF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60734F75-818F-43EA-B6EC-9DDD735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B1321839-F4FF-4DDE-8CA1-6216107A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46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Discovery: how much do we miss?</a:t>
            </a:r>
          </a:p>
        </p:txBody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AF3DE3F7-CD41-4926-B70C-D2332D9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68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the search with all possible subsets in small problems.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41DF55E2-6E4D-458C-87C2-550D37FB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04">
            <a:extLst xmlns:a="http://schemas.openxmlformats.org/drawingml/2006/main">
              <a:ext uri="{FF2B5EF4-FFF2-40B4-BE49-F238E27FC236}">
                <a16:creationId xmlns:a16="http://schemas.microsoft.com/office/drawing/2014/main" id="{F847CBE1-6381-4958-AF0D-78B2CB34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624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Mechanism: what makes discovery difficult?</a:t>
            </a:r>
          </a:p>
        </p:txBody>
      </p:sp>
      <p:sp>
        <p:nvSpPr>
          <p:cNvPr id="9" name="text-105">
            <a:extLst xmlns:a="http://schemas.openxmlformats.org/drawingml/2006/main">
              <a:ext uri="{FF2B5EF4-FFF2-40B4-BE49-F238E27FC236}">
                <a16:creationId xmlns:a16="http://schemas.microsoft.com/office/drawing/2014/main" id="{EA02FAAF-B7B2-4152-81B7-B6D0FCD2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847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 signal, redundancy and interaction in synthetic data.</a:t>
            </a:r>
          </a:p>
        </p:txBody>
      </p:sp>
      <p:sp>
        <p:nvSpPr>
          <p:cNvPr id="10" name="text-106">
            <a:extLst xmlns:a="http://schemas.openxmlformats.org/drawingml/2006/main">
              <a:ext uri="{FF2B5EF4-FFF2-40B4-BE49-F238E27FC236}">
                <a16:creationId xmlns:a16="http://schemas.microsoft.com/office/drawing/2014/main" id="{F9F61156-E825-4F56-824F-CA007F1F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07">
            <a:extLst xmlns:a="http://schemas.openxmlformats.org/drawingml/2006/main">
              <a:ext uri="{FF2B5EF4-FFF2-40B4-BE49-F238E27FC236}">
                <a16:creationId xmlns:a16="http://schemas.microsoft.com/office/drawing/2014/main" id="{C69B7510-B8FA-45ED-9B8B-39B44DF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78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Decision: is removal worth doing?</a:t>
            </a:r>
          </a:p>
        </p:txBody>
      </p:sp>
      <p:sp>
        <p:nvSpPr>
          <p:cNvPr id="12" name="text-108">
            <a:extLst xmlns:a="http://schemas.openxmlformats.org/drawingml/2006/main">
              <a:ext uri="{FF2B5EF4-FFF2-40B4-BE49-F238E27FC236}">
                <a16:creationId xmlns:a16="http://schemas.microsoft.com/office/drawing/2014/main" id="{55075AAE-A8F1-454E-BD17-D34A925C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00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Test smaller models on independent data and include the full cost.</a:t>
            </a:r>
          </a:p>
        </p:txBody>
      </p:sp>
    </p:spTree>
    <p:extLst>
      <p:ext uri="{BB962C8B-B14F-4D97-AF65-F5344CB8AC3E}">
        <p14:creationId xmlns:p14="http://schemas.microsoft.com/office/powerpoint/2010/main" val="1941998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09">
            <a:extLst xmlns:a="http://schemas.openxmlformats.org/drawingml/2006/main">
              <a:ext uri="{FF2B5EF4-FFF2-40B4-BE49-F238E27FC236}">
                <a16:creationId xmlns:a16="http://schemas.microsoft.com/office/drawing/2014/main" id="{9070BB4F-A57B-4487-BF46-B51043CE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1: measure what the search misses</a:t>
            </a:r>
          </a:p>
        </p:txBody>
      </p:sp>
      <p:sp>
        <p:nvSpPr>
          <p:cNvPr id="2" name="rule-110">
            <a:extLst xmlns:a="http://schemas.openxmlformats.org/drawingml/2006/main">
              <a:ext uri="{FF2B5EF4-FFF2-40B4-BE49-F238E27FC236}">
                <a16:creationId xmlns:a16="http://schemas.microsoft.com/office/drawing/2014/main" id="{BCCC7A76-F430-4D9B-8F4D-3AABE37F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1">
            <a:extLst xmlns:a="http://schemas.openxmlformats.org/drawingml/2006/main">
              <a:ext uri="{FF2B5EF4-FFF2-40B4-BE49-F238E27FC236}">
                <a16:creationId xmlns:a16="http://schemas.microsoft.com/office/drawing/2014/main" id="{993B5808-A55B-4CC0-848D-909C6AC3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12">
            <a:extLst xmlns:a="http://schemas.openxmlformats.org/drawingml/2006/main">
              <a:ext uri="{FF2B5EF4-FFF2-40B4-BE49-F238E27FC236}">
                <a16:creationId xmlns:a16="http://schemas.microsoft.com/office/drawing/2014/main" id="{D57E31D6-9318-493F-9891-B1890465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Small problems let us establish a complete reference.</a:t>
            </a:r>
          </a:p>
        </p:txBody>
      </p:sp>
      <p:sp>
        <p:nvSpPr>
          <p:cNvPr id="5" name="stage-113">
            <a:extLst xmlns:a="http://schemas.openxmlformats.org/drawingml/2006/main">
              <a:ext uri="{FF2B5EF4-FFF2-40B4-BE49-F238E27FC236}">
                <a16:creationId xmlns:a16="http://schemas.microsoft.com/office/drawing/2014/main" id="{D686A3DD-0D6C-46FC-9F2C-E31327D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9300"/>
            <a:ext cx="393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14">
            <a:extLst xmlns:a="http://schemas.openxmlformats.org/drawingml/2006/main">
              <a:ext uri="{FF2B5EF4-FFF2-40B4-BE49-F238E27FC236}">
                <a16:creationId xmlns:a16="http://schemas.microsoft.com/office/drawing/2014/main" id="{217A7DE5-608A-401E-90FF-E8AAA152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417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8-input problem</a:t>
            </a:r>
          </a:p>
        </p:txBody>
      </p:sp>
      <p:sp>
        <p:nvSpPr>
          <p:cNvPr id="7" name="text-115">
            <a:extLst xmlns:a="http://schemas.openxmlformats.org/drawingml/2006/main">
              <a:ext uri="{FF2B5EF4-FFF2-40B4-BE49-F238E27FC236}">
                <a16:creationId xmlns:a16="http://schemas.microsoft.com/office/drawing/2014/main" id="{80652EB1-F56C-4EB4-B033-CE6429A0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025900"/>
            <a:ext cx="3530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data split, model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performance requirement</a:t>
            </a:r>
          </a:p>
        </p:txBody>
      </p:sp>
      <p:sp>
        <p:nvSpPr>
          <p:cNvPr id="8" name="stage-116">
            <a:extLst xmlns:a="http://schemas.openxmlformats.org/drawingml/2006/main">
              <a:ext uri="{FF2B5EF4-FFF2-40B4-BE49-F238E27FC236}">
                <a16:creationId xmlns:a16="http://schemas.microsoft.com/office/drawing/2014/main" id="{82DA5523-059E-47D9-B186-C30AA3B7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702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17">
            <a:extLst xmlns:a="http://schemas.openxmlformats.org/drawingml/2006/main">
              <a:ext uri="{FF2B5EF4-FFF2-40B4-BE49-F238E27FC236}">
                <a16:creationId xmlns:a16="http://schemas.microsoft.com/office/drawing/2014/main" id="{0CD77F6B-19F2-43A7-96AE-7B1C2FE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0226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Complete enumeration</a:t>
            </a:r>
          </a:p>
        </p:txBody>
      </p:sp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9A36A14B-BCD6-46B4-8D51-557C71A7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6068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 all 256 subsets.</a:t>
            </a:r>
          </a:p>
        </p:txBody>
      </p:sp>
      <p:sp>
        <p:nvSpPr>
          <p:cNvPr id="11" name="stage-119">
            <a:extLst xmlns:a="http://schemas.openxmlformats.org/drawingml/2006/main">
              <a:ext uri="{FF2B5EF4-FFF2-40B4-BE49-F238E27FC236}">
                <a16:creationId xmlns:a16="http://schemas.microsoft.com/office/drawing/2014/main" id="{47754F73-12A1-4ED7-992C-05EE97E8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927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615B2148-D230-4069-9C32-9B772353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2451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Limited-budget search</a:t>
            </a:r>
          </a:p>
        </p:txBody>
      </p:sp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69129D8C-0700-4DCA-B825-D9CB877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8293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Let A or B request subsets.</a:t>
            </a:r>
          </a:p>
        </p:txBody>
      </p:sp>
      <p:sp>
        <p:nvSpPr>
          <p:cNvPr id="14" name="stage-122">
            <a:extLst xmlns:a="http://schemas.openxmlformats.org/drawingml/2006/main">
              <a:ext uri="{FF2B5EF4-FFF2-40B4-BE49-F238E27FC236}">
                <a16:creationId xmlns:a16="http://schemas.microsoft.com/office/drawing/2014/main" id="{4FD91582-F3D9-401A-B1F9-F34EBA9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937000"/>
            <a:ext cx="3111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5" name="text-123">
            <a:extLst xmlns:a="http://schemas.openxmlformats.org/drawingml/2006/main">
              <a:ext uri="{FF2B5EF4-FFF2-40B4-BE49-F238E27FC236}">
                <a16:creationId xmlns:a16="http://schemas.microsoft.com/office/drawing/2014/main" id="{0C1C5916-1B41-41AD-95BE-FCC330A4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089400"/>
            <a:ext cx="2705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79C12A7D-E7F1-434F-9D11-811FF39F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673600"/>
            <a:ext cx="27051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How many harmful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inputs were found?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99000" y="3663950"/>
            <a:ext cx="1371600" cy="65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99000" y="4318000"/>
            <a:ext cx="1371600" cy="1568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60000" y="3663950"/>
            <a:ext cx="120650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0160000" y="4959350"/>
            <a:ext cx="1206500" cy="927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1" name="text-125">
            <a:extLst xmlns:a="http://schemas.openxmlformats.org/drawingml/2006/main">
              <a:ext uri="{FF2B5EF4-FFF2-40B4-BE49-F238E27FC236}">
                <a16:creationId xmlns:a16="http://schemas.microsoft.com/office/drawing/2014/main" id="{531288DE-8CE6-4DBB-BB05-F28E838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Success means finding more of the known harmful inputs at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803111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BB6515B1-9410-4409-924E-CF27440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2: explain why some witnesses are harder to find</a:t>
            </a:r>
          </a:p>
        </p:txBody>
      </p:sp>
      <p:sp>
        <p:nvSpPr>
          <p:cNvPr id="2" name="rule-127">
            <a:extLst xmlns:a="http://schemas.openxmlformats.org/drawingml/2006/main">
              <a:ext uri="{FF2B5EF4-FFF2-40B4-BE49-F238E27FC236}">
                <a16:creationId xmlns:a16="http://schemas.microsoft.com/office/drawing/2014/main" id="{DC42D3BD-EED8-4FF6-9714-22565734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8">
            <a:extLst xmlns:a="http://schemas.openxmlformats.org/drawingml/2006/main">
              <a:ext uri="{FF2B5EF4-FFF2-40B4-BE49-F238E27FC236}">
                <a16:creationId xmlns:a16="http://schemas.microsoft.com/office/drawing/2014/main" id="{EE0D304B-3DCA-4961-9D6A-28221AE5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29">
            <a:extLst xmlns:a="http://schemas.openxmlformats.org/drawingml/2006/main">
              <a:ext uri="{FF2B5EF4-FFF2-40B4-BE49-F238E27FC236}">
                <a16:creationId xmlns:a16="http://schemas.microsoft.com/office/drawing/2014/main" id="{C4024297-BE6E-42C7-87AB-2E73DE04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85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controlled experiment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844800"/>
          <a:ext xmlns:a="http://schemas.openxmlformats.org/drawingml/2006/main" cx="13716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5397500"/>
                <a:gridCol w="46355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structure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 in the inputs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learn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 with distractors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Useful variables plus unrelated columns.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extra noise creates difficult contexts.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 noisy copies of informative variables.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overlapping information affects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target depends on a combination of variables.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the search reaches important combinations.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9B314DFB-069F-4BD7-8995-4079C1B4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Keep the model and evaluation fixed. Change the data structure deliberately.</a:t>
            </a:r>
          </a:p>
        </p:txBody>
      </p:sp>
    </p:spTree>
    <p:extLst>
      <p:ext uri="{BB962C8B-B14F-4D97-AF65-F5344CB8AC3E}">
        <p14:creationId xmlns:p14="http://schemas.microsoft.com/office/powerpoint/2010/main" val="1873908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31">
            <a:extLst xmlns:a="http://schemas.openxmlformats.org/drawingml/2006/main">
              <a:ext uri="{FF2B5EF4-FFF2-40B4-BE49-F238E27FC236}">
                <a16:creationId xmlns:a16="http://schemas.microsoft.com/office/drawing/2014/main" id="{D48B7963-4461-438D-9A83-FACF3562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3: test whether removal is useful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95456FCB-9E5F-4B48-A32F-426115C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3">
            <a:extLst xmlns:a="http://schemas.openxmlformats.org/drawingml/2006/main">
              <a:ext uri="{FF2B5EF4-FFF2-40B4-BE49-F238E27FC236}">
                <a16:creationId xmlns:a16="http://schemas.microsoft.com/office/drawing/2014/main" id="{7862C252-E219-4C6A-B100-91E29539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5CD08272-4D10-4DF6-9610-C0F74E7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decision experiment with separate data for each decision stage</a:t>
            </a:r>
          </a:p>
        </p:txBody>
      </p:sp>
      <p:sp>
        <p:nvSpPr>
          <p:cNvPr id="5" name="stage-135">
            <a:extLst xmlns:a="http://schemas.openxmlformats.org/drawingml/2006/main">
              <a:ext uri="{FF2B5EF4-FFF2-40B4-BE49-F238E27FC236}">
                <a16:creationId xmlns:a16="http://schemas.microsoft.com/office/drawing/2014/main" id="{D46BE32F-00C5-4477-A888-02DBB9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36">
            <a:extLst xmlns:a="http://schemas.openxmlformats.org/drawingml/2006/main">
              <a:ext uri="{FF2B5EF4-FFF2-40B4-BE49-F238E27FC236}">
                <a16:creationId xmlns:a16="http://schemas.microsoft.com/office/drawing/2014/main" id="{406CE643-F45D-406C-8BD4-7085799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a candidate</a:t>
            </a:r>
          </a:p>
        </p:txBody>
      </p:sp>
      <p:sp>
        <p:nvSpPr>
          <p:cNvPr id="7" name="text-137">
            <a:extLst xmlns:a="http://schemas.openxmlformats.org/drawingml/2006/main">
              <a:ext uri="{FF2B5EF4-FFF2-40B4-BE49-F238E27FC236}">
                <a16:creationId xmlns:a16="http://schemas.microsoft.com/office/drawing/2014/main" id="{F09D2E81-2777-4760-887F-3A54160E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selection-validation data.</a:t>
            </a:r>
          </a:p>
        </p:txBody>
      </p:sp>
      <p:sp>
        <p:nvSpPr>
          <p:cNvPr id="8" name="stage-138">
            <a:extLst xmlns:a="http://schemas.openxmlformats.org/drawingml/2006/main">
              <a:ext uri="{FF2B5EF4-FFF2-40B4-BE49-F238E27FC236}">
                <a16:creationId xmlns:a16="http://schemas.microsoft.com/office/drawing/2014/main" id="{DED892B9-E4A4-4E63-8DF1-8FB5DB92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39">
            <a:extLst xmlns:a="http://schemas.openxmlformats.org/drawingml/2006/main">
              <a:ext uri="{FF2B5EF4-FFF2-40B4-BE49-F238E27FC236}">
                <a16:creationId xmlns:a16="http://schemas.microsoft.com/office/drawing/2014/main" id="{DD0EAA93-9E53-4F28-93E1-1AA7195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Check independently</a:t>
            </a:r>
          </a:p>
        </p:txBody>
      </p:sp>
      <p:sp>
        <p:nvSpPr>
          <p:cNvPr id="10" name="text-140">
            <a:extLst xmlns:a="http://schemas.openxmlformats.org/drawingml/2006/main">
              <a:ext uri="{FF2B5EF4-FFF2-40B4-BE49-F238E27FC236}">
                <a16:creationId xmlns:a16="http://schemas.microsoft.com/office/drawing/2014/main" id="{BE04343C-88F1-4B7D-97FC-6DD056C7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within tolerance.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Otherwise keep all inputs.</a:t>
            </a:r>
          </a:p>
        </p:txBody>
      </p:sp>
      <p:sp>
        <p:nvSpPr>
          <p:cNvPr id="11" name="stage-141">
            <a:extLst xmlns:a="http://schemas.openxmlformats.org/drawingml/2006/main">
              <a:ext uri="{FF2B5EF4-FFF2-40B4-BE49-F238E27FC236}">
                <a16:creationId xmlns:a16="http://schemas.microsoft.com/office/drawing/2014/main" id="{1F5AA60B-183F-45A2-A0C3-16FDB17B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5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42">
            <a:extLst xmlns:a="http://schemas.openxmlformats.org/drawingml/2006/main">
              <a:ext uri="{FF2B5EF4-FFF2-40B4-BE49-F238E27FC236}">
                <a16:creationId xmlns:a16="http://schemas.microsoft.com/office/drawing/2014/main" id="{29367C03-A1FD-4B70-B685-4663C42E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Freeze and test</a:t>
            </a:r>
          </a:p>
        </p:txBody>
      </p:sp>
      <p:sp>
        <p:nvSpPr>
          <p:cNvPr id="13" name="text-143">
            <a:extLst xmlns:a="http://schemas.openxmlformats.org/drawingml/2006/main">
              <a:ext uri="{FF2B5EF4-FFF2-40B4-BE49-F238E27FC236}">
                <a16:creationId xmlns:a16="http://schemas.microsoft.com/office/drawing/2014/main" id="{0D9557AC-B1D9-49DE-AF1D-D9645AF3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Refit the chosen model.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Evaluate on held-out data.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5500" y="44132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50400" y="44132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44">
            <a:extLst xmlns:a="http://schemas.openxmlformats.org/drawingml/2006/main">
              <a:ext uri="{FF2B5EF4-FFF2-40B4-BE49-F238E27FC236}">
                <a16:creationId xmlns:a16="http://schemas.microsoft.com/office/drawing/2014/main" id="{0A1270AE-7C2D-4158-8683-0097FFA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with established feature-ranking and elimination methods.</a:t>
            </a:r>
          </a:p>
        </p:txBody>
      </p:sp>
      <p:sp>
        <p:nvSpPr>
          <p:cNvPr id="17" name="text-145">
            <a:extLst xmlns:a="http://schemas.openxmlformats.org/drawingml/2006/main">
              <a:ext uri="{FF2B5EF4-FFF2-40B4-BE49-F238E27FC236}">
                <a16:creationId xmlns:a16="http://schemas.microsoft.com/office/drawing/2014/main" id="{4902AA6C-050F-4AB2-8C04-EF17CF79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Judge three outcomes together: fewer inputs, prediction loss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16705267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46">
            <a:extLst xmlns:a="http://schemas.openxmlformats.org/drawingml/2006/main">
              <a:ext uri="{FF2B5EF4-FFF2-40B4-BE49-F238E27FC236}">
                <a16:creationId xmlns:a16="http://schemas.microsoft.com/office/drawing/2014/main" id="{CA4E75E1-5A98-4FA7-9874-1C5CC666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what it means</a:t>
            </a:r>
          </a:p>
        </p:txBody>
      </p:sp>
      <p:sp>
        <p:nvSpPr>
          <p:cNvPr id="2" name="rule-147">
            <a:extLst xmlns:a="http://schemas.openxmlformats.org/drawingml/2006/main">
              <a:ext uri="{FF2B5EF4-FFF2-40B4-BE49-F238E27FC236}">
                <a16:creationId xmlns:a16="http://schemas.microsoft.com/office/drawing/2014/main" id="{AD4FA6A2-EE31-407B-820D-E8467106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8">
            <a:extLst xmlns:a="http://schemas.openxmlformats.org/drawingml/2006/main">
              <a:ext uri="{FF2B5EF4-FFF2-40B4-BE49-F238E27FC236}">
                <a16:creationId xmlns:a16="http://schemas.microsoft.com/office/drawing/2014/main" id="{4CD5FB80-A000-4745-9244-989D2856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49">
            <a:extLst xmlns:a="http://schemas.openxmlformats.org/drawingml/2006/main">
              <a:ext uri="{FF2B5EF4-FFF2-40B4-BE49-F238E27FC236}">
                <a16:creationId xmlns:a16="http://schemas.microsoft.com/office/drawing/2014/main" id="{7C337DAB-A2A2-4613-B7B6-1730F809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50">
            <a:extLst xmlns:a="http://schemas.openxmlformats.org/drawingml/2006/main">
              <a:ext uri="{FF2B5EF4-FFF2-40B4-BE49-F238E27FC236}">
                <a16:creationId xmlns:a16="http://schemas.microsoft.com/office/drawing/2014/main" id="{01D1A717-F429-4DB8-95A6-FF0D478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59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reference audit is complete</a:t>
            </a:r>
          </a:p>
        </p:txBody>
      </p:sp>
      <p:sp>
        <p:nvSpPr>
          <p:cNvPr id="6" name="text-151">
            <a:extLst xmlns:a="http://schemas.openxmlformats.org/drawingml/2006/main">
              <a:ext uri="{FF2B5EF4-FFF2-40B4-BE49-F238E27FC236}">
                <a16:creationId xmlns:a16="http://schemas.microsoft.com/office/drawing/2014/main" id="{B4575539-DDC7-4837-94AA-EA5FEBE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81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Small problems provide checkable witnesses and reveal missed cases.</a:t>
            </a:r>
          </a:p>
        </p:txBody>
      </p:sp>
      <p:sp>
        <p:nvSpPr>
          <p:cNvPr id="7" name="text-152">
            <a:extLst xmlns:a="http://schemas.openxmlformats.org/drawingml/2006/main">
              <a:ext uri="{FF2B5EF4-FFF2-40B4-BE49-F238E27FC236}">
                <a16:creationId xmlns:a16="http://schemas.microsoft.com/office/drawing/2014/main" id="{4C87D0C6-66C3-4837-9208-C4CFE8EE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51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53">
            <a:extLst xmlns:a="http://schemas.openxmlformats.org/drawingml/2006/main">
              <a:ext uri="{FF2B5EF4-FFF2-40B4-BE49-F238E27FC236}">
                <a16:creationId xmlns:a16="http://schemas.microsoft.com/office/drawing/2014/main" id="{B1E07A2A-20FA-4DB5-9124-127ECE0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751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Guidance has no stable advantage yet</a:t>
            </a:r>
          </a:p>
        </p:txBody>
      </p:sp>
      <p:sp>
        <p:nvSpPr>
          <p:cNvPr id="9" name="text-154">
            <a:extLst xmlns:a="http://schemas.openxmlformats.org/drawingml/2006/main">
              <a:ext uri="{FF2B5EF4-FFF2-40B4-BE49-F238E27FC236}">
                <a16:creationId xmlns:a16="http://schemas.microsoft.com/office/drawing/2014/main" id="{6CF985EB-F372-4B9F-8D3F-A421286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974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Training associations do not consistently point toward failure contexts.</a:t>
            </a:r>
          </a:p>
        </p:txBody>
      </p:sp>
      <p:sp>
        <p:nvSpPr>
          <p:cNvPr id="10" name="text-155">
            <a:extLst xmlns:a="http://schemas.openxmlformats.org/drawingml/2006/main">
              <a:ext uri="{FF2B5EF4-FFF2-40B4-BE49-F238E27FC236}">
                <a16:creationId xmlns:a16="http://schemas.microsoft.com/office/drawing/2014/main" id="{5CA8C6F7-2A75-45A3-870C-5E0C98F0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56">
            <a:extLst xmlns:a="http://schemas.openxmlformats.org/drawingml/2006/main">
              <a:ext uri="{FF2B5EF4-FFF2-40B4-BE49-F238E27FC236}">
                <a16:creationId xmlns:a16="http://schemas.microsoft.com/office/drawing/2014/main" id="{EC5FC3DF-8023-4104-BB7B-473833A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912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deletion value is still open</a:t>
            </a:r>
          </a:p>
        </p:txBody>
      </p:sp>
      <p:sp>
        <p:nvSpPr>
          <p:cNvPr id="12" name="text-157">
            <a:extLst xmlns:a="http://schemas.openxmlformats.org/drawingml/2006/main">
              <a:ext uri="{FF2B5EF4-FFF2-40B4-BE49-F238E27FC236}">
                <a16:creationId xmlns:a16="http://schemas.microsoft.com/office/drawing/2014/main" id="{E9DBD23A-6ED9-4C89-BF83-1372BDD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135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Controlled mechanisms and independent removal tests are the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10698005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58">
            <a:extLst xmlns:a="http://schemas.openxmlformats.org/drawingml/2006/main">
              <a:ext uri="{FF2B5EF4-FFF2-40B4-BE49-F238E27FC236}">
                <a16:creationId xmlns:a16="http://schemas.microsoft.com/office/drawing/2014/main" id="{EE6321F0-9C85-43B7-8545-5F106A3B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rule-159">
            <a:extLst xmlns:a="http://schemas.openxmlformats.org/drawingml/2006/main">
              <a:ext uri="{FF2B5EF4-FFF2-40B4-BE49-F238E27FC236}">
                <a16:creationId xmlns:a16="http://schemas.microsoft.com/office/drawing/2014/main" id="{C9B8A630-DF88-4AD0-8E03-F155BF56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60">
            <a:extLst xmlns:a="http://schemas.openxmlformats.org/drawingml/2006/main">
              <a:ext uri="{FF2B5EF4-FFF2-40B4-BE49-F238E27FC236}">
                <a16:creationId xmlns:a16="http://schemas.microsoft.com/office/drawing/2014/main" id="{75C6A350-B5BA-4C59-9CFF-A11E5DA9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AF2C8B32-B19C-40C1-8B2A-A891293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157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feature-selection decision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that can be inspected.</a:t>
            </a:r>
          </a:p>
        </p:txBody>
      </p:sp>
      <p:sp>
        <p:nvSpPr>
          <p:cNvPr id="5" name="text-162">
            <a:extLst xmlns:a="http://schemas.openxmlformats.org/drawingml/2006/main">
              <a:ext uri="{FF2B5EF4-FFF2-40B4-BE49-F238E27FC236}">
                <a16:creationId xmlns:a16="http://schemas.microsoft.com/office/drawing/2014/main" id="{6018085D-EDAE-4775-9739-0FDFBF41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 concrete failure context explains what happened.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exact reference shows what the search missed.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independent test shows whether removal is worthwhile.</a:t>
            </a:r>
          </a:p>
        </p:txBody>
      </p:sp>
      <p:sp>
        <p:nvSpPr>
          <p:cNvPr id="6" name="rule-163">
            <a:extLst xmlns:a="http://schemas.openxmlformats.org/drawingml/2006/main">
              <a:ext uri="{FF2B5EF4-FFF2-40B4-BE49-F238E27FC236}">
                <a16:creationId xmlns:a16="http://schemas.microsoft.com/office/drawing/2014/main" id="{AD9178EA-9D1F-4FF1-B890-41274AF5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64">
            <a:extLst xmlns:a="http://schemas.openxmlformats.org/drawingml/2006/main">
              <a:ext uri="{FF2B5EF4-FFF2-40B4-BE49-F238E27FC236}">
                <a16:creationId xmlns:a16="http://schemas.microsoft.com/office/drawing/2014/main" id="{D9A890CF-C554-4600-9F36-4028646F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controlled mechanisms, then independent deletion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512583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65">
            <a:extLst xmlns:a="http://schemas.openxmlformats.org/drawingml/2006/main">
              <a:ext uri="{FF2B5EF4-FFF2-40B4-BE49-F238E27FC236}">
                <a16:creationId xmlns:a16="http://schemas.microsoft.com/office/drawing/2014/main" id="{A58D4F44-4E8E-4488-AF1A-6FBC3EA3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(1/2)</a:t>
            </a:r>
          </a:p>
        </p:txBody>
      </p:sp>
      <p:sp>
        <p:nvSpPr>
          <p:cNvPr id="2" name="rule-166">
            <a:extLst xmlns:a="http://schemas.openxmlformats.org/drawingml/2006/main">
              <a:ext uri="{FF2B5EF4-FFF2-40B4-BE49-F238E27FC236}">
                <a16:creationId xmlns:a16="http://schemas.microsoft.com/office/drawing/2014/main" id="{4F4BA15F-1985-4BA7-8EA8-736F9211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7">
            <a:extLst xmlns:a="http://schemas.openxmlformats.org/drawingml/2006/main">
              <a:ext uri="{FF2B5EF4-FFF2-40B4-BE49-F238E27FC236}">
                <a16:creationId xmlns:a16="http://schemas.microsoft.com/office/drawing/2014/main" id="{68F2D784-68CA-4263-A902-03B1288B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spam / non-spam. Observable text statistics make witnesses easier to interpret.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synthetic class ±1. Redundancy and distractors challenge discovery.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digit 4 / 9. High-dimensional inputs stress screening and cost. Outside the current 35-game study.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68">
            <a:extLst xmlns:a="http://schemas.openxmlformats.org/drawingml/2006/main">
              <a:ext uri="{FF2B5EF4-FFF2-40B4-BE49-F238E27FC236}">
                <a16:creationId xmlns:a16="http://schemas.microsoft.com/office/drawing/2014/main" id="{7FAEA06B-79EB-4864-8466-9102822A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16070929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69">
            <a:extLst xmlns:a="http://schemas.openxmlformats.org/drawingml/2006/main">
              <a:ext uri="{FF2B5EF4-FFF2-40B4-BE49-F238E27FC236}">
                <a16:creationId xmlns:a16="http://schemas.microsoft.com/office/drawing/2014/main" id="{9FA66277-1C2F-4F1E-B4F5-8851DA84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(2/2)</a:t>
            </a:r>
          </a:p>
        </p:txBody>
      </p:sp>
      <p:sp>
        <p:nvSpPr>
          <p:cNvPr id="2" name="rule-170">
            <a:extLst xmlns:a="http://schemas.openxmlformats.org/drawingml/2006/main">
              <a:ext uri="{FF2B5EF4-FFF2-40B4-BE49-F238E27FC236}">
                <a16:creationId xmlns:a16="http://schemas.microsoft.com/office/drawing/2014/main" id="{FB7C9F4D-C041-4FFF-A0E1-610113E0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1">
            <a:extLst xmlns:a="http://schemas.openxmlformats.org/drawingml/2006/main">
              <a:ext uri="{FF2B5EF4-FFF2-40B4-BE49-F238E27FC236}">
                <a16:creationId xmlns:a16="http://schemas.microsoft.com/office/drawing/2014/main" id="{0CD74C2B-F670-4014-AF10-4AE1D5F6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41CCDBE6-20E2-4615-A87D-14D58FD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PCA describes the input representation. Fraud labels still define a supervised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8118935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73">
            <a:extLst xmlns:a="http://schemas.openxmlformats.org/drawingml/2006/main">
              <a:ext uri="{FF2B5EF4-FFF2-40B4-BE49-F238E27FC236}">
                <a16:creationId xmlns:a16="http://schemas.microsoft.com/office/drawing/2014/main" id="{F4EBF707-3E08-4367-A517-36ACD507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formal definition and assumptions</a:t>
            </a:r>
          </a:p>
        </p:txBody>
      </p:sp>
      <p:sp>
        <p:nvSpPr>
          <p:cNvPr id="2" name="rule-174">
            <a:extLst xmlns:a="http://schemas.openxmlformats.org/drawingml/2006/main">
              <a:ext uri="{FF2B5EF4-FFF2-40B4-BE49-F238E27FC236}">
                <a16:creationId xmlns:a16="http://schemas.microsoft.com/office/drawing/2014/main" id="{83DDCD69-911E-47B4-8071-ECE7EF83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5">
            <a:extLst xmlns:a="http://schemas.openxmlformats.org/drawingml/2006/main">
              <a:ext uri="{FF2B5EF4-FFF2-40B4-BE49-F238E27FC236}">
                <a16:creationId xmlns:a16="http://schemas.microsoft.com/office/drawing/2014/main" id="{1A987757-C24D-4C21-8DBB-068EB62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76">
            <a:extLst xmlns:a="http://schemas.openxmlformats.org/drawingml/2006/main">
              <a:ext uri="{FF2B5EF4-FFF2-40B4-BE49-F238E27FC236}">
                <a16:creationId xmlns:a16="http://schemas.microsoft.com/office/drawing/2014/main" id="{8C4F3271-66A3-46BA-9955-4DE1A38E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7D55076F-FF4C-4D1D-AF8E-DF1104AB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96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178">
            <a:extLst xmlns:a="http://schemas.openxmlformats.org/drawingml/2006/main">
              <a:ext uri="{FF2B5EF4-FFF2-40B4-BE49-F238E27FC236}">
                <a16:creationId xmlns:a16="http://schemas.microsoft.com/office/drawing/2014/main" id="{AB53E06D-249F-4BC7-86AB-A8BD1933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D: analyzed input set. S: a subset without i. U: validation utility.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Default α = 0.95, with U(D) &gt; 0 and finite utilities.</a:t>
            </a:r>
          </a:p>
        </p:txBody>
      </p:sp>
      <p:sp>
        <p:nvSpPr>
          <p:cNvPr id="7" name="text-179">
            <a:extLst xmlns:a="http://schemas.openxmlformats.org/drawingml/2006/main">
              <a:ext uri="{FF2B5EF4-FFF2-40B4-BE49-F238E27FC236}">
                <a16:creationId xmlns:a16="http://schemas.microsoft.com/office/drawing/2014/main" id="{D4930F7A-28A9-40B3-8A89-39C503D8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−1: a negative witness exists.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0: no negative context, but at least one zero marginal.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+1: every context changes from fail to pass.</a:t>
            </a:r>
          </a:p>
        </p:txBody>
      </p:sp>
      <p:sp>
        <p:nvSpPr>
          <p:cNvPr id="8" name="text-180">
            <a:extLst xmlns:a="http://schemas.openxmlformats.org/drawingml/2006/main">
              <a:ext uri="{FF2B5EF4-FFF2-40B4-BE49-F238E27FC236}">
                <a16:creationId xmlns:a16="http://schemas.microsoft.com/office/drawing/2014/main" id="{5BB1CC11-C99A-483F-99EE-DFDE36E2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49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Sampled minima bound the exact minimum from above. No sampled witness does not certify safety.</a:t>
            </a:r>
          </a:p>
        </p:txBody>
      </p:sp>
    </p:spTree>
    <p:extLst>
      <p:ext uri="{BB962C8B-B14F-4D97-AF65-F5344CB8AC3E}">
        <p14:creationId xmlns:p14="http://schemas.microsoft.com/office/powerpoint/2010/main" val="12082902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ECF863E8-9CD7-4E33-8603-CA244A0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experimental protocol and evidence</a:t>
            </a:r>
          </a:p>
        </p:txBody>
      </p:sp>
      <p:sp>
        <p:nvSpPr>
          <p:cNvPr id="2" name="rule-182">
            <a:extLst xmlns:a="http://schemas.openxmlformats.org/drawingml/2006/main">
              <a:ext uri="{FF2B5EF4-FFF2-40B4-BE49-F238E27FC236}">
                <a16:creationId xmlns:a16="http://schemas.microsoft.com/office/drawing/2014/main" id="{2239C5B5-F386-40B3-991D-46E470D3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3">
            <a:extLst xmlns:a="http://schemas.openxmlformats.org/drawingml/2006/main">
              <a:ext uri="{FF2B5EF4-FFF2-40B4-BE49-F238E27FC236}">
                <a16:creationId xmlns:a16="http://schemas.microsoft.com/office/drawing/2014/main" id="{09C3BD8F-4955-4631-9783-3FD4313A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97790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Prespecified design or current evidence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1: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eight-input games from 4 datasets. Full references, paired A/B search.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2: 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mechanisms × 5 instances. Each has 2,000 rows and 8 inputs.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3: 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games. Train / selection / gate / test = 64 / 8 / 8 / 20%.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Fixed learner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XGBoost: 100 rounds, depth 4, learning rate 0.1.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Decision tolerance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AUC loss ≤ 0.005 for classification. Raw R² loss ≤ 0.01 for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4">
            <a:extLst xmlns:a="http://schemas.openxmlformats.org/drawingml/2006/main">
              <a:ext uri="{FF2B5EF4-FFF2-40B4-BE49-F238E27FC236}">
                <a16:creationId xmlns:a16="http://schemas.microsoft.com/office/drawing/2014/main" id="{28E8096F-35F2-4BE3-A416-94A7BD1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3400"/>
            <a:ext cx="1371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Study 1 recall area: A = 0.4012, B = 0.3718. No stable advantage for B.</a:t>
            </a:r>
          </a:p>
        </p:txBody>
      </p:sp>
      <p:sp>
        <p:nvSpPr>
          <p:cNvPr id="6" name="text-185">
            <a:extLst xmlns:a="http://schemas.openxmlformats.org/drawingml/2006/main">
              <a:ext uri="{FF2B5EF4-FFF2-40B4-BE49-F238E27FC236}">
                <a16:creationId xmlns:a16="http://schemas.microsoft.com/office/drawing/2014/main" id="{49F1BF54-A7A3-4E88-83A5-4CB3486F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22 of 35 games have harmful inputs. The other 13 have undefined recall.</a:t>
            </a:r>
          </a:p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These results describe small fixed games, not deletion benefit or high-dimensional truth.</a:t>
            </a:r>
          </a:p>
        </p:txBody>
      </p:sp>
    </p:spTree>
    <p:extLst>
      <p:ext uri="{BB962C8B-B14F-4D97-AF65-F5344CB8AC3E}">
        <p14:creationId xmlns:p14="http://schemas.microsoft.com/office/powerpoint/2010/main" val="16254643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86">
            <a:extLst xmlns:a="http://schemas.openxmlformats.org/drawingml/2006/main">
              <a:ext uri="{FF2B5EF4-FFF2-40B4-BE49-F238E27FC236}">
                <a16:creationId xmlns:a16="http://schemas.microsoft.com/office/drawing/2014/main" id="{9F9594FD-285E-4909-B968-47B32D68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multi-objective selection as an extension</a:t>
            </a:r>
          </a:p>
        </p:txBody>
      </p:sp>
      <p:sp>
        <p:nvSpPr>
          <p:cNvPr id="2" name="rule-187">
            <a:extLst xmlns:a="http://schemas.openxmlformats.org/drawingml/2006/main">
              <a:ext uri="{FF2B5EF4-FFF2-40B4-BE49-F238E27FC236}">
                <a16:creationId xmlns:a16="http://schemas.microsoft.com/office/drawing/2014/main" id="{D4E5FB3F-DCA0-49B8-8D7B-8E225F6F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8">
            <a:extLst xmlns:a="http://schemas.openxmlformats.org/drawingml/2006/main">
              <a:ext uri="{FF2B5EF4-FFF2-40B4-BE49-F238E27FC236}">
                <a16:creationId xmlns:a16="http://schemas.microsoft.com/office/drawing/2014/main" id="{4C9738F2-F286-41B3-ACDE-365C92D2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189">
            <a:extLst xmlns:a="http://schemas.openxmlformats.org/drawingml/2006/main">
              <a:ext uri="{FF2B5EF4-FFF2-40B4-BE49-F238E27FC236}">
                <a16:creationId xmlns:a16="http://schemas.microsoft.com/office/drawing/2014/main" id="{42B32D99-BD44-44A5-89C3-989F2AEC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possible later use of the audit</a:t>
            </a:r>
          </a:p>
        </p:txBody>
      </p:sp>
      <p:sp>
        <p:nvSpPr>
          <p:cNvPr id="5" name="stage-190">
            <a:extLst xmlns:a="http://schemas.openxmlformats.org/drawingml/2006/main">
              <a:ext uri="{FF2B5EF4-FFF2-40B4-BE49-F238E27FC236}">
                <a16:creationId xmlns:a16="http://schemas.microsoft.com/office/drawing/2014/main" id="{19B66BB8-8874-4A9C-BD74-256D2C91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91">
            <a:extLst xmlns:a="http://schemas.openxmlformats.org/drawingml/2006/main">
              <a:ext uri="{FF2B5EF4-FFF2-40B4-BE49-F238E27FC236}">
                <a16:creationId xmlns:a16="http://schemas.microsoft.com/office/drawing/2014/main" id="{5BE1FEB8-2FF2-4D22-9026-6DA134E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evidence</a:t>
            </a:r>
          </a:p>
        </p:txBody>
      </p:sp>
      <p:sp>
        <p:nvSpPr>
          <p:cNvPr id="7" name="text-192">
            <a:extLst xmlns:a="http://schemas.openxmlformats.org/drawingml/2006/main">
              <a:ext uri="{FF2B5EF4-FFF2-40B4-BE49-F238E27FC236}">
                <a16:creationId xmlns:a16="http://schemas.microsoft.com/office/drawing/2014/main" id="{4803F25D-C92C-4CF8-BAB5-170F2A05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Propose a smaller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search space.</a:t>
            </a:r>
          </a:p>
        </p:txBody>
      </p:sp>
      <p:sp>
        <p:nvSpPr>
          <p:cNvPr id="8" name="stage-193">
            <a:extLst xmlns:a="http://schemas.openxmlformats.org/drawingml/2006/main">
              <a:ext uri="{FF2B5EF4-FFF2-40B4-BE49-F238E27FC236}">
                <a16:creationId xmlns:a16="http://schemas.microsoft.com/office/drawing/2014/main" id="{8A31093B-1864-4E89-A1F5-5EAAB82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94">
            <a:extLst xmlns:a="http://schemas.openxmlformats.org/drawingml/2006/main">
              <a:ext uri="{FF2B5EF4-FFF2-40B4-BE49-F238E27FC236}">
                <a16:creationId xmlns:a16="http://schemas.microsoft.com/office/drawing/2014/main" id="{D47B6CEE-C47A-46D0-97D2-1DE5001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10" name="text-195">
            <a:extLst xmlns:a="http://schemas.openxmlformats.org/drawingml/2006/main">
              <a:ext uri="{FF2B5EF4-FFF2-40B4-BE49-F238E27FC236}">
                <a16:creationId xmlns:a16="http://schemas.microsoft.com/office/drawing/2014/main" id="{89D3E935-CC93-412C-BA56-B661AA76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Trade input count against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prediction performance.</a:t>
            </a:r>
          </a:p>
        </p:txBody>
      </p:sp>
      <p:sp>
        <p:nvSpPr>
          <p:cNvPr id="11" name="stage-196">
            <a:extLst xmlns:a="http://schemas.openxmlformats.org/drawingml/2006/main">
              <a:ext uri="{FF2B5EF4-FFF2-40B4-BE49-F238E27FC236}">
                <a16:creationId xmlns:a16="http://schemas.microsoft.com/office/drawing/2014/main" id="{6AD7F1E6-52BE-4798-9BEE-C0965991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97">
            <a:extLst xmlns:a="http://schemas.openxmlformats.org/drawingml/2006/main">
              <a:ext uri="{FF2B5EF4-FFF2-40B4-BE49-F238E27FC236}">
                <a16:creationId xmlns:a16="http://schemas.microsoft.com/office/drawing/2014/main" id="{C87C0046-A4D0-4AA4-9B9F-BDAD3BE6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Candidate models</a:t>
            </a:r>
          </a:p>
        </p:txBody>
      </p:sp>
      <p:sp>
        <p:nvSpPr>
          <p:cNvPr id="13" name="text-198">
            <a:extLst xmlns:a="http://schemas.openxmlformats.org/drawingml/2006/main">
              <a:ext uri="{FF2B5EF4-FFF2-40B4-BE49-F238E27FC236}">
                <a16:creationId xmlns:a16="http://schemas.microsoft.com/office/drawing/2014/main" id="{84E30964-4657-48E8-88B2-9698DBF0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Offer different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size–performance choices.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72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25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99">
            <a:extLst xmlns:a="http://schemas.openxmlformats.org/drawingml/2006/main">
              <a:ext uri="{FF2B5EF4-FFF2-40B4-BE49-F238E27FC236}">
                <a16:creationId xmlns:a16="http://schemas.microsoft.com/office/drawing/2014/main" id="{1DE7FFF2-446E-4CED-9FA6-C0C655D3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4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supervised prediction task stays fixed throughout the search.</a:t>
            </a:r>
          </a:p>
        </p:txBody>
      </p:sp>
      <p:sp>
        <p:nvSpPr>
          <p:cNvPr id="17" name="text-200">
            <a:extLst xmlns:a="http://schemas.openxmlformats.org/drawingml/2006/main">
              <a:ext uri="{FF2B5EF4-FFF2-40B4-BE49-F238E27FC236}">
                <a16:creationId xmlns:a16="http://schemas.microsoft.com/office/drawing/2014/main" id="{C208803C-D4DE-4BF2-B9FB-D60C36CB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Any benefit must include the preceding audit cost. This extension is outside the core evidence.</a:t>
            </a:r>
          </a:p>
        </p:txBody>
      </p:sp>
    </p:spTree>
    <p:extLst>
      <p:ext uri="{BB962C8B-B14F-4D97-AF65-F5344CB8AC3E}">
        <p14:creationId xmlns:p14="http://schemas.microsoft.com/office/powerpoint/2010/main" val="77220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2026-09-29T16:58:52.2630000Z</dcterms:created>
  <dcterms:modified xsi:type="dcterms:W3CDTF">2026-09-29T16:58:52.2630000Z</dcterms:modified>
</coreProperties>
</file>