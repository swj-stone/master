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3a171b554f4bd1" /><Relationship Type="http://schemas.openxmlformats.org/officeDocument/2006/relationships/extended-properties" Target="/docProps/app.xml" Id="Rb2d105a145254e18" /><Relationship Type="http://schemas.openxmlformats.org/officeDocument/2006/relationships/officeDocument" Target="/ppt/presentation.xml" Id="R07f917942bf547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3e59607bdd4804"/>
  </p:sldMasterIdLst>
  <p:notesMasterIdLst>
    <p:notesMasterId xmlns:r="http://schemas.openxmlformats.org/officeDocument/2006/relationships" r:id="R567fc67d44074edf"/>
  </p:notesMasterIdLst>
  <p:sldIdLst>
    <p:sldId xmlns:r="http://schemas.openxmlformats.org/officeDocument/2006/relationships" id="256" r:id="Rf0900346b30a4833"/>
    <p:sldId xmlns:r="http://schemas.openxmlformats.org/officeDocument/2006/relationships" id="257" r:id="R5486c587aa554d2e"/>
    <p:sldId xmlns:r="http://schemas.openxmlformats.org/officeDocument/2006/relationships" id="258" r:id="Rb075c86d661d46e7"/>
    <p:sldId xmlns:r="http://schemas.openxmlformats.org/officeDocument/2006/relationships" id="259" r:id="R8e7b53ffc48745b8"/>
    <p:sldId xmlns:r="http://schemas.openxmlformats.org/officeDocument/2006/relationships" id="260" r:id="R4e748f191aed4b87"/>
    <p:sldId xmlns:r="http://schemas.openxmlformats.org/officeDocument/2006/relationships" id="261" r:id="R4c728db949004446"/>
    <p:sldId xmlns:r="http://schemas.openxmlformats.org/officeDocument/2006/relationships" id="262" r:id="Rf5762779d9f3448a"/>
    <p:sldId xmlns:r="http://schemas.openxmlformats.org/officeDocument/2006/relationships" id="263" r:id="R5d7b0094c346449e"/>
    <p:sldId xmlns:r="http://schemas.openxmlformats.org/officeDocument/2006/relationships" id="264" r:id="R361b61f121f74441"/>
    <p:sldId xmlns:r="http://schemas.openxmlformats.org/officeDocument/2006/relationships" id="265" r:id="R4b35214b664a4fae"/>
    <p:sldId xmlns:r="http://schemas.openxmlformats.org/officeDocument/2006/relationships" id="266" r:id="R421fc1e338d54326"/>
    <p:sldId xmlns:r="http://schemas.openxmlformats.org/officeDocument/2006/relationships" id="267" r:id="Rb7f32f5062fb40d0"/>
    <p:sldId xmlns:r="http://schemas.openxmlformats.org/officeDocument/2006/relationships" id="268" r:id="R0fe0e204faff4132"/>
    <p:sldId xmlns:r="http://schemas.openxmlformats.org/officeDocument/2006/relationships" id="269" r:id="R97de7730cc9243f4"/>
    <p:sldId xmlns:r="http://schemas.openxmlformats.org/officeDocument/2006/relationships" id="270" r:id="R0d15286eb1c94512"/>
    <p:sldId xmlns:r="http://schemas.openxmlformats.org/officeDocument/2006/relationships" id="271" r:id="Re7d24760eaa249f1"/>
    <p:sldId xmlns:r="http://schemas.openxmlformats.org/officeDocument/2006/relationships" id="272" r:id="Rffe68561cd154207"/>
    <p:sldId xmlns:r="http://schemas.openxmlformats.org/officeDocument/2006/relationships" id="273" r:id="R91c1f0939a6c4e02"/>
    <p:sldId xmlns:r="http://schemas.openxmlformats.org/officeDocument/2006/relationships" id="274" r:id="R9cf4ffcc48074e45"/>
    <p:sldId xmlns:r="http://schemas.openxmlformats.org/officeDocument/2006/relationships" id="275" r:id="R7a74465146da41c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08cb1531fa43a5" /><Relationship Type="http://schemas.openxmlformats.org/officeDocument/2006/relationships/slideMaster" Target="/ppt/slideMasters/slideMaster1.xml" Id="Rce3e59607bdd4804" /><Relationship Type="http://schemas.openxmlformats.org/officeDocument/2006/relationships/notesMaster" Target="/ppt/notesMasters/notesMaster1.xml" Id="R567fc67d44074edf" /><Relationship Type="http://schemas.openxmlformats.org/officeDocument/2006/relationships/presProps" Target="/ppt/presProps.xml" Id="Ra73c8be5e9b44bda" /><Relationship Type="http://schemas.openxmlformats.org/officeDocument/2006/relationships/tableStyles" Target="/ppt/tableStyles.xml" Id="Rd0cb1e9ce2914142" /><Relationship Type="http://schemas.openxmlformats.org/officeDocument/2006/relationships/slide" Target="/ppt/slides/slide1.xml" Id="Rf0900346b30a4833" /><Relationship Type="http://schemas.openxmlformats.org/officeDocument/2006/relationships/slide" Target="/ppt/slides/slide2.xml" Id="R5486c587aa554d2e" /><Relationship Type="http://schemas.openxmlformats.org/officeDocument/2006/relationships/slide" Target="/ppt/slides/slide3.xml" Id="Rb075c86d661d46e7" /><Relationship Type="http://schemas.openxmlformats.org/officeDocument/2006/relationships/slide" Target="/ppt/slides/slide4.xml" Id="R8e7b53ffc48745b8" /><Relationship Type="http://schemas.openxmlformats.org/officeDocument/2006/relationships/slide" Target="/ppt/slides/slide5.xml" Id="R4e748f191aed4b87" /><Relationship Type="http://schemas.openxmlformats.org/officeDocument/2006/relationships/slide" Target="/ppt/slides/slide6.xml" Id="R4c728db949004446" /><Relationship Type="http://schemas.openxmlformats.org/officeDocument/2006/relationships/slide" Target="/ppt/slides/slide7.xml" Id="Rf5762779d9f3448a" /><Relationship Type="http://schemas.openxmlformats.org/officeDocument/2006/relationships/slide" Target="/ppt/slides/slide8.xml" Id="R5d7b0094c346449e" /><Relationship Type="http://schemas.openxmlformats.org/officeDocument/2006/relationships/slide" Target="/ppt/slides/slide9.xml" Id="R361b61f121f74441" /><Relationship Type="http://schemas.openxmlformats.org/officeDocument/2006/relationships/slide" Target="/ppt/slides/slide10.xml" Id="R4b35214b664a4fae" /><Relationship Type="http://schemas.openxmlformats.org/officeDocument/2006/relationships/slide" Target="/ppt/slides/slide11.xml" Id="R421fc1e338d54326" /><Relationship Type="http://schemas.openxmlformats.org/officeDocument/2006/relationships/slide" Target="/ppt/slides/slide12.xml" Id="Rb7f32f5062fb40d0" /><Relationship Type="http://schemas.openxmlformats.org/officeDocument/2006/relationships/slide" Target="/ppt/slides/slide13.xml" Id="R0fe0e204faff4132" /><Relationship Type="http://schemas.openxmlformats.org/officeDocument/2006/relationships/slide" Target="/ppt/slides/slide14.xml" Id="R97de7730cc9243f4" /><Relationship Type="http://schemas.openxmlformats.org/officeDocument/2006/relationships/slide" Target="/ppt/slides/slide15.xml" Id="R0d15286eb1c94512" /><Relationship Type="http://schemas.openxmlformats.org/officeDocument/2006/relationships/slide" Target="/ppt/slides/slide16.xml" Id="Re7d24760eaa249f1" /><Relationship Type="http://schemas.openxmlformats.org/officeDocument/2006/relationships/slide" Target="/ppt/slides/slide17.xml" Id="Rffe68561cd154207" /><Relationship Type="http://schemas.openxmlformats.org/officeDocument/2006/relationships/slide" Target="/ppt/slides/slide18.xml" Id="R91c1f0939a6c4e02" /><Relationship Type="http://schemas.openxmlformats.org/officeDocument/2006/relationships/slide" Target="/ppt/slides/slide19.xml" Id="R9cf4ffcc48074e45" /><Relationship Type="http://schemas.openxmlformats.org/officeDocument/2006/relationships/slide" Target="/ppt/slides/slide20.xml" Id="R7a74465146da41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0448791fde4b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4edcb45244f67" /><Relationship Type="http://schemas.openxmlformats.org/officeDocument/2006/relationships/notesMaster" Target="/ppt/notesMasters/notesMaster1.xml" Id="Raf3e6872fec541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4b898bb73f4d7d" /><Relationship Type="http://schemas.openxmlformats.org/officeDocument/2006/relationships/notesMaster" Target="/ppt/notesMasters/notesMaster1.xml" Id="R34a1cb2c00fa4f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1ffc3dfbb64221" /><Relationship Type="http://schemas.openxmlformats.org/officeDocument/2006/relationships/notesMaster" Target="/ppt/notesMasters/notesMaster1.xml" Id="R7825c24da98a4d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44746a8b474c92" /><Relationship Type="http://schemas.openxmlformats.org/officeDocument/2006/relationships/notesMaster" Target="/ppt/notesMasters/notesMaster1.xml" Id="R3828e47c88b940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5fdc679c2d4827" /><Relationship Type="http://schemas.openxmlformats.org/officeDocument/2006/relationships/notesMaster" Target="/ppt/notesMasters/notesMaster1.xml" Id="R6d0d63d389424e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a1941af55421c" /><Relationship Type="http://schemas.openxmlformats.org/officeDocument/2006/relationships/notesMaster" Target="/ppt/notesMasters/notesMaster1.xml" Id="Re3619c78998a40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97934193984473" /><Relationship Type="http://schemas.openxmlformats.org/officeDocument/2006/relationships/notesMaster" Target="/ppt/notesMasters/notesMaster1.xml" Id="R27b18f549aca48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31ca339b71469e" /><Relationship Type="http://schemas.openxmlformats.org/officeDocument/2006/relationships/notesMaster" Target="/ppt/notesMasters/notesMaster1.xml" Id="R23e70e1380f345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f045179fbc4d04" /><Relationship Type="http://schemas.openxmlformats.org/officeDocument/2006/relationships/notesMaster" Target="/ppt/notesMasters/notesMaster1.xml" Id="R53026cecc28045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3089ba1619409c" /><Relationship Type="http://schemas.openxmlformats.org/officeDocument/2006/relationships/notesMaster" Target="/ppt/notesMasters/notesMaster1.xml" Id="R2e341766a4544b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3315fbd4d54b30" /><Relationship Type="http://schemas.openxmlformats.org/officeDocument/2006/relationships/notesMaster" Target="/ppt/notesMasters/notesMaster1.xml" Id="R53742a22d6bc41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37ebf70be44638" /><Relationship Type="http://schemas.openxmlformats.org/officeDocument/2006/relationships/notesMaster" Target="/ppt/notesMasters/notesMaster1.xml" Id="Rbcfb7b438e0b47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8f0241d9614860" /><Relationship Type="http://schemas.openxmlformats.org/officeDocument/2006/relationships/notesMaster" Target="/ppt/notesMasters/notesMaster1.xml" Id="R0211a3126e6545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f1b65fcb554906" /><Relationship Type="http://schemas.openxmlformats.org/officeDocument/2006/relationships/notesMaster" Target="/ppt/notesMasters/notesMaster1.xml" Id="R88cd6ce2cfcc46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1ae21c734648fd" /><Relationship Type="http://schemas.openxmlformats.org/officeDocument/2006/relationships/notesMaster" Target="/ppt/notesMasters/notesMaster1.xml" Id="Rc9af2f94137846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1542f24bf14f9a" /><Relationship Type="http://schemas.openxmlformats.org/officeDocument/2006/relationships/notesMaster" Target="/ppt/notesMasters/notesMaster1.xml" Id="R5b9f62c786da4c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b4406c98c54b8a" /><Relationship Type="http://schemas.openxmlformats.org/officeDocument/2006/relationships/notesMaster" Target="/ppt/notesMasters/notesMaster1.xml" Id="R36366d7a64e04e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c810ca48a64535" /><Relationship Type="http://schemas.openxmlformats.org/officeDocument/2006/relationships/notesMaster" Target="/ppt/notesMasters/notesMaster1.xml" Id="Rb71952dab7e64e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6587edbc6549d8" /><Relationship Type="http://schemas.openxmlformats.org/officeDocument/2006/relationships/notesMaster" Target="/ppt/notesMasters/notesMaster1.xml" Id="Rf1fe1bf885f54c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0f6826f9dd4054" /><Relationship Type="http://schemas.openxmlformats.org/officeDocument/2006/relationships/notesMaster" Target="/ppt/notesMasters/notesMaster1.xml" Id="R9603596f9a1f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25 秒。研究主题是 MinPPI：在给定模型、数据划分和效用门槛下寻找特征的上下文有害证据，并研究它能否支持特征选择。本次重点讲研究意义、理论和实验设计，实验结果仍在优化，不把阶段性观察当作最终优势。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  <a:p xmlns:a="http://schemas.openxmlformats.org/drawingml/2006/main">
            <a:r>
              <a:t>Original presentation PDF, slide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先解释为什么“多一个特征”不一定更好：我们讨论的是有限数据和固定学习算法下，重新拟合不同子集的实际表现。平均重要性会概括许多上下文，而研究希望保留一个可具体复查的失败上下文。实际意义是为压缩、后续模型维护提供证据，但是否降低成本或改善预测需要单独实验。这里并不声称相关变量都必须删除，也不把负 SHAP 当成有害标签。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35 秒。项目的目标分为三个可检验的问题。第一，有限预算能找全多少有害见证；第二，删除策略在统一容忍度下是否值得；第三，给出的证据能否复查、代价是否透明。这三个问题互相联系，但第一个见证成立并不能直接推出联合删除安全。预期产出是配额条件下的审计方法、精确参照评价以及独立的删除决策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§1.1–1.3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秒。这一页明确学习范式。我们手里有成对的输入 X 和标签 y，模型根据已知标签学习映射，所以六个任务都是监督学习。特征是作为预测输入的一列，不是一个样本，也不是目标标签。以邮件为例，每一行是一封邮件，free 的词频、感叹号频率是输入列，是否垃圾邮件是目标。MinPPI 中的参与者就是当前表示的一列，联盟是一组列。每选一个联盟，都用相同的监督学习模型重新训练，再通过验证标签计算效用。数据集可以被用于其他研究，但当前项目并未执行无监督聚类或强化学习。PCA 是部分数据的表示来源，也不会改变这里的监督分类任务。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C:/work/学校/A.SPBU/paper/ZhaoCHI/Paper/Master/configs/spambase.yaml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秒。按用途介绍理论，不逐个念名词。合作博弈把特征看作参与者。Shapley 和 Banzhaf 的经典思想是平均边际贡献，而本研究问是否存在负向阈值翻转。最小聚合已有 MinShap 等直接前驱，因此不把 min 本身宣称为首创。本文将其特化为固定效用配额的二值博弈。概率论说明发现能力受见证概率限制；多目标优化用于后续的压缩与效用权衡。SHAP 对模型预测的归因与重新训练后的效用博弈需要区分。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Games; Banzhaf (1965), Weighted Voting Doesn’t Work: A Mathematical Analysis.</a:t>
            </a:r>
          </a:p>
          <a:p xmlns:a="http://schemas.openxmlformats.org/drawingml/2006/main">
            <a:r>
              <a:t>Zheng &amp; Raskutti (2026), MinShap: https://arxiv.org/abs/2604.15107</a:t>
            </a:r>
          </a:p>
          <a:p xmlns:a="http://schemas.openxmlformats.org/drawingml/2006/main">
            <a:r>
              <a:t>Lundberg &amp; Lee (2017), SHAP: https://arxiv.org/abs/1705.07874</a:t>
            </a:r>
          </a:p>
          <a:p xmlns:a="http://schemas.openxmlformats.org/drawingml/2006/main">
            <a:r>
              <a:t>Deb et al. (2002), NSGA-II: https://doi.org/10.1109/4235.996017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秒。本页数字仅为教学示例。假设完整特征效用为 0.90，配额为它的 95%，即 0.855。集合 S 的效用 0.87 达标，加上 i 后效用 0.84 不达标，二元边际就是负一。保存特征集合、两侧模型效用和配额就能复查这次负翻转。注意，见证只说明在 S 这个上下文中出现过问题，并没有直接评价从完整集合删除 i 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All numerical utilities on this slide are explicitly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秒。固定数据划分、预处理、学习器、随机种子、效用和配额，才得到本研究讨论的一个固定博弈。这里 U 是验证集上的表现，训练仍只使用训练集。二元博弈可非单调，所以增加特征可能从达标变成不达标。三个值是精确枚举下的定义，0 并不意味着没有预测价值；+1 要求所有上下文都是正向决定，是非常强的条件。MinSS 与 MinBz 的最小值相同，因为各目标排除子集都能作为某种排列的前驱集合，这不意味着经典加权指数相同。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C:/work/学校/A.SPBU/paper/ZhaoCHI/Paper/Master/conference-paper/paper/icomp2026_conference.tex Method / Proposition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秒。算法 A 并不是对所有子集等概率，而是先等概率抽集合大小，再在该大小内等概率抽子集。算法 B 只使用训练侧的互信息和相关结构，不使用精确标签来指导寻找。采样最小值不低于真实最小值，所以负一一旦出现就有证据，但没有出现负一可能只是漏检。最新协议用总边际查询预算统一 A/B，找到了见证的特征会退出轮转。引导是否更好要看数据，不由理论公式自动保证。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§4.4–4.6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秒。数据集中有标签，使我们能够把模型预测与真实目标进行比较，从而定义每个子集的效用。四个二分类使用 ROC AUC，ISOLET 是 26 分类并使用宏平均 one-vs-rest AUC，Abalone 在项目中将 Rings 作为回归目标并用 R² 评价。Madelon 虽然是人工生成数据，仍有标签，因而是监督分类。Abalone 的 Rings 与年龄有关，但本项目直接预测环数，不把年龄另加为输入。行数是项目使用的有标签样本量，列数不含目标。较高维池还会进行训练侧 MI 预筛选到最多100列。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Table: Datasets</a:t>
            </a:r>
          </a:p>
          <a:p xmlns:a="http://schemas.openxmlformats.org/drawingml/2006/main">
            <a:r>
              <a:t>C:/work/学校/A.SPBU/paper/ZhaoCHI/Paper/Master/configs/credit_card_fraud.yaml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https://www.kaggle.com/datasets/mlg-ulb/creditcardfraud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秒。E1 的 35 个游戏已经完成，这是当前最直接的发现能力评价。组成是 Abalone 1 面板、其余三个数据集各 2 面板，再乘 5 个划分。每个八维游戏完整计算 256 个效用，之后 A/B 通过盲查询接口采样，不能访问完整表或精确标签。每个游戏 30 次日程重复，总上限 800 个边际查询。主终点为每次查询后的召回率平均值，也就是归一化召回面积。没有 harmful 的游戏不是失败，召回应记 NA，并保留分母。30 次日程重复也不是 30 个独立数据集。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秒。E2 尚未实施。真实数据很难解释哪些结构导致漏检，所以补三个受控机制。S1 是 logistic(x1+x2) 的二元任务；S2 额外加入 x3=x1+0.1e3、x4=x2+0.1e4；S3 是两变量符号的 XOR，再独立翻转 10% 的标签。每种五个固定实例，各 2,000 行八列。仍用同一模型和完整枚举，避免把生成角色当成审计真值：生成上无关不等于固定样本、模型、配额下有害。所有 15 个槽位都保留，不根据效果更换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 and §23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65 秒。这是应用层面最关键的改进，而且尚未完成。旧方案反复用同一验证集寻找见证和做 gate，新 E4 把验证部分分成独立的选择集与 gate。每种策略只能提交一个候选，gate 不通过就回 full，不能继续尝试直到通过。子集冻结后，统一在非测试 80% 上重新拟合模型，预处理参数仍来自原 64% train。分类允许损失 0.005 AUC，回归 0.01 raw R²。这只是预先固定的有限样本点估计规则，不等于统计上的无损或非劣保证。首批为四数据集各五划分，共 20 个八维决策游戏。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秒。不能只赢过随机删除就认为有实用价值，因此引入简单、可解释的强对照。MI 按互信息，TreeSHAP 按平均绝对归因，静态 LOFO 逐一去掉特征后只计算一次得分，RFE 是同一 XGBoost 上的递归特征消除。portfolio 在选择验证集上合并三种排名的可行前缀，取最大压缩，并计入三个排名的全成本。主比较预先固定为 A 对 portfolio，不能看到 B 的效果后换主比较。逐数据集报告测试效用差，不将 AUC 和 R² 的原始差值直接平均成总体结论。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§7.3–7.4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秒。题目中的多目标特征选择由两个目标构成：保留特征比例和预测损失。一个解只有在至少一项更好、另一项不更差时才支配另一个解，所以最终得到多个折中解。NSGA-II 通过非支配排序和拥挤距离保持这些解的多样性。MinPPI 可在搜索前给出候选过滤，但这是次要应用。p0 必须使用过滤前相同的维数分母。旧实验的种群是 40、每个变体 800 evaluations，超体积参照点 (1.1,1.1)。相同搜索评价次数不代表同端到端耗时，重新比较前要把审计成本纳入。最新路线先完成发现和独立删除实验，再决定是否扩展搜索。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秒。按用户要求结果简要带过。以 9 月 26 日最新台账为准：35 个游戏完整完成，其中 22 个有 harmful，13 个为空；A/B 宏平均召回面积为 0.4012/0.3718，不能宣称 B 更优。该宏平均先在同游戏平均 30 日程，再到面板、数据集，最后四数据集等权，仅有定义游戏进入召回，空游戏仍保留覆盖分母。冷缓存六次检查只表明已访问的效用及轨迹可重现，不证明稳定加速。旧六数据集结果也不建立普遍选择优势。下一步的 E2 和独立 gate/test 决策实验仍未完成。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§1–6</a:t>
            </a:r>
          </a:p>
          <a:p xmlns:a="http://schemas.openxmlformats.org/drawingml/2006/main">
            <a:r>
              <a:t>C:/work/学校/A.SPBU/paper/ZhaoCHI/Paper/Master-mr2/MAJOR_REVISION_WORKPLAN.md Latest recovery entry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秒。结尾回到意义：提供一个可以复查的负向阈值翻转上下文，让特征选择的理由更具体；用精确参照衡量遗漏；再独立评价删除收益与成本。预期贡献不依赖必须证明 B 胜过 A，也不承诺通用选择优势。接下来按固定计划完成合成机制和独立决策实验。主讲至此结束，附录只在提问时使用。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 and §22</a:t>
            </a:r>
          </a:p>
          <a:p xmlns:a="http://schemas.openxmlformats.org/drawingml/2006/main">
            <a:r>
              <a:t>C:/work/学校/A.SPBU/paper/ZhaoCHI/Paper/Master-mr2/MR3_P3_FINDINGS.md Next steps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备用页。第一个结论只针对 support-level minimum，不针对经典带权平均 Shapley–Shubik 与 Banzhaf 指数。对于第二个结论，有限采样子集上的最小值大于等于全域最小值。若固定指导条件下，某个负见证每次被抽到的概率是 rho，独立 K 次至少命中它的概率为 1-(1-rho)^K，因此发现任意负见证的概率至少是这个值。若 rho=0 就没有正的发现保证。条件概率公式不保证引导 B 的 rho 高于随机 A，也不能把自适应全局轮转预算 Q 直接替代局部 IID 次数 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  <a:p xmlns:a="http://schemas.openxmlformats.org/drawingml/2006/main">
            <a:r>
              <a:t>C:/work/学校/A.SPBU/paper/ZhaoCHI/Paper/Master/conference-paper/paper/icomp2026_conference.tex Proposition 1 and finite-budget estimation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备用页。正文数据集属性参考原始发布方；实验数字和状态参考当前项目文件。精确参照游戏使用 64/16/20 划分但不访问 test；计划中的决策实验为 64/8/8/20，两者不是同一个效用博弈。新审计中回归效用为 max(raw R²,0)，同时保存 raw R²，删除 gate 和测试评价使用 raw R²。全部引用和每页中文提示在备注中。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  <a:p xmlns:a="http://schemas.openxmlformats.org/drawingml/2006/main">
            <a:r>
              <a:t>https://doi.org/10.1109/4235.996017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https://www.kaggle.com/datasets/mlg-ulb/creditcardfraud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c6512f95940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75ff950be4fe0" /><Relationship Type="http://schemas.openxmlformats.org/officeDocument/2006/relationships/slideLayout" Target="/ppt/slideLayouts/slideLayout1.xml" Id="Re353b19589a3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3b19589a3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9b7d6e0414446" /><Relationship Type="http://schemas.openxmlformats.org/officeDocument/2006/relationships/notesSlide" Target="/ppt/notesSlides/notesSlide1.xml" Id="Rb35c7a77371648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c2d7bda234762" /><Relationship Type="http://schemas.openxmlformats.org/officeDocument/2006/relationships/notesSlide" Target="/ppt/notesSlides/notesSlide2.xml" Id="Re582bc6b9e18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c2a4b558e4080" /><Relationship Type="http://schemas.openxmlformats.org/officeDocument/2006/relationships/notesSlide" Target="/ppt/notesSlides/notesSlide3.xml" Id="R8e51222de9f842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cdf76d4b640b5" /><Relationship Type="http://schemas.openxmlformats.org/officeDocument/2006/relationships/notesSlide" Target="/ppt/notesSlides/notesSlide4.xml" Id="R9d2b070c356e4b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228985e054406" /><Relationship Type="http://schemas.openxmlformats.org/officeDocument/2006/relationships/notesSlide" Target="/ppt/notesSlides/notesSlide5.xml" Id="Rc75c39a3e87245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4548f2ced47d6" /><Relationship Type="http://schemas.openxmlformats.org/officeDocument/2006/relationships/notesSlide" Target="/ppt/notesSlides/notesSlide6.xml" Id="Rdfc690f32cf841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1acab66444da9" /><Relationship Type="http://schemas.openxmlformats.org/officeDocument/2006/relationships/notesSlide" Target="/ppt/notesSlides/notesSlide7.xml" Id="Ra3faeba9f38b41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8b8bb3924ac8" /><Relationship Type="http://schemas.openxmlformats.org/officeDocument/2006/relationships/notesSlide" Target="/ppt/notesSlides/notesSlide8.xml" Id="Rb48569454a4042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622861d0345ae" /><Relationship Type="http://schemas.openxmlformats.org/officeDocument/2006/relationships/notesSlide" Target="/ppt/notesSlides/notesSlide9.xml" Id="Rb08deccb7e6943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c08ab094b4123" /><Relationship Type="http://schemas.openxmlformats.org/officeDocument/2006/relationships/notesSlide" Target="/ppt/notesSlides/notesSlide10.xml" Id="Ra045573c33cc4a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f94056d80415d" /><Relationship Type="http://schemas.openxmlformats.org/officeDocument/2006/relationships/notesSlide" Target="/ppt/notesSlides/notesSlide11.xml" Id="R21ba0683be864f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e0c84397d48a0" /><Relationship Type="http://schemas.openxmlformats.org/officeDocument/2006/relationships/notesSlide" Target="/ppt/notesSlides/notesSlide12.xml" Id="R01cd3e2ca9cd4f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2e7b6281a47f2" /><Relationship Type="http://schemas.openxmlformats.org/officeDocument/2006/relationships/notesSlide" Target="/ppt/notesSlides/notesSlide13.xml" Id="Re3aa7026013d42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533a64a15447b" /><Relationship Type="http://schemas.openxmlformats.org/officeDocument/2006/relationships/notesSlide" Target="/ppt/notesSlides/notesSlide14.xml" Id="R72d36ef7615a4a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2c646adf84edc" /><Relationship Type="http://schemas.openxmlformats.org/officeDocument/2006/relationships/notesSlide" Target="/ppt/notesSlides/notesSlide15.xml" Id="R1961678171dd45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3433d19614ecd" /><Relationship Type="http://schemas.openxmlformats.org/officeDocument/2006/relationships/notesSlide" Target="/ppt/notesSlides/notesSlide16.xml" Id="R807b35660b234a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573b114bb4bb6" /><Relationship Type="http://schemas.openxmlformats.org/officeDocument/2006/relationships/notesSlide" Target="/ppt/notesSlides/notesSlide17.xml" Id="R3a93df7121544e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aa9be8a8f4b2a" /><Relationship Type="http://schemas.openxmlformats.org/officeDocument/2006/relationships/notesSlide" Target="/ppt/notesSlides/notesSlide18.xml" Id="R7f814162c0ee4b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9523c48084331" /><Relationship Type="http://schemas.openxmlformats.org/officeDocument/2006/relationships/notesSlide" Target="/ppt/notesSlides/notesSlide19.xml" Id="Rbb8c7bdf582e40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1873ca93a4bc8" /><Relationship Type="http://schemas.openxmlformats.org/officeDocument/2006/relationships/notesSlide" Target="/ppt/notesSlides/notesSlide20.xml" Id="R61e96229e0ca46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67CA13BE-D235-449B-BDBF-4E4190F3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129026F-CF6B-4F34-951F-56074118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3462000" cy="123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76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F9E6233-DD70-48F1-9F15-39420E67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3716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8D18ECD-7900-4A35-89EC-C87998E9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384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D2DEE4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D2DEE4"/>
                </a:solidFill>
                <a:latin typeface="Arial"/>
                <a:ea typeface="Arial"/>
                <a:cs typeface="Arial"/>
              </a:rPr>
              <a:t>Research motivation, theoretical basis and experimental design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301EBAD5-213A-4029-A869-5C57061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9DCDBB8-E7BA-48FA-821B-D121F2A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6300"/>
            <a:ext cx="6731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5B73786-E93E-4266-ADD1-4C0EC6E1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4800"/>
            <a:ext cx="9144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1901109-13D1-45D4-8D51-48B1B784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7400"/>
            <a:ext cx="11557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 (AMCP)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40D176BA-018D-4922-B6E0-F4F3B6B7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057900"/>
            <a:ext cx="520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CEC28FD5-DA79-48CF-A3FE-BA080E79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500" y="6616700"/>
            <a:ext cx="4127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Research in progress</a:t>
            </a:r>
          </a:p>
        </p:txBody>
      </p:sp>
    </p:spTree>
    <p:extLst>
      <p:ext uri="{BB962C8B-B14F-4D97-AF65-F5344CB8AC3E}">
        <p14:creationId xmlns:p14="http://schemas.microsoft.com/office/powerpoint/2010/main" val="1258410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EE275DF7-8D9B-4C53-A728-3D863C1F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study contextual harm?</a:t>
            </a:r>
          </a:p>
        </p:txBody>
      </p:sp>
      <p:sp>
        <p:nvSpPr>
          <p:cNvPr id="2" name="rule-12">
            <a:extLst xmlns:a="http://schemas.openxmlformats.org/drawingml/2006/main">
              <a:ext uri="{FF2B5EF4-FFF2-40B4-BE49-F238E27FC236}">
                <a16:creationId xmlns:a16="http://schemas.microsoft.com/office/drawing/2014/main" id="{3D18C9A0-D3FA-45F8-9205-6795FFA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">
            <a:extLst xmlns:a="http://schemas.openxmlformats.org/drawingml/2006/main">
              <a:ext uri="{FF2B5EF4-FFF2-40B4-BE49-F238E27FC236}">
                <a16:creationId xmlns:a16="http://schemas.microsoft.com/office/drawing/2014/main" id="{6FAEE1F5-DE7C-46A1-ABA8-923A74D4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4">
            <a:extLst xmlns:a="http://schemas.openxmlformats.org/drawingml/2006/main">
              <a:ext uri="{FF2B5EF4-FFF2-40B4-BE49-F238E27FC236}">
                <a16:creationId xmlns:a16="http://schemas.microsoft.com/office/drawing/2014/main" id="{3E5B3C5B-C67F-41C4-A286-18374D2E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feature can help on average and still break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 acceptable model in a particular subset.</a:t>
            </a:r>
          </a:p>
        </p:txBody>
      </p:sp>
      <p:sp>
        <p:nvSpPr>
          <p:cNvPr id="5" name="rule-15">
            <a:extLst xmlns:a="http://schemas.openxmlformats.org/drawingml/2006/main">
              <a:ext uri="{FF2B5EF4-FFF2-40B4-BE49-F238E27FC236}">
                <a16:creationId xmlns:a16="http://schemas.microsoft.com/office/drawing/2014/main" id="{1CF331C5-803C-400B-91E5-CC9CC0C0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030D3503-08B4-457D-8238-3BC6C10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4200"/>
            <a:ext cx="6413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Scientific motivation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7106F801-24D5-40A0-AACC-A89E4726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641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Redundancy, interactions and finite-sample fitting can make a variable useful in one subset and harmful in another.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2AAB17D4-7AC5-411C-BE6D-6143FFA7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942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Practical motivation</a:t>
            </a:r>
          </a:p>
        </p:txBody>
      </p:sp>
      <p:sp>
        <p:nvSpPr>
          <p:cNvPr id="9" name="text-19">
            <a:extLst xmlns:a="http://schemas.openxmlformats.org/drawingml/2006/main">
              <a:ext uri="{FF2B5EF4-FFF2-40B4-BE49-F238E27FC236}">
                <a16:creationId xmlns:a16="http://schemas.microsoft.com/office/drawing/2014/main" id="{B778CDB8-4858-4E08-AD75-45350703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27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Fewer input variables may reduce measurement and model cost. A checked failure context gives a concrete reason to test removal.</a:t>
            </a:r>
          </a:p>
        </p:txBody>
      </p:sp>
      <p:sp>
        <p:nvSpPr>
          <p:cNvPr id="10" name="text-20">
            <a:extLst xmlns:a="http://schemas.openxmlformats.org/drawingml/2006/main">
              <a:ext uri="{FF2B5EF4-FFF2-40B4-BE49-F238E27FC236}">
                <a16:creationId xmlns:a16="http://schemas.microsoft.com/office/drawing/2014/main" id="{69E5784E-65D6-4AA4-A728-7AA5406D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525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Potential value: traceable evidence for a selection decision, with utility loss checked separately.</a:t>
            </a:r>
          </a:p>
        </p:txBody>
      </p:sp>
    </p:spTree>
    <p:extLst>
      <p:ext uri="{BB962C8B-B14F-4D97-AF65-F5344CB8AC3E}">
        <p14:creationId xmlns:p14="http://schemas.microsoft.com/office/powerpoint/2010/main" val="720512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">
            <a:extLst xmlns:a="http://schemas.openxmlformats.org/drawingml/2006/main">
              <a:ext uri="{FF2B5EF4-FFF2-40B4-BE49-F238E27FC236}">
                <a16:creationId xmlns:a16="http://schemas.microsoft.com/office/drawing/2014/main" id="{69B50EFB-F77D-41A8-ACD4-064BA1DF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objective and questions</a:t>
            </a:r>
          </a:p>
        </p:txBody>
      </p:sp>
      <p:sp>
        <p:nvSpPr>
          <p:cNvPr id="2" name="rule-22">
            <a:extLst xmlns:a="http://schemas.openxmlformats.org/drawingml/2006/main">
              <a:ext uri="{FF2B5EF4-FFF2-40B4-BE49-F238E27FC236}">
                <a16:creationId xmlns:a16="http://schemas.microsoft.com/office/drawing/2014/main" id="{B7E68583-F3A1-4629-AF8B-EECFB036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E0E5F3CA-97D0-4495-A3D3-5164977B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8E8424FA-A8FD-4FBE-AA49-26F11B17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8200"/>
            <a:ext cx="13716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 verifiable harmful contexts under a limited budget,</a:t>
            </a:r>
          </a:p>
          <a:p xmlns:a="http://schemas.openxmlformats.org/drawingml/2006/main">
            <a:pPr algn="l">
              <a:defRPr sz="33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then test whether they support useful removal decisions.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828E8939-D5AD-4358-844A-A59839B3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0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26">
            <a:extLst xmlns:a="http://schemas.openxmlformats.org/drawingml/2006/main">
              <a:ext uri="{FF2B5EF4-FFF2-40B4-BE49-F238E27FC236}">
                <a16:creationId xmlns:a16="http://schemas.microsoft.com/office/drawing/2014/main" id="{B193BB49-856B-49F5-996F-1DCCADC6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670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 completeness</a:t>
            </a: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E3BF445-8C32-4372-A9F5-43645CFB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292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Exact small-game labels measure recall and missed witnesses at a fixed query budget.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AF7814B4-3ACC-4879-AFC4-FC70CCAF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6912B70C-6F8B-46B2-A52E-6C4D6D66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080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 value</a:t>
            </a: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074919F8-1580-4D7B-A634-9D00420B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02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compression and test loss with MI, SHAP, LOFO, RFE and a portfolio.</a:t>
            </a:r>
          </a:p>
        </p:txBody>
      </p:sp>
      <p:sp>
        <p:nvSpPr>
          <p:cNvPr id="11" name="text-31">
            <a:extLst xmlns:a="http://schemas.openxmlformats.org/drawingml/2006/main">
              <a:ext uri="{FF2B5EF4-FFF2-40B4-BE49-F238E27FC236}">
                <a16:creationId xmlns:a16="http://schemas.microsoft.com/office/drawing/2014/main" id="{1D2D0612-38D9-48BA-B1B5-C81836B4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97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32">
            <a:extLst xmlns:a="http://schemas.openxmlformats.org/drawingml/2006/main">
              <a:ext uri="{FF2B5EF4-FFF2-40B4-BE49-F238E27FC236}">
                <a16:creationId xmlns:a16="http://schemas.microsoft.com/office/drawing/2014/main" id="{14CFE479-820D-490D-B428-725534C9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897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Explanation and cost</a:t>
            </a:r>
          </a:p>
        </p:txBody>
      </p:sp>
      <p:sp>
        <p:nvSpPr>
          <p:cNvPr id="13" name="text-33">
            <a:extLst xmlns:a="http://schemas.openxmlformats.org/drawingml/2006/main">
              <a:ext uri="{FF2B5EF4-FFF2-40B4-BE49-F238E27FC236}">
                <a16:creationId xmlns:a16="http://schemas.microsoft.com/office/drawing/2014/main" id="{A5FE9F75-AAAA-4362-9CAD-81609EB3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71120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Record the subset, both utilities and quota. Count queries, fits and total time.</a:t>
            </a:r>
          </a:p>
        </p:txBody>
      </p:sp>
    </p:spTree>
    <p:extLst>
      <p:ext uri="{BB962C8B-B14F-4D97-AF65-F5344CB8AC3E}">
        <p14:creationId xmlns:p14="http://schemas.microsoft.com/office/powerpoint/2010/main" val="30333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39A54902-0927-4DCA-BEA0-04C76D7E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Learning setting: supervised feature selection</a:t>
            </a:r>
          </a:p>
        </p:txBody>
      </p:sp>
      <p:sp>
        <p:nvSpPr>
          <p:cNvPr id="2" name="rule-35">
            <a:extLst xmlns:a="http://schemas.openxmlformats.org/drawingml/2006/main">
              <a:ext uri="{FF2B5EF4-FFF2-40B4-BE49-F238E27FC236}">
                <a16:creationId xmlns:a16="http://schemas.microsoft.com/office/drawing/2014/main" id="{596B607F-2273-40DD-80BF-C566466D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69F5485E-6ADA-44AF-BC29-34EBC6AA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52345676-3E5A-41AC-9C98-F65F3D5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Each observation has input variables X and a known target y.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353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94000"/>
                <a:gridCol w="5651500"/>
                <a:gridCol w="5270500"/>
              </a:tblGrid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this project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Example: an email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Sample / row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labeled observation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email with its spam label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Feature / column xᵢ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predictor available to the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word_freq_free or char_freq_!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 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outcome to predict, excluded from X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is_spam: 1 or 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 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selected group of input columns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word frequencies + capital count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7E767731-F1B4-4CA9-A058-0546121D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9100"/>
            <a:ext cx="13716000" cy="7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For each S: fit XGBoost on labeled training rows, then compute U(S) on validation rows.</a:t>
            </a:r>
          </a:p>
        </p:txBody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5B27ACF1-4AF7-40A6-9EB6-5C38CE5F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54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Classification and regression. No clustering objective or agent–environment reward loop.</a:t>
            </a:r>
          </a:p>
        </p:txBody>
      </p:sp>
    </p:spTree>
    <p:extLst>
      <p:ext uri="{BB962C8B-B14F-4D97-AF65-F5344CB8AC3E}">
        <p14:creationId xmlns:p14="http://schemas.microsoft.com/office/powerpoint/2010/main" val="1941178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83A047D0-4053-40AA-83A8-DC95D9BC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Theoretical foundations</a:t>
            </a:r>
          </a:p>
        </p:txBody>
      </p:sp>
      <p:sp>
        <p:nvSpPr>
          <p:cNvPr id="2" name="rule-41">
            <a:extLst xmlns:a="http://schemas.openxmlformats.org/drawingml/2006/main">
              <a:ext uri="{FF2B5EF4-FFF2-40B4-BE49-F238E27FC236}">
                <a16:creationId xmlns:a16="http://schemas.microsoft.com/office/drawing/2014/main" id="{18F6C6C3-BBC7-4E59-8DA0-63DEEDB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C1A6E942-0090-462B-9802-E5AF2D62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247900"/>
          <a:ext xmlns:a="http://schemas.openxmlformats.org/drawingml/2006/main" cx="137160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54500"/>
                <a:gridCol w="9461500"/>
              </a:tblGrid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Foundation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this project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Cooperative games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Features are players. A coalition is a feature subset.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Shapley / Banzhaf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Average marginal effects with different subset weights.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Minimum aggregation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MinShap is a direct predecessor. MinPPI uses a binary quota game.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Probability and sampling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Witness probability controls finite-budget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Pareto optimization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NSGA-II studies the trade-off between subset size and utility.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D1A7A6F3-700D-4F97-BE9D-B4B153A6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13462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Contribution focus: quota-conditioned witness semantics and an auditable evaluation procedure.</a:t>
            </a:r>
          </a:p>
        </p:txBody>
      </p:sp>
    </p:spTree>
    <p:extLst>
      <p:ext uri="{BB962C8B-B14F-4D97-AF65-F5344CB8AC3E}">
        <p14:creationId xmlns:p14="http://schemas.microsoft.com/office/powerpoint/2010/main" val="456344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4">
            <a:extLst xmlns:a="http://schemas.openxmlformats.org/drawingml/2006/main">
              <a:ext uri="{FF2B5EF4-FFF2-40B4-BE49-F238E27FC236}">
                <a16:creationId xmlns:a16="http://schemas.microsoft.com/office/drawing/2014/main" id="{A4372CEE-2867-442B-8E82-C56F39A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witness of harm</a:t>
            </a:r>
          </a:p>
        </p:txBody>
      </p:sp>
      <p:sp>
        <p:nvSpPr>
          <p:cNvPr id="2" name="rule-45">
            <a:extLst xmlns:a="http://schemas.openxmlformats.org/drawingml/2006/main">
              <a:ext uri="{FF2B5EF4-FFF2-40B4-BE49-F238E27FC236}">
                <a16:creationId xmlns:a16="http://schemas.microsoft.com/office/drawing/2014/main" id="{CD746969-D15C-4E6F-8ECA-3330678A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31907137-9AC5-49C8-A394-1CDD426A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AEDF2786-4E35-4C32-B8AD-03560935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0100"/>
            <a:ext cx="13716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Illustrative values, not an experimental result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8DFF23CE-301D-47B9-9E48-F8666FA9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5900"/>
            <a:ext cx="13843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Full-set utility = 0.90       α = 0.95       Quota q = 0.855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3911600"/>
          <a:ext xmlns:a="http://schemas.openxmlformats.org/drawingml/2006/main" cx="13716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02500"/>
                <a:gridCol w="2222500"/>
                <a:gridCol w="4191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Evaluated subset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Utility U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Quota outcome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S, before adding feature i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0.87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Pass: v(S) = 1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 ∪ {i}, after adding i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0.84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Fail: v(S ∪ {i}) = 0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38FF4CE5-51CA-4804-8C20-D1E5145D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5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Marginal change: 0 − 1 = −1</a:t>
            </a:r>
          </a:p>
        </p:txBody>
      </p:sp>
      <p:sp>
        <p:nvSpPr>
          <p:cNvPr id="8" name="text-50">
            <a:extLst xmlns:a="http://schemas.openxmlformats.org/drawingml/2006/main">
              <a:ext uri="{FF2B5EF4-FFF2-40B4-BE49-F238E27FC236}">
                <a16:creationId xmlns:a16="http://schemas.microsoft.com/office/drawing/2014/main" id="{77500107-7E4A-4562-AE73-A56A596C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66000"/>
            <a:ext cx="137160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two evaluated subsets form a witness that can be checked again.</a:t>
            </a:r>
          </a:p>
        </p:txBody>
      </p:sp>
    </p:spTree>
    <p:extLst>
      <p:ext uri="{BB962C8B-B14F-4D97-AF65-F5344CB8AC3E}">
        <p14:creationId xmlns:p14="http://schemas.microsoft.com/office/powerpoint/2010/main" val="2082175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1">
            <a:extLst xmlns:a="http://schemas.openxmlformats.org/drawingml/2006/main">
              <a:ext uri="{FF2B5EF4-FFF2-40B4-BE49-F238E27FC236}">
                <a16:creationId xmlns:a16="http://schemas.microsoft.com/office/drawing/2014/main" id="{C0CED73B-074C-4237-863F-1C7A48AF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in a fixed utility game</a:t>
            </a:r>
          </a:p>
        </p:txBody>
      </p:sp>
      <p:sp>
        <p:nvSpPr>
          <p:cNvPr id="2" name="rule-52">
            <a:extLst xmlns:a="http://schemas.openxmlformats.org/drawingml/2006/main">
              <a:ext uri="{FF2B5EF4-FFF2-40B4-BE49-F238E27FC236}">
                <a16:creationId xmlns:a16="http://schemas.microsoft.com/office/drawing/2014/main" id="{D3FCDB5F-55D9-48BE-B65C-6A8DB74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B47F1AC7-15C0-4AEB-B642-36182DEC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3786DCC8-55FC-43CC-A552-658BCA7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09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A2FB0AF8-BDED-4AF9-822F-1D42CC0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AA518CD6-2C18-4F4B-9072-7C4DFBA9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D is the analyzed feature set. U(D) &gt; 0. The default quota is α = 0.95.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5C69290A-7AA2-40F2-90DA-4A85D812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U: ROC AUC (binary), macro OVR AUC (multiclass), max(R², 0) (regression).</a:t>
            </a:r>
          </a:p>
        </p:txBody>
      </p:sp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4C2ECB18-307F-435D-9E57-F6F58756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AD869DF1-A422-41FA-87C2-B1852F7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Harmful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2661F0CD-DDE2-4B7D-969A-E1CEC6F1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At least one context changes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from pass to fail.</a:t>
            </a:r>
          </a:p>
        </p:txBody>
      </p:sp>
      <p:sp>
        <p:nvSpPr>
          <p:cNvPr id="11" name="text-61">
            <a:extLst xmlns:a="http://schemas.openxmlformats.org/drawingml/2006/main">
              <a:ext uri="{FF2B5EF4-FFF2-40B4-BE49-F238E27FC236}">
                <a16:creationId xmlns:a16="http://schemas.microsoft.com/office/drawing/2014/main" id="{3177F0FB-5505-4EB7-8AC3-3A85FDF7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5266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-62">
            <a:extLst xmlns:a="http://schemas.openxmlformats.org/drawingml/2006/main">
              <a:ext uri="{FF2B5EF4-FFF2-40B4-BE49-F238E27FC236}">
                <a16:creationId xmlns:a16="http://schemas.microsoft.com/office/drawing/2014/main" id="{D04625C7-C1FA-4A3C-8BFA-76A80DC8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Neutral at the minimum</a:t>
            </a:r>
          </a:p>
        </p:txBody>
      </p:sp>
      <p:sp>
        <p:nvSpPr>
          <p:cNvPr id="13" name="text-63">
            <a:extLst xmlns:a="http://schemas.openxmlformats.org/drawingml/2006/main">
              <a:ext uri="{FF2B5EF4-FFF2-40B4-BE49-F238E27FC236}">
                <a16:creationId xmlns:a16="http://schemas.microsoft.com/office/drawing/2014/main" id="{78DBCD1B-AB5E-46DD-BFAE-7D0DC11C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No negative context exists,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not every context is positive.</a:t>
            </a:r>
          </a:p>
        </p:txBody>
      </p:sp>
      <p:sp>
        <p:nvSpPr>
          <p:cNvPr id="14" name="text-64">
            <a:extLst xmlns:a="http://schemas.openxmlformats.org/drawingml/2006/main">
              <a:ext uri="{FF2B5EF4-FFF2-40B4-BE49-F238E27FC236}">
                <a16:creationId xmlns:a16="http://schemas.microsoft.com/office/drawing/2014/main" id="{36E3199A-3150-43D5-9517-1E47DD2D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15" name="text-65">
            <a:extLst xmlns:a="http://schemas.openxmlformats.org/drawingml/2006/main">
              <a:ext uri="{FF2B5EF4-FFF2-40B4-BE49-F238E27FC236}">
                <a16:creationId xmlns:a16="http://schemas.microsoft.com/office/drawing/2014/main" id="{6926868C-6920-4C28-8702-92D5EE06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Universally decisive</a:t>
            </a:r>
          </a:p>
        </p:txBody>
      </p:sp>
      <p:sp>
        <p:nvSpPr>
          <p:cNvPr id="16" name="text-66">
            <a:extLst xmlns:a="http://schemas.openxmlformats.org/drawingml/2006/main">
              <a:ext uri="{FF2B5EF4-FFF2-40B4-BE49-F238E27FC236}">
                <a16:creationId xmlns:a16="http://schemas.microsoft.com/office/drawing/2014/main" id="{257B337A-5314-4C35-B18B-CBBC116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Every context changes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from fail to pass.</a:t>
            </a:r>
          </a:p>
        </p:txBody>
      </p:sp>
    </p:spTree>
    <p:extLst>
      <p:ext uri="{BB962C8B-B14F-4D97-AF65-F5344CB8AC3E}">
        <p14:creationId xmlns:p14="http://schemas.microsoft.com/office/powerpoint/2010/main" val="772576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67">
            <a:extLst xmlns:a="http://schemas.openxmlformats.org/drawingml/2006/main">
              <a:ext uri="{FF2B5EF4-FFF2-40B4-BE49-F238E27FC236}">
                <a16:creationId xmlns:a16="http://schemas.microsoft.com/office/drawing/2014/main" id="{BFD80FF3-A7DE-4550-A87A-F7FED81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Finite-budget witness search</a:t>
            </a:r>
          </a:p>
        </p:txBody>
      </p:sp>
      <p:sp>
        <p:nvSpPr>
          <p:cNvPr id="2" name="rule-68">
            <a:extLst xmlns:a="http://schemas.openxmlformats.org/drawingml/2006/main">
              <a:ext uri="{FF2B5EF4-FFF2-40B4-BE49-F238E27FC236}">
                <a16:creationId xmlns:a16="http://schemas.microsoft.com/office/drawing/2014/main" id="{41CADE47-0BF7-4415-9F4C-D0A014C6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DA5533C4-0EF6-4621-9822-9DAFE1A4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F21DCCCE-3D2E-4643-A3A1-3FA327D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Algorithm A: random contexts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321868A2-2131-45D0-8169-8AF14687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02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 a subset size uniformly, then sample a subset of that size.</a:t>
            </a:r>
          </a:p>
        </p:txBody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E1BBDE7E-68A4-40AA-A707-A82AF5A4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Algorithm B: guided contexts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3FFF4898-0A63-4607-8D90-9C7BCD3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02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Build a seed using training mutual information (MI) and correlations, then perturb it.</a:t>
            </a:r>
          </a:p>
        </p:txBody>
      </p:sp>
      <p:sp>
        <p:nvSpPr>
          <p:cNvPr id="8" name="rule-74">
            <a:extLst xmlns:a="http://schemas.openxmlformats.org/drawingml/2006/main">
              <a:ext uri="{FF2B5EF4-FFF2-40B4-BE49-F238E27FC236}">
                <a16:creationId xmlns:a16="http://schemas.microsoft.com/office/drawing/2014/main" id="{155BF676-76F4-485F-9C88-752C2506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9" name="text-75">
            <a:extLst xmlns:a="http://schemas.openxmlformats.org/drawingml/2006/main">
              <a:ext uri="{FF2B5EF4-FFF2-40B4-BE49-F238E27FC236}">
                <a16:creationId xmlns:a16="http://schemas.microsoft.com/office/drawing/2014/main" id="{A413CAF4-40DD-4E2C-A16E-39C6516E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419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Observed −1</a:t>
            </a:r>
          </a:p>
        </p:txBody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B26F1E52-CF52-4672-80DD-CB1F90B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5105400"/>
            <a:ext cx="901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checked negative crossing certifies this fixed game.</a:t>
            </a:r>
          </a:p>
        </p:txBody>
      </p:sp>
      <p:sp>
        <p:nvSpPr>
          <p:cNvPr id="11" name="text-77">
            <a:extLst xmlns:a="http://schemas.openxmlformats.org/drawingml/2006/main">
              <a:ext uri="{FF2B5EF4-FFF2-40B4-BE49-F238E27FC236}">
                <a16:creationId xmlns:a16="http://schemas.microsoft.com/office/drawing/2014/main" id="{88B1E46A-F731-45DC-BCD1-8DC6AC58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1900"/>
            <a:ext cx="419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No observed −1</a:t>
            </a:r>
          </a:p>
        </p:txBody>
      </p:sp>
      <p:sp>
        <p:nvSpPr>
          <p:cNvPr id="12" name="text-78">
            <a:extLst xmlns:a="http://schemas.openxmlformats.org/drawingml/2006/main">
              <a:ext uri="{FF2B5EF4-FFF2-40B4-BE49-F238E27FC236}">
                <a16:creationId xmlns:a16="http://schemas.microsoft.com/office/drawing/2014/main" id="{966F8924-FF5D-441F-A2FC-9879BD9B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6324600"/>
            <a:ext cx="901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 unvisited context may still contain a harmful witness.</a:t>
            </a:r>
          </a:p>
        </p:txBody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1EF1E761-FD91-4C40-9A96-87C68FD3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52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Compare A and B at the same total query cap. Guidance is a hypothesis to test.</a:t>
            </a:r>
          </a:p>
        </p:txBody>
      </p:sp>
    </p:spTree>
    <p:extLst>
      <p:ext uri="{BB962C8B-B14F-4D97-AF65-F5344CB8AC3E}">
        <p14:creationId xmlns:p14="http://schemas.microsoft.com/office/powerpoint/2010/main" val="13772019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80">
            <a:extLst xmlns:a="http://schemas.openxmlformats.org/drawingml/2006/main">
              <a:ext uri="{FF2B5EF4-FFF2-40B4-BE49-F238E27FC236}">
                <a16:creationId xmlns:a16="http://schemas.microsoft.com/office/drawing/2014/main" id="{CCF4669F-D6C4-4EE0-9459-10F5D7BD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Dataset tasks, targets and evaluation metrics</a:t>
            </a:r>
          </a:p>
        </p:txBody>
      </p:sp>
      <p:sp>
        <p:nvSpPr>
          <p:cNvPr id="2" name="rule-81">
            <a:extLst xmlns:a="http://schemas.openxmlformats.org/drawingml/2006/main">
              <a:ext uri="{FF2B5EF4-FFF2-40B4-BE49-F238E27FC236}">
                <a16:creationId xmlns:a16="http://schemas.microsoft.com/office/drawing/2014/main" id="{811F19BF-D8C2-47AA-9CD3-68083E1A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CAA658F1-03B2-4B90-9568-250BD3B2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14E4AF94-FFBA-49B9-9622-151AB5B0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3716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six datasets serve supervised learning in this project.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781300"/>
          <a:ext xmlns:a="http://schemas.openxmlformats.org/drawingml/2006/main" cx="13716000" cy="436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30500"/>
                <a:gridCol w="2476500"/>
                <a:gridCol w="3810000"/>
                <a:gridCol w="2349500"/>
                <a:gridCol w="2349500"/>
              </a:tblGrid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 / inputs¹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/ 57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 / non-spam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/ 500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Synthetic class ±1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/ 5,000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Digit 4 / 9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/ 617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Spoken letter A–Z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26 classes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OVR AUC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/ 29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Fraud: 1 / 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/ 8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Rings count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Regression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FD9C9462-6C65-43DD-94AE-2ECEBC8F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¹ Project input pools. Madelon/Gisette use labeled train + validation rows. Fraud excludes Time.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E1F190CE-1E8A-49C6-AC77-23E642B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5100"/>
            <a:ext cx="134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Train-only preprocessing caps large pools at 100 inputs. A leakage audit excluded Communities &amp; Crime.</a:t>
            </a:r>
          </a:p>
        </p:txBody>
      </p:sp>
    </p:spTree>
    <p:extLst>
      <p:ext uri="{BB962C8B-B14F-4D97-AF65-F5344CB8AC3E}">
        <p14:creationId xmlns:p14="http://schemas.microsoft.com/office/powerpoint/2010/main" val="2781181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6">
            <a:extLst xmlns:a="http://schemas.openxmlformats.org/drawingml/2006/main">
              <a:ext uri="{FF2B5EF4-FFF2-40B4-BE49-F238E27FC236}">
                <a16:creationId xmlns:a16="http://schemas.microsoft.com/office/drawing/2014/main" id="{2A98A17E-7781-410B-8CFA-910A4E1E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features and their role in MinPPI (1/2)</a:t>
            </a:r>
          </a:p>
        </p:txBody>
      </p:sp>
      <p:sp>
        <p:nvSpPr>
          <p:cNvPr id="2" name="rule-87">
            <a:extLst xmlns:a="http://schemas.openxmlformats.org/drawingml/2006/main">
              <a:ext uri="{FF2B5EF4-FFF2-40B4-BE49-F238E27FC236}">
                <a16:creationId xmlns:a16="http://schemas.microsoft.com/office/drawing/2014/main" id="{4A299136-2F64-4CBC-8F04-046FE7C4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E4005C09-CE4A-4932-BEF0-49E4EC5D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Observable text statistics make subset witnesses easier to interpret. Real binary data complements synthetic structure.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redundancy and distractors test discovery under nonlinear interactions.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High dimensional, nonlinear visual features stress screening and search cost. The project analyzes a train-selected pool.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718A694D-9503-4B6B-B566-FCB74438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1837372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734BAC6B-E63E-4723-BC37-1DCCD1E9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features and their role in MinPPI (2/2)</a:t>
            </a:r>
          </a:p>
        </p:txBody>
      </p:sp>
      <p:sp>
        <p:nvSpPr>
          <p:cNvPr id="2" name="rule-91">
            <a:extLst xmlns:a="http://schemas.openxmlformats.org/drawingml/2006/main">
              <a:ext uri="{FF2B5EF4-FFF2-40B4-BE49-F238E27FC236}">
                <a16:creationId xmlns:a16="http://schemas.microsoft.com/office/drawing/2014/main" id="{F812E731-DE63-480B-857E-9E296FEF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2">
            <a:extLst xmlns:a="http://schemas.openxmlformats.org/drawingml/2006/main">
              <a:ext uri="{FF2B5EF4-FFF2-40B4-BE49-F238E27FC236}">
                <a16:creationId xmlns:a16="http://schemas.microsoft.com/office/drawing/2014/main" id="{034BF99F-6E2F-4050-9C2D-300EE87E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D2220517-7039-4AD3-A9AF-708A2860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Labeled rows allow retraining on X[S] and measuring U(S). Harm depends on the model, split and quota.</a:t>
            </a:r>
          </a:p>
        </p:txBody>
      </p:sp>
    </p:spTree>
    <p:extLst>
      <p:ext uri="{BB962C8B-B14F-4D97-AF65-F5344CB8AC3E}">
        <p14:creationId xmlns:p14="http://schemas.microsoft.com/office/powerpoint/2010/main" val="21079111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4">
            <a:extLst xmlns:a="http://schemas.openxmlformats.org/drawingml/2006/main">
              <a:ext uri="{FF2B5EF4-FFF2-40B4-BE49-F238E27FC236}">
                <a16:creationId xmlns:a16="http://schemas.microsoft.com/office/drawing/2014/main" id="{C05486E8-8DF9-4395-9B3B-0E8527A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Experiment 1: discovery against exact references</a:t>
            </a:r>
          </a:p>
        </p:txBody>
      </p:sp>
      <p:sp>
        <p:nvSpPr>
          <p:cNvPr id="2" name="rule-95">
            <a:extLst xmlns:a="http://schemas.openxmlformats.org/drawingml/2006/main">
              <a:ext uri="{FF2B5EF4-FFF2-40B4-BE49-F238E27FC236}">
                <a16:creationId xmlns:a16="http://schemas.microsoft.com/office/drawing/2014/main" id="{F677FC07-B607-4A80-94F4-1B8FCFF6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CF2BC13C-FA62-4439-A056-8567F10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FCDBD285-11B3-4C1C-8B78-BE41AF87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66675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35 fixed games</a:t>
            </a:r>
          </a:p>
        </p:txBody>
      </p:sp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9A251C6E-173E-4C08-A3A0-D3934A9F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6400"/>
            <a:ext cx="6985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Abalone, Spambase, Madelon, credit-card fraud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7 panels × 5 fixed data splits</a:t>
            </a:r>
          </a:p>
        </p:txBody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72D31A69-DF21-44FB-8C31-97129386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6500"/>
            <a:ext cx="717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256 subset utilities per game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3A4FE700-A86F-4224-9B96-23A2833A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6985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Abalone: all 8 inputs. Other datasets: MI top8 and MI top4 + random4 panels.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D6264AD9-CB6F-4AD0-9FCE-66D6ADFB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9055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Fair A/B comparison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DDA07A5F-D8AE-4D2E-BD07-FD87797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5778500" cy="19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30 paired sampling schedules per game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Total marginal-query cap Q = 800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Sampler sees only its requested utilities</a:t>
            </a:r>
          </a:p>
        </p:txBody>
      </p:sp>
      <p:sp>
        <p:nvSpPr>
          <p:cNvPr id="10" name="rule-103">
            <a:extLst xmlns:a="http://schemas.openxmlformats.org/drawingml/2006/main">
              <a:ext uri="{FF2B5EF4-FFF2-40B4-BE49-F238E27FC236}">
                <a16:creationId xmlns:a16="http://schemas.microsoft.com/office/drawing/2014/main" id="{A5C8F007-D047-44A0-B73C-C20A88F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8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1" name="text-104">
            <a:extLst xmlns:a="http://schemas.openxmlformats.org/drawingml/2006/main">
              <a:ext uri="{FF2B5EF4-FFF2-40B4-BE49-F238E27FC236}">
                <a16:creationId xmlns:a16="http://schemas.microsoft.com/office/drawing/2014/main" id="{B531000F-541A-4600-AA97-E92A479F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7600"/>
            <a:ext cx="48895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Primary endpoint</a:t>
            </a:r>
          </a:p>
        </p:txBody>
      </p:sp>
      <p:sp>
        <p:nvSpPr>
          <p:cNvPr id="12" name="text-105">
            <a:extLst xmlns:a="http://schemas.openxmlformats.org/drawingml/2006/main">
              <a:ext uri="{FF2B5EF4-FFF2-40B4-BE49-F238E27FC236}">
                <a16:creationId xmlns:a16="http://schemas.microsoft.com/office/drawing/2014/main" id="{98012C43-E4C1-407F-B519-A8BD3D0A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6197600"/>
            <a:ext cx="8636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Recall across the full query budget, summarized by recall area.</a:t>
            </a:r>
          </a:p>
        </p:txBody>
      </p:sp>
      <p:sp>
        <p:nvSpPr>
          <p:cNvPr id="13" name="text-106">
            <a:extLst xmlns:a="http://schemas.openxmlformats.org/drawingml/2006/main">
              <a:ext uri="{FF2B5EF4-FFF2-40B4-BE49-F238E27FC236}">
                <a16:creationId xmlns:a16="http://schemas.microsoft.com/office/drawing/2014/main" id="{4985115F-E0E1-4E0F-8EF7-35DFE466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Exact labels belong to each 8-feature panel. Empty harmful sets have undefined recall.</a:t>
            </a:r>
          </a:p>
        </p:txBody>
      </p:sp>
    </p:spTree>
    <p:extLst>
      <p:ext uri="{BB962C8B-B14F-4D97-AF65-F5344CB8AC3E}">
        <p14:creationId xmlns:p14="http://schemas.microsoft.com/office/powerpoint/2010/main" val="2929525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775C661D-C1A7-42A1-B120-6671FAFD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Planned experiment 2: controlled mechanisms</a:t>
            </a:r>
          </a:p>
        </p:txBody>
      </p:sp>
      <p:sp>
        <p:nvSpPr>
          <p:cNvPr id="2" name="rule-108">
            <a:extLst xmlns:a="http://schemas.openxmlformats.org/drawingml/2006/main">
              <a:ext uri="{FF2B5EF4-FFF2-40B4-BE49-F238E27FC236}">
                <a16:creationId xmlns:a16="http://schemas.microsoft.com/office/drawing/2014/main" id="{BE4429F9-C54F-401E-8989-B5FDE98B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A442CC89-1201-47ED-A64F-F334DD3C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93A9CD27-BBA9-4F3A-9827-4D20ADB1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15 prespecified instances: 3 mechanisms × 5 instances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3098800"/>
          <a:ext xmlns:a="http://schemas.openxmlformats.org/drawingml/2006/main" cx="13716000" cy="359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75000"/>
                <a:gridCol w="5397500"/>
                <a:gridCol w="5143500"/>
              </a:tblGrid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it isolates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Additive signal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signal variables + six irrelevant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Does irrelevant input produce harmful contexts?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signal variables + two noisy proxies + four irrelevant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does redundancy change witness discovery?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Noisy XOR of two variables + six irrelevant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Can sampling recover contexts driven by interactions?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11">
            <a:extLst xmlns:a="http://schemas.openxmlformats.org/drawingml/2006/main">
              <a:ext uri="{FF2B5EF4-FFF2-40B4-BE49-F238E27FC236}">
                <a16:creationId xmlns:a16="http://schemas.microsoft.com/office/drawing/2014/main" id="{2CA39C9F-112B-4CE4-9C30-D04C6138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723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Each instance: 2,000 rows, 8 features, full enumeration and the same A/B budget.</a:t>
            </a:r>
          </a:p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3E8518F1-FF59-4950-8B3B-719D98A4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581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 variable’s generating role does not determine its MinPPI label.</a:t>
            </a:r>
          </a:p>
        </p:txBody>
      </p:sp>
    </p:spTree>
    <p:extLst>
      <p:ext uri="{BB962C8B-B14F-4D97-AF65-F5344CB8AC3E}">
        <p14:creationId xmlns:p14="http://schemas.microsoft.com/office/powerpoint/2010/main" val="1900162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A55E902C-B021-4FC5-B836-FF1C3F7C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Planned experiment 3: removal decisions</a:t>
            </a:r>
          </a:p>
        </p:txBody>
      </p:sp>
      <p:sp>
        <p:nvSpPr>
          <p:cNvPr id="2" name="rule-114">
            <a:extLst xmlns:a="http://schemas.openxmlformats.org/drawingml/2006/main">
              <a:ext uri="{FF2B5EF4-FFF2-40B4-BE49-F238E27FC236}">
                <a16:creationId xmlns:a16="http://schemas.microsoft.com/office/drawing/2014/main" id="{D83A6C5F-EB4D-4146-A703-C0C8B38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B90E2161-9C8A-4F36-ACE9-E0859BC5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393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1778000"/>
                <a:gridCol w="8001000"/>
              </a:tblGrid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role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Permitted use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64%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Fit preprocessing, models and feature rankings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Selection validation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Audit contexts and choose one candidate per strategy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Independent gate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Accept the candidate or revert to the full set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Held-out test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Evaluate the frozen decision after refitting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65C8B672-EB77-486A-B162-8B16C67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62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Gate rule: candidate loss ≤ 0.005 AUC or ≤ 0.01 raw R²</a:t>
            </a:r>
          </a:p>
        </p:txBody>
      </p:sp>
      <p:sp>
        <p:nvSpPr>
          <p:cNvPr id="6" name="text-117">
            <a:extLst xmlns:a="http://schemas.openxmlformats.org/drawingml/2006/main">
              <a:ext uri="{FF2B5EF4-FFF2-40B4-BE49-F238E27FC236}">
                <a16:creationId xmlns:a16="http://schemas.microsoft.com/office/drawing/2014/main" id="{A3334B73-4CA1-4EF3-B578-E2E51C69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533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verified local witness alone does not establish that joint removal is useful.</a:t>
            </a:r>
          </a:p>
        </p:txBody>
      </p:sp>
    </p:spTree>
    <p:extLst>
      <p:ext uri="{BB962C8B-B14F-4D97-AF65-F5344CB8AC3E}">
        <p14:creationId xmlns:p14="http://schemas.microsoft.com/office/powerpoint/2010/main" val="423059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417EA48C-FFAE-44E4-8BB8-02452CA0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baselines and success criteria</a:t>
            </a:r>
          </a:p>
        </p:txBody>
      </p:sp>
      <p:sp>
        <p:nvSpPr>
          <p:cNvPr id="2" name="rule-119">
            <a:extLst xmlns:a="http://schemas.openxmlformats.org/drawingml/2006/main">
              <a:ext uri="{FF2B5EF4-FFF2-40B4-BE49-F238E27FC236}">
                <a16:creationId xmlns:a16="http://schemas.microsoft.com/office/drawing/2014/main" id="{059BF719-670D-4160-9C26-B0A438C9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0">
            <a:extLst xmlns:a="http://schemas.openxmlformats.org/drawingml/2006/main">
              <a:ext uri="{FF2B5EF4-FFF2-40B4-BE49-F238E27FC236}">
                <a16:creationId xmlns:a16="http://schemas.microsoft.com/office/drawing/2014/main" id="{A1D70549-161D-421C-9450-D452CB18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121">
            <a:extLst xmlns:a="http://schemas.openxmlformats.org/drawingml/2006/main">
              <a:ext uri="{FF2B5EF4-FFF2-40B4-BE49-F238E27FC236}">
                <a16:creationId xmlns:a16="http://schemas.microsoft.com/office/drawing/2014/main" id="{16E138FE-1BB8-42BC-8272-C010E3D7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371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Primary comparison: MinPPI-A versus a validation-only portfolio</a:t>
            </a:r>
          </a:p>
        </p:txBody>
      </p:sp>
      <p:sp>
        <p:nvSpPr>
          <p:cNvPr id="5" name="text-122">
            <a:extLst xmlns:a="http://schemas.openxmlformats.org/drawingml/2006/main">
              <a:ext uri="{FF2B5EF4-FFF2-40B4-BE49-F238E27FC236}">
                <a16:creationId xmlns:a16="http://schemas.microsoft.com/office/drawing/2014/main" id="{04E5297E-42E9-428A-B773-9217E073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413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Eight strategies</a:t>
            </a:r>
          </a:p>
        </p:txBody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5DD99D0E-31FF-43DB-B66F-31671B49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641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Full, MinPPI-A, MinPPI-B, MI, TreeSHAP, static LOFO, RFE and the portfolio.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AF5AF6D7-0391-4CA3-B8C2-41335CD5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demanding practical control</a:t>
            </a:r>
          </a:p>
        </p:txBody>
      </p:sp>
      <p:sp>
        <p:nvSpPr>
          <p:cNvPr id="8" name="text-125">
            <a:extLst xmlns:a="http://schemas.openxmlformats.org/drawingml/2006/main">
              <a:ext uri="{FF2B5EF4-FFF2-40B4-BE49-F238E27FC236}">
                <a16:creationId xmlns:a16="http://schemas.microsoft.com/office/drawing/2014/main" id="{F288F8BD-781C-4FFB-9DB3-042C960E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75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portfolio selects among MI, TreeSHAP and LOFO candidates using selection validation only.</a:t>
            </a:r>
          </a:p>
        </p:txBody>
      </p:sp>
      <p:sp>
        <p:nvSpPr>
          <p:cNvPr id="9" name="rule-126">
            <a:extLst xmlns:a="http://schemas.openxmlformats.org/drawingml/2006/main">
              <a:ext uri="{FF2B5EF4-FFF2-40B4-BE49-F238E27FC236}">
                <a16:creationId xmlns:a16="http://schemas.microsoft.com/office/drawing/2014/main" id="{8C64D81E-93B3-4AD0-A2E9-43EEC2C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127">
            <a:extLst xmlns:a="http://schemas.openxmlformats.org/drawingml/2006/main">
              <a:ext uri="{FF2B5EF4-FFF2-40B4-BE49-F238E27FC236}">
                <a16:creationId xmlns:a16="http://schemas.microsoft.com/office/drawing/2014/main" id="{BC6A828D-2367-4A99-AA42-8526123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5270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Measure decision value</a:t>
            </a:r>
          </a:p>
        </p:txBody>
      </p:sp>
      <p:sp>
        <p:nvSpPr>
          <p:cNvPr id="11" name="text-128">
            <a:extLst xmlns:a="http://schemas.openxmlformats.org/drawingml/2006/main">
              <a:ext uri="{FF2B5EF4-FFF2-40B4-BE49-F238E27FC236}">
                <a16:creationId xmlns:a16="http://schemas.microsoft.com/office/drawing/2014/main" id="{C4CF9DFE-23A2-425F-A58D-352A3893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69000"/>
            <a:ext cx="8382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Compression, test utility loss, tolerance violations and gate rejection.</a:t>
            </a:r>
          </a:p>
        </p:txBody>
      </p:sp>
      <p:sp>
        <p:nvSpPr>
          <p:cNvPr id="12" name="text-129">
            <a:extLst xmlns:a="http://schemas.openxmlformats.org/drawingml/2006/main">
              <a:ext uri="{FF2B5EF4-FFF2-40B4-BE49-F238E27FC236}">
                <a16:creationId xmlns:a16="http://schemas.microsoft.com/office/drawing/2014/main" id="{3313F5B2-9776-4597-9BEE-F907F1BD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75500"/>
            <a:ext cx="5270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Measure actual cost</a:t>
            </a:r>
          </a:p>
        </p:txBody>
      </p:sp>
      <p:sp>
        <p:nvSpPr>
          <p:cNvPr id="13" name="text-130">
            <a:extLst xmlns:a="http://schemas.openxmlformats.org/drawingml/2006/main">
              <a:ext uri="{FF2B5EF4-FFF2-40B4-BE49-F238E27FC236}">
                <a16:creationId xmlns:a16="http://schemas.microsoft.com/office/drawing/2014/main" id="{AC44D0D7-A732-43D1-84A1-C91CA253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137400"/>
            <a:ext cx="8382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Count queries and model fits. Include guidance, selection, gate and refit time.</a:t>
            </a:r>
          </a:p>
        </p:txBody>
      </p:sp>
    </p:spTree>
    <p:extLst>
      <p:ext uri="{BB962C8B-B14F-4D97-AF65-F5344CB8AC3E}">
        <p14:creationId xmlns:p14="http://schemas.microsoft.com/office/powerpoint/2010/main" val="20940246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9E250F67-FD57-49BC-AC68-FBC121B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3B892B1F-0838-4655-974E-737527B7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3">
            <a:extLst xmlns:a="http://schemas.openxmlformats.org/drawingml/2006/main">
              <a:ext uri="{FF2B5EF4-FFF2-40B4-BE49-F238E27FC236}">
                <a16:creationId xmlns:a16="http://schemas.microsoft.com/office/drawing/2014/main" id="{1C891320-61ED-4CE5-BBEF-0D5094FC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E818919C-81E1-4FBB-83B2-89143C46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44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competing objectives</a:t>
            </a:r>
          </a:p>
        </p:txBody>
      </p:sp>
      <p:sp>
        <p:nvSpPr>
          <p:cNvPr id="5" name="text-135">
            <a:extLst xmlns:a="http://schemas.openxmlformats.org/drawingml/2006/main">
              <a:ext uri="{FF2B5EF4-FFF2-40B4-BE49-F238E27FC236}">
                <a16:creationId xmlns:a16="http://schemas.microsoft.com/office/drawing/2014/main" id="{0917A14F-A012-43E7-B1BB-539362AE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88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Minimize the retained feature fraction:  |S| / p₀</a:t>
            </a:r>
          </a:p>
        </p:txBody>
      </p:sp>
      <p:sp>
        <p:nvSpPr>
          <p:cNvPr id="6" name="text-136">
            <a:extLst xmlns:a="http://schemas.openxmlformats.org/drawingml/2006/main">
              <a:ext uri="{FF2B5EF4-FFF2-40B4-BE49-F238E27FC236}">
                <a16:creationId xmlns:a16="http://schemas.microsoft.com/office/drawing/2014/main" id="{E39AF304-FD33-4B4E-8F3F-F84FE634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Minimize predictive loss:  1 − clip(U(S), 0, 1)</a:t>
            </a:r>
          </a:p>
        </p:txBody>
      </p:sp>
      <p:sp>
        <p:nvSpPr>
          <p:cNvPr id="7" name="rule-137">
            <a:extLst xmlns:a="http://schemas.openxmlformats.org/drawingml/2006/main">
              <a:ext uri="{FF2B5EF4-FFF2-40B4-BE49-F238E27FC236}">
                <a16:creationId xmlns:a16="http://schemas.microsoft.com/office/drawing/2014/main" id="{F5C73CB1-6E5E-4339-8791-41C66EE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4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8" name="text-138">
            <a:extLst xmlns:a="http://schemas.openxmlformats.org/drawingml/2006/main">
              <a:ext uri="{FF2B5EF4-FFF2-40B4-BE49-F238E27FC236}">
                <a16:creationId xmlns:a16="http://schemas.microsoft.com/office/drawing/2014/main" id="{A3C220B2-0055-4BEA-AE5A-3E790A75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0"/>
            <a:ext cx="647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9" name="text-139">
            <a:extLst xmlns:a="http://schemas.openxmlformats.org/drawingml/2006/main">
              <a:ext uri="{FF2B5EF4-FFF2-40B4-BE49-F238E27FC236}">
                <a16:creationId xmlns:a16="http://schemas.microsoft.com/office/drawing/2014/main" id="{78752733-0988-4609-AEC1-BCF5C2C7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nondominated set offers different compression–utility trade-offs.</a:t>
            </a:r>
          </a:p>
        </p:txBody>
      </p:sp>
      <p:sp>
        <p:nvSpPr>
          <p:cNvPr id="10" name="text-140">
            <a:extLst xmlns:a="http://schemas.openxmlformats.org/drawingml/2006/main">
              <a:ext uri="{FF2B5EF4-FFF2-40B4-BE49-F238E27FC236}">
                <a16:creationId xmlns:a16="http://schemas.microsoft.com/office/drawing/2014/main" id="{4CC9E632-692D-43D2-BF25-512924E6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80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as a possible prefilter</a:t>
            </a:r>
          </a:p>
        </p:txBody>
      </p:sp>
      <p:sp>
        <p:nvSpPr>
          <p:cNvPr id="11" name="text-141">
            <a:extLst xmlns:a="http://schemas.openxmlformats.org/drawingml/2006/main">
              <a:ext uri="{FF2B5EF4-FFF2-40B4-BE49-F238E27FC236}">
                <a16:creationId xmlns:a16="http://schemas.microsoft.com/office/drawing/2014/main" id="{47DED524-ABA6-43A9-BE13-AD3FE1E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2865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search quality and full cost, including the preceding audit.</a:t>
            </a:r>
          </a:p>
        </p:txBody>
      </p:sp>
    </p:spTree>
    <p:extLst>
      <p:ext uri="{BB962C8B-B14F-4D97-AF65-F5344CB8AC3E}">
        <p14:creationId xmlns:p14="http://schemas.microsoft.com/office/powerpoint/2010/main" val="5412761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D64A6FFA-DAF8-4373-952F-F68F1C8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remaining experiments</a:t>
            </a:r>
          </a:p>
        </p:txBody>
      </p:sp>
      <p:sp>
        <p:nvSpPr>
          <p:cNvPr id="2" name="rule-143">
            <a:extLst xmlns:a="http://schemas.openxmlformats.org/drawingml/2006/main">
              <a:ext uri="{FF2B5EF4-FFF2-40B4-BE49-F238E27FC236}">
                <a16:creationId xmlns:a16="http://schemas.microsoft.com/office/drawing/2014/main" id="{6BD46C01-59A4-447D-A7AB-00BFA74B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001F49D5-46E7-4CC0-BB14-B86207C4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6028C564-E396-4913-8427-13815158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75600"/>
            <a:ext cx="12700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Project evidence status: 26 September 2026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444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3111500"/>
                <a:gridCol w="6667500"/>
              </a:tblGrid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layer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currently supports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Exact reference audit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games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Harmful set: 22 nonempty, 13 empty.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A/B discovery comparison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Recall area A/B: 0.4012 / 0.3718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Cold-cache checks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Six checks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Queried utilities and traces reproduced.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Controlled mechanisms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instances to examine mechanisms.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Deletion decisions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 to test deletion value and cost.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9D22068D-A34C-4CDA-A33B-A9CCE65C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0"/>
            <a:ext cx="134620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 has no stable advantage. Practical removal value remains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6302056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25B26E22-7E4E-421C-85DF-50558CE2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 and next steps</a:t>
            </a:r>
          </a:p>
        </p:txBody>
      </p:sp>
      <p:sp>
        <p:nvSpPr>
          <p:cNvPr id="2" name="rule-148">
            <a:extLst xmlns:a="http://schemas.openxmlformats.org/drawingml/2006/main">
              <a:ext uri="{FF2B5EF4-FFF2-40B4-BE49-F238E27FC236}">
                <a16:creationId xmlns:a16="http://schemas.microsoft.com/office/drawing/2014/main" id="{0919395B-93D2-4AD1-89AB-73C2EFE1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49">
            <a:extLst xmlns:a="http://schemas.openxmlformats.org/drawingml/2006/main">
              <a:ext uri="{FF2B5EF4-FFF2-40B4-BE49-F238E27FC236}">
                <a16:creationId xmlns:a16="http://schemas.microsoft.com/office/drawing/2014/main" id="{947FDA77-0A55-4DFC-ACD0-BA488D40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150">
            <a:extLst xmlns:a="http://schemas.openxmlformats.org/drawingml/2006/main">
              <a:ext uri="{FF2B5EF4-FFF2-40B4-BE49-F238E27FC236}">
                <a16:creationId xmlns:a16="http://schemas.microsoft.com/office/drawing/2014/main" id="{B12FDC75-0B2F-4508-A4C2-F5C32D57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1400"/>
            <a:ext cx="1358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 audit that explains where a variable</a:t>
            </a:r>
          </a:p>
          <a:p xmlns:a="http://schemas.openxmlformats.org/drawingml/2006/main">
            <a:pPr algn="l">
              <a:defRPr sz="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breaks a defined utility requirement.</a:t>
            </a:r>
          </a:p>
        </p:txBody>
      </p:sp>
      <p:sp>
        <p:nvSpPr>
          <p:cNvPr id="5" name="text-151">
            <a:extLst xmlns:a="http://schemas.openxmlformats.org/drawingml/2006/main">
              <a:ext uri="{FF2B5EF4-FFF2-40B4-BE49-F238E27FC236}">
                <a16:creationId xmlns:a16="http://schemas.microsoft.com/office/drawing/2014/main" id="{34B01720-02B2-4FE7-AD94-677C45A2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0700"/>
            <a:ext cx="1371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Exact references quantify what the audit misses.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Independent decisions test whether removal is worth the cost.</a:t>
            </a:r>
          </a:p>
        </p:txBody>
      </p:sp>
      <p:sp>
        <p:nvSpPr>
          <p:cNvPr id="6" name="rule-152">
            <a:extLst xmlns:a="http://schemas.openxmlformats.org/drawingml/2006/main">
              <a:ext uri="{FF2B5EF4-FFF2-40B4-BE49-F238E27FC236}">
                <a16:creationId xmlns:a16="http://schemas.microsoft.com/office/drawing/2014/main" id="{AE29BF4B-DEFB-444E-98F0-3AE7D4A2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8CC9EB96-69D3-4696-87A1-FDFA3A8D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8300"/>
            <a:ext cx="431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Next evidence</a:t>
            </a:r>
          </a:p>
        </p:txBody>
      </p:sp>
      <p:sp>
        <p:nvSpPr>
          <p:cNvPr id="8" name="text-154">
            <a:extLst xmlns:a="http://schemas.openxmlformats.org/drawingml/2006/main">
              <a:ext uri="{FF2B5EF4-FFF2-40B4-BE49-F238E27FC236}">
                <a16:creationId xmlns:a16="http://schemas.microsoft.com/office/drawing/2014/main" id="{796DE8E1-1ABB-46D0-915C-F23D9089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6705600"/>
            <a:ext cx="90170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mechanisms, followed by independent gate and test evaluation.</a:t>
            </a:r>
          </a:p>
        </p:txBody>
      </p:sp>
    </p:spTree>
    <p:extLst>
      <p:ext uri="{BB962C8B-B14F-4D97-AF65-F5344CB8AC3E}">
        <p14:creationId xmlns:p14="http://schemas.microsoft.com/office/powerpoint/2010/main" val="4711849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55">
            <a:extLst xmlns:a="http://schemas.openxmlformats.org/drawingml/2006/main">
              <a:ext uri="{FF2B5EF4-FFF2-40B4-BE49-F238E27FC236}">
                <a16:creationId xmlns:a16="http://schemas.microsoft.com/office/drawing/2014/main" id="{6DA0F5EC-32CB-4D3E-B7BE-1B143C10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exact and sampled guarantees</a:t>
            </a:r>
          </a:p>
        </p:txBody>
      </p:sp>
      <p:sp>
        <p:nvSpPr>
          <p:cNvPr id="2" name="rule-156">
            <a:extLst xmlns:a="http://schemas.openxmlformats.org/drawingml/2006/main">
              <a:ext uri="{FF2B5EF4-FFF2-40B4-BE49-F238E27FC236}">
                <a16:creationId xmlns:a16="http://schemas.microsoft.com/office/drawing/2014/main" id="{F58FB7A5-2CB2-448D-88CC-6428475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57">
            <a:extLst xmlns:a="http://schemas.openxmlformats.org/drawingml/2006/main">
              <a:ext uri="{FF2B5EF4-FFF2-40B4-BE49-F238E27FC236}">
                <a16:creationId xmlns:a16="http://schemas.microsoft.com/office/drawing/2014/main" id="{DB6BBED2-8C71-4DE2-B9B6-2CCAC8F3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-158">
            <a:extLst xmlns:a="http://schemas.openxmlformats.org/drawingml/2006/main">
              <a:ext uri="{FF2B5EF4-FFF2-40B4-BE49-F238E27FC236}">
                <a16:creationId xmlns:a16="http://schemas.microsoft.com/office/drawing/2014/main" id="{D753BC1F-4EB9-43D6-AD8B-3ECCB17E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09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59">
            <a:extLst xmlns:a="http://schemas.openxmlformats.org/drawingml/2006/main">
              <a:ext uri="{FF2B5EF4-FFF2-40B4-BE49-F238E27FC236}">
                <a16:creationId xmlns:a16="http://schemas.microsoft.com/office/drawing/2014/main" id="{B675679F-AF51-48AF-90F8-E933411B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209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Support-level equality</a:t>
            </a:r>
          </a:p>
        </p:txBody>
      </p:sp>
      <p:sp>
        <p:nvSpPr>
          <p:cNvPr id="6" name="text-160">
            <a:extLst xmlns:a="http://schemas.openxmlformats.org/drawingml/2006/main">
              <a:ext uri="{FF2B5EF4-FFF2-40B4-BE49-F238E27FC236}">
                <a16:creationId xmlns:a16="http://schemas.microsoft.com/office/drawing/2014/main" id="{A158BD6B-8F0E-4763-90A2-BE3E19E0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432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Every target-excluding subset can precede that feature in a permutation.</a:t>
            </a:r>
          </a:p>
        </p:txBody>
      </p:sp>
      <p:sp>
        <p:nvSpPr>
          <p:cNvPr id="7" name="text-161">
            <a:extLst xmlns:a="http://schemas.openxmlformats.org/drawingml/2006/main">
              <a:ext uri="{FF2B5EF4-FFF2-40B4-BE49-F238E27FC236}">
                <a16:creationId xmlns:a16="http://schemas.microsoft.com/office/drawing/2014/main" id="{A3A633B9-9BDD-4E40-9A06-2C93FE9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429000"/>
            <a:ext cx="1257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MinSSᵢ = MinBzᵢ = Mᵢ</a:t>
            </a:r>
          </a:p>
        </p:txBody>
      </p:sp>
      <p:sp>
        <p:nvSpPr>
          <p:cNvPr id="8" name="text-162">
            <a:extLst xmlns:a="http://schemas.openxmlformats.org/drawingml/2006/main">
              <a:ext uri="{FF2B5EF4-FFF2-40B4-BE49-F238E27FC236}">
                <a16:creationId xmlns:a16="http://schemas.microsoft.com/office/drawing/2014/main" id="{6597A088-9984-45AA-A2EE-BB2B6F13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163">
            <a:extLst xmlns:a="http://schemas.openxmlformats.org/drawingml/2006/main">
              <a:ext uri="{FF2B5EF4-FFF2-40B4-BE49-F238E27FC236}">
                <a16:creationId xmlns:a16="http://schemas.microsoft.com/office/drawing/2014/main" id="{F0EF2B57-A2AF-4965-A0FF-E943721C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381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 minimum is an upper bound</a:t>
            </a:r>
          </a:p>
        </p:txBody>
      </p:sp>
      <p:sp>
        <p:nvSpPr>
          <p:cNvPr id="10" name="text-164">
            <a:extLst xmlns:a="http://schemas.openxmlformats.org/drawingml/2006/main">
              <a:ext uri="{FF2B5EF4-FFF2-40B4-BE49-F238E27FC236}">
                <a16:creationId xmlns:a16="http://schemas.microsoft.com/office/drawing/2014/main" id="{D534E6D3-5A5D-4C2D-A025-F3AA095C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003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 sample visits only part of the domain. An observed −1 is conclusive.</a:t>
            </a:r>
          </a:p>
        </p:txBody>
      </p:sp>
      <p:sp>
        <p:nvSpPr>
          <p:cNvPr id="11" name="text-165">
            <a:extLst xmlns:a="http://schemas.openxmlformats.org/drawingml/2006/main">
              <a:ext uri="{FF2B5EF4-FFF2-40B4-BE49-F238E27FC236}">
                <a16:creationId xmlns:a16="http://schemas.microsoft.com/office/drawing/2014/main" id="{4E57E4AC-FC9F-4933-802B-49AAEE55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7300"/>
            <a:ext cx="137160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 fixed witness has probability ρ &gt; 0 in K independent draws:</a:t>
            </a:r>
          </a:p>
        </p:txBody>
      </p:sp>
      <p:sp>
        <p:nvSpPr>
          <p:cNvPr id="12" name="text-166">
            <a:extLst xmlns:a="http://schemas.openxmlformats.org/drawingml/2006/main">
              <a:ext uri="{FF2B5EF4-FFF2-40B4-BE49-F238E27FC236}">
                <a16:creationId xmlns:a16="http://schemas.microsoft.com/office/drawing/2014/main" id="{B2343646-9656-4E09-95C3-A00BC417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P(detect a harmful witness) ≥ 1 − (1 − ρ)ᴷ</a:t>
            </a:r>
          </a:p>
        </p:txBody>
      </p:sp>
    </p:spTree>
    <p:extLst>
      <p:ext uri="{BB962C8B-B14F-4D97-AF65-F5344CB8AC3E}">
        <p14:creationId xmlns:p14="http://schemas.microsoft.com/office/powerpoint/2010/main" val="5214277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67">
            <a:extLst xmlns:a="http://schemas.openxmlformats.org/drawingml/2006/main">
              <a:ext uri="{FF2B5EF4-FFF2-40B4-BE49-F238E27FC236}">
                <a16:creationId xmlns:a16="http://schemas.microsoft.com/office/drawing/2014/main" id="{89C6F91E-1817-4BB4-B86C-2E203B45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sources and protocol details</a:t>
            </a:r>
          </a:p>
        </p:txBody>
      </p:sp>
      <p:sp>
        <p:nvSpPr>
          <p:cNvPr id="2" name="rule-168">
            <a:extLst xmlns:a="http://schemas.openxmlformats.org/drawingml/2006/main">
              <a:ext uri="{FF2B5EF4-FFF2-40B4-BE49-F238E27FC236}">
                <a16:creationId xmlns:a16="http://schemas.microsoft.com/office/drawing/2014/main" id="{EA76E9D0-0C57-4419-A347-877820C8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9">
            <a:extLst xmlns:a="http://schemas.openxmlformats.org/drawingml/2006/main">
              <a:ext uri="{FF2B5EF4-FFF2-40B4-BE49-F238E27FC236}">
                <a16:creationId xmlns:a16="http://schemas.microsoft.com/office/drawing/2014/main" id="{691F628F-48E9-46F6-AAF6-5DDF0624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text-170">
            <a:extLst xmlns:a="http://schemas.openxmlformats.org/drawingml/2006/main">
              <a:ext uri="{FF2B5EF4-FFF2-40B4-BE49-F238E27FC236}">
                <a16:creationId xmlns:a16="http://schemas.microsoft.com/office/drawing/2014/main" id="{8441E48A-78FC-4A18-B479-992E216B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048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5" name="text-171">
            <a:extLst xmlns:a="http://schemas.openxmlformats.org/drawingml/2006/main">
              <a:ext uri="{FF2B5EF4-FFF2-40B4-BE49-F238E27FC236}">
                <a16:creationId xmlns:a16="http://schemas.microsoft.com/office/drawing/2014/main" id="{F6016883-19DB-4DA9-8E09-D6658CF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159000"/>
            <a:ext cx="10541000" cy="298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Shapley (1953), A Value for n-Person Games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Banzhaf (1965), Weighted Voting Doesn’t Work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Lundberg &amp; Lee (2017), A Unified Approach to Interpreting Model Predictions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Zheng &amp; Raskutti (2026), MinShap: A Shapley-Based Framework for Feature Redundancy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Deb et al. (2002), A Fast and Elitist Multiobjective Genetic Algorithm: NSGA-II</a:t>
            </a:r>
          </a:p>
        </p:txBody>
      </p:sp>
      <p:sp>
        <p:nvSpPr>
          <p:cNvPr id="6" name="rule-172">
            <a:extLst xmlns:a="http://schemas.openxmlformats.org/drawingml/2006/main">
              <a:ext uri="{FF2B5EF4-FFF2-40B4-BE49-F238E27FC236}">
                <a16:creationId xmlns:a16="http://schemas.microsoft.com/office/drawing/2014/main" id="{38F3AE05-7D91-48D6-AB15-D311E552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7" name="text-173">
            <a:extLst xmlns:a="http://schemas.openxmlformats.org/drawingml/2006/main">
              <a:ext uri="{FF2B5EF4-FFF2-40B4-BE49-F238E27FC236}">
                <a16:creationId xmlns:a16="http://schemas.microsoft.com/office/drawing/2014/main" id="{EDAF18F3-094A-41EB-B8CF-B5FA30A5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3048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Data and protocol</a:t>
            </a:r>
          </a:p>
        </p:txBody>
      </p:sp>
      <p:sp>
        <p:nvSpPr>
          <p:cNvPr id="8" name="text-174">
            <a:extLst xmlns:a="http://schemas.openxmlformats.org/drawingml/2006/main">
              <a:ext uri="{FF2B5EF4-FFF2-40B4-BE49-F238E27FC236}">
                <a16:creationId xmlns:a16="http://schemas.microsoft.com/office/drawing/2014/main" id="{AD9A148A-FE52-4E63-8416-6288847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5778500"/>
            <a:ext cx="10541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UCI dataset documentation and the ULB credit-card dataset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Local revision protocol and the 35-game P3 findings, 26 September 2026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XGBoost: 100 rounds, depth 4, learning rate 0.1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Five split identifiers: 42, 123, 456, 789, 1024</a:t>
            </a:r>
          </a:p>
        </p:txBody>
      </p:sp>
    </p:spTree>
    <p:extLst>
      <p:ext uri="{BB962C8B-B14F-4D97-AF65-F5344CB8AC3E}">
        <p14:creationId xmlns:p14="http://schemas.microsoft.com/office/powerpoint/2010/main" val="957229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2026-09-28T10:27:53.3980000Z</dcterms:created>
  <dcterms:modified xsi:type="dcterms:W3CDTF">2026-09-28T10:27:53.3980000Z</dcterms:modified>
</coreProperties>
</file>