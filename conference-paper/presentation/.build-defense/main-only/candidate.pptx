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5404be7ff3403d" /><Relationship Type="http://schemas.openxmlformats.org/officeDocument/2006/relationships/extended-properties" Target="/docProps/app.xml" Id="R06ad5089ac2145ac" /><Relationship Type="http://schemas.openxmlformats.org/officeDocument/2006/relationships/officeDocument" Target="/ppt/presentation.xml" Id="Ra928b31ee6fa4d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f8813b1c1f4657"/>
  </p:sldMasterIdLst>
  <p:notesMasterIdLst>
    <p:notesMasterId xmlns:r="http://schemas.openxmlformats.org/officeDocument/2006/relationships" r:id="R097a788b6cbe46af"/>
  </p:notesMasterIdLst>
  <p:sldIdLst>
    <p:sldId xmlns:r="http://schemas.openxmlformats.org/officeDocument/2006/relationships" id="256" r:id="Rd09855eacb754dfd"/>
    <p:sldId xmlns:r="http://schemas.openxmlformats.org/officeDocument/2006/relationships" id="257" r:id="Ra991afa8e81a4db6"/>
    <p:sldId xmlns:r="http://schemas.openxmlformats.org/officeDocument/2006/relationships" id="258" r:id="R5c1d62c44bd54a7d"/>
    <p:sldId xmlns:r="http://schemas.openxmlformats.org/officeDocument/2006/relationships" id="259" r:id="R56bee900163b48f1"/>
    <p:sldId xmlns:r="http://schemas.openxmlformats.org/officeDocument/2006/relationships" id="260" r:id="R456251373e45425a"/>
    <p:sldId xmlns:r="http://schemas.openxmlformats.org/officeDocument/2006/relationships" id="261" r:id="R4b664922b5ba405e"/>
    <p:sldId xmlns:r="http://schemas.openxmlformats.org/officeDocument/2006/relationships" id="262" r:id="R8bcde188fcdf45f1"/>
    <p:sldId xmlns:r="http://schemas.openxmlformats.org/officeDocument/2006/relationships" id="263" r:id="R47132aeb27d947f5"/>
    <p:sldId xmlns:r="http://schemas.openxmlformats.org/officeDocument/2006/relationships" id="264" r:id="R839b047c5045401e"/>
    <p:sldId xmlns:r="http://schemas.openxmlformats.org/officeDocument/2006/relationships" id="265" r:id="R1d922d5c4ce64316"/>
    <p:sldId xmlns:r="http://schemas.openxmlformats.org/officeDocument/2006/relationships" id="266" r:id="Rf21e9785f1494d6d"/>
    <p:sldId xmlns:r="http://schemas.openxmlformats.org/officeDocument/2006/relationships" id="267" r:id="R1628a28ab4884d03"/>
    <p:sldId xmlns:r="http://schemas.openxmlformats.org/officeDocument/2006/relationships" id="268" r:id="R90d9b54a3ef441f3"/>
    <p:sldId xmlns:r="http://schemas.openxmlformats.org/officeDocument/2006/relationships" id="269" r:id="Refe8805c9c3c48f6"/>
    <p:sldId xmlns:r="http://schemas.openxmlformats.org/officeDocument/2006/relationships" id="270" r:id="Rd7a0ab0da43c4cbc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3dc55e156a0478b" /><Relationship Type="http://schemas.openxmlformats.org/officeDocument/2006/relationships/slideMaster" Target="/ppt/slideMasters/slideMaster1.xml" Id="R41f8813b1c1f4657" /><Relationship Type="http://schemas.openxmlformats.org/officeDocument/2006/relationships/notesMaster" Target="/ppt/notesMasters/notesMaster1.xml" Id="R097a788b6cbe46af" /><Relationship Type="http://schemas.openxmlformats.org/officeDocument/2006/relationships/presProps" Target="/ppt/presProps.xml" Id="R71a42815c0484148" /><Relationship Type="http://schemas.openxmlformats.org/officeDocument/2006/relationships/tableStyles" Target="/ppt/tableStyles.xml" Id="R0625c27ff071466e" /><Relationship Type="http://schemas.openxmlformats.org/officeDocument/2006/relationships/slide" Target="/ppt/slides/slide1.xml" Id="Rd09855eacb754dfd" /><Relationship Type="http://schemas.openxmlformats.org/officeDocument/2006/relationships/slide" Target="/ppt/slides/slide2.xml" Id="Ra991afa8e81a4db6" /><Relationship Type="http://schemas.openxmlformats.org/officeDocument/2006/relationships/slide" Target="/ppt/slides/slide3.xml" Id="R5c1d62c44bd54a7d" /><Relationship Type="http://schemas.openxmlformats.org/officeDocument/2006/relationships/slide" Target="/ppt/slides/slide4.xml" Id="R56bee900163b48f1" /><Relationship Type="http://schemas.openxmlformats.org/officeDocument/2006/relationships/slide" Target="/ppt/slides/slide5.xml" Id="R456251373e45425a" /><Relationship Type="http://schemas.openxmlformats.org/officeDocument/2006/relationships/slide" Target="/ppt/slides/slide6.xml" Id="R4b664922b5ba405e" /><Relationship Type="http://schemas.openxmlformats.org/officeDocument/2006/relationships/slide" Target="/ppt/slides/slide7.xml" Id="R8bcde188fcdf45f1" /><Relationship Type="http://schemas.openxmlformats.org/officeDocument/2006/relationships/slide" Target="/ppt/slides/slide8.xml" Id="R47132aeb27d947f5" /><Relationship Type="http://schemas.openxmlformats.org/officeDocument/2006/relationships/slide" Target="/ppt/slides/slide9.xml" Id="R839b047c5045401e" /><Relationship Type="http://schemas.openxmlformats.org/officeDocument/2006/relationships/slide" Target="/ppt/slides/slide10.xml" Id="R1d922d5c4ce64316" /><Relationship Type="http://schemas.openxmlformats.org/officeDocument/2006/relationships/slide" Target="/ppt/slides/slide11.xml" Id="Rf21e9785f1494d6d" /><Relationship Type="http://schemas.openxmlformats.org/officeDocument/2006/relationships/slide" Target="/ppt/slides/slide12.xml" Id="R1628a28ab4884d03" /><Relationship Type="http://schemas.openxmlformats.org/officeDocument/2006/relationships/slide" Target="/ppt/slides/slide13.xml" Id="R90d9b54a3ef441f3" /><Relationship Type="http://schemas.openxmlformats.org/officeDocument/2006/relationships/slide" Target="/ppt/slides/slide14.xml" Id="Refe8805c9c3c48f6" /><Relationship Type="http://schemas.openxmlformats.org/officeDocument/2006/relationships/slide" Target="/ppt/slides/slide15.xml" Id="Rd7a0ab0da43c4cb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f31569bc1a43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8fbcd018f74ba3" /><Relationship Type="http://schemas.openxmlformats.org/officeDocument/2006/relationships/notesMaster" Target="/ppt/notesMasters/notesMaster1.xml" Id="R11195679230341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d11c493cc74ba7" /><Relationship Type="http://schemas.openxmlformats.org/officeDocument/2006/relationships/notesMaster" Target="/ppt/notesMasters/notesMaster1.xml" Id="R5ac02a82a5f6421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61f33fe84c14b94" /><Relationship Type="http://schemas.openxmlformats.org/officeDocument/2006/relationships/notesMaster" Target="/ppt/notesMasters/notesMaster1.xml" Id="Rc926c35164c24fd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07c1b8a285489e" /><Relationship Type="http://schemas.openxmlformats.org/officeDocument/2006/relationships/notesMaster" Target="/ppt/notesMasters/notesMaster1.xml" Id="R30602337bd0e47b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ffbea299f504c4d" /><Relationship Type="http://schemas.openxmlformats.org/officeDocument/2006/relationships/notesMaster" Target="/ppt/notesMasters/notesMaster1.xml" Id="R48a7b7e0e4ad4b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36f2e2169dc4ca5" /><Relationship Type="http://schemas.openxmlformats.org/officeDocument/2006/relationships/notesMaster" Target="/ppt/notesMasters/notesMaster1.xml" Id="Rc40216f080834e7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2073cb12e0484d" /><Relationship Type="http://schemas.openxmlformats.org/officeDocument/2006/relationships/notesMaster" Target="/ppt/notesMasters/notesMaster1.xml" Id="R826e150485224e0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0e7164e6a724e8a" /><Relationship Type="http://schemas.openxmlformats.org/officeDocument/2006/relationships/notesMaster" Target="/ppt/notesMasters/notesMaster1.xml" Id="R667bd45d5bc64f6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fd944d9f0ae4dbf" /><Relationship Type="http://schemas.openxmlformats.org/officeDocument/2006/relationships/notesMaster" Target="/ppt/notesMasters/notesMaster1.xml" Id="R910aa9db4c58472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a182f3a36bf4602" /><Relationship Type="http://schemas.openxmlformats.org/officeDocument/2006/relationships/notesMaster" Target="/ppt/notesMasters/notesMaster1.xml" Id="Rbae16e21e975492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526e103b5c44f0e" /><Relationship Type="http://schemas.openxmlformats.org/officeDocument/2006/relationships/notesMaster" Target="/ppt/notesMasters/notesMaster1.xml" Id="R7078a36f33fc426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deb46fbb27147b3" /><Relationship Type="http://schemas.openxmlformats.org/officeDocument/2006/relationships/notesMaster" Target="/ppt/notesMasters/notesMaster1.xml" Id="Racef4c31075a48d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b3e520a93e94b6d" /><Relationship Type="http://schemas.openxmlformats.org/officeDocument/2006/relationships/notesMaster" Target="/ppt/notesMasters/notesMaster1.xml" Id="R323d2b06a58d4a7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0a28fbd1e714f15" /><Relationship Type="http://schemas.openxmlformats.org/officeDocument/2006/relationships/notesMaster" Target="/ppt/notesMasters/notesMaster1.xml" Id="R598ecc35f525438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1f5af84358a4f86" /><Relationship Type="http://schemas.openxmlformats.org/officeDocument/2006/relationships/notesMaster" Target="/ppt/notesMasters/notesMaster1.xml" Id="Rb5650b71d7644a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30 秒。开场不念长标题。我的研究关注一个具体问题：我们往模型里增加一个输入变量时，它是否可能让原本达到要求的模型反而达不到要求？我希望保存这种失败的具体证据，再检验它能否帮助我们选择更小的特征集合。本次重点介绍研究设计，实验仍在推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</a:t>
            </a:r>
          </a:p>
          <a:p xmlns:a="http://schemas.openxmlformats.org/drawingml/2006/main">
            <a:r>
              <a:t>C:/work/学校/A.SPBU/paper/ZhaoCHI/Paper/Master/conference-paper/paper/icomp2026_conference.tex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60 秒。用垃圾邮件解释输入、模型和目标。每封邮件是一行数据，词频、标点、大写统计是输入，是否垃圾邮件是标签。实际使用时我们希望减少输入采集和维护成本。但固定学习器在有限样本下训练时，增加或删除输入的效果取决于其他输入，不能只凭直觉。减少特征能否节省总成本仍需要把审计开销一起测量。本研究希望为删除测试提供可复查的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C:/work/学校/A.SPBU/paper/ZhaoCHI/Paper/Master/conference-paper/paper/icomp2026_conference.tex Introduction</a:t>
            </a:r>
          </a:p>
          <a:p xmlns:a="http://schemas.openxmlformats.org/drawingml/2006/main">
            <a:r>
              <a:t>https://archive.ics.uci.edu/dataset/94/spambase</a:t>
            </a:r>
          </a:p>
          <a:p xmlns:a="http://schemas.openxmlformats.org/drawingml/2006/main">
            <a:r>
              <a:t>C:/work/学校/A.SPBU/paper/ZhaoCHI/Paper/Master-mr2/MAJOR_REVISION_PROTOCOL.md §1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55 秒。第三页直接介绍两个互补验证步骤。第一步，加入检查：用同样的训练配置，比较某个特征组合S以及加入i后的组合，看是否由达标变成不达标。这说明i对该组合有害，不等于它对全部特征或所有情境都天然有害。第二步，删除验证：从当前完整分析输入集合D提出删除候选，在独立数据上检验缩小模型之后的预测损失、压缩程度和总成本，判断整体是否值得。这一步属于计划中的删除决策实验。两步可以概括为先发现问题，再验证行动是否有价值。它们不是随机A与引导B那两个搜索算法，A/B只是第一步寻找上下文的不同方式。整个过程保持监督分类或回归任务不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§1–3 and §7</a:t>
            </a:r>
          </a:p>
          <a:p xmlns:a="http://schemas.openxmlformats.org/drawingml/2006/main">
            <a:r>
              <a:t>C:/work/学校/A.SPBU/paper/ZhaoCHI/Paper/Master-mr2/MAJOR_REVISION_PROTOCOL.md §22.4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70 秒。按四行讲清公式。先定义D是本次分析的完整输入集合，S是其中一个不包含目标变量i的输入子集，这里的i是待检查的输入特征，不是预测标签y。U(S)表示用S训练模型后的验证集表现，分数越高越好。第一行，完整输入得分U(D)乘上比例alpha得到门槛q，默认alpha是0.95。这里取的是完整输入基准分数的95%，不是要求95%的分类准确率。D仅指本次分析的完整特征范围，例如八维面板，并不必然等于全部原始变量。第二行把连续分数转成是否达标：方括号中的条件成立取1，否则取0。第三行比较加入i前后两个达标状态，变化为负一表示从达标变为不达标。第四行MinPPI在所有不含i的子集上取最小变化，所以只要发现一次负一，精确MinPPI就是负一。找不到负一不等于已证明安全，因为有限采样可能漏掉上下文。所有比较固定数据划分、预处理、学习器、随机性、效用和门槛，要求U(D)&gt;0且分数有限。下一页直接把0.90、0.95、0.87和0.84代入，不再引入新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§3</a:t>
            </a:r>
          </a:p>
          <a:p xmlns:a="http://schemas.openxmlformats.org/drawingml/2006/main">
            <a:r>
              <a:t>C:/work/学校/A.SPBU/paper/ZhaoCHI/Paper/Master/conference-paper/paper/icomp2026_conference.tex Utility-Threshold Voting Game and Min-Marginal Power Indices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70 秒。只讲这一个数值例子。完整输入模型假设为0.90，取其95%得到门槛0.855。集合S训练的模型得分0.87，加入i重新训练后为0.84。除了输入集合之外，训练、验证和模型配置保持一致。这个由达标到不达标的变化，就是后面所有方法和实验围绕的证据。数字仅为教学示例，不是实验结果。必须强调，S可能只是完整输入的一部分，不能据此推出从完整集合删除i一定有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§3</a:t>
            </a:r>
          </a:p>
          <a:p xmlns:a="http://schemas.openxmlformats.org/drawingml/2006/main">
            <a:r>
              <a:t>Illustrative utilities, not observed experimental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80 秒。这是整场答辩最重要的一页。按箭头走上排，再从右向左走下排。上排是审计：选一个变量i与上下文S，用两组输入分别训练相同类型的监督模型，检查有没有负向跨越门槛，保存可以复查的记录。有限预算下不断重复前三步。下排是独立的应用验证：把见证转化为一个待删除候选，交给没有参与候选选择的验证集，通过才采用，否则回到完整输入。最后在未用过的测试集上测压缩、预测损失和总成本。两排分别回答“发生过什么”和“是否值得采取行动”。下排属于计划中的决策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§3–7 and §22.4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60 秒。合作博弈提供一种组织问题的语言：特征是参与者，输入集合是联盟，边际贡献是加入一个变量带来的变化。这里先把分数转成是否达标，再找所有上下文中最差的边际。出现从1到0的变化，最小值就是负一。经典Shapley或Banzhaf关注加权平均边际，本项目关注是否存在一个失败上下文。MinShap已有最小聚合思路，因此不把min本身说成首创。这里对应前面公式页的最小边际定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§2–3</a:t>
            </a:r>
          </a:p>
          <a:p xmlns:a="http://schemas.openxmlformats.org/drawingml/2006/main">
            <a:r>
              <a:t>Shapley (1953), A Value for n-Person Games.</a:t>
            </a:r>
          </a:p>
          <a:p xmlns:a="http://schemas.openxmlformats.org/drawingml/2006/main">
            <a:r>
              <a:t>Banzhaf (1965), Weighted Voting Doesn’t Work.</a:t>
            </a:r>
          </a:p>
          <a:p xmlns:a="http://schemas.openxmlformats.org/drawingml/2006/main">
            <a:r>
              <a:t>Zheng &amp; Raskutti (2026), https://arxiv.org/abs/2604.15107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60 秒。困难不在检查一对模型，而在输入组合太多。A先抽子集大小，再抽该大小内的子集。B使用训练侧互信息和相关结构引导候选上下文。两者只改变“去哪里找”，不会改变监督任务或判定标准。引导是否更有效是实验问题，不能因为使用了相关性就假定更好。找到负见证可以确认固定游戏中的这次失败；没有找到则可能是搜索遗漏。共同查询预算不等于共同实际耗时，因此还要测模型拟合和全流程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§4</a:t>
            </a:r>
          </a:p>
          <a:p xmlns:a="http://schemas.openxmlformats.org/drawingml/2006/main">
            <a:r>
              <a:t>C:/work/学校/A.SPBU/paper/ZhaoCHI/Paper/Master-mr2/MR3_P3_FINDINGS.md §5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85 秒。按研究用途解释选择，而不是报六组数字。Abalone只有八个输入，我们可以检查所有组合，且提供回归任务。Madelon是有标签的合成分类数据，包含有信息变量、冗余和干扰，但生成角色不等于MinPPI真值。Spambase的词频和字符统计容易对应到实际输入。Fraud提供稀有正类任务，其28个PCA主成分加金额仍用于有标签监督分类。当前35个精确游戏只来自这四套数据；Gisette和ISOLET属于更广的原始基准范围，并未加入这35个游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§4</a:t>
            </a:r>
          </a:p>
          <a:p xmlns:a="http://schemas.openxmlformats.org/drawingml/2006/main">
            <a:r>
              <a:t>C:/work/学校/A.SPBU/paper/ZhaoCHI/Paper/Master-mr2/MR3_P3_FINDINGS.md §2–3</a:t>
            </a:r>
          </a:p>
          <a:p xmlns:a="http://schemas.openxmlformats.org/drawingml/2006/main">
            <a:r>
              <a:t>https://archive.ics.uci.edu/dataset/1/abalone</a:t>
            </a:r>
          </a:p>
          <a:p xmlns:a="http://schemas.openxmlformats.org/drawingml/2006/main">
            <a:r>
              <a:t>https://archive.ics.uci.edu/dataset/171/madelon</a:t>
            </a:r>
          </a:p>
          <a:p xmlns:a="http://schemas.openxmlformats.org/drawingml/2006/main">
            <a:r>
              <a:t>https://archive.ics.uci.edu/dataset/94/spambase</a:t>
            </a:r>
          </a:p>
          <a:p xmlns:a="http://schemas.openxmlformats.org/drawingml/2006/main">
            <a:r>
              <a:t>https://www.openml.org/api/v1/json/data/1597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45 秒。这三项研究形成证据链，而不是三组互不相关的实验。第一层有精确参照，能判断发现是否充分，已经完成。第二层控制数据结构，解释为什么会漏，处于计划阶段。第三层独立验证删除收益，回答实际使用是否值得，也处于计划阶段。每层的结论都有边界，不能用第一层的结果替代第三层。项目内部对应E1、E2和E4，为答辩按研究问题顺序称Study1、2、3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§4, §6, §7, §22</a:t>
            </a:r>
          </a:p>
          <a:p xmlns:a="http://schemas.openxmlformats.org/drawingml/2006/main">
            <a:r>
              <a:t>C:/work/学校/A.SPBU/paper/ZhaoCHI/Paper/Master-mr2/MR3_P3_FINDINGS.md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60 秒。八个输入共有256个子集，因此能计算完整参照。这是为什么使用小面板：我们需要知道漏了多少，而不是只展示几个找到的案例。A和B不能看到完整答案，只能按预算查询自己选的子集。最后才由评价程序与精确标签比较，主要看整个预算过程的召回。已经完成四数据集、七面板、五划分组成的35个固定游戏。这里的精确答案仅针对各八维面板，不能外推成原始高维任务的真值。没有有害输入时召回没有定义，仍保留这些案例，不挑更容易展示成功的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§4</a:t>
            </a:r>
          </a:p>
          <a:p xmlns:a="http://schemas.openxmlformats.org/drawingml/2006/main">
            <a:r>
              <a:t>C:/work/学校/A.SPBU/paper/ZhaoCHI/Paper/Master-mr2/MR3_P3_FINDINGS.md §2–4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55 秒。真实数据看到差异后很难解释原因，所以第二项研究有目的地构造三个监督二分类机制。第一个是信号加无关变量，第二个增加带噪声的相关副本，第三个是两变量异或交互。仍然做完整枚举作为参照，再比较同预算A/B。每种五个预先固定实例，不根据结果换随机种子。这里“无关”或“冗余”是生成角色，不能直接当成有害标签。研究要检验这些结构如何改变见证和搜索难度，而不是预先假定任何一种一定有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§22.3–23</a:t>
            </a:r>
          </a:p>
          <a:p xmlns:a="http://schemas.openxmlformats.org/drawingml/2006/main">
            <a:r>
              <a:t>C:/work/学校/A.SPBU/paper/ZhaoCHI/Paper/Master-mr2/MR3_E2_PLAN.md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80 秒。第三项研究最接近实际使用价值。每个策略在选择验证集上只提交一个候选，再由独立gate判断是否满足事先设定的预测损失容忍度。通过采用候选，不通过回完整输入，不能反复试到通过。冻结决定后在非测试数据上重训，再测试。比较包括互信息、TreeSHAP、LOFO、RFE和由验证集选择这些候选的组合策略，主比较是MinPPI-A与该组合策略。公平性要求同一数据集内固定目标、划分、学习器、预处理规则、指标和容忍度，并纳入所有成本。分类AUC和回归R²分开解释，不能把其原始分数混合平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§7 and §22.4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45 秒。结果只讲三个认识。第一，35个小型游戏已完成，能够检查见证和遗漏。第二，当前这种B引导没有稳定优于随机A，不能包装成已证实的加速或优势。第三，是否值得删除还没有独立决策证据，因此接下来先做机制实验，再做独立删除实验。这里的负结果让我们更准确地限定算法适用条件，不推翻固定游戏中的见证定义。证据状态参考2026年9月26日台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C:/work/学校/A.SPBU/paper/ZhaoCHI/Paper/Master-mr2/MR3_P3_FINDINGS.md §1–8</a:t>
            </a:r>
          </a:p>
          <a:p xmlns:a="http://schemas.openxmlformats.org/drawingml/2006/main">
            <a:r>
              <a:t>C:/work/学校/A.SPBU/paper/ZhaoCHI/Paper/Master-mr2/MAJOR_REVISION_WORKPLAN.md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45 秒。结尾回到价值。希望交付的不只是一个重要性分数，而是一组可以核查的理由：哪个输入在什么组合下造成达标失败；有限预算搜索遗漏多少；采取删除行动是否值得其成本。前两者属于方法与发现评价，最后一项需要下一步实验支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§1, §7 and §22</a:t>
            </a:r>
          </a:p>
          <a:p xmlns:a="http://schemas.openxmlformats.org/drawingml/2006/main">
            <a:r>
              <a:t>C:/work/学校/A.SPBU/paper/ZhaoCHI/Paper/Master-mr2/MR3_P3_FINDINGS.md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799278d4dc43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caa6a75b8fc400c" /><Relationship Type="http://schemas.openxmlformats.org/officeDocument/2006/relationships/slideLayout" Target="/ppt/slideLayouts/slideLayout1.xml" Id="R63f55bd4a49a4a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f55bd4a49a4a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d42c8b9fa46f5" /><Relationship Type="http://schemas.openxmlformats.org/officeDocument/2006/relationships/notesSlide" Target="/ppt/notesSlides/notesSlide1.xml" Id="R9d20161b06f44c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fc9450988b40de" /><Relationship Type="http://schemas.openxmlformats.org/officeDocument/2006/relationships/notesSlide" Target="/ppt/notesSlides/notesSlide2.xml" Id="R6a3a1d92109a46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7b36aea64b4cb9" /><Relationship Type="http://schemas.openxmlformats.org/officeDocument/2006/relationships/notesSlide" Target="/ppt/notesSlides/notesSlide3.xml" Id="R93f58a2336374d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f6300afadf4fe1" /><Relationship Type="http://schemas.openxmlformats.org/officeDocument/2006/relationships/notesSlide" Target="/ppt/notesSlides/notesSlide4.xml" Id="R2f96f4577eae4b0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4072e73d29474f" /><Relationship Type="http://schemas.openxmlformats.org/officeDocument/2006/relationships/notesSlide" Target="/ppt/notesSlides/notesSlide5.xml" Id="R14681e3754b64b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daff4a5aac482c" /><Relationship Type="http://schemas.openxmlformats.org/officeDocument/2006/relationships/notesSlide" Target="/ppt/notesSlides/notesSlide6.xml" Id="Rc8bd8ccc7556476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490c1baaf34df8" /><Relationship Type="http://schemas.openxmlformats.org/officeDocument/2006/relationships/notesSlide" Target="/ppt/notesSlides/notesSlide7.xml" Id="R332d56199f724e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5bbc408a04a0b" /><Relationship Type="http://schemas.openxmlformats.org/officeDocument/2006/relationships/notesSlide" Target="/ppt/notesSlides/notesSlide8.xml" Id="Rae3162e276b841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617729d440472c" /><Relationship Type="http://schemas.openxmlformats.org/officeDocument/2006/relationships/notesSlide" Target="/ppt/notesSlides/notesSlide9.xml" Id="Rfda2a7c73087472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27b3663ed744e3" /><Relationship Type="http://schemas.openxmlformats.org/officeDocument/2006/relationships/notesSlide" Target="/ppt/notesSlides/notesSlide10.xml" Id="R92aaeb502db0436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1de220142241d3" /><Relationship Type="http://schemas.openxmlformats.org/officeDocument/2006/relationships/notesSlide" Target="/ppt/notesSlides/notesSlide11.xml" Id="R8dce6cdf3c3b4bd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74d5ae8efa4620" /><Relationship Type="http://schemas.openxmlformats.org/officeDocument/2006/relationships/notesSlide" Target="/ppt/notesSlides/notesSlide12.xml" Id="Rd4bb01465ff7422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0f26471e1b4c70" /><Relationship Type="http://schemas.openxmlformats.org/officeDocument/2006/relationships/notesSlide" Target="/ppt/notesSlides/notesSlide13.xml" Id="R1e3d885cc7f4471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d8bb2645d44cf5" /><Relationship Type="http://schemas.openxmlformats.org/officeDocument/2006/relationships/notesSlide" Target="/ppt/notesSlides/notesSlide14.xml" Id="R53f9b23ba9eb41a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50b9596f15486f" /><Relationship Type="http://schemas.openxmlformats.org/officeDocument/2006/relationships/notesSlide" Target="/ppt/notesSlides/notesSlide15.xml" Id="R05937b3312c14de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1CCCEF10-737B-43A5-82BF-23531EA9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DD251175-9694-4331-9E9B-4B68B870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9300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75D0C9"/>
                </a:solidFill>
                <a:latin typeface="Arial"/>
                <a:ea typeface="Arial"/>
                <a:cs typeface="Arial"/>
              </a:rPr>
              <a:t>MinPPI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6866CF71-7CE4-428F-BADB-039EEDDA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7100"/>
            <a:ext cx="1371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Min-Marginal Power Indices for</a:t>
            </a:r>
          </a:p>
          <a:p xmlns:a="http://schemas.openxmlformats.org/drawingml/2006/main">
            <a:pPr algn="l">
              <a:defRPr sz="4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Multi-Objective Feature Selection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E9580C31-F240-4A3B-B8CC-A1B0D58F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13716000" cy="82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When can an extra feature make a model worse?</a:t>
            </a:r>
          </a:p>
        </p:txBody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861C457B-768E-4AC9-BB1B-EACF9EF5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277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496174"/>
            </a:solidFill>
          </a:ln>
        </p:spPr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A38C9520-C28E-4D13-8B65-46570E23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32500"/>
            <a:ext cx="60960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Wenjie SHI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A1B4B7DE-8E0A-4B15-9136-F352B13F2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6032500"/>
            <a:ext cx="59690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Supervisor: Chi ZHAO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DEE7A0B3-243E-4D9C-AB93-8D2D9954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45300"/>
            <a:ext cx="10160000" cy="93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Saint Petersburg State University</a:t>
            </a:r>
          </a:p>
          <a:p xmlns:a="http://schemas.openxmlformats.org/drawingml/2006/main">
            <a:pPr algn="l">
              <a:defRPr sz="22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Applied Mathematics and Control Processes</a:t>
            </a:r>
          </a:p>
        </p:txBody>
      </p:sp>
    </p:spTree>
    <p:extLst>
      <p:ext uri="{BB962C8B-B14F-4D97-AF65-F5344CB8AC3E}">
        <p14:creationId xmlns:p14="http://schemas.microsoft.com/office/powerpoint/2010/main" val="3483178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9">
            <a:extLst xmlns:a="http://schemas.openxmlformats.org/drawingml/2006/main">
              <a:ext uri="{FF2B5EF4-FFF2-40B4-BE49-F238E27FC236}">
                <a16:creationId xmlns:a16="http://schemas.microsoft.com/office/drawing/2014/main" id="{8740107F-4BB1-4928-BB38-0A93151D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Why feature selection needs evidence</a:t>
            </a:r>
          </a:p>
        </p:txBody>
      </p:sp>
      <p:sp>
        <p:nvSpPr>
          <p:cNvPr id="2" name="rule-10">
            <a:extLst xmlns:a="http://schemas.openxmlformats.org/drawingml/2006/main">
              <a:ext uri="{FF2B5EF4-FFF2-40B4-BE49-F238E27FC236}">
                <a16:creationId xmlns:a16="http://schemas.microsoft.com/office/drawing/2014/main" id="{6959BFA1-3FDC-4F8B-9887-2477FF131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1">
            <a:extLst xmlns:a="http://schemas.openxmlformats.org/drawingml/2006/main">
              <a:ext uri="{FF2B5EF4-FFF2-40B4-BE49-F238E27FC236}">
                <a16:creationId xmlns:a16="http://schemas.microsoft.com/office/drawing/2014/main" id="{660D9B99-7BC8-410B-A16C-6C192B66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text-12">
            <a:extLst xmlns:a="http://schemas.openxmlformats.org/drawingml/2006/main">
              <a:ext uri="{FF2B5EF4-FFF2-40B4-BE49-F238E27FC236}">
                <a16:creationId xmlns:a16="http://schemas.microsoft.com/office/drawing/2014/main" id="{9541DB19-FBD9-476B-A998-ADA3F480E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4700"/>
            <a:ext cx="137160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Example: a spam classifier uses many measurements of an email.</a:t>
            </a:r>
          </a:p>
        </p:txBody>
      </p:sp>
      <p:sp>
        <p:nvSpPr>
          <p:cNvPr id="5" name="stage-13">
            <a:extLst xmlns:a="http://schemas.openxmlformats.org/drawingml/2006/main">
              <a:ext uri="{FF2B5EF4-FFF2-40B4-BE49-F238E27FC236}">
                <a16:creationId xmlns:a16="http://schemas.microsoft.com/office/drawing/2014/main" id="{33B865C2-53AC-4F5C-8A17-E16DF260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3100"/>
            <a:ext cx="3937000" cy="173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6" name="text-14">
            <a:extLst xmlns:a="http://schemas.openxmlformats.org/drawingml/2006/main">
              <a:ext uri="{FF2B5EF4-FFF2-40B4-BE49-F238E27FC236}">
                <a16:creationId xmlns:a16="http://schemas.microsoft.com/office/drawing/2014/main" id="{C76E55C3-CCA5-43D2-A924-FE8CC396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365500"/>
            <a:ext cx="35306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Input measurements</a:t>
            </a:r>
          </a:p>
        </p:txBody>
      </p:sp>
      <p:sp>
        <p:nvSpPr>
          <p:cNvPr id="7" name="text-15">
            <a:extLst xmlns:a="http://schemas.openxmlformats.org/drawingml/2006/main">
              <a:ext uri="{FF2B5EF4-FFF2-40B4-BE49-F238E27FC236}">
                <a16:creationId xmlns:a16="http://schemas.microsoft.com/office/drawing/2014/main" id="{A8C6CE7A-B25A-4E5B-B382-E0B5BDF6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949700"/>
            <a:ext cx="3530600" cy="8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Word frequencies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Punctuation and capitals</a:t>
            </a:r>
          </a:p>
        </p:txBody>
      </p:sp>
      <p:sp>
        <p:nvSpPr>
          <p:cNvPr id="8" name="stage-16">
            <a:extLst xmlns:a="http://schemas.openxmlformats.org/drawingml/2006/main">
              <a:ext uri="{FF2B5EF4-FFF2-40B4-BE49-F238E27FC236}">
                <a16:creationId xmlns:a16="http://schemas.microsoft.com/office/drawing/2014/main" id="{72E3A7B6-B2B0-4E66-B589-D3775999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0400" y="3213100"/>
            <a:ext cx="3683000" cy="173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9" name="text-17">
            <a:extLst xmlns:a="http://schemas.openxmlformats.org/drawingml/2006/main">
              <a:ext uri="{FF2B5EF4-FFF2-40B4-BE49-F238E27FC236}">
                <a16:creationId xmlns:a16="http://schemas.microsoft.com/office/drawing/2014/main" id="{3C4FF2BA-EB22-4110-B411-36E1994C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65500"/>
            <a:ext cx="32766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Train a model</a:t>
            </a:r>
          </a:p>
        </p:txBody>
      </p:sp>
      <p:sp>
        <p:nvSpPr>
          <p:cNvPr id="10" name="text-18">
            <a:extLst xmlns:a="http://schemas.openxmlformats.org/drawingml/2006/main">
              <a:ext uri="{FF2B5EF4-FFF2-40B4-BE49-F238E27FC236}">
                <a16:creationId xmlns:a16="http://schemas.microsoft.com/office/drawing/2014/main" id="{ED6250F8-82AD-4237-B2DE-D0FFC9A88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949700"/>
            <a:ext cx="3276600" cy="8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Learn from emails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with known labels</a:t>
            </a:r>
          </a:p>
        </p:txBody>
      </p:sp>
      <p:sp>
        <p:nvSpPr>
          <p:cNvPr id="11" name="stage-19">
            <a:extLst xmlns:a="http://schemas.openxmlformats.org/drawingml/2006/main">
              <a:ext uri="{FF2B5EF4-FFF2-40B4-BE49-F238E27FC236}">
                <a16:creationId xmlns:a16="http://schemas.microsoft.com/office/drawing/2014/main" id="{490F2481-9B88-4678-91C3-AC460FD4F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13100"/>
            <a:ext cx="4000500" cy="173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12" name="text-20">
            <a:extLst xmlns:a="http://schemas.openxmlformats.org/drawingml/2006/main">
              <a:ext uri="{FF2B5EF4-FFF2-40B4-BE49-F238E27FC236}">
                <a16:creationId xmlns:a16="http://schemas.microsoft.com/office/drawing/2014/main" id="{9B5822FB-34C5-4B99-A23E-D0C439FF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700" y="3365500"/>
            <a:ext cx="3594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Predict</a:t>
            </a:r>
          </a:p>
        </p:txBody>
      </p:sp>
      <p:sp>
        <p:nvSpPr>
          <p:cNvPr id="13" name="text-21">
            <a:extLst xmlns:a="http://schemas.openxmlformats.org/drawingml/2006/main">
              <a:ext uri="{FF2B5EF4-FFF2-40B4-BE49-F238E27FC236}">
                <a16:creationId xmlns:a16="http://schemas.microsoft.com/office/drawing/2014/main" id="{58C16AB4-555E-4C2D-A261-3E148579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700" y="3949700"/>
            <a:ext cx="3594100" cy="8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Spam or non-spam</a:t>
            </a:r>
          </a:p>
        </p:txBody>
      </p: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699000" y="4083050"/>
            <a:ext cx="10414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cxnSp>
        <p:nvCxnSpPr>
          <p:cNvPr id="33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423400" y="4083050"/>
            <a:ext cx="10541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sp>
        <p:nvSpPr>
          <p:cNvPr id="16" name="text-22">
            <a:extLst xmlns:a="http://schemas.openxmlformats.org/drawingml/2006/main">
              <a:ext uri="{FF2B5EF4-FFF2-40B4-BE49-F238E27FC236}">
                <a16:creationId xmlns:a16="http://schemas.microsoft.com/office/drawing/2014/main" id="{4F58ADBD-92BC-43C6-97AB-558A3235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64200"/>
            <a:ext cx="469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Why reduce inputs?</a:t>
            </a:r>
          </a:p>
        </p:txBody>
      </p:sp>
      <p:sp>
        <p:nvSpPr>
          <p:cNvPr id="17" name="text-23">
            <a:extLst xmlns:a="http://schemas.openxmlformats.org/drawingml/2006/main">
              <a:ext uri="{FF2B5EF4-FFF2-40B4-BE49-F238E27FC236}">
                <a16:creationId xmlns:a16="http://schemas.microsoft.com/office/drawing/2014/main" id="{B6B1CC38-139C-40D9-AE41-0D4BBA79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5549900"/>
            <a:ext cx="889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Less measurement and model cost. Fewer redundant inputs.</a:t>
            </a:r>
          </a:p>
          <a:p xmlns:a="http://schemas.openxmlformats.org/drawingml/2006/main">
            <a:pPr algn="l">
              <a:defRPr sz="26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But a smaller model must still meet the prediction requirement.</a:t>
            </a:r>
          </a:p>
        </p:txBody>
      </p:sp>
      <p:sp>
        <p:nvSpPr>
          <p:cNvPr id="18" name="text-24">
            <a:extLst xmlns:a="http://schemas.openxmlformats.org/drawingml/2006/main">
              <a:ext uri="{FF2B5EF4-FFF2-40B4-BE49-F238E27FC236}">
                <a16:creationId xmlns:a16="http://schemas.microsoft.com/office/drawing/2014/main" id="{3E24FE4B-0393-4A40-8214-AC91868D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771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The research need: an inspectable reason to test a feature for removal.</a:t>
            </a:r>
          </a:p>
        </p:txBody>
      </p:sp>
    </p:spTree>
    <p:extLst>
      <p:ext uri="{BB962C8B-B14F-4D97-AF65-F5344CB8AC3E}">
        <p14:creationId xmlns:p14="http://schemas.microsoft.com/office/powerpoint/2010/main" val="9515436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5">
            <a:extLst xmlns:a="http://schemas.openxmlformats.org/drawingml/2006/main">
              <a:ext uri="{FF2B5EF4-FFF2-40B4-BE49-F238E27FC236}">
                <a16:creationId xmlns:a16="http://schemas.microsoft.com/office/drawing/2014/main" id="{3E7190CC-E69E-4BBF-A643-DA8F492A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Two checks: addition and removal</a:t>
            </a:r>
          </a:p>
        </p:txBody>
      </p:sp>
      <p:sp>
        <p:nvSpPr>
          <p:cNvPr id="2" name="rule-26">
            <a:extLst xmlns:a="http://schemas.openxmlformats.org/drawingml/2006/main">
              <a:ext uri="{FF2B5EF4-FFF2-40B4-BE49-F238E27FC236}">
                <a16:creationId xmlns:a16="http://schemas.microsoft.com/office/drawing/2014/main" id="{C4CB948D-56D7-4A7A-AF5F-71AB09B5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27">
            <a:extLst xmlns:a="http://schemas.openxmlformats.org/drawingml/2006/main">
              <a:ext uri="{FF2B5EF4-FFF2-40B4-BE49-F238E27FC236}">
                <a16:creationId xmlns:a16="http://schemas.microsoft.com/office/drawing/2014/main" id="{39D53A7C-C5A4-4138-99B6-4F56DD11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text-28">
            <a:extLst xmlns:a="http://schemas.openxmlformats.org/drawingml/2006/main">
              <a:ext uri="{FF2B5EF4-FFF2-40B4-BE49-F238E27FC236}">
                <a16:creationId xmlns:a16="http://schemas.microsoft.com/office/drawing/2014/main" id="{EBEFC184-8661-4007-8741-3FD1ED56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6300"/>
            <a:ext cx="137160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7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First find a harmful context.</a:t>
            </a:r>
          </a:p>
          <a:p xmlns:a="http://schemas.openxmlformats.org/drawingml/2006/main">
            <a:pPr algn="l">
              <a:defRPr sz="37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7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Then test whether removal helps.</a:t>
            </a:r>
          </a:p>
        </p:txBody>
      </p:sp>
      <p:sp>
        <p:nvSpPr>
          <p:cNvPr id="5" name="text-29">
            <a:extLst xmlns:a="http://schemas.openxmlformats.org/drawingml/2006/main">
              <a:ext uri="{FF2B5EF4-FFF2-40B4-BE49-F238E27FC236}">
                <a16:creationId xmlns:a16="http://schemas.microsoft.com/office/drawing/2014/main" id="{DB332D63-CE87-4911-86F8-01A0AB86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8900"/>
            <a:ext cx="654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1. Addition check</a:t>
            </a:r>
          </a:p>
        </p:txBody>
      </p:sp>
      <p:sp>
        <p:nvSpPr>
          <p:cNvPr id="6" name="text-30">
            <a:extLst xmlns:a="http://schemas.openxmlformats.org/drawingml/2006/main">
              <a:ext uri="{FF2B5EF4-FFF2-40B4-BE49-F238E27FC236}">
                <a16:creationId xmlns:a16="http://schemas.microsoft.com/office/drawing/2014/main" id="{B6DF1096-1C56-4480-9948-5CED7585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3898900"/>
            <a:ext cx="622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2. Removal check</a:t>
            </a:r>
          </a:p>
        </p:txBody>
      </p:sp>
      <p:sp>
        <p:nvSpPr>
          <p:cNvPr id="7" name="text-31">
            <a:extLst xmlns:a="http://schemas.openxmlformats.org/drawingml/2006/main">
              <a:ext uri="{FF2B5EF4-FFF2-40B4-BE49-F238E27FC236}">
                <a16:creationId xmlns:a16="http://schemas.microsoft.com/office/drawing/2014/main" id="{2CBE3D34-2F6C-4FCE-8039-FAFAEED6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35500"/>
            <a:ext cx="65405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Compare S with S plus input i.</a:t>
            </a:r>
          </a:p>
        </p:txBody>
      </p:sp>
      <p:sp>
        <p:nvSpPr>
          <p:cNvPr id="8" name="text-32">
            <a:extLst xmlns:a="http://schemas.openxmlformats.org/drawingml/2006/main">
              <a:ext uri="{FF2B5EF4-FFF2-40B4-BE49-F238E27FC236}">
                <a16:creationId xmlns:a16="http://schemas.microsoft.com/office/drawing/2014/main" id="{D109831C-2E68-4E3D-9FB0-312DE05E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635500"/>
            <a:ext cx="62230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Compare full inputs with a reduced set.</a:t>
            </a:r>
          </a:p>
        </p:txBody>
      </p:sp>
      <p:sp>
        <p:nvSpPr>
          <p:cNvPr id="9" name="text-33">
            <a:extLst xmlns:a="http://schemas.openxmlformats.org/drawingml/2006/main">
              <a:ext uri="{FF2B5EF4-FFF2-40B4-BE49-F238E27FC236}">
                <a16:creationId xmlns:a16="http://schemas.microsoft.com/office/drawing/2014/main" id="{8F677967-20B6-4321-AE8E-AFE51CFDC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6540500" cy="142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Does adding i make this feature group fall below the performance requirement?</a:t>
            </a:r>
          </a:p>
        </p:txBody>
      </p:sp>
      <p:sp>
        <p:nvSpPr>
          <p:cNvPr id="10" name="text-34">
            <a:extLst xmlns:a="http://schemas.openxmlformats.org/drawingml/2006/main">
              <a:ext uri="{FF2B5EF4-FFF2-40B4-BE49-F238E27FC236}">
                <a16:creationId xmlns:a16="http://schemas.microsoft.com/office/drawing/2014/main" id="{12C300BA-2DF8-479C-A0D5-9A8BA3628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5600700"/>
            <a:ext cx="6223000" cy="142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On independent data, does removal give a useful smaller model? Check prediction loss and total cost.</a:t>
            </a:r>
          </a:p>
        </p:txBody>
      </p:sp>
      <p:sp>
        <p:nvSpPr>
          <p:cNvPr id="11" name="rule-35">
            <a:extLst xmlns:a="http://schemas.openxmlformats.org/drawingml/2006/main">
              <a:ext uri="{FF2B5EF4-FFF2-40B4-BE49-F238E27FC236}">
                <a16:creationId xmlns:a16="http://schemas.microsoft.com/office/drawing/2014/main" id="{388E8262-3B9B-4858-8EE0-B9AB245F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279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DF"/>
            </a:solidFill>
          </a:ln>
        </p:spPr>
      </p:sp>
      <p:sp>
        <p:nvSpPr>
          <p:cNvPr id="12" name="text-36">
            <a:extLst xmlns:a="http://schemas.openxmlformats.org/drawingml/2006/main">
              <a:ext uri="{FF2B5EF4-FFF2-40B4-BE49-F238E27FC236}">
                <a16:creationId xmlns:a16="http://schemas.microsoft.com/office/drawing/2014/main" id="{708513E0-9664-40CB-B2AF-E3B4C65B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556500"/>
            <a:ext cx="137160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Local harm motivates a removal test. Deletion benefit needs separate evidence.</a:t>
            </a:r>
          </a:p>
        </p:txBody>
      </p:sp>
    </p:spTree>
    <p:extLst>
      <p:ext uri="{BB962C8B-B14F-4D97-AF65-F5344CB8AC3E}">
        <p14:creationId xmlns:p14="http://schemas.microsoft.com/office/powerpoint/2010/main" val="4938443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text-37">
            <a:extLst xmlns:a="http://schemas.openxmlformats.org/drawingml/2006/main">
              <a:ext uri="{FF2B5EF4-FFF2-40B4-BE49-F238E27FC236}">
                <a16:creationId xmlns:a16="http://schemas.microsoft.com/office/drawing/2014/main" id="{84EAFF88-FDDC-4221-8D24-C9C65DC1F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The formulas behind the addition check</a:t>
            </a:r>
          </a:p>
        </p:txBody>
      </p:sp>
      <p:sp>
        <p:nvSpPr>
          <p:cNvPr id="2" name="rule-38">
            <a:extLst xmlns:a="http://schemas.openxmlformats.org/drawingml/2006/main">
              <a:ext uri="{FF2B5EF4-FFF2-40B4-BE49-F238E27FC236}">
                <a16:creationId xmlns:a16="http://schemas.microsoft.com/office/drawing/2014/main" id="{CB7E4A57-BE0C-493D-BD0B-EF41FE99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39">
            <a:extLst xmlns:a="http://schemas.openxmlformats.org/drawingml/2006/main">
              <a:ext uri="{FF2B5EF4-FFF2-40B4-BE49-F238E27FC236}">
                <a16:creationId xmlns:a16="http://schemas.microsoft.com/office/drawing/2014/main" id="{FC4B5027-BF75-4124-B9E2-C7AC987B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text-40">
            <a:extLst xmlns:a="http://schemas.openxmlformats.org/drawingml/2006/main">
              <a:ext uri="{FF2B5EF4-FFF2-40B4-BE49-F238E27FC236}">
                <a16:creationId xmlns:a16="http://schemas.microsoft.com/office/drawing/2014/main" id="{BE7ED3CF-84E4-4B3D-8F67-7B9FB0D3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93900"/>
            <a:ext cx="13716000" cy="85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D: full analyzed input set. S: selected inputs without i. i: the input to add.</a:t>
            </a:r>
          </a:p>
          <a:p xmlns:a="http://schemas.openxmlformats.org/drawingml/2006/main">
            <a:pPr algn="l">
              <a:defRPr sz="23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U(S): validation score after training on S. Higher is better.</a:t>
            </a:r>
          </a:p>
        </p:txBody>
      </p:sp>
      <p:sp>
        <p:nvSpPr>
          <p:cNvPr id="5" name="text-41">
            <a:extLst xmlns:a="http://schemas.openxmlformats.org/drawingml/2006/main">
              <a:ext uri="{FF2B5EF4-FFF2-40B4-BE49-F238E27FC236}">
                <a16:creationId xmlns:a16="http://schemas.microsoft.com/office/drawing/2014/main" id="{3516BBA9-1F40-4374-A77B-B785A37B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62230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q = α U(D)</a:t>
            </a:r>
          </a:p>
        </p:txBody>
      </p:sp>
      <p:sp>
        <p:nvSpPr>
          <p:cNvPr id="6" name="text-42">
            <a:extLst xmlns:a="http://schemas.openxmlformats.org/drawingml/2006/main">
              <a:ext uri="{FF2B5EF4-FFF2-40B4-BE49-F238E27FC236}">
                <a16:creationId xmlns:a16="http://schemas.microsoft.com/office/drawing/2014/main" id="{9C601FBB-1D72-4DF8-846F-AD5255E8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3500" y="3048000"/>
            <a:ext cx="6794500" cy="82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q is the required score. By default,</a:t>
            </a:r>
          </a:p>
          <a:p xmlns:a="http://schemas.openxmlformats.org/drawingml/2006/main">
            <a:pPr algn="l">
              <a:defRPr sz="24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α = 0.95, so q is 95% of U(D).</a:t>
            </a:r>
          </a:p>
        </p:txBody>
      </p:sp>
      <p:sp>
        <p:nvSpPr>
          <p:cNvPr id="7" name="rule-43">
            <a:extLst xmlns:a="http://schemas.openxmlformats.org/drawingml/2006/main">
              <a:ext uri="{FF2B5EF4-FFF2-40B4-BE49-F238E27FC236}">
                <a16:creationId xmlns:a16="http://schemas.microsoft.com/office/drawing/2014/main" id="{8168A304-8213-4F10-96E5-83CD2537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32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DF"/>
            </a:solidFill>
          </a:ln>
        </p:spPr>
      </p:sp>
      <p:sp>
        <p:nvSpPr>
          <p:cNvPr id="8" name="text-44">
            <a:extLst xmlns:a="http://schemas.openxmlformats.org/drawingml/2006/main">
              <a:ext uri="{FF2B5EF4-FFF2-40B4-BE49-F238E27FC236}">
                <a16:creationId xmlns:a16="http://schemas.microsoft.com/office/drawing/2014/main" id="{5338CEC5-4052-406D-ABE6-C786EA9B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03700"/>
            <a:ext cx="6540500" cy="67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1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vα(S) = 1[U(S) ≥ q]</a:t>
            </a:r>
          </a:p>
        </p:txBody>
      </p:sp>
      <p:sp>
        <p:nvSpPr>
          <p:cNvPr id="9" name="text-45">
            <a:extLst xmlns:a="http://schemas.openxmlformats.org/drawingml/2006/main">
              <a:ext uri="{FF2B5EF4-FFF2-40B4-BE49-F238E27FC236}">
                <a16:creationId xmlns:a16="http://schemas.microsoft.com/office/drawing/2014/main" id="{5465D943-8F98-4CCE-A958-98CFF47C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3500" y="4127500"/>
            <a:ext cx="6794500" cy="82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1 means the score meets the requirement.</a:t>
            </a:r>
          </a:p>
          <a:p xmlns:a="http://schemas.openxmlformats.org/drawingml/2006/main">
            <a:pPr algn="l">
              <a:defRPr sz="24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0 means it falls below the requirement.</a:t>
            </a:r>
          </a:p>
        </p:txBody>
      </p:sp>
      <p:sp>
        <p:nvSpPr>
          <p:cNvPr id="10" name="text-46">
            <a:extLst xmlns:a="http://schemas.openxmlformats.org/drawingml/2006/main">
              <a:ext uri="{FF2B5EF4-FFF2-40B4-BE49-F238E27FC236}">
                <a16:creationId xmlns:a16="http://schemas.microsoft.com/office/drawing/2014/main" id="{D493E522-0A05-4396-8F80-FF629BA22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95900"/>
            <a:ext cx="66040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Δᵢ(S) = vα(S ∪ {i}) − vα(S)</a:t>
            </a:r>
          </a:p>
        </p:txBody>
      </p:sp>
      <p:sp>
        <p:nvSpPr>
          <p:cNvPr id="11" name="text-47">
            <a:extLst xmlns:a="http://schemas.openxmlformats.org/drawingml/2006/main">
              <a:ext uri="{FF2B5EF4-FFF2-40B4-BE49-F238E27FC236}">
                <a16:creationId xmlns:a16="http://schemas.microsoft.com/office/drawing/2014/main" id="{2809C990-56BF-4873-8818-830C7FCD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3500" y="5143500"/>
            <a:ext cx="6794500" cy="85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Measure the change after adding i.</a:t>
            </a:r>
          </a:p>
          <a:p xmlns:a="http://schemas.openxmlformats.org/drawingml/2006/main">
            <a:pPr algn="l">
              <a:defRPr sz="24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−1 means a change from pass to fail.</a:t>
            </a:r>
          </a:p>
        </p:txBody>
      </p:sp>
      <p:sp>
        <p:nvSpPr>
          <p:cNvPr id="12" name="text-48">
            <a:extLst xmlns:a="http://schemas.openxmlformats.org/drawingml/2006/main">
              <a:ext uri="{FF2B5EF4-FFF2-40B4-BE49-F238E27FC236}">
                <a16:creationId xmlns:a16="http://schemas.microsoft.com/office/drawing/2014/main" id="{6371E309-FEEB-4AA1-9BCE-551C46C9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37300"/>
            <a:ext cx="6604000" cy="67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Mᵢ = min { Δᵢ(S) }</a:t>
            </a:r>
          </a:p>
        </p:txBody>
      </p:sp>
      <p:sp>
        <p:nvSpPr>
          <p:cNvPr id="13" name="text-49">
            <a:extLst xmlns:a="http://schemas.openxmlformats.org/drawingml/2006/main">
              <a:ext uri="{FF2B5EF4-FFF2-40B4-BE49-F238E27FC236}">
                <a16:creationId xmlns:a16="http://schemas.microsoft.com/office/drawing/2014/main" id="{AC289E95-F4D1-4F54-A1A1-A3FB13AE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3500" y="6235700"/>
            <a:ext cx="679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MinPPI takes the minimum over</a:t>
            </a:r>
          </a:p>
          <a:p xmlns:a="http://schemas.openxmlformats.org/drawingml/2006/main">
            <a:pPr algn="l">
              <a:defRPr sz="24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all input groups S without i.</a:t>
            </a:r>
          </a:p>
        </p:txBody>
      </p:sp>
      <p:sp>
        <p:nvSpPr>
          <p:cNvPr id="14" name="text-50">
            <a:extLst xmlns:a="http://schemas.openxmlformats.org/drawingml/2006/main">
              <a:ext uri="{FF2B5EF4-FFF2-40B4-BE49-F238E27FC236}">
                <a16:creationId xmlns:a16="http://schemas.microsoft.com/office/drawing/2014/main" id="{8C95070C-D118-4CA3-B97B-A815FD5A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543800"/>
            <a:ext cx="137160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3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Mᵢ = −1 means at least one harmful context exists under the fixed task conditions.</a:t>
            </a:r>
          </a:p>
        </p:txBody>
      </p:sp>
    </p:spTree>
    <p:extLst>
      <p:ext uri="{BB962C8B-B14F-4D97-AF65-F5344CB8AC3E}">
        <p14:creationId xmlns:p14="http://schemas.microsoft.com/office/powerpoint/2010/main" val="18709208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51">
            <a:extLst xmlns:a="http://schemas.openxmlformats.org/drawingml/2006/main">
              <a:ext uri="{FF2B5EF4-FFF2-40B4-BE49-F238E27FC236}">
                <a16:creationId xmlns:a16="http://schemas.microsoft.com/office/drawing/2014/main" id="{84E3D5E0-7E42-48BA-A7EF-B41C4F2CB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A concrete example of the core idea</a:t>
            </a:r>
          </a:p>
        </p:txBody>
      </p:sp>
      <p:sp>
        <p:nvSpPr>
          <p:cNvPr id="2" name="rule-52">
            <a:extLst xmlns:a="http://schemas.openxmlformats.org/drawingml/2006/main">
              <a:ext uri="{FF2B5EF4-FFF2-40B4-BE49-F238E27FC236}">
                <a16:creationId xmlns:a16="http://schemas.microsoft.com/office/drawing/2014/main" id="{73393F73-0F1B-4713-9FD0-3D1AA57C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53">
            <a:extLst xmlns:a="http://schemas.openxmlformats.org/drawingml/2006/main">
              <a:ext uri="{FF2B5EF4-FFF2-40B4-BE49-F238E27FC236}">
                <a16:creationId xmlns:a16="http://schemas.microsoft.com/office/drawing/2014/main" id="{74DF3D05-9ABA-4A08-B64D-3B5110B3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text-54">
            <a:extLst xmlns:a="http://schemas.openxmlformats.org/drawingml/2006/main">
              <a:ext uri="{FF2B5EF4-FFF2-40B4-BE49-F238E27FC236}">
                <a16:creationId xmlns:a16="http://schemas.microsoft.com/office/drawing/2014/main" id="{9C1A9CFF-3331-4705-AA86-C21DDCD4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82800"/>
            <a:ext cx="1371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Illustration only: α = 0.95, U(D) = 0.90, so q = 0.855</a:t>
            </a:r>
          </a:p>
        </p:txBody>
      </p:sp>
      <p:sp>
        <p:nvSpPr>
          <p:cNvPr id="5" name="stage-55">
            <a:extLst xmlns:a="http://schemas.openxmlformats.org/drawingml/2006/main">
              <a:ext uri="{FF2B5EF4-FFF2-40B4-BE49-F238E27FC236}">
                <a16:creationId xmlns:a16="http://schemas.microsoft.com/office/drawing/2014/main" id="{A3607B90-6665-43DE-ADFE-6B0226F1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25800"/>
            <a:ext cx="5334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EB"/>
          </a:solidFill>
          <a:ln xmlns:a="http://schemas.openxmlformats.org/drawingml/2006/main" w="16510">
            <a:solidFill>
              <a:srgbClr val="0C7C78"/>
            </a:solidFill>
          </a:ln>
        </p:spPr>
      </p:sp>
      <p:sp>
        <p:nvSpPr>
          <p:cNvPr id="6" name="text-56">
            <a:extLst xmlns:a="http://schemas.openxmlformats.org/drawingml/2006/main">
              <a:ext uri="{FF2B5EF4-FFF2-40B4-BE49-F238E27FC236}">
                <a16:creationId xmlns:a16="http://schemas.microsoft.com/office/drawing/2014/main" id="{0D416B97-DC19-408D-BF32-E72623C2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378200"/>
            <a:ext cx="49276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Model using a subset S</a:t>
            </a:r>
          </a:p>
        </p:txBody>
      </p:sp>
      <p:sp>
        <p:nvSpPr>
          <p:cNvPr id="7" name="text-57">
            <a:extLst xmlns:a="http://schemas.openxmlformats.org/drawingml/2006/main">
              <a:ext uri="{FF2B5EF4-FFF2-40B4-BE49-F238E27FC236}">
                <a16:creationId xmlns:a16="http://schemas.microsoft.com/office/drawing/2014/main" id="{C5A611B3-8CAD-428E-A55A-20977383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962400"/>
            <a:ext cx="49276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Validation score: 0.87</a:t>
            </a:r>
          </a:p>
          <a:p xmlns:a="http://schemas.openxmlformats.org/drawingml/2006/main">
            <a:pPr algn="l">
              <a:defRPr sz="29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Meets the requirement</a:t>
            </a:r>
          </a:p>
        </p:txBody>
      </p:sp>
      <p:sp>
        <p:nvSpPr>
          <p:cNvPr id="8" name="stage-58">
            <a:extLst xmlns:a="http://schemas.openxmlformats.org/drawingml/2006/main">
              <a:ext uri="{FF2B5EF4-FFF2-40B4-BE49-F238E27FC236}">
                <a16:creationId xmlns:a16="http://schemas.microsoft.com/office/drawing/2014/main" id="{AE162B50-75AB-4F29-89F0-7BA95AD4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25800"/>
            <a:ext cx="5334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9" name="text-59">
            <a:extLst xmlns:a="http://schemas.openxmlformats.org/drawingml/2006/main">
              <a:ext uri="{FF2B5EF4-FFF2-40B4-BE49-F238E27FC236}">
                <a16:creationId xmlns:a16="http://schemas.microsoft.com/office/drawing/2014/main" id="{08B1E061-1F2F-4022-8EF8-0BA159F2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7200" y="3378200"/>
            <a:ext cx="49276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Model using S plus input i</a:t>
            </a:r>
          </a:p>
        </p:txBody>
      </p:sp>
      <p:sp>
        <p:nvSpPr>
          <p:cNvPr id="10" name="text-60">
            <a:extLst xmlns:a="http://schemas.openxmlformats.org/drawingml/2006/main">
              <a:ext uri="{FF2B5EF4-FFF2-40B4-BE49-F238E27FC236}">
                <a16:creationId xmlns:a16="http://schemas.microsoft.com/office/drawing/2014/main" id="{DD6EF200-D42F-43B5-B557-BF4821F1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7200" y="3962400"/>
            <a:ext cx="49276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Validation score: 0.84</a:t>
            </a:r>
          </a:p>
          <a:p xmlns:a="http://schemas.openxmlformats.org/drawingml/2006/main">
            <a:pPr algn="l">
              <a:defRPr sz="29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Falls below the requirement</a:t>
            </a:r>
          </a:p>
        </p:txBody>
      </p:sp>
      <p:cxnSp>
        <p:nvCxnSpPr>
          <p:cNvPr id="26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096000" y="4368800"/>
            <a:ext cx="30480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sp>
        <p:nvSpPr>
          <p:cNvPr id="12" name="text-61">
            <a:extLst xmlns:a="http://schemas.openxmlformats.org/drawingml/2006/main">
              <a:ext uri="{FF2B5EF4-FFF2-40B4-BE49-F238E27FC236}">
                <a16:creationId xmlns:a16="http://schemas.microsoft.com/office/drawing/2014/main" id="{F09F13DD-7857-4603-8706-69B7A67F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3365500"/>
            <a:ext cx="25146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Add input i</a:t>
            </a:r>
          </a:p>
          <a:p xmlns:a="http://schemas.openxmlformats.org/drawingml/2006/main">
            <a:pPr algn="ctr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and retrain</a:t>
            </a:r>
          </a:p>
        </p:txBody>
      </p:sp>
      <p:sp>
        <p:nvSpPr>
          <p:cNvPr id="13" name="text-62">
            <a:extLst xmlns:a="http://schemas.openxmlformats.org/drawingml/2006/main">
              <a:ext uri="{FF2B5EF4-FFF2-40B4-BE49-F238E27FC236}">
                <a16:creationId xmlns:a16="http://schemas.microsoft.com/office/drawing/2014/main" id="{1B46B7FE-57AB-4364-9C37-0F46A122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547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Same training rows, learner settings and validation rows</a:t>
            </a:r>
          </a:p>
        </p:txBody>
      </p:sp>
      <p:sp>
        <p:nvSpPr>
          <p:cNvPr id="14" name="text-63">
            <a:extLst xmlns:a="http://schemas.openxmlformats.org/drawingml/2006/main">
              <a:ext uri="{FF2B5EF4-FFF2-40B4-BE49-F238E27FC236}">
                <a16:creationId xmlns:a16="http://schemas.microsoft.com/office/drawing/2014/main" id="{ED31C01A-78E6-4F43-84D7-90CE889B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929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Here Δᵢ(S) = 0 − 1 = −1: a harmful witness that another person can check.</a:t>
            </a:r>
          </a:p>
        </p:txBody>
      </p:sp>
      <p:sp>
        <p:nvSpPr>
          <p:cNvPr id="15" name="text-64">
            <a:extLst xmlns:a="http://schemas.openxmlformats.org/drawingml/2006/main">
              <a:ext uri="{FF2B5EF4-FFF2-40B4-BE49-F238E27FC236}">
                <a16:creationId xmlns:a16="http://schemas.microsoft.com/office/drawing/2014/main" id="{211B9F63-A750-485B-BD13-466559AD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96200"/>
            <a:ext cx="13716000" cy="39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It motivates a deletion test. It does not prove that joint deletion will help.</a:t>
            </a:r>
          </a:p>
        </p:txBody>
      </p:sp>
    </p:spTree>
    <p:extLst>
      <p:ext uri="{BB962C8B-B14F-4D97-AF65-F5344CB8AC3E}">
        <p14:creationId xmlns:p14="http://schemas.microsoft.com/office/powerpoint/2010/main" val="18025828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65">
            <a:extLst xmlns:a="http://schemas.openxmlformats.org/drawingml/2006/main">
              <a:ext uri="{FF2B5EF4-FFF2-40B4-BE49-F238E27FC236}">
                <a16:creationId xmlns:a16="http://schemas.microsoft.com/office/drawing/2014/main" id="{48EF1531-10E2-4F3A-A99C-69AD1586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Research architecture</a:t>
            </a:r>
          </a:p>
        </p:txBody>
      </p:sp>
      <p:sp>
        <p:nvSpPr>
          <p:cNvPr id="2" name="rule-66">
            <a:extLst xmlns:a="http://schemas.openxmlformats.org/drawingml/2006/main">
              <a:ext uri="{FF2B5EF4-FFF2-40B4-BE49-F238E27FC236}">
                <a16:creationId xmlns:a16="http://schemas.microsoft.com/office/drawing/2014/main" id="{64790AAF-5B4A-43BB-B15A-E525B2921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67">
            <a:extLst xmlns:a="http://schemas.openxmlformats.org/drawingml/2006/main">
              <a:ext uri="{FF2B5EF4-FFF2-40B4-BE49-F238E27FC236}">
                <a16:creationId xmlns:a16="http://schemas.microsoft.com/office/drawing/2014/main" id="{75D4E015-8C07-43ED-9681-3616A98B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text-68">
            <a:extLst xmlns:a="http://schemas.openxmlformats.org/drawingml/2006/main">
              <a:ext uri="{FF2B5EF4-FFF2-40B4-BE49-F238E27FC236}">
                <a16:creationId xmlns:a16="http://schemas.microsoft.com/office/drawing/2014/main" id="{96A9EE6C-AC80-4D8C-983D-5F25D6D3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6600"/>
            <a:ext cx="137160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Fixed supervised task: labeled data, learner, split and performance requirement</a:t>
            </a:r>
          </a:p>
        </p:txBody>
      </p:sp>
      <p:sp>
        <p:nvSpPr>
          <p:cNvPr id="5" name="stage-69">
            <a:extLst xmlns:a="http://schemas.openxmlformats.org/drawingml/2006/main">
              <a:ext uri="{FF2B5EF4-FFF2-40B4-BE49-F238E27FC236}">
                <a16:creationId xmlns:a16="http://schemas.microsoft.com/office/drawing/2014/main" id="{1282E550-DBF2-44ED-83D8-F3800C0E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84500"/>
            <a:ext cx="3619500" cy="199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6" name="text-70">
            <a:extLst xmlns:a="http://schemas.openxmlformats.org/drawingml/2006/main">
              <a:ext uri="{FF2B5EF4-FFF2-40B4-BE49-F238E27FC236}">
                <a16:creationId xmlns:a16="http://schemas.microsoft.com/office/drawing/2014/main" id="{676BF407-E7B2-4BA8-80B8-094B99CE7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136900"/>
            <a:ext cx="3213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1. Choose a context</a:t>
            </a:r>
          </a:p>
        </p:txBody>
      </p:sp>
      <p:sp>
        <p:nvSpPr>
          <p:cNvPr id="7" name="text-71">
            <a:extLst xmlns:a="http://schemas.openxmlformats.org/drawingml/2006/main">
              <a:ext uri="{FF2B5EF4-FFF2-40B4-BE49-F238E27FC236}">
                <a16:creationId xmlns:a16="http://schemas.microsoft.com/office/drawing/2014/main" id="{5F2293A8-0EF5-4D37-8F90-A7236DD0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721100"/>
            <a:ext cx="3213100" cy="11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Select input i and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other inputs S</a:t>
            </a:r>
          </a:p>
        </p:txBody>
      </p:sp>
      <p:sp>
        <p:nvSpPr>
          <p:cNvPr id="8" name="stage-72">
            <a:extLst xmlns:a="http://schemas.openxmlformats.org/drawingml/2006/main">
              <a:ext uri="{FF2B5EF4-FFF2-40B4-BE49-F238E27FC236}">
                <a16:creationId xmlns:a16="http://schemas.microsoft.com/office/drawing/2014/main" id="{88925238-D552-4199-A95E-4244FA76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984500"/>
            <a:ext cx="4127500" cy="199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EB"/>
          </a:solidFill>
          <a:ln xmlns:a="http://schemas.openxmlformats.org/drawingml/2006/main" w="16510">
            <a:solidFill>
              <a:srgbClr val="0C7C78"/>
            </a:solidFill>
          </a:ln>
        </p:spPr>
      </p:sp>
      <p:sp>
        <p:nvSpPr>
          <p:cNvPr id="9" name="text-73">
            <a:extLst xmlns:a="http://schemas.openxmlformats.org/drawingml/2006/main">
              <a:ext uri="{FF2B5EF4-FFF2-40B4-BE49-F238E27FC236}">
                <a16:creationId xmlns:a16="http://schemas.microsoft.com/office/drawing/2014/main" id="{C64B2EFB-78C8-4CAC-A028-3C444ED0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800" y="3136900"/>
            <a:ext cx="3721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2. Test the addition</a:t>
            </a:r>
          </a:p>
        </p:txBody>
      </p:sp>
      <p:sp>
        <p:nvSpPr>
          <p:cNvPr id="10" name="text-74">
            <a:extLst xmlns:a="http://schemas.openxmlformats.org/drawingml/2006/main">
              <a:ext uri="{FF2B5EF4-FFF2-40B4-BE49-F238E27FC236}">
                <a16:creationId xmlns:a16="http://schemas.microsoft.com/office/drawing/2014/main" id="{BC01BE93-D118-40C7-9548-845177F9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800" y="3721100"/>
            <a:ext cx="3721100" cy="11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Train on S and on S+i.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Compare validation scores.</a:t>
            </a:r>
          </a:p>
        </p:txBody>
      </p:sp>
      <p:sp>
        <p:nvSpPr>
          <p:cNvPr id="11" name="stage-75">
            <a:extLst xmlns:a="http://schemas.openxmlformats.org/drawingml/2006/main">
              <a:ext uri="{FF2B5EF4-FFF2-40B4-BE49-F238E27FC236}">
                <a16:creationId xmlns:a16="http://schemas.microsoft.com/office/drawing/2014/main" id="{877236C9-4074-45D4-B71B-91287CD3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84500"/>
            <a:ext cx="3619500" cy="199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12" name="text-76">
            <a:extLst xmlns:a="http://schemas.openxmlformats.org/drawingml/2006/main">
              <a:ext uri="{FF2B5EF4-FFF2-40B4-BE49-F238E27FC236}">
                <a16:creationId xmlns:a16="http://schemas.microsoft.com/office/drawing/2014/main" id="{46DEBE67-3412-4876-A836-87631B0B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1700" y="3136900"/>
            <a:ext cx="3213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3. Record failures</a:t>
            </a:r>
          </a:p>
        </p:txBody>
      </p:sp>
      <p:sp>
        <p:nvSpPr>
          <p:cNvPr id="13" name="text-77">
            <a:extLst xmlns:a="http://schemas.openxmlformats.org/drawingml/2006/main">
              <a:ext uri="{FF2B5EF4-FFF2-40B4-BE49-F238E27FC236}">
                <a16:creationId xmlns:a16="http://schemas.microsoft.com/office/drawing/2014/main" id="{F2CA78C3-3A4A-4B5B-9F17-DCF4809F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1700" y="3721100"/>
            <a:ext cx="3213100" cy="11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Save only pass-to-fail: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i, S, scores and threshold.</a:t>
            </a:r>
          </a:p>
        </p:txBody>
      </p:sp>
      <p:cxnSp>
        <p:nvCxnSpPr>
          <p:cNvPr id="44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381500" y="3981450"/>
            <a:ext cx="11811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cxnSp>
        <p:nvCxnSpPr>
          <p:cNvPr id="45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690100" y="3981450"/>
            <a:ext cx="11684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sp>
        <p:nvSpPr>
          <p:cNvPr id="16" name="text-78">
            <a:extLst xmlns:a="http://schemas.openxmlformats.org/drawingml/2006/main">
              <a:ext uri="{FF2B5EF4-FFF2-40B4-BE49-F238E27FC236}">
                <a16:creationId xmlns:a16="http://schemas.microsoft.com/office/drawing/2014/main" id="{7046F7FD-3EE9-4088-AFE5-6E959AE2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13716000" cy="3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FEATURE AUDIT</a:t>
            </a:r>
          </a:p>
        </p:txBody>
      </p:sp>
      <p:sp>
        <p:nvSpPr>
          <p:cNvPr id="17" name="stage-79">
            <a:extLst xmlns:a="http://schemas.openxmlformats.org/drawingml/2006/main">
              <a:ext uri="{FF2B5EF4-FFF2-40B4-BE49-F238E27FC236}">
                <a16:creationId xmlns:a16="http://schemas.microsoft.com/office/drawing/2014/main" id="{BB052E9C-CD31-444F-99A6-60096FC3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0600"/>
            <a:ext cx="3619500" cy="146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18" name="text-80">
            <a:extLst xmlns:a="http://schemas.openxmlformats.org/drawingml/2006/main">
              <a:ext uri="{FF2B5EF4-FFF2-40B4-BE49-F238E27FC236}">
                <a16:creationId xmlns:a16="http://schemas.microsoft.com/office/drawing/2014/main" id="{38EC1C4A-F37D-44A0-ABDB-8F6E3A87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1700" y="6223000"/>
            <a:ext cx="3213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4. Propose removal</a:t>
            </a:r>
          </a:p>
        </p:txBody>
      </p:sp>
      <p:sp>
        <p:nvSpPr>
          <p:cNvPr id="19" name="text-81">
            <a:extLst xmlns:a="http://schemas.openxmlformats.org/drawingml/2006/main">
              <a:ext uri="{FF2B5EF4-FFF2-40B4-BE49-F238E27FC236}">
                <a16:creationId xmlns:a16="http://schemas.microsoft.com/office/drawing/2014/main" id="{E5F4519D-F53F-44CF-BDA2-12CE0A54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1700" y="6807200"/>
            <a:ext cx="3213100" cy="58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Choose one candidate.</a:t>
            </a:r>
          </a:p>
        </p:txBody>
      </p:sp>
      <p:sp>
        <p:nvSpPr>
          <p:cNvPr id="20" name="stage-82">
            <a:extLst xmlns:a="http://schemas.openxmlformats.org/drawingml/2006/main">
              <a:ext uri="{FF2B5EF4-FFF2-40B4-BE49-F238E27FC236}">
                <a16:creationId xmlns:a16="http://schemas.microsoft.com/office/drawing/2014/main" id="{246E31FF-B188-438E-B298-B9B3C474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070600"/>
            <a:ext cx="4127500" cy="146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21" name="text-83">
            <a:extLst xmlns:a="http://schemas.openxmlformats.org/drawingml/2006/main">
              <a:ext uri="{FF2B5EF4-FFF2-40B4-BE49-F238E27FC236}">
                <a16:creationId xmlns:a16="http://schemas.microsoft.com/office/drawing/2014/main" id="{55BA8D31-0C78-46AF-AF2D-6034F961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800" y="6223000"/>
            <a:ext cx="3721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5. Independent check</a:t>
            </a:r>
          </a:p>
        </p:txBody>
      </p:sp>
      <p:sp>
        <p:nvSpPr>
          <p:cNvPr id="22" name="text-84">
            <a:extLst xmlns:a="http://schemas.openxmlformats.org/drawingml/2006/main">
              <a:ext uri="{FF2B5EF4-FFF2-40B4-BE49-F238E27FC236}">
                <a16:creationId xmlns:a16="http://schemas.microsoft.com/office/drawing/2014/main" id="{4624A7CA-D2AF-4DED-8878-54A2C17A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800" y="6807200"/>
            <a:ext cx="3721100" cy="58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Accept it or keep all inputs.</a:t>
            </a:r>
          </a:p>
        </p:txBody>
      </p:sp>
      <p:sp>
        <p:nvSpPr>
          <p:cNvPr id="23" name="stage-85">
            <a:extLst xmlns:a="http://schemas.openxmlformats.org/drawingml/2006/main">
              <a:ext uri="{FF2B5EF4-FFF2-40B4-BE49-F238E27FC236}">
                <a16:creationId xmlns:a16="http://schemas.microsoft.com/office/drawing/2014/main" id="{F92D89FF-E47A-4D17-8509-3FC77272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70600"/>
            <a:ext cx="3619500" cy="146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24" name="text-86">
            <a:extLst xmlns:a="http://schemas.openxmlformats.org/drawingml/2006/main">
              <a:ext uri="{FF2B5EF4-FFF2-40B4-BE49-F238E27FC236}">
                <a16:creationId xmlns:a16="http://schemas.microsoft.com/office/drawing/2014/main" id="{069BAA16-BACE-4835-A40B-1CBE046C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6223000"/>
            <a:ext cx="3213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6. Held-out test</a:t>
            </a:r>
          </a:p>
        </p:txBody>
      </p:sp>
      <p:sp>
        <p:nvSpPr>
          <p:cNvPr id="25" name="text-87">
            <a:extLst xmlns:a="http://schemas.openxmlformats.org/drawingml/2006/main">
              <a:ext uri="{FF2B5EF4-FFF2-40B4-BE49-F238E27FC236}">
                <a16:creationId xmlns:a16="http://schemas.microsoft.com/office/drawing/2014/main" id="{4C4B9F56-E090-460F-BDEE-EDBC9250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6807200"/>
            <a:ext cx="3213100" cy="58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Measure size, loss and cost.</a:t>
            </a:r>
          </a:p>
        </p:txBody>
      </p:sp>
      <p:cxnSp>
        <p:nvCxnSpPr>
          <p:cNvPr id="56" name=""/>
          <p:cNvCxnSpPr>
            <a:stCxn xmlns:a="http://schemas.openxmlformats.org/drawingml/2006/main" id="11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12668250" y="4978400"/>
            <a:ext cx="0" cy="109220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cxnSp>
        <p:nvCxnSpPr>
          <p:cNvPr id="57" name=""/>
          <p:cNvCxnSpPr>
            <a:stCxn xmlns:a="http://schemas.openxmlformats.org/drawingml/2006/main" id="17" idx="1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9690100" y="6800850"/>
            <a:ext cx="11684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cxnSp>
        <p:nvCxnSpPr>
          <p:cNvPr id="58" name=""/>
          <p:cNvCxnSpPr>
            <a:stCxn xmlns:a="http://schemas.openxmlformats.org/drawingml/2006/main" id="20" idx="1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H="1">
            <a:off x="4381500" y="6800850"/>
            <a:ext cx="11811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sp>
        <p:nvSpPr>
          <p:cNvPr id="29" name="text-88">
            <a:extLst xmlns:a="http://schemas.openxmlformats.org/drawingml/2006/main">
              <a:ext uri="{FF2B5EF4-FFF2-40B4-BE49-F238E27FC236}">
                <a16:creationId xmlns:a16="http://schemas.microsoft.com/office/drawing/2014/main" id="{ED2709D2-D85D-4BA5-A36A-26D6EEDB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30800"/>
            <a:ext cx="9144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Repeat the audit within a fixed query budget.</a:t>
            </a:r>
          </a:p>
        </p:txBody>
      </p:sp>
      <p:sp>
        <p:nvSpPr>
          <p:cNvPr id="30" name="text-89">
            <a:extLst xmlns:a="http://schemas.openxmlformats.org/drawingml/2006/main">
              <a:ext uri="{FF2B5EF4-FFF2-40B4-BE49-F238E27FC236}">
                <a16:creationId xmlns:a16="http://schemas.microsoft.com/office/drawing/2014/main" id="{2F279B88-293B-45AD-A637-1AB8B6C5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26100"/>
            <a:ext cx="863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PLANNED DELETION EVALUATION</a:t>
            </a:r>
          </a:p>
        </p:txBody>
      </p:sp>
    </p:spTree>
    <p:extLst>
      <p:ext uri="{BB962C8B-B14F-4D97-AF65-F5344CB8AC3E}">
        <p14:creationId xmlns:p14="http://schemas.microsoft.com/office/powerpoint/2010/main" val="12097383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90">
            <a:extLst xmlns:a="http://schemas.openxmlformats.org/drawingml/2006/main">
              <a:ext uri="{FF2B5EF4-FFF2-40B4-BE49-F238E27FC236}">
                <a16:creationId xmlns:a16="http://schemas.microsoft.com/office/drawing/2014/main" id="{398AE05A-6C3E-44BF-A718-4D811827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The theory behind MinPPI</a:t>
            </a:r>
          </a:p>
        </p:txBody>
      </p:sp>
      <p:sp>
        <p:nvSpPr>
          <p:cNvPr id="2" name="rule-91">
            <a:extLst xmlns:a="http://schemas.openxmlformats.org/drawingml/2006/main">
              <a:ext uri="{FF2B5EF4-FFF2-40B4-BE49-F238E27FC236}">
                <a16:creationId xmlns:a16="http://schemas.microsoft.com/office/drawing/2014/main" id="{A3261AC5-527C-418E-961B-86737000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92">
            <a:extLst xmlns:a="http://schemas.openxmlformats.org/drawingml/2006/main">
              <a:ext uri="{FF2B5EF4-FFF2-40B4-BE49-F238E27FC236}">
                <a16:creationId xmlns:a16="http://schemas.microsoft.com/office/drawing/2014/main" id="{9483C4D2-9208-4C94-8D93-A1F340833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762000" y="2133600"/>
          <a:ext xmlns:a="http://schemas.openxmlformats.org/drawingml/2006/main" cx="137160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9525000"/>
              </a:tblGrid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Game-theoretic idea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Meaning for a prediction model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Player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One input column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Coalition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 group of columns used to train a model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Marginal contribution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The change after adding one column to that group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</a:tbl>
          </a:graphicData>
        </a:graphic>
      </p:graphicFrame>
      <p:sp>
        <p:nvSpPr>
          <p:cNvPr id="5" name="text-93">
            <a:extLst xmlns:a="http://schemas.openxmlformats.org/drawingml/2006/main">
              <a:ext uri="{FF2B5EF4-FFF2-40B4-BE49-F238E27FC236}">
                <a16:creationId xmlns:a16="http://schemas.microsoft.com/office/drawing/2014/main" id="{07D0CBBC-405A-4F6E-AE15-336A2772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1371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31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MinPPI checks the worst threshold change across feature groups.</a:t>
            </a:r>
          </a:p>
        </p:txBody>
      </p:sp>
      <p:sp>
        <p:nvSpPr>
          <p:cNvPr id="6" name="text-94">
            <a:extLst xmlns:a="http://schemas.openxmlformats.org/drawingml/2006/main">
              <a:ext uri="{FF2B5EF4-FFF2-40B4-BE49-F238E27FC236}">
                <a16:creationId xmlns:a16="http://schemas.microsoft.com/office/drawing/2014/main" id="{43CBB28F-C074-4327-93F8-481C16A47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78600"/>
            <a:ext cx="13716000" cy="82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If any group changes from pass to fail, that input has a negative witness.</a:t>
            </a:r>
          </a:p>
        </p:txBody>
      </p:sp>
      <p:sp>
        <p:nvSpPr>
          <p:cNvPr id="7" name="text-95">
            <a:extLst xmlns:a="http://schemas.openxmlformats.org/drawingml/2006/main">
              <a:ext uri="{FF2B5EF4-FFF2-40B4-BE49-F238E27FC236}">
                <a16:creationId xmlns:a16="http://schemas.microsoft.com/office/drawing/2014/main" id="{77C8E21F-7697-4CE6-8E74-BB7D7F74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21600"/>
            <a:ext cx="13716000" cy="3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Minimum aggregation builds on prior work. Our focus is evidence at a fixed performance requirement.</a:t>
            </a:r>
          </a:p>
        </p:txBody>
      </p:sp>
    </p:spTree>
    <p:extLst>
      <p:ext uri="{BB962C8B-B14F-4D97-AF65-F5344CB8AC3E}">
        <p14:creationId xmlns:p14="http://schemas.microsoft.com/office/powerpoint/2010/main" val="7351093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96">
            <a:extLst xmlns:a="http://schemas.openxmlformats.org/drawingml/2006/main">
              <a:ext uri="{FF2B5EF4-FFF2-40B4-BE49-F238E27FC236}">
                <a16:creationId xmlns:a16="http://schemas.microsoft.com/office/drawing/2014/main" id="{46E2FA09-9292-47B9-8162-ED3EE25A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Finding witnesses within a limited budget</a:t>
            </a:r>
          </a:p>
        </p:txBody>
      </p:sp>
      <p:sp>
        <p:nvSpPr>
          <p:cNvPr id="2" name="rule-97">
            <a:extLst xmlns:a="http://schemas.openxmlformats.org/drawingml/2006/main">
              <a:ext uri="{FF2B5EF4-FFF2-40B4-BE49-F238E27FC236}">
                <a16:creationId xmlns:a16="http://schemas.microsoft.com/office/drawing/2014/main" id="{44EBBBF8-E13A-4417-A4C2-5D440D82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98">
            <a:extLst xmlns:a="http://schemas.openxmlformats.org/drawingml/2006/main">
              <a:ext uri="{FF2B5EF4-FFF2-40B4-BE49-F238E27FC236}">
                <a16:creationId xmlns:a16="http://schemas.microsoft.com/office/drawing/2014/main" id="{224B2770-07DE-4409-8D70-E4E78BA29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text-99">
            <a:extLst xmlns:a="http://schemas.openxmlformats.org/drawingml/2006/main">
              <a:ext uri="{FF2B5EF4-FFF2-40B4-BE49-F238E27FC236}">
                <a16:creationId xmlns:a16="http://schemas.microsoft.com/office/drawing/2014/main" id="{41922223-0769-4EE6-8F45-3F5FF7DC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82800"/>
            <a:ext cx="137160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1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Checking every combination becomes expensive as inputs grow.</a:t>
            </a:r>
          </a:p>
        </p:txBody>
      </p:sp>
      <p:sp>
        <p:nvSpPr>
          <p:cNvPr id="5" name="text-100">
            <a:extLst xmlns:a="http://schemas.openxmlformats.org/drawingml/2006/main">
              <a:ext uri="{FF2B5EF4-FFF2-40B4-BE49-F238E27FC236}">
                <a16:creationId xmlns:a16="http://schemas.microsoft.com/office/drawing/2014/main" id="{233BDFF3-3859-4C9A-9294-CA82ED84F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54400"/>
            <a:ext cx="635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A: random exploration</a:t>
            </a:r>
          </a:p>
        </p:txBody>
      </p:sp>
      <p:sp>
        <p:nvSpPr>
          <p:cNvPr id="6" name="text-101">
            <a:extLst xmlns:a="http://schemas.openxmlformats.org/drawingml/2006/main">
              <a:ext uri="{FF2B5EF4-FFF2-40B4-BE49-F238E27FC236}">
                <a16:creationId xmlns:a16="http://schemas.microsoft.com/office/drawing/2014/main" id="{EBAA97CB-2BC8-4600-9560-8CFC257A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6350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Try varied groups of inputs.</a:t>
            </a:r>
          </a:p>
          <a:p xmlns:a="http://schemas.openxmlformats.org/drawingml/2006/main">
            <a:pPr algn="l">
              <a:defRPr sz="27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This is the reference search strategy.</a:t>
            </a:r>
          </a:p>
        </p:txBody>
      </p:sp>
      <p:sp>
        <p:nvSpPr>
          <p:cNvPr id="7" name="text-102">
            <a:extLst xmlns:a="http://schemas.openxmlformats.org/drawingml/2006/main">
              <a:ext uri="{FF2B5EF4-FFF2-40B4-BE49-F238E27FC236}">
                <a16:creationId xmlns:a16="http://schemas.microsoft.com/office/drawing/2014/main" id="{96D5238B-A08B-420E-BD3A-4E13819F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3454400"/>
            <a:ext cx="6223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B: guided exploration</a:t>
            </a:r>
          </a:p>
        </p:txBody>
      </p:sp>
      <p:sp>
        <p:nvSpPr>
          <p:cNvPr id="8" name="text-103">
            <a:extLst xmlns:a="http://schemas.openxmlformats.org/drawingml/2006/main">
              <a:ext uri="{FF2B5EF4-FFF2-40B4-BE49-F238E27FC236}">
                <a16:creationId xmlns:a16="http://schemas.microsoft.com/office/drawing/2014/main" id="{722B9B62-91E7-4906-870F-1E16D6DE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152900"/>
            <a:ext cx="622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Use training associations to propose groups worth testing.</a:t>
            </a:r>
          </a:p>
        </p:txBody>
      </p:sp>
      <p:sp>
        <p:nvSpPr>
          <p:cNvPr id="9" name="rule-104">
            <a:extLst xmlns:a="http://schemas.openxmlformats.org/drawingml/2006/main">
              <a:ext uri="{FF2B5EF4-FFF2-40B4-BE49-F238E27FC236}">
                <a16:creationId xmlns:a16="http://schemas.microsoft.com/office/drawing/2014/main" id="{5B5BABCC-885A-4434-AE70-7EF6B522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039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DF"/>
            </a:solidFill>
          </a:ln>
        </p:spPr>
      </p:sp>
      <p:sp>
        <p:nvSpPr>
          <p:cNvPr id="10" name="text-105">
            <a:extLst xmlns:a="http://schemas.openxmlformats.org/drawingml/2006/main">
              <a:ext uri="{FF2B5EF4-FFF2-40B4-BE49-F238E27FC236}">
                <a16:creationId xmlns:a16="http://schemas.microsoft.com/office/drawing/2014/main" id="{FEDE7088-34CE-441D-9ACD-1DEBB702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08700"/>
            <a:ext cx="137160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Both use the same two-model check and the same query budget.</a:t>
            </a:r>
          </a:p>
        </p:txBody>
      </p:sp>
      <p:sp>
        <p:nvSpPr>
          <p:cNvPr id="11" name="text-106">
            <a:extLst xmlns:a="http://schemas.openxmlformats.org/drawingml/2006/main">
              <a:ext uri="{FF2B5EF4-FFF2-40B4-BE49-F238E27FC236}">
                <a16:creationId xmlns:a16="http://schemas.microsoft.com/office/drawing/2014/main" id="{BB439A9A-654C-4556-9878-29BABE18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62800"/>
            <a:ext cx="13716000" cy="85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A found witness is checkable. An unvisited group may still hide one.</a:t>
            </a:r>
          </a:p>
        </p:txBody>
      </p:sp>
    </p:spTree>
    <p:extLst>
      <p:ext uri="{BB962C8B-B14F-4D97-AF65-F5344CB8AC3E}">
        <p14:creationId xmlns:p14="http://schemas.microsoft.com/office/powerpoint/2010/main" val="3474063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07">
            <a:extLst xmlns:a="http://schemas.openxmlformats.org/drawingml/2006/main">
              <a:ext uri="{FF2B5EF4-FFF2-40B4-BE49-F238E27FC236}">
                <a16:creationId xmlns:a16="http://schemas.microsoft.com/office/drawing/2014/main" id="{4F3F6F01-95A5-474B-BB09-C1850168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Why these datasets fit the research</a:t>
            </a:r>
          </a:p>
        </p:txBody>
      </p:sp>
      <p:sp>
        <p:nvSpPr>
          <p:cNvPr id="2" name="rule-108">
            <a:extLst xmlns:a="http://schemas.openxmlformats.org/drawingml/2006/main">
              <a:ext uri="{FF2B5EF4-FFF2-40B4-BE49-F238E27FC236}">
                <a16:creationId xmlns:a16="http://schemas.microsoft.com/office/drawing/2014/main" id="{6EB83400-1391-4213-8330-5B2508CA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09">
            <a:extLst xmlns:a="http://schemas.openxmlformats.org/drawingml/2006/main">
              <a:ext uri="{FF2B5EF4-FFF2-40B4-BE49-F238E27FC236}">
                <a16:creationId xmlns:a16="http://schemas.microsoft.com/office/drawing/2014/main" id="{7C371C6F-4079-4966-B2B8-89181CF43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text-110">
            <a:extLst xmlns:a="http://schemas.openxmlformats.org/drawingml/2006/main">
              <a:ext uri="{FF2B5EF4-FFF2-40B4-BE49-F238E27FC236}">
                <a16:creationId xmlns:a16="http://schemas.microsoft.com/office/drawing/2014/main" id="{E0F4AA4E-F747-402A-93D5-4D5F3306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6600"/>
            <a:ext cx="137160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The core studies need checkable cases, known structure and real prediction tasks.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62000" y="2946400"/>
          <a:ext xmlns:a="http://schemas.openxmlformats.org/drawingml/2006/main" cx="13716000" cy="4102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5334000"/>
                <a:gridCol w="5334000"/>
              </a:tblGrid>
              <a:tr h="546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Dataset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Inputs and target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Reason for inclusion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889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Abalone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Physical measurements predict ring count.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Eight inputs allow every subset to be checked. Covers regression.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889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Madelon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Signal, redundant and distractor columns predict a synthetic class.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Known generating structure challenges feature search.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889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Spambase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Word and character statistics predict spam.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Real inputs give interpretable classification examples.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889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Credit-card fraud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PCA components and amount predict fraud.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Rare positive cases test a different classification setting.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</a:tbl>
          </a:graphicData>
        </a:graphic>
      </p:graphicFrame>
      <p:sp>
        <p:nvSpPr>
          <p:cNvPr id="6" name="text-111">
            <a:extLst xmlns:a="http://schemas.openxmlformats.org/drawingml/2006/main">
              <a:ext uri="{FF2B5EF4-FFF2-40B4-BE49-F238E27FC236}">
                <a16:creationId xmlns:a16="http://schemas.microsoft.com/office/drawing/2014/main" id="{8FF99F5C-1885-4CBA-A2A3-5F3C834D6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77100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3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All four are supervised tasks. PCA describes inputs, not a change of learning task.</a:t>
            </a:r>
          </a:p>
        </p:txBody>
      </p:sp>
      <p:sp>
        <p:nvSpPr>
          <p:cNvPr id="7" name="text-112">
            <a:extLst xmlns:a="http://schemas.openxmlformats.org/drawingml/2006/main">
              <a:ext uri="{FF2B5EF4-FFF2-40B4-BE49-F238E27FC236}">
                <a16:creationId xmlns:a16="http://schemas.microsoft.com/office/drawing/2014/main" id="{2DBA7F3A-C1A7-4F6F-836F-115ECAA7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74000"/>
            <a:ext cx="13716000" cy="3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The broader benchmark also includes Gisette and ISOLET.</a:t>
            </a:r>
          </a:p>
        </p:txBody>
      </p:sp>
    </p:spTree>
    <p:extLst>
      <p:ext uri="{BB962C8B-B14F-4D97-AF65-F5344CB8AC3E}">
        <p14:creationId xmlns:p14="http://schemas.microsoft.com/office/powerpoint/2010/main" val="100610253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113">
            <a:extLst xmlns:a="http://schemas.openxmlformats.org/drawingml/2006/main">
              <a:ext uri="{FF2B5EF4-FFF2-40B4-BE49-F238E27FC236}">
                <a16:creationId xmlns:a16="http://schemas.microsoft.com/office/drawing/2014/main" id="{8929FD99-7AE4-4FEE-8900-A3384666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Three studies answer three different questions</a:t>
            </a:r>
          </a:p>
        </p:txBody>
      </p:sp>
      <p:sp>
        <p:nvSpPr>
          <p:cNvPr id="2" name="rule-114">
            <a:extLst xmlns:a="http://schemas.openxmlformats.org/drawingml/2006/main">
              <a:ext uri="{FF2B5EF4-FFF2-40B4-BE49-F238E27FC236}">
                <a16:creationId xmlns:a16="http://schemas.microsoft.com/office/drawing/2014/main" id="{97984520-E3B4-4253-96DF-4206DAAE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15">
            <a:extLst xmlns:a="http://schemas.openxmlformats.org/drawingml/2006/main">
              <a:ext uri="{FF2B5EF4-FFF2-40B4-BE49-F238E27FC236}">
                <a16:creationId xmlns:a16="http://schemas.microsoft.com/office/drawing/2014/main" id="{C85C1882-CBF8-48D1-8B32-ABD0341F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text-116">
            <a:extLst xmlns:a="http://schemas.openxmlformats.org/drawingml/2006/main">
              <a:ext uri="{FF2B5EF4-FFF2-40B4-BE49-F238E27FC236}">
                <a16:creationId xmlns:a16="http://schemas.microsoft.com/office/drawing/2014/main" id="{A3153A05-BF03-4707-8166-DE543431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63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ext-117">
            <a:extLst xmlns:a="http://schemas.openxmlformats.org/drawingml/2006/main">
              <a:ext uri="{FF2B5EF4-FFF2-40B4-BE49-F238E27FC236}">
                <a16:creationId xmlns:a16="http://schemas.microsoft.com/office/drawing/2014/main" id="{015D6152-95EA-4D4C-8BED-EDF4FAD4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21463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Discovery: how much do we miss?</a:t>
            </a:r>
          </a:p>
        </p:txBody>
      </p:sp>
      <p:sp>
        <p:nvSpPr>
          <p:cNvPr id="6" name="text-118">
            <a:extLst xmlns:a="http://schemas.openxmlformats.org/drawingml/2006/main">
              <a:ext uri="{FF2B5EF4-FFF2-40B4-BE49-F238E27FC236}">
                <a16:creationId xmlns:a16="http://schemas.microsoft.com/office/drawing/2014/main" id="{45E834FF-7DDB-45D7-AA13-C373B493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27686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Compare the search with all possible subsets in small problems.</a:t>
            </a:r>
          </a:p>
        </p:txBody>
      </p:sp>
      <p:sp>
        <p:nvSpPr>
          <p:cNvPr id="7" name="text-119">
            <a:extLst xmlns:a="http://schemas.openxmlformats.org/drawingml/2006/main">
              <a:ext uri="{FF2B5EF4-FFF2-40B4-BE49-F238E27FC236}">
                <a16:creationId xmlns:a16="http://schemas.microsoft.com/office/drawing/2014/main" id="{BB73FA67-A71F-4DF7-A64B-70EE886C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624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text-120">
            <a:extLst xmlns:a="http://schemas.openxmlformats.org/drawingml/2006/main">
              <a:ext uri="{FF2B5EF4-FFF2-40B4-BE49-F238E27FC236}">
                <a16:creationId xmlns:a16="http://schemas.microsoft.com/office/drawing/2014/main" id="{52F9235D-BD94-4D9D-A5DC-B0DA31BB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39624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Mechanism: what makes discovery difficult?</a:t>
            </a:r>
          </a:p>
        </p:txBody>
      </p:sp>
      <p:sp>
        <p:nvSpPr>
          <p:cNvPr id="9" name="text-121">
            <a:extLst xmlns:a="http://schemas.openxmlformats.org/drawingml/2006/main">
              <a:ext uri="{FF2B5EF4-FFF2-40B4-BE49-F238E27FC236}">
                <a16:creationId xmlns:a16="http://schemas.microsoft.com/office/drawing/2014/main" id="{E35CD55A-B5BA-4704-9875-658DA1C8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45847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Control signal, redundancy and interaction in synthetic data.</a:t>
            </a:r>
          </a:p>
        </p:txBody>
      </p:sp>
      <p:sp>
        <p:nvSpPr>
          <p:cNvPr id="10" name="text-122">
            <a:extLst xmlns:a="http://schemas.openxmlformats.org/drawingml/2006/main">
              <a:ext uri="{FF2B5EF4-FFF2-40B4-BE49-F238E27FC236}">
                <a16:creationId xmlns:a16="http://schemas.microsoft.com/office/drawing/2014/main" id="{EA6B4CE4-32EB-46C8-9F44-8238A6DE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85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text-123">
            <a:extLst xmlns:a="http://schemas.openxmlformats.org/drawingml/2006/main">
              <a:ext uri="{FF2B5EF4-FFF2-40B4-BE49-F238E27FC236}">
                <a16:creationId xmlns:a16="http://schemas.microsoft.com/office/drawing/2014/main" id="{5A7E0A7E-D430-41DF-BAC8-E3D72CF8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57785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Decision: is removal worth doing?</a:t>
            </a:r>
          </a:p>
        </p:txBody>
      </p:sp>
      <p:sp>
        <p:nvSpPr>
          <p:cNvPr id="12" name="text-124">
            <a:extLst xmlns:a="http://schemas.openxmlformats.org/drawingml/2006/main">
              <a:ext uri="{FF2B5EF4-FFF2-40B4-BE49-F238E27FC236}">
                <a16:creationId xmlns:a16="http://schemas.microsoft.com/office/drawing/2014/main" id="{7D5829DC-BF4A-4A99-BEC9-A0AFF18A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64008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Test smaller models on independent data and include the full cost.</a:t>
            </a:r>
          </a:p>
        </p:txBody>
      </p:sp>
    </p:spTree>
    <p:extLst>
      <p:ext uri="{BB962C8B-B14F-4D97-AF65-F5344CB8AC3E}">
        <p14:creationId xmlns:p14="http://schemas.microsoft.com/office/powerpoint/2010/main" val="20706625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125">
            <a:extLst xmlns:a="http://schemas.openxmlformats.org/drawingml/2006/main">
              <a:ext uri="{FF2B5EF4-FFF2-40B4-BE49-F238E27FC236}">
                <a16:creationId xmlns:a16="http://schemas.microsoft.com/office/drawing/2014/main" id="{FCB25091-FD35-4E47-B874-37AC5617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Study 1: measure what the search misses</a:t>
            </a:r>
          </a:p>
        </p:txBody>
      </p:sp>
      <p:sp>
        <p:nvSpPr>
          <p:cNvPr id="2" name="rule-126">
            <a:extLst xmlns:a="http://schemas.openxmlformats.org/drawingml/2006/main">
              <a:ext uri="{FF2B5EF4-FFF2-40B4-BE49-F238E27FC236}">
                <a16:creationId xmlns:a16="http://schemas.microsoft.com/office/drawing/2014/main" id="{9223156C-C729-4343-AFFE-E86FBA52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27">
            <a:extLst xmlns:a="http://schemas.openxmlformats.org/drawingml/2006/main">
              <a:ext uri="{FF2B5EF4-FFF2-40B4-BE49-F238E27FC236}">
                <a16:creationId xmlns:a16="http://schemas.microsoft.com/office/drawing/2014/main" id="{345EC846-3ADF-4D51-A90E-913425D5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text-128">
            <a:extLst xmlns:a="http://schemas.openxmlformats.org/drawingml/2006/main">
              <a:ext uri="{FF2B5EF4-FFF2-40B4-BE49-F238E27FC236}">
                <a16:creationId xmlns:a16="http://schemas.microsoft.com/office/drawing/2014/main" id="{7DC64CD6-B805-4DB7-88F2-D3A1A3055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66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1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Small problems let us establish a complete reference.</a:t>
            </a:r>
          </a:p>
        </p:txBody>
      </p:sp>
      <p:sp>
        <p:nvSpPr>
          <p:cNvPr id="5" name="stage-129">
            <a:extLst xmlns:a="http://schemas.openxmlformats.org/drawingml/2006/main">
              <a:ext uri="{FF2B5EF4-FFF2-40B4-BE49-F238E27FC236}">
                <a16:creationId xmlns:a16="http://schemas.microsoft.com/office/drawing/2014/main" id="{8DE9C1D8-EDD3-4F2A-9DC7-061FD286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9300"/>
            <a:ext cx="39370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6" name="text-130">
            <a:extLst xmlns:a="http://schemas.openxmlformats.org/drawingml/2006/main">
              <a:ext uri="{FF2B5EF4-FFF2-40B4-BE49-F238E27FC236}">
                <a16:creationId xmlns:a16="http://schemas.microsoft.com/office/drawing/2014/main" id="{83D57939-0307-4BD3-B752-58E85D44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441700"/>
            <a:ext cx="35306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Same 8-input problem</a:t>
            </a:r>
          </a:p>
        </p:txBody>
      </p:sp>
      <p:sp>
        <p:nvSpPr>
          <p:cNvPr id="7" name="text-131">
            <a:extLst xmlns:a="http://schemas.openxmlformats.org/drawingml/2006/main">
              <a:ext uri="{FF2B5EF4-FFF2-40B4-BE49-F238E27FC236}">
                <a16:creationId xmlns:a16="http://schemas.microsoft.com/office/drawing/2014/main" id="{2F7138B8-4E85-4455-8B8E-CB6E1C1C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4025900"/>
            <a:ext cx="35306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Same data split, model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and performance requirement</a:t>
            </a:r>
          </a:p>
        </p:txBody>
      </p:sp>
      <p:sp>
        <p:nvSpPr>
          <p:cNvPr id="8" name="stage-132">
            <a:extLst xmlns:a="http://schemas.openxmlformats.org/drawingml/2006/main">
              <a:ext uri="{FF2B5EF4-FFF2-40B4-BE49-F238E27FC236}">
                <a16:creationId xmlns:a16="http://schemas.microsoft.com/office/drawing/2014/main" id="{7BCEBC1A-42DC-4CB7-B674-B5CC91E7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2870200"/>
            <a:ext cx="4089400" cy="158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EB"/>
          </a:solidFill>
          <a:ln xmlns:a="http://schemas.openxmlformats.org/drawingml/2006/main" w="16510">
            <a:solidFill>
              <a:srgbClr val="0C7C78"/>
            </a:solidFill>
          </a:ln>
        </p:spPr>
      </p:sp>
      <p:sp>
        <p:nvSpPr>
          <p:cNvPr id="9" name="text-133">
            <a:extLst xmlns:a="http://schemas.openxmlformats.org/drawingml/2006/main">
              <a:ext uri="{FF2B5EF4-FFF2-40B4-BE49-F238E27FC236}">
                <a16:creationId xmlns:a16="http://schemas.microsoft.com/office/drawing/2014/main" id="{16EA18CE-C474-499D-B2CC-929A0459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800" y="3022600"/>
            <a:ext cx="36830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Complete enumeration</a:t>
            </a:r>
          </a:p>
        </p:txBody>
      </p:sp>
      <p:sp>
        <p:nvSpPr>
          <p:cNvPr id="10" name="text-134">
            <a:extLst xmlns:a="http://schemas.openxmlformats.org/drawingml/2006/main">
              <a:ext uri="{FF2B5EF4-FFF2-40B4-BE49-F238E27FC236}">
                <a16:creationId xmlns:a16="http://schemas.microsoft.com/office/drawing/2014/main" id="{9609BCC5-875E-4AF3-BB01-459CD3DE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800" y="3606800"/>
            <a:ext cx="36830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Check all 256 subsets.</a:t>
            </a:r>
          </a:p>
        </p:txBody>
      </p:sp>
      <p:sp>
        <p:nvSpPr>
          <p:cNvPr id="11" name="stage-135">
            <a:extLst xmlns:a="http://schemas.openxmlformats.org/drawingml/2006/main">
              <a:ext uri="{FF2B5EF4-FFF2-40B4-BE49-F238E27FC236}">
                <a16:creationId xmlns:a16="http://schemas.microsoft.com/office/drawing/2014/main" id="{13B97573-0B75-4004-8DC1-7E0F4D2FB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5092700"/>
            <a:ext cx="4089400" cy="158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12" name="text-136">
            <a:extLst xmlns:a="http://schemas.openxmlformats.org/drawingml/2006/main">
              <a:ext uri="{FF2B5EF4-FFF2-40B4-BE49-F238E27FC236}">
                <a16:creationId xmlns:a16="http://schemas.microsoft.com/office/drawing/2014/main" id="{0191F33E-354B-45D8-B417-E7E744D1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800" y="5245100"/>
            <a:ext cx="36830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Limited-budget search</a:t>
            </a:r>
          </a:p>
        </p:txBody>
      </p:sp>
      <p:sp>
        <p:nvSpPr>
          <p:cNvPr id="13" name="text-137">
            <a:extLst xmlns:a="http://schemas.openxmlformats.org/drawingml/2006/main">
              <a:ext uri="{FF2B5EF4-FFF2-40B4-BE49-F238E27FC236}">
                <a16:creationId xmlns:a16="http://schemas.microsoft.com/office/drawing/2014/main" id="{7EE00633-CDD3-4355-9C15-783E6360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800" y="5829300"/>
            <a:ext cx="36830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Let A or B request subsets.</a:t>
            </a:r>
          </a:p>
        </p:txBody>
      </p:sp>
      <p:sp>
        <p:nvSpPr>
          <p:cNvPr id="14" name="stage-138">
            <a:extLst xmlns:a="http://schemas.openxmlformats.org/drawingml/2006/main">
              <a:ext uri="{FF2B5EF4-FFF2-40B4-BE49-F238E27FC236}">
                <a16:creationId xmlns:a16="http://schemas.microsoft.com/office/drawing/2014/main" id="{500D25CC-791A-4F9A-AB25-103C0FBA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6500" y="3937000"/>
            <a:ext cx="3111500" cy="204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15" name="text-139">
            <a:extLst xmlns:a="http://schemas.openxmlformats.org/drawingml/2006/main">
              <a:ext uri="{FF2B5EF4-FFF2-40B4-BE49-F238E27FC236}">
                <a16:creationId xmlns:a16="http://schemas.microsoft.com/office/drawing/2014/main" id="{31A78D9F-049C-452A-B59F-6A8AF6882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9700" y="4089400"/>
            <a:ext cx="2705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Compare</a:t>
            </a:r>
          </a:p>
        </p:txBody>
      </p:sp>
      <p:sp>
        <p:nvSpPr>
          <p:cNvPr id="16" name="text-140">
            <a:extLst xmlns:a="http://schemas.openxmlformats.org/drawingml/2006/main">
              <a:ext uri="{FF2B5EF4-FFF2-40B4-BE49-F238E27FC236}">
                <a16:creationId xmlns:a16="http://schemas.microsoft.com/office/drawing/2014/main" id="{D757A335-5BE7-4AD4-A0B5-CAC05C2C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9700" y="4673600"/>
            <a:ext cx="2705100" cy="116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How many harmful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inputs were found?</a:t>
            </a:r>
          </a:p>
        </p:txBody>
      </p:sp>
      <p:cxnSp>
        <p:nvCxnSpPr>
          <p:cNvPr id="38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4699000" y="3663950"/>
            <a:ext cx="1371600" cy="654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cxnSp>
        <p:nvCxnSpPr>
          <p:cNvPr id="39" name=""/>
          <p:cNvCxnSpPr>
            <a:stCxn xmlns:a="http://schemas.openxmlformats.org/drawingml/2006/main" id="5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699000" y="4318000"/>
            <a:ext cx="1371600" cy="1568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cxnSp>
        <p:nvCxnSpPr>
          <p:cNvPr id="40" name=""/>
          <p:cNvCxnSpPr>
            <a:stCxn xmlns:a="http://schemas.openxmlformats.org/drawingml/2006/main" id="8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10160000" y="3663950"/>
            <a:ext cx="1206500" cy="12954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cxnSp>
        <p:nvCxnSpPr>
          <p:cNvPr id="41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10160000" y="4959350"/>
            <a:ext cx="1206500" cy="927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sp>
        <p:nvSpPr>
          <p:cNvPr id="21" name="text-141">
            <a:extLst xmlns:a="http://schemas.openxmlformats.org/drawingml/2006/main">
              <a:ext uri="{FF2B5EF4-FFF2-40B4-BE49-F238E27FC236}">
                <a16:creationId xmlns:a16="http://schemas.microsoft.com/office/drawing/2014/main" id="{59105E2E-1867-45DA-B1B3-7C70E9E1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771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Success means finding more of the known harmful inputs at the same budget.</a:t>
            </a:r>
          </a:p>
        </p:txBody>
      </p:sp>
    </p:spTree>
    <p:extLst>
      <p:ext uri="{BB962C8B-B14F-4D97-AF65-F5344CB8AC3E}">
        <p14:creationId xmlns:p14="http://schemas.microsoft.com/office/powerpoint/2010/main" val="12978702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42">
            <a:extLst xmlns:a="http://schemas.openxmlformats.org/drawingml/2006/main">
              <a:ext uri="{FF2B5EF4-FFF2-40B4-BE49-F238E27FC236}">
                <a16:creationId xmlns:a16="http://schemas.microsoft.com/office/drawing/2014/main" id="{37B82423-FA0E-4669-A4BB-6183FE80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Study 2: explain why some witnesses are harder to find</a:t>
            </a:r>
          </a:p>
        </p:txBody>
      </p:sp>
      <p:sp>
        <p:nvSpPr>
          <p:cNvPr id="2" name="rule-143">
            <a:extLst xmlns:a="http://schemas.openxmlformats.org/drawingml/2006/main">
              <a:ext uri="{FF2B5EF4-FFF2-40B4-BE49-F238E27FC236}">
                <a16:creationId xmlns:a16="http://schemas.microsoft.com/office/drawing/2014/main" id="{7A67AF6C-8BE3-4EAE-8FD3-EEAB63B6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44">
            <a:extLst xmlns:a="http://schemas.openxmlformats.org/drawingml/2006/main">
              <a:ext uri="{FF2B5EF4-FFF2-40B4-BE49-F238E27FC236}">
                <a16:creationId xmlns:a16="http://schemas.microsoft.com/office/drawing/2014/main" id="{018694B8-16C9-4108-934E-A5A48963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text-145">
            <a:extLst xmlns:a="http://schemas.openxmlformats.org/drawingml/2006/main">
              <a:ext uri="{FF2B5EF4-FFF2-40B4-BE49-F238E27FC236}">
                <a16:creationId xmlns:a16="http://schemas.microsoft.com/office/drawing/2014/main" id="{5BDAF9C1-154B-46B1-BA02-EF3417BF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68500"/>
            <a:ext cx="13716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Planned controlled experiment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762000" y="2844800"/>
          <a:ext xmlns:a="http://schemas.openxmlformats.org/drawingml/2006/main" cx="1371600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83000"/>
                <a:gridCol w="5397500"/>
                <a:gridCol w="4635500"/>
              </a:tblGrid>
              <a:tr h="609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Controlled structure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changes in the inputs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we learn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1054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Signal with distractors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Useful variables plus unrelated columns.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Whether extra noise creates difficult contexts.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1054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Correlated redundancy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Add noisy copies of informative variables.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How overlapping information affects discovery.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1054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Interaction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The target depends on a combination of variables.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Whether the search reaches important combinations.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</a:tbl>
          </a:graphicData>
        </a:graphic>
      </p:graphicFrame>
      <p:sp>
        <p:nvSpPr>
          <p:cNvPr id="6" name="text-146">
            <a:extLst xmlns:a="http://schemas.openxmlformats.org/drawingml/2006/main">
              <a:ext uri="{FF2B5EF4-FFF2-40B4-BE49-F238E27FC236}">
                <a16:creationId xmlns:a16="http://schemas.microsoft.com/office/drawing/2014/main" id="{2A8F17CA-A09A-499D-9570-4D432A35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771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Keep the model and evaluation fixed. Change the data structure deliberately.</a:t>
            </a:r>
          </a:p>
        </p:txBody>
      </p:sp>
    </p:spTree>
    <p:extLst>
      <p:ext uri="{BB962C8B-B14F-4D97-AF65-F5344CB8AC3E}">
        <p14:creationId xmlns:p14="http://schemas.microsoft.com/office/powerpoint/2010/main" val="15283088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147">
            <a:extLst xmlns:a="http://schemas.openxmlformats.org/drawingml/2006/main">
              <a:ext uri="{FF2B5EF4-FFF2-40B4-BE49-F238E27FC236}">
                <a16:creationId xmlns:a16="http://schemas.microsoft.com/office/drawing/2014/main" id="{C4813BC4-4E65-41F9-8134-E12428A40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Study 3: test whether removal is useful</a:t>
            </a:r>
          </a:p>
        </p:txBody>
      </p:sp>
      <p:sp>
        <p:nvSpPr>
          <p:cNvPr id="2" name="rule-148">
            <a:extLst xmlns:a="http://schemas.openxmlformats.org/drawingml/2006/main">
              <a:ext uri="{FF2B5EF4-FFF2-40B4-BE49-F238E27FC236}">
                <a16:creationId xmlns:a16="http://schemas.microsoft.com/office/drawing/2014/main" id="{84DCFE51-41A2-4FA7-B9C5-B7C43EF59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49">
            <a:extLst xmlns:a="http://schemas.openxmlformats.org/drawingml/2006/main">
              <a:ext uri="{FF2B5EF4-FFF2-40B4-BE49-F238E27FC236}">
                <a16:creationId xmlns:a16="http://schemas.microsoft.com/office/drawing/2014/main" id="{E1E47EF4-814A-4BE7-B501-70A03946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text-150">
            <a:extLst xmlns:a="http://schemas.openxmlformats.org/drawingml/2006/main">
              <a:ext uri="{FF2B5EF4-FFF2-40B4-BE49-F238E27FC236}">
                <a16:creationId xmlns:a16="http://schemas.microsoft.com/office/drawing/2014/main" id="{35EC9291-FC4D-48FF-956A-B676B3A7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93900"/>
            <a:ext cx="137160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Planned decision experiment with separate data for each decision stage</a:t>
            </a:r>
          </a:p>
        </p:txBody>
      </p:sp>
      <p:sp>
        <p:nvSpPr>
          <p:cNvPr id="5" name="stage-151">
            <a:extLst xmlns:a="http://schemas.openxmlformats.org/drawingml/2006/main">
              <a:ext uri="{FF2B5EF4-FFF2-40B4-BE49-F238E27FC236}">
                <a16:creationId xmlns:a16="http://schemas.microsoft.com/office/drawing/2014/main" id="{499D8560-040D-4C1F-AE1C-276DFB98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3873500" cy="196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6" name="text-152">
            <a:extLst xmlns:a="http://schemas.openxmlformats.org/drawingml/2006/main">
              <a:ext uri="{FF2B5EF4-FFF2-40B4-BE49-F238E27FC236}">
                <a16:creationId xmlns:a16="http://schemas.microsoft.com/office/drawing/2014/main" id="{B4280400-BD37-4389-A4A9-7CA9CE817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581400"/>
            <a:ext cx="3467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Choose a candidate</a:t>
            </a:r>
          </a:p>
        </p:txBody>
      </p:sp>
      <p:sp>
        <p:nvSpPr>
          <p:cNvPr id="7" name="text-153">
            <a:extLst xmlns:a="http://schemas.openxmlformats.org/drawingml/2006/main">
              <a:ext uri="{FF2B5EF4-FFF2-40B4-BE49-F238E27FC236}">
                <a16:creationId xmlns:a16="http://schemas.microsoft.com/office/drawing/2014/main" id="{C2F3D550-63B2-4891-9F15-746DEEE7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4165600"/>
            <a:ext cx="3467100" cy="109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Use training and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selection-validation data.</a:t>
            </a:r>
          </a:p>
        </p:txBody>
      </p:sp>
      <p:sp>
        <p:nvSpPr>
          <p:cNvPr id="8" name="stage-154">
            <a:extLst xmlns:a="http://schemas.openxmlformats.org/drawingml/2006/main">
              <a:ext uri="{FF2B5EF4-FFF2-40B4-BE49-F238E27FC236}">
                <a16:creationId xmlns:a16="http://schemas.microsoft.com/office/drawing/2014/main" id="{5BC326A8-2356-4D93-88AF-97B4F09CF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429000"/>
            <a:ext cx="3873500" cy="196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EB"/>
          </a:solidFill>
          <a:ln xmlns:a="http://schemas.openxmlformats.org/drawingml/2006/main" w="16510">
            <a:solidFill>
              <a:srgbClr val="0C7C78"/>
            </a:solidFill>
          </a:ln>
        </p:spPr>
      </p:sp>
      <p:sp>
        <p:nvSpPr>
          <p:cNvPr id="9" name="text-155">
            <a:extLst xmlns:a="http://schemas.openxmlformats.org/drawingml/2006/main">
              <a:ext uri="{FF2B5EF4-FFF2-40B4-BE49-F238E27FC236}">
                <a16:creationId xmlns:a16="http://schemas.microsoft.com/office/drawing/2014/main" id="{4C96488B-5322-47E5-BADE-8B72E9D8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0100" y="3581400"/>
            <a:ext cx="3467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Check independently</a:t>
            </a:r>
          </a:p>
        </p:txBody>
      </p:sp>
      <p:sp>
        <p:nvSpPr>
          <p:cNvPr id="10" name="text-156">
            <a:extLst xmlns:a="http://schemas.openxmlformats.org/drawingml/2006/main">
              <a:ext uri="{FF2B5EF4-FFF2-40B4-BE49-F238E27FC236}">
                <a16:creationId xmlns:a16="http://schemas.microsoft.com/office/drawing/2014/main" id="{9B9FC92F-F743-49DC-8563-6E4435B2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0100" y="4165600"/>
            <a:ext cx="3467100" cy="109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Accept within tolerance.</a:t>
            </a:r>
          </a:p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Otherwise keep all inputs.</a:t>
            </a:r>
          </a:p>
        </p:txBody>
      </p:sp>
      <p:sp>
        <p:nvSpPr>
          <p:cNvPr id="11" name="stage-157">
            <a:extLst xmlns:a="http://schemas.openxmlformats.org/drawingml/2006/main">
              <a:ext uri="{FF2B5EF4-FFF2-40B4-BE49-F238E27FC236}">
                <a16:creationId xmlns:a16="http://schemas.microsoft.com/office/drawing/2014/main" id="{E20E7EF9-94CB-4535-BEFF-FEFE8F286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4500" y="3429000"/>
            <a:ext cx="3873500" cy="196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12" name="text-158">
            <a:extLst xmlns:a="http://schemas.openxmlformats.org/drawingml/2006/main">
              <a:ext uri="{FF2B5EF4-FFF2-40B4-BE49-F238E27FC236}">
                <a16:creationId xmlns:a16="http://schemas.microsoft.com/office/drawing/2014/main" id="{1DCAEFEB-0B88-439A-9068-D78EE90F8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7700" y="3581400"/>
            <a:ext cx="3467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Freeze and test</a:t>
            </a:r>
          </a:p>
        </p:txBody>
      </p:sp>
      <p:sp>
        <p:nvSpPr>
          <p:cNvPr id="13" name="text-159">
            <a:extLst xmlns:a="http://schemas.openxmlformats.org/drawingml/2006/main">
              <a:ext uri="{FF2B5EF4-FFF2-40B4-BE49-F238E27FC236}">
                <a16:creationId xmlns:a16="http://schemas.microsoft.com/office/drawing/2014/main" id="{97C632C2-D05E-4B13-A35B-DE7523D8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7700" y="4165600"/>
            <a:ext cx="3467100" cy="109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Refit the chosen model.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Evaluate on held-out data.</a:t>
            </a:r>
          </a:p>
        </p:txBody>
      </p:sp>
      <p:cxnSp>
        <p:nvCxnSpPr>
          <p:cNvPr id="31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635500" y="4413250"/>
            <a:ext cx="10414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550400" y="4413250"/>
            <a:ext cx="10541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sp>
        <p:nvSpPr>
          <p:cNvPr id="16" name="text-160">
            <a:extLst xmlns:a="http://schemas.openxmlformats.org/drawingml/2006/main">
              <a:ext uri="{FF2B5EF4-FFF2-40B4-BE49-F238E27FC236}">
                <a16:creationId xmlns:a16="http://schemas.microsoft.com/office/drawing/2014/main" id="{A8597EDB-1558-47F7-B029-17931E3D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43600"/>
            <a:ext cx="1371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Compare with established feature-ranking and elimination methods.</a:t>
            </a:r>
          </a:p>
        </p:txBody>
      </p:sp>
      <p:sp>
        <p:nvSpPr>
          <p:cNvPr id="17" name="text-161">
            <a:extLst xmlns:a="http://schemas.openxmlformats.org/drawingml/2006/main">
              <a:ext uri="{FF2B5EF4-FFF2-40B4-BE49-F238E27FC236}">
                <a16:creationId xmlns:a16="http://schemas.microsoft.com/office/drawing/2014/main" id="{DA5966FC-1E5C-4E23-B08F-8981647E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771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Judge three outcomes together: fewer inputs, prediction loss and total cost.</a:t>
            </a:r>
          </a:p>
        </p:txBody>
      </p:sp>
    </p:spTree>
    <p:extLst>
      <p:ext uri="{BB962C8B-B14F-4D97-AF65-F5344CB8AC3E}">
        <p14:creationId xmlns:p14="http://schemas.microsoft.com/office/powerpoint/2010/main" val="109399890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162">
            <a:extLst xmlns:a="http://schemas.openxmlformats.org/drawingml/2006/main">
              <a:ext uri="{FF2B5EF4-FFF2-40B4-BE49-F238E27FC236}">
                <a16:creationId xmlns:a16="http://schemas.microsoft.com/office/drawing/2014/main" id="{E2E678AF-EE83-4EDD-9109-541162AC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Current evidence and what it means</a:t>
            </a:r>
          </a:p>
        </p:txBody>
      </p:sp>
      <p:sp>
        <p:nvSpPr>
          <p:cNvPr id="2" name="rule-163">
            <a:extLst xmlns:a="http://schemas.openxmlformats.org/drawingml/2006/main">
              <a:ext uri="{FF2B5EF4-FFF2-40B4-BE49-F238E27FC236}">
                <a16:creationId xmlns:a16="http://schemas.microsoft.com/office/drawing/2014/main" id="{A23B6AEA-3AE8-4DFF-B0D9-99B4FEF17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64">
            <a:extLst xmlns:a="http://schemas.openxmlformats.org/drawingml/2006/main">
              <a:ext uri="{FF2B5EF4-FFF2-40B4-BE49-F238E27FC236}">
                <a16:creationId xmlns:a16="http://schemas.microsoft.com/office/drawing/2014/main" id="{6A1F41FB-E393-495A-8167-166655A3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text-165">
            <a:extLst xmlns:a="http://schemas.openxmlformats.org/drawingml/2006/main">
              <a:ext uri="{FF2B5EF4-FFF2-40B4-BE49-F238E27FC236}">
                <a16:creationId xmlns:a16="http://schemas.microsoft.com/office/drawing/2014/main" id="{BCC35A49-5862-469D-94C0-796D88B6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90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ext-166">
            <a:extLst xmlns:a="http://schemas.openxmlformats.org/drawingml/2006/main">
              <a:ext uri="{FF2B5EF4-FFF2-40B4-BE49-F238E27FC236}">
                <a16:creationId xmlns:a16="http://schemas.microsoft.com/office/drawing/2014/main" id="{92043563-E676-4B26-8B66-25B8FB0F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21590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The reference audit is complete</a:t>
            </a:r>
          </a:p>
        </p:txBody>
      </p:sp>
      <p:sp>
        <p:nvSpPr>
          <p:cNvPr id="6" name="text-167">
            <a:extLst xmlns:a="http://schemas.openxmlformats.org/drawingml/2006/main">
              <a:ext uri="{FF2B5EF4-FFF2-40B4-BE49-F238E27FC236}">
                <a16:creationId xmlns:a16="http://schemas.microsoft.com/office/drawing/2014/main" id="{87D092D5-59FE-44CB-A76F-DB4D549B9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27813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Small problems provide checkable witnesses and reveal missed cases.</a:t>
            </a:r>
          </a:p>
        </p:txBody>
      </p:sp>
      <p:sp>
        <p:nvSpPr>
          <p:cNvPr id="7" name="text-168">
            <a:extLst xmlns:a="http://schemas.openxmlformats.org/drawingml/2006/main">
              <a:ext uri="{FF2B5EF4-FFF2-40B4-BE49-F238E27FC236}">
                <a16:creationId xmlns:a16="http://schemas.microsoft.com/office/drawing/2014/main" id="{E5E95D97-645C-4C33-BF27-AD5B4D6D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751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text-169">
            <a:extLst xmlns:a="http://schemas.openxmlformats.org/drawingml/2006/main">
              <a:ext uri="{FF2B5EF4-FFF2-40B4-BE49-F238E27FC236}">
                <a16:creationId xmlns:a16="http://schemas.microsoft.com/office/drawing/2014/main" id="{796BBE43-C822-499F-BABA-EE146ACE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39751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Guidance has no stable advantage yet</a:t>
            </a:r>
          </a:p>
        </p:txBody>
      </p:sp>
      <p:sp>
        <p:nvSpPr>
          <p:cNvPr id="9" name="text-170">
            <a:extLst xmlns:a="http://schemas.openxmlformats.org/drawingml/2006/main">
              <a:ext uri="{FF2B5EF4-FFF2-40B4-BE49-F238E27FC236}">
                <a16:creationId xmlns:a16="http://schemas.microsoft.com/office/drawing/2014/main" id="{71CE087B-F666-44A9-8BCC-D05AAFB4B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45974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Training associations do not consistently point toward failure contexts.</a:t>
            </a:r>
          </a:p>
        </p:txBody>
      </p:sp>
      <p:sp>
        <p:nvSpPr>
          <p:cNvPr id="10" name="text-171">
            <a:extLst xmlns:a="http://schemas.openxmlformats.org/drawingml/2006/main">
              <a:ext uri="{FF2B5EF4-FFF2-40B4-BE49-F238E27FC236}">
                <a16:creationId xmlns:a16="http://schemas.microsoft.com/office/drawing/2014/main" id="{FC2BD2C6-46C2-4392-A1FE-A744F9F1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912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text-172">
            <a:extLst xmlns:a="http://schemas.openxmlformats.org/drawingml/2006/main">
              <a:ext uri="{FF2B5EF4-FFF2-40B4-BE49-F238E27FC236}">
                <a16:creationId xmlns:a16="http://schemas.microsoft.com/office/drawing/2014/main" id="{BC612755-E16D-493A-9CA1-2488D0A0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57912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Practical deletion value is still open</a:t>
            </a:r>
          </a:p>
        </p:txBody>
      </p:sp>
      <p:sp>
        <p:nvSpPr>
          <p:cNvPr id="12" name="text-173">
            <a:extLst xmlns:a="http://schemas.openxmlformats.org/drawingml/2006/main">
              <a:ext uri="{FF2B5EF4-FFF2-40B4-BE49-F238E27FC236}">
                <a16:creationId xmlns:a16="http://schemas.microsoft.com/office/drawing/2014/main" id="{B3305E2F-AF39-4E76-8A88-4F673CFA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64135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Controlled mechanisms and independent removal tests are the next evidence.</a:t>
            </a:r>
          </a:p>
        </p:txBody>
      </p:sp>
    </p:spTree>
    <p:extLst>
      <p:ext uri="{BB962C8B-B14F-4D97-AF65-F5344CB8AC3E}">
        <p14:creationId xmlns:p14="http://schemas.microsoft.com/office/powerpoint/2010/main" val="59394750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74">
            <a:extLst xmlns:a="http://schemas.openxmlformats.org/drawingml/2006/main">
              <a:ext uri="{FF2B5EF4-FFF2-40B4-BE49-F238E27FC236}">
                <a16:creationId xmlns:a16="http://schemas.microsoft.com/office/drawing/2014/main" id="{CCE7A483-3BF6-41DB-AAC9-0BEC3264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Expected contribution</a:t>
            </a:r>
          </a:p>
        </p:txBody>
      </p:sp>
      <p:sp>
        <p:nvSpPr>
          <p:cNvPr id="2" name="rule-175">
            <a:extLst xmlns:a="http://schemas.openxmlformats.org/drawingml/2006/main">
              <a:ext uri="{FF2B5EF4-FFF2-40B4-BE49-F238E27FC236}">
                <a16:creationId xmlns:a16="http://schemas.microsoft.com/office/drawing/2014/main" id="{F3FECFD2-C96A-4DA2-A7BA-B2BF42B9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5D0C9"/>
            </a:solidFill>
          </a:ln>
        </p:spPr>
      </p:sp>
      <p:sp>
        <p:nvSpPr>
          <p:cNvPr id="3" name="text-176">
            <a:extLst xmlns:a="http://schemas.openxmlformats.org/drawingml/2006/main">
              <a:ext uri="{FF2B5EF4-FFF2-40B4-BE49-F238E27FC236}">
                <a16:creationId xmlns:a16="http://schemas.microsoft.com/office/drawing/2014/main" id="{0E968855-688E-4D93-AEB5-47D640B2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text-177">
            <a:extLst xmlns:a="http://schemas.openxmlformats.org/drawingml/2006/main">
              <a:ext uri="{FF2B5EF4-FFF2-40B4-BE49-F238E27FC236}">
                <a16:creationId xmlns:a16="http://schemas.microsoft.com/office/drawing/2014/main" id="{E117B7FF-407C-4425-8E62-4BB3A3D8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9000"/>
            <a:ext cx="13716000" cy="157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feature-selection decision</a:t>
            </a:r>
          </a:p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with evidence that can be inspected.</a:t>
            </a:r>
          </a:p>
        </p:txBody>
      </p:sp>
      <p:sp>
        <p:nvSpPr>
          <p:cNvPr id="5" name="text-178">
            <a:extLst xmlns:a="http://schemas.openxmlformats.org/drawingml/2006/main">
              <a:ext uri="{FF2B5EF4-FFF2-40B4-BE49-F238E27FC236}">
                <a16:creationId xmlns:a16="http://schemas.microsoft.com/office/drawing/2014/main" id="{8FACD086-B776-4A70-897E-837D38679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56100"/>
            <a:ext cx="13716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A concrete failure context explains what happened.</a:t>
            </a:r>
          </a:p>
          <a:p xmlns:a="http://schemas.openxmlformats.org/drawingml/2006/main">
            <a:pPr algn="l">
              <a:defRPr sz="29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An exact reference shows what the search missed.</a:t>
            </a:r>
          </a:p>
          <a:p xmlns:a="http://schemas.openxmlformats.org/drawingml/2006/main">
            <a:pPr algn="l">
              <a:defRPr sz="29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An independent test shows whether removal is worthwhile.</a:t>
            </a:r>
          </a:p>
        </p:txBody>
      </p:sp>
      <p:sp>
        <p:nvSpPr>
          <p:cNvPr id="6" name="rule-179">
            <a:extLst xmlns:a="http://schemas.openxmlformats.org/drawingml/2006/main">
              <a:ext uri="{FF2B5EF4-FFF2-40B4-BE49-F238E27FC236}">
                <a16:creationId xmlns:a16="http://schemas.microsoft.com/office/drawing/2014/main" id="{EE279AED-F499-4F24-837F-97F1D29A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231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496174"/>
            </a:solidFill>
          </a:ln>
        </p:spPr>
      </p:sp>
      <p:sp>
        <p:nvSpPr>
          <p:cNvPr id="7" name="text-180">
            <a:extLst xmlns:a="http://schemas.openxmlformats.org/drawingml/2006/main">
              <a:ext uri="{FF2B5EF4-FFF2-40B4-BE49-F238E27FC236}">
                <a16:creationId xmlns:a16="http://schemas.microsoft.com/office/drawing/2014/main" id="{72397607-DEDF-497B-8240-AA84C083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40600"/>
            <a:ext cx="13716000" cy="67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Next: controlled mechanisms, then independent deletion evaluation.</a:t>
            </a:r>
          </a:p>
        </p:txBody>
      </p:sp>
    </p:spTree>
    <p:extLst>
      <p:ext uri="{BB962C8B-B14F-4D97-AF65-F5344CB8AC3E}">
        <p14:creationId xmlns:p14="http://schemas.microsoft.com/office/powerpoint/2010/main" val="8042108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2026-09-30T07:12:29.8320000Z</dcterms:created>
  <dcterms:modified xsi:type="dcterms:W3CDTF">2026-09-30T07:12:29.8320000Z</dcterms:modified>
</coreProperties>
</file>