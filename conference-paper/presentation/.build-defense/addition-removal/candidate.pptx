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5301eaf42b44459" /><Relationship Type="http://schemas.openxmlformats.org/officeDocument/2006/relationships/extended-properties" Target="/docProps/app.xml" Id="R7e71f60d5a344f53" /><Relationship Type="http://schemas.openxmlformats.org/officeDocument/2006/relationships/officeDocument" Target="/ppt/presentation.xml" Id="Rf58ecddedd03442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e3b2c36162344b0"/>
  </p:sldMasterIdLst>
  <p:notesMasterIdLst>
    <p:notesMasterId xmlns:r="http://schemas.openxmlformats.org/officeDocument/2006/relationships" r:id="Rd60ef26eaf534d63"/>
  </p:notesMasterIdLst>
  <p:sldIdLst>
    <p:sldId xmlns:r="http://schemas.openxmlformats.org/officeDocument/2006/relationships" id="256" r:id="Rba3dcf42ce1848b3"/>
    <p:sldId xmlns:r="http://schemas.openxmlformats.org/officeDocument/2006/relationships" id="257" r:id="Re939de8e5bcd4b3e"/>
    <p:sldId xmlns:r="http://schemas.openxmlformats.org/officeDocument/2006/relationships" id="258" r:id="R74e7695fdee14baa"/>
    <p:sldId xmlns:r="http://schemas.openxmlformats.org/officeDocument/2006/relationships" id="259" r:id="R712aa9a833f04aab"/>
    <p:sldId xmlns:r="http://schemas.openxmlformats.org/officeDocument/2006/relationships" id="260" r:id="Rde80ed328f584091"/>
    <p:sldId xmlns:r="http://schemas.openxmlformats.org/officeDocument/2006/relationships" id="261" r:id="R5025096abec648e8"/>
    <p:sldId xmlns:r="http://schemas.openxmlformats.org/officeDocument/2006/relationships" id="262" r:id="R6e889865013f4858"/>
    <p:sldId xmlns:r="http://schemas.openxmlformats.org/officeDocument/2006/relationships" id="263" r:id="R8564d77f19f24ae7"/>
    <p:sldId xmlns:r="http://schemas.openxmlformats.org/officeDocument/2006/relationships" id="264" r:id="Rd4275deb87e34a08"/>
    <p:sldId xmlns:r="http://schemas.openxmlformats.org/officeDocument/2006/relationships" id="265" r:id="R0dcab22e57b14f98"/>
    <p:sldId xmlns:r="http://schemas.openxmlformats.org/officeDocument/2006/relationships" id="266" r:id="R78f8d98efa184da4"/>
    <p:sldId xmlns:r="http://schemas.openxmlformats.org/officeDocument/2006/relationships" id="267" r:id="R81241bcd70d14045"/>
    <p:sldId xmlns:r="http://schemas.openxmlformats.org/officeDocument/2006/relationships" id="268" r:id="Rb9d117b5353a4e97"/>
    <p:sldId xmlns:r="http://schemas.openxmlformats.org/officeDocument/2006/relationships" id="269" r:id="R87766ccbb13d40ad"/>
    <p:sldId xmlns:r="http://schemas.openxmlformats.org/officeDocument/2006/relationships" id="270" r:id="R5cfde0a1fb514d2d"/>
    <p:sldId xmlns:r="http://schemas.openxmlformats.org/officeDocument/2006/relationships" id="271" r:id="Rb5350dd027114642"/>
    <p:sldId xmlns:r="http://schemas.openxmlformats.org/officeDocument/2006/relationships" id="272" r:id="Rb3100eeb7a344fc2"/>
    <p:sldId xmlns:r="http://schemas.openxmlformats.org/officeDocument/2006/relationships" id="273" r:id="R8ba0650200bf4620"/>
    <p:sldId xmlns:r="http://schemas.openxmlformats.org/officeDocument/2006/relationships" id="274" r:id="Re7ffc387ccc040ed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2d279ddc55a470d" /><Relationship Type="http://schemas.openxmlformats.org/officeDocument/2006/relationships/slideMaster" Target="/ppt/slideMasters/slideMaster1.xml" Id="R2e3b2c36162344b0" /><Relationship Type="http://schemas.openxmlformats.org/officeDocument/2006/relationships/notesMaster" Target="/ppt/notesMasters/notesMaster1.xml" Id="Rd60ef26eaf534d63" /><Relationship Type="http://schemas.openxmlformats.org/officeDocument/2006/relationships/presProps" Target="/ppt/presProps.xml" Id="Rc5ae7796f0ce4bdc" /><Relationship Type="http://schemas.openxmlformats.org/officeDocument/2006/relationships/tableStyles" Target="/ppt/tableStyles.xml" Id="R95da3716a03d40a5" /><Relationship Type="http://schemas.openxmlformats.org/officeDocument/2006/relationships/slide" Target="/ppt/slides/slide1.xml" Id="Rba3dcf42ce1848b3" /><Relationship Type="http://schemas.openxmlformats.org/officeDocument/2006/relationships/slide" Target="/ppt/slides/slide2.xml" Id="Re939de8e5bcd4b3e" /><Relationship Type="http://schemas.openxmlformats.org/officeDocument/2006/relationships/slide" Target="/ppt/slides/slide3.xml" Id="R74e7695fdee14baa" /><Relationship Type="http://schemas.openxmlformats.org/officeDocument/2006/relationships/slide" Target="/ppt/slides/slide4.xml" Id="R712aa9a833f04aab" /><Relationship Type="http://schemas.openxmlformats.org/officeDocument/2006/relationships/slide" Target="/ppt/slides/slide5.xml" Id="Rde80ed328f584091" /><Relationship Type="http://schemas.openxmlformats.org/officeDocument/2006/relationships/slide" Target="/ppt/slides/slide6.xml" Id="R5025096abec648e8" /><Relationship Type="http://schemas.openxmlformats.org/officeDocument/2006/relationships/slide" Target="/ppt/slides/slide7.xml" Id="R6e889865013f4858" /><Relationship Type="http://schemas.openxmlformats.org/officeDocument/2006/relationships/slide" Target="/ppt/slides/slide8.xml" Id="R8564d77f19f24ae7" /><Relationship Type="http://schemas.openxmlformats.org/officeDocument/2006/relationships/slide" Target="/ppt/slides/slide9.xml" Id="Rd4275deb87e34a08" /><Relationship Type="http://schemas.openxmlformats.org/officeDocument/2006/relationships/slide" Target="/ppt/slides/slide10.xml" Id="R0dcab22e57b14f98" /><Relationship Type="http://schemas.openxmlformats.org/officeDocument/2006/relationships/slide" Target="/ppt/slides/slide11.xml" Id="R78f8d98efa184da4" /><Relationship Type="http://schemas.openxmlformats.org/officeDocument/2006/relationships/slide" Target="/ppt/slides/slide12.xml" Id="R81241bcd70d14045" /><Relationship Type="http://schemas.openxmlformats.org/officeDocument/2006/relationships/slide" Target="/ppt/slides/slide13.xml" Id="Rb9d117b5353a4e97" /><Relationship Type="http://schemas.openxmlformats.org/officeDocument/2006/relationships/slide" Target="/ppt/slides/slide14.xml" Id="R87766ccbb13d40ad" /><Relationship Type="http://schemas.openxmlformats.org/officeDocument/2006/relationships/slide" Target="/ppt/slides/slide15.xml" Id="R5cfde0a1fb514d2d" /><Relationship Type="http://schemas.openxmlformats.org/officeDocument/2006/relationships/slide" Target="/ppt/slides/slide16.xml" Id="Rb5350dd027114642" /><Relationship Type="http://schemas.openxmlformats.org/officeDocument/2006/relationships/slide" Target="/ppt/slides/slide17.xml" Id="Rb3100eeb7a344fc2" /><Relationship Type="http://schemas.openxmlformats.org/officeDocument/2006/relationships/slide" Target="/ppt/slides/slide18.xml" Id="R8ba0650200bf4620" /><Relationship Type="http://schemas.openxmlformats.org/officeDocument/2006/relationships/slide" Target="/ppt/slides/slide19.xml" Id="Re7ffc387ccc040e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e0bee439a9c45d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403d83e796415c" /><Relationship Type="http://schemas.openxmlformats.org/officeDocument/2006/relationships/notesMaster" Target="/ppt/notesMasters/notesMaster1.xml" Id="R9d5939e923e241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4320cc134144e78" /><Relationship Type="http://schemas.openxmlformats.org/officeDocument/2006/relationships/notesMaster" Target="/ppt/notesMasters/notesMaster1.xml" Id="Rdf5c451c49e848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b1e3a5ffc094353" /><Relationship Type="http://schemas.openxmlformats.org/officeDocument/2006/relationships/notesMaster" Target="/ppt/notesMasters/notesMaster1.xml" Id="R334d0ce3042a43b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63eca60e4f42ad" /><Relationship Type="http://schemas.openxmlformats.org/officeDocument/2006/relationships/notesMaster" Target="/ppt/notesMasters/notesMaster1.xml" Id="R8475c501890b49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5c807dd355347da" /><Relationship Type="http://schemas.openxmlformats.org/officeDocument/2006/relationships/notesMaster" Target="/ppt/notesMasters/notesMaster1.xml" Id="Rb4c9d284e2024a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1ec104ef90b42a3" /><Relationship Type="http://schemas.openxmlformats.org/officeDocument/2006/relationships/notesMaster" Target="/ppt/notesMasters/notesMaster1.xml" Id="Rf79d2d8bc35e430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401ec4a51641c5" /><Relationship Type="http://schemas.openxmlformats.org/officeDocument/2006/relationships/notesMaster" Target="/ppt/notesMasters/notesMaster1.xml" Id="Reedcd02a356945f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49c0f8fae764d90" /><Relationship Type="http://schemas.openxmlformats.org/officeDocument/2006/relationships/notesMaster" Target="/ppt/notesMasters/notesMaster1.xml" Id="Rbaea856067c44b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fcd1f75210c4af8" /><Relationship Type="http://schemas.openxmlformats.org/officeDocument/2006/relationships/notesMaster" Target="/ppt/notesMasters/notesMaster1.xml" Id="R769bc927a765494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24075f018244a04" /><Relationship Type="http://schemas.openxmlformats.org/officeDocument/2006/relationships/notesMaster" Target="/ppt/notesMasters/notesMaster1.xml" Id="R075b836441b748a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ddc208d90474df6" /><Relationship Type="http://schemas.openxmlformats.org/officeDocument/2006/relationships/notesMaster" Target="/ppt/notesMasters/notesMaster1.xml" Id="Rb854fca1b31740f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d7afa6361ba4f52" /><Relationship Type="http://schemas.openxmlformats.org/officeDocument/2006/relationships/notesMaster" Target="/ppt/notesMasters/notesMaster1.xml" Id="R722c5f3160644e3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c3ca09199f514616" /><Relationship Type="http://schemas.openxmlformats.org/officeDocument/2006/relationships/notesMaster" Target="/ppt/notesMasters/notesMaster1.xml" Id="Ra98fc663a9da447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a97d0e2b7741ab" /><Relationship Type="http://schemas.openxmlformats.org/officeDocument/2006/relationships/notesMaster" Target="/ppt/notesMasters/notesMaster1.xml" Id="R94b0f1a0549a4024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d6430f94fe24704" /><Relationship Type="http://schemas.openxmlformats.org/officeDocument/2006/relationships/notesMaster" Target="/ppt/notesMasters/notesMaster1.xml" Id="Ra1eccdb35fa040f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38a8c542a9cb469a" /><Relationship Type="http://schemas.openxmlformats.org/officeDocument/2006/relationships/notesMaster" Target="/ppt/notesMasters/notesMaster1.xml" Id="R3b4cc6b632ce44e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5d71ddf09006486c" /><Relationship Type="http://schemas.openxmlformats.org/officeDocument/2006/relationships/notesMaster" Target="/ppt/notesMasters/notesMaster1.xml" Id="R6d0f857ad0dd4c01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64e1b0b9f341a3" /><Relationship Type="http://schemas.openxmlformats.org/officeDocument/2006/relationships/notesMaster" Target="/ppt/notesMasters/notesMaster1.xml" Id="R03496b56ac65441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83528da4ad0948f5" /><Relationship Type="http://schemas.openxmlformats.org/officeDocument/2006/relationships/notesMaster" Target="/ppt/notesMasters/notesMaster1.xml" Id="R8fe526c2830e468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30 秒。开场不念长标题。我的研究关注一个具体问题：我们往模型里增加一个输入变量时，它是否可能让原本达到要求的模型反而达不到要求？我希望保存这种失败的具体证据，再检验它能否帮助我们选择更小的特征集合。本次重点介绍研究设计，实验仍在推进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</a:t>
            </a:r>
          </a:p>
          <a:p xmlns:a="http://schemas.openxmlformats.org/drawingml/2006/main">
            <a:r>
              <a:t>C:/work/学校/A.SPBU/paper/ZhaoCHI/Paper/Master/conference-paper/paper/icomp2026_conference.tex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用垃圾邮件解释输入、模型和目标。每封邮件是一行数据，词频、标点、大写统计是输入，是否垃圾邮件是标签。实际使用时我们希望减少输入采集和维护成本。但固定学习器在有限样本下训练时，增加或删除输入的效果取决于其他输入，不能只凭直觉。减少特征能否节省总成本仍需要把审计开销一起测量。本研究希望为删除测试提供可复查的理由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Introduction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C:/work/学校/A.SPBU/paper/ZhaoCHI/Paper/Master-mr2/MAJOR_REVISION_PROTOCOL.md §1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第三页直接介绍两个互补验证步骤。第一步，加入检查：用同样的训练配置，比较某个特征组合S以及加入i后的组合，看是否由达标变成不达标。这说明i对该组合有害，不等于它对全部特征或所有情境都天然有害。第二步，删除验证：从当前完整分析输入集合D提出删除候选，在独立数据上检验缩小模型之后的预测损失、压缩程度和总成本，判断整体是否值得。这一步属于计划中的删除决策实验。两步可以概括为先发现问题，再验证行动是否有价值。它们不是随机A与引导B那两个搜索算法，A/B只是第一步寻找上下文的不同方式。整个过程保持监督分类或回归任务不变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§1–3 and §7</a:t>
            </a:r>
          </a:p>
          <a:p xmlns:a="http://schemas.openxmlformats.org/drawingml/2006/main">
            <a:r>
              <a:t>C:/work/学校/A.SPBU/paper/ZhaoCHI/Paper/Master-mr2/MAJOR_REVISION_PROTOCOL.md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70 秒。只讲这一个数值例子。完整输入模型假设为0.90，取其95%得到门槛0.855。集合S训练的模型得分0.87，加入i重新训练后为0.84。除了输入集合之外，训练、验证和模型配置保持一致。这个由达标到不达标的变化，就是后面所有方法和实验围绕的证据。数字仅为教学示例，不是实验结果。必须强调，S可能只是完整输入的一部分，不能据此推出从完整集合删除i一定有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Illustrative utilities, not observed experimental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这是整场答辩最重要的一页。按箭头走上排，再从右向左走下排。上排是审计：选一个变量i与上下文S，用两组输入分别训练相同类型的监督模型，检查有没有负向跨越门槛，保存可以复查的记录。有限预算下不断重复前三步。下排是独立的应用验证：把见证转化为一个待删除候选，交给没有参与候选选择的验证集，通过才采用，否则回到完整输入。最后在未用过的测试集上测压缩、预测损失和总成本。两排分别回答“发生过什么”和“是否值得采取行动”。下排属于计划中的决策实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合作博弈提供一种组织问题的语言：特征是参与者，输入集合是联盟，边际贡献是加入一个变量带来的变化。这里先把分数转成是否达标，再找所有上下文中最差的边际。出现从1到0的变化，最小值就是负一。经典Shapley或Banzhaf关注加权平均边际，本项目关注是否存在一个失败上下文。MinShap已有最小聚合思路，因此不把min本身说成首创。详细公式在附录，主讲只保留这条逻辑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§2–3</a:t>
            </a:r>
          </a:p>
          <a:p xmlns:a="http://schemas.openxmlformats.org/drawingml/2006/main">
            <a:r>
              <a:t>Shapley (1953), A Value for n-Person Games.</a:t>
            </a:r>
          </a:p>
          <a:p xmlns:a="http://schemas.openxmlformats.org/drawingml/2006/main">
            <a:r>
              <a:t>Banzhaf (1965), Weighted Voting Doesn’t Work.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困难不在检查一对模型，而在输入组合太多。A先抽子集大小，再抽该大小内的子集。B使用训练侧互信息和相关结构引导候选上下文。两者只改变“去哪里找”，不会改变监督任务或判定标准。引导是否更有效是实验问题，不能因为使用了相关性就假定更好。找到负见证可以确认固定游戏中的这次失败；没有找到则可能是搜索遗漏。共同查询预算不等于共同实际耗时，因此还要测模型拟合和全流程成本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85 秒。按研究用途解释选择，而不是报六组数字。Abalone只有八个输入，我们可以检查所有组合，且提供回归任务。Madelon是有标签的合成分类数据，包含有信息变量、冗余和干扰，但生成角色不等于MinPPI真值。Spambase的词频和字符统计容易对应到实际输入。Fraud提供稀有正类任务，其28个PCA主成分加金额仍用于有标签监督分类。当前35个精确游戏只来自这四套数据；Gisette和ISOLET属于更广的原始基准范围，并未加入这35个游戏。完整样本量、变量构成与目标放附录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§2–3</a:t>
            </a:r>
          </a:p>
          <a:p xmlns:a="http://schemas.openxmlformats.org/drawingml/2006/main">
            <a:r>
              <a:t>https://archive.ics.uci.edu/dataset/1/abalone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https://www.openml.org/api/v1/json/data/1597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这三项研究形成证据链，而不是三组互不相关的实验。第一层有精确参照，能判断发现是否充分，已经完成。第二层控制数据结构，解释为什么会漏，处于计划阶段。第三层独立验证删除收益，回答实际使用是否值得，也处于计划阶段。每层的结论都有边界，不能用第一层的结果替代第三层。项目内部对应E1、E2和E4，为答辩按研究问题顺序称Study1、2、3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§6, §7,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60 秒。八个输入共有256个子集，因此能计算完整参照。这是为什么使用小面板：我们需要知道漏了多少，而不是只展示几个找到的案例。A和B不能看到完整答案，只能按预算查询自己选的子集。最后才由评价程序与精确标签比较，主要看整个预算过程的召回。已经完成四数据集、七面板、五划分组成的35个固定游戏。这里的精确答案仅针对各八维面板，不能外推成原始高维任务的真值。没有有害输入时召回没有定义，仍保留这些案例，不挑更容易展示成功的数据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</a:t>
            </a:r>
          </a:p>
          <a:p xmlns:a="http://schemas.openxmlformats.org/drawingml/2006/main">
            <a:r>
              <a:t>C:/work/学校/A.SPBU/paper/ZhaoCHI/Paper/Master-mr2/MR3_P3_FINDINGS.md §2–4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55 秒。真实数据看到差异后很难解释原因，所以第二项研究有目的地构造三个监督二分类机制。第一个是信号加无关变量，第二个增加带噪声的相关副本，第三个是两变量异或交互。仍然做完整枚举作为参照，再比较同预算A/B。每种五个预先固定实例，不根据结果换随机种子。这里“无关”或“冗余”是生成角色，不能直接当成有害标签。研究要检验这些结构如何改变见证和搜索难度，而不是预先假定任何一种一定有害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§22.3–23</a:t>
            </a:r>
          </a:p>
          <a:p xmlns:a="http://schemas.openxmlformats.org/drawingml/2006/main">
            <a:r>
              <a:t>C:/work/学校/A.SPBU/paper/ZhaoCHI/Paper/Master-mr2/MR3_E2_PLAN.md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80 秒。第三项研究最接近实际使用价值。每个策略在选择验证集上只提交一个候选，再由独立gate判断是否满足事先设定的预测损失容忍度。通过采用候选，不通过回完整输入，不能反复试到通过。冻结决定后在非测试数据上重训，再测试。比较包括互信息、TreeSHAP、LOFO、RFE和由验证集选择这些候选的组合策略，主比较是MinPPI-A与该组合策略。公平性要求同一数据集内固定目标、划分、学习器、预处理规则、指标和容忍度，并纳入所有成本。分类AUC和回归R²分开解释，不能把其原始分数混合平均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§7 and §22.4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果只讲三个认识。第一，35个小型游戏已完成，能够检查见证和遗漏。第二，当前这种B引导没有稳定优于随机A，不能包装成已证实的加速或优势。第三，是否值得删除还没有独立决策证据，因此接下来先做机制实验，再做独立删除实验。统计数字在附录，需要时回答。这里的负结果让我们更准确地限定算法适用条件，不推翻固定游戏中的见证定义。证据状态参考2026年9月26日台账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C:/work/学校/A.SPBU/paper/ZhaoCHI/Paper/Master-mr2/MR3_P3_FINDINGS.md §1–8</a:t>
            </a:r>
          </a:p>
          <a:p xmlns:a="http://schemas.openxmlformats.org/drawingml/2006/main">
            <a:r>
              <a:t>C:/work/学校/A.SPBU/paper/ZhaoCHI/Paper/Master-mr2/MAJOR_REVISION_WORKPLAN.md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建议用时 45 秒。结尾回到价值。希望交付的不只是一个重要性分数，而是一组可以核查的理由：哪个输入在什么组合下造成达标失败；有限预算搜索遗漏多少；采取删除行动是否值得其成本。前两者属于方法与发现评价，最后一项需要下一步实验支持。NSGA-II是未来把这种证据用于特征数量与预测表现权衡的可选应用，放在附录，当前不把它作为已验证的收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§1, §7 and §22</a:t>
            </a:r>
          </a:p>
          <a:p xmlns:a="http://schemas.openxmlformats.org/drawingml/2006/main">
            <a:r>
              <a:t>C:/work/学校/A.SPBU/paper/ZhaoCHI/Paper/Master-mr2/MR3_P3_FINDINGS.md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备用页。详细说明三类变量。Spambase 的48维词频指某词占邮件单词数的百分比，6维字符频率和3维连续大写统计共同构成57列。目标 is_spam 不属于特征。Madelon 的5个信息维度加15个线性组合构成20个相关信息变量，另480个干扰列，总计500列。Gisette 把手写4和9图像转成数值描述，含像素及高阶乘积等衍生变量，再加入2500个干扰变量。这里的特征既可能是可解释的原始统计量，也可能是变换后的数值坐标。Madelon、Gisette 的原始变量身份并未按语义逐列公开，不能给 f_i 编造实际含义。已知生成角色也不能替代固定模型下的精确有害标签。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https://archive.ics.uci.edu/dataset/94/spambase</a:t>
            </a:r>
          </a:p>
          <a:p xmlns:a="http://schemas.openxmlformats.org/drawingml/2006/main">
            <a:r>
              <a:t>https://archive.ics.uci.edu/dataset/171/madelon</a:t>
            </a:r>
          </a:p>
          <a:p xmlns:a="http://schemas.openxmlformats.org/drawingml/2006/main">
            <a:r>
              <a:t>https://archive.ics.uci.edu/dataset/170/gisette</a:t>
            </a:r>
          </a:p>
          <a:p xmlns:a="http://schemas.openxmlformats.org/drawingml/2006/main">
            <a:r>
              <a:t>C:/work/学校/A.SPBU/paper/ZhaoCHI/Paper/Master/experiments/preprocess_data/preprocess_Spambase.py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备用页。ISOLET 的617个数值是已经提取好的声学描述，不是原始音频波形；原始资料没有给出每列的具体语义顺序，所以只说明可核实的特征族。Fraud 是监督二分类，V1到V28是匿名PCA主成分，加上金额构成项目的29列，Time不进入本项目输入。PCA作为表示处理不意味着当前任务是无监督学习，标签 Class 仍用于训练和效用评价。PCA成分的负见证也不能直接解释成某个原始金融行为有害。Abalone 的八列全部列出，其中Sex是原始类别变量在现有数据中的数值表示，其余七列是尺寸和重量。Rings是目标，不是第九个输入。完整八维枚举提供精确参照。这些数据能用于项目的共同原因是标签、可选择的有限列集合，以及可计算的监督预测效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§3–4</a:t>
            </a:r>
          </a:p>
          <a:p xmlns:a="http://schemas.openxmlformats.org/drawingml/2006/main">
            <a:r>
              <a:t>https://archive.ics.uci.edu/dataset/54/isolet</a:t>
            </a:r>
          </a:p>
          <a:p xmlns:a="http://schemas.openxmlformats.org/drawingml/2006/main">
            <a:r>
              <a:t>https://www.openml.org/api/v1/json/data/1597</a:t>
            </a:r>
          </a:p>
          <a:p xmlns:a="http://schemas.openxmlformats.org/drawingml/2006/main">
            <a:r>
              <a:t>https://archive-beta.ics.uci.edu/dataset/1/abalone</a:t>
            </a:r>
          </a:p>
          <a:p xmlns:a="http://schemas.openxmlformats.org/drawingml/2006/main">
            <a:r>
              <a:t>C:/work/学校/A.SPBU/paper/ZhaoCHI/Paper/Master/data/raw/abalone.csv</a:t>
            </a:r>
          </a:p>
          <a:p xmlns:a="http://schemas.openxmlformats.org/drawingml/2006/main">
            <a:r>
              <a:t>C:/work/学校/A.SPBU/paper/ZhaoCHI/Paper/Master/data/raw/credit_card_fraud.csv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备用页。固定数据、划分、预处理、学习器、随机种子、效用和配额才定义一个固定博弈。二分类ROC AUC，多分类macro OVR AUC，回归审计max(raw R²,0)，gate/test用raw R²。零值并非无预测价值。MinSS和MinBz在完整上下文支持上的最小值相等，这不表示经典加权指数相等。采样最小值不小于全域最小值，观察到负一足以证实固定游戏中的存在性，采样零或正一无法认证全局类别。改变任务或条件必须形成新实验与新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§3</a:t>
            </a:r>
          </a:p>
          <a:p xmlns:a="http://schemas.openxmlformats.org/drawingml/2006/main">
            <a:r>
              <a:t>Zheng &amp; Raskutti (2026), 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最新证据日期为2026年9月26日。Study1为7面板×5划分，每游戏30对采样日程，共同边际查询上限800。该研究使用64/16/20划分，不访问test。召回面积先在同游戏平均日程，再到面板、数据集，最后四数据集等权；空有害集合保留覆盖率、召回为NA。Study3不可复用Study1效用表，独立gate需要重新定义数据角色。候选冻结后非测试80%重新拟合，预处理仍来自原64%训练。成本含指导、审计、选择、gate及最终refit。该页数值不能与旧高维实验混为同一游戏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C:/work/学校/A.SPBU/paper/ZhaoCHI/Paper/Master-mr2/MAJOR_REVISION_PROTOCOL.md §4, §7, §22–23</a:t>
            </a:r>
          </a:p>
          <a:p xmlns:a="http://schemas.openxmlformats.org/drawingml/2006/main">
            <a:r>
              <a:t>C:/work/学校/A.SPBU/paper/ZhaoCHI/Paper/Master-mr2/MR3_P3_FINDINGS.md §1–4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讲述提示</a:t>
            </a:r>
          </a:p>
          <a:p xmlns:a="http://schemas.openxmlformats.org/drawingml/2006/main">
            <a:r>
              <a:t>备用页。NSGA-II是进化多目标搜索方法，不是强化学习，也不是MinPPI必需组成。目标为保留特征比例|S|/p0和1-clip(U(S),0,1)，p0固定为过滤前维数。非支配解表达压缩与预测表现的折中。旧应用实验不能证明加上审计后必然加速，重新比较需要把审计和指导成本全部计入。当前核心路线先完成机制和独立删除决策，再决定是否扩展多目标搜索。相关理论来源：Shapley 1953，Banzhaf 1965，Lundberg &amp; Lee 2017，Zheng &amp; Raskutti 2026以及Deb et al. 2002。各页备注给出资料来源。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资料来源</a:t>
            </a:r>
          </a:p>
          <a:p xmlns:a="http://schemas.openxmlformats.org/drawingml/2006/main">
            <a:r>
              <a:t>C:/work/学校/A.SPBU/paper/ZhaoCHI/Paper/Master/conference-paper/paper/icomp2026_conference.tex Experimental design</a:t>
            </a:r>
          </a:p>
          <a:p xmlns:a="http://schemas.openxmlformats.org/drawingml/2006/main">
            <a:r>
              <a:t>C:/work/学校/A.SPBU/paper/ZhaoCHI/Paper/Master-mr2/MAJOR_REVISION_PROTOCOL.md §7</a:t>
            </a:r>
          </a:p>
          <a:p xmlns:a="http://schemas.openxmlformats.org/drawingml/2006/main">
            <a:r>
              <a:t>Deb et al. (2002), https://doi.org/10.1109/4235.996017</a:t>
            </a:r>
          </a:p>
          <a:p xmlns:a="http://schemas.openxmlformats.org/drawingml/2006/main">
            <a:r>
              <a:t>https://arxiv.org/abs/1705.07874</a:t>
            </a:r>
          </a:p>
          <a:p xmlns:a="http://schemas.openxmlformats.org/drawingml/2006/main">
            <a:r>
              <a:t>https://arxiv.org/abs/2604.15107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c12eef7344ed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29b59b7959746b3" /><Relationship Type="http://schemas.openxmlformats.org/officeDocument/2006/relationships/slideLayout" Target="/ppt/slideLayouts/slideLayout1.xml" Id="R94b0a9244b1949f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4b0a9244b1949f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7013c1ecf8475c" /><Relationship Type="http://schemas.openxmlformats.org/officeDocument/2006/relationships/notesSlide" Target="/ppt/notesSlides/notesSlide1.xml" Id="R35d59f2f2c4c4f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756812fc2840f1" /><Relationship Type="http://schemas.openxmlformats.org/officeDocument/2006/relationships/notesSlide" Target="/ppt/notesSlides/notesSlide2.xml" Id="Rb309b6ec9eed4fe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a46fc13fde4a65" /><Relationship Type="http://schemas.openxmlformats.org/officeDocument/2006/relationships/notesSlide" Target="/ppt/notesSlides/notesSlide3.xml" Id="R8e45cab3a9e74ac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5045effa0427c" /><Relationship Type="http://schemas.openxmlformats.org/officeDocument/2006/relationships/notesSlide" Target="/ppt/notesSlides/notesSlide4.xml" Id="Rac260b6cc5ed481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a1c6308464afc" /><Relationship Type="http://schemas.openxmlformats.org/officeDocument/2006/relationships/notesSlide" Target="/ppt/notesSlides/notesSlide5.xml" Id="Raba55b81d202447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44638130d5444f" /><Relationship Type="http://schemas.openxmlformats.org/officeDocument/2006/relationships/notesSlide" Target="/ppt/notesSlides/notesSlide6.xml" Id="R04a1af619d4347a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449438715640c2" /><Relationship Type="http://schemas.openxmlformats.org/officeDocument/2006/relationships/notesSlide" Target="/ppt/notesSlides/notesSlide7.xml" Id="R357ec405b84149f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15cf010734946" /><Relationship Type="http://schemas.openxmlformats.org/officeDocument/2006/relationships/notesSlide" Target="/ppt/notesSlides/notesSlide8.xml" Id="Rdd2b95ea33be423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9ba1bcc7514151" /><Relationship Type="http://schemas.openxmlformats.org/officeDocument/2006/relationships/notesSlide" Target="/ppt/notesSlides/notesSlide9.xml" Id="R57dc78e3dacb416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ec5d3aa38040b0" /><Relationship Type="http://schemas.openxmlformats.org/officeDocument/2006/relationships/notesSlide" Target="/ppt/notesSlides/notesSlide10.xml" Id="R648caa6766754b3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e1c92cbafa40a3" /><Relationship Type="http://schemas.openxmlformats.org/officeDocument/2006/relationships/notesSlide" Target="/ppt/notesSlides/notesSlide11.xml" Id="Red403018ee0944a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2fed0f512b4921" /><Relationship Type="http://schemas.openxmlformats.org/officeDocument/2006/relationships/notesSlide" Target="/ppt/notesSlides/notesSlide12.xml" Id="R6d7eedfd68e945c1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87e9727bdc4dca" /><Relationship Type="http://schemas.openxmlformats.org/officeDocument/2006/relationships/notesSlide" Target="/ppt/notesSlides/notesSlide13.xml" Id="R5480991c712742d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4653fbc36f4e50" /><Relationship Type="http://schemas.openxmlformats.org/officeDocument/2006/relationships/notesSlide" Target="/ppt/notesSlides/notesSlide14.xml" Id="R2c9cd26bbaa4425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6db511e91a402b" /><Relationship Type="http://schemas.openxmlformats.org/officeDocument/2006/relationships/notesSlide" Target="/ppt/notesSlides/notesSlide15.xml" Id="Rb9088a3b72a64f0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28c54077474f2b" /><Relationship Type="http://schemas.openxmlformats.org/officeDocument/2006/relationships/notesSlide" Target="/ppt/notesSlides/notesSlide16.xml" Id="Rf829d8b55d294de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601e2acb8d4bc5" /><Relationship Type="http://schemas.openxmlformats.org/officeDocument/2006/relationships/notesSlide" Target="/ppt/notesSlides/notesSlide17.xml" Id="Rac76612bd1df4573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6c6a6b747046d4" /><Relationship Type="http://schemas.openxmlformats.org/officeDocument/2006/relationships/notesSlide" Target="/ppt/notesSlides/notesSlide18.xml" Id="R7f7e6f76365a4b5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f85f62e45341d5" /><Relationship Type="http://schemas.openxmlformats.org/officeDocument/2006/relationships/notesSlide" Target="/ppt/notesSlides/notesSlide19.xml" Id="Re36319e81bfd41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">
            <a:extLst xmlns:a="http://schemas.openxmlformats.org/drawingml/2006/main">
              <a:ext uri="{FF2B5EF4-FFF2-40B4-BE49-F238E27FC236}">
                <a16:creationId xmlns:a16="http://schemas.microsoft.com/office/drawing/2014/main" id="{24C16CBE-F662-4B5B-B3AE-4567AE59D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E77765D5-0217-475B-8F3B-AEE8AB75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9300"/>
            <a:ext cx="13716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75D0C9"/>
                </a:solidFill>
                <a:latin typeface="Arial"/>
                <a:ea typeface="Arial"/>
                <a:cs typeface="Arial"/>
              </a:rPr>
              <a:t>MinPPI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B56CD080-C23D-4C55-BDA4-D2ECFA764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7100"/>
            <a:ext cx="13716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Min-Marginal Power Indices for</a:t>
            </a:r>
          </a:p>
          <a:p xmlns:a="http://schemas.openxmlformats.org/drawingml/2006/main">
            <a:pPr algn="l"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Multi-Objective Feature Selection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42CFBF75-0E25-4E10-90BC-971BF6BF5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When can an extra feature make a model worse?</a:t>
            </a:r>
          </a:p>
        </p:txBody>
      </p:sp>
      <p:sp>
        <p:nvSpPr>
          <p:cNvPr id="5" name="rule-5">
            <a:extLst xmlns:a="http://schemas.openxmlformats.org/drawingml/2006/main">
              <a:ext uri="{FF2B5EF4-FFF2-40B4-BE49-F238E27FC236}">
                <a16:creationId xmlns:a16="http://schemas.microsoft.com/office/drawing/2014/main" id="{6F48518F-48B9-4B3D-8942-03FCC877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277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6" name="text-6">
            <a:extLst xmlns:a="http://schemas.openxmlformats.org/drawingml/2006/main">
              <a:ext uri="{FF2B5EF4-FFF2-40B4-BE49-F238E27FC236}">
                <a16:creationId xmlns:a16="http://schemas.microsoft.com/office/drawing/2014/main" id="{24EF8374-62D4-452D-A6FD-BF91AF56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32500"/>
            <a:ext cx="609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Wenjie SHI</a:t>
            </a:r>
          </a:p>
        </p:txBody>
      </p:sp>
      <p:sp>
        <p:nvSpPr>
          <p:cNvPr id="7" name="text-7">
            <a:extLst xmlns:a="http://schemas.openxmlformats.org/drawingml/2006/main">
              <a:ext uri="{FF2B5EF4-FFF2-40B4-BE49-F238E27FC236}">
                <a16:creationId xmlns:a16="http://schemas.microsoft.com/office/drawing/2014/main" id="{CB986CDB-B26F-4138-964F-7F1B4A5A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9000" y="6032500"/>
            <a:ext cx="5969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2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Supervisor: Chi ZHAO</a:t>
            </a:r>
          </a:p>
        </p:txBody>
      </p:sp>
      <p:sp>
        <p:nvSpPr>
          <p:cNvPr id="8" name="text-8">
            <a:extLst xmlns:a="http://schemas.openxmlformats.org/drawingml/2006/main">
              <a:ext uri="{FF2B5EF4-FFF2-40B4-BE49-F238E27FC236}">
                <a16:creationId xmlns:a16="http://schemas.microsoft.com/office/drawing/2014/main" id="{13491C5E-EBE2-402A-B5C3-499997DC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45300"/>
            <a:ext cx="10160000" cy="939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Saint Petersburg State University</a:t>
            </a:r>
          </a:p>
          <a:p xmlns:a="http://schemas.openxmlformats.org/drawingml/2006/main">
            <a:pPr algn="l">
              <a:defRPr sz="22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Applied Mathematics and Control Processes</a:t>
            </a:r>
          </a:p>
        </p:txBody>
      </p:sp>
    </p:spTree>
    <p:extLst>
      <p:ext uri="{BB962C8B-B14F-4D97-AF65-F5344CB8AC3E}">
        <p14:creationId xmlns:p14="http://schemas.microsoft.com/office/powerpoint/2010/main" val="169731316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ext-9">
            <a:extLst xmlns:a="http://schemas.openxmlformats.org/drawingml/2006/main">
              <a:ext uri="{FF2B5EF4-FFF2-40B4-BE49-F238E27FC236}">
                <a16:creationId xmlns:a16="http://schemas.microsoft.com/office/drawing/2014/main" id="{9E5B5847-F0E0-4E2A-98B9-9D4079CDD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feature selection needs evidence</a:t>
            </a:r>
          </a:p>
        </p:txBody>
      </p:sp>
      <p:sp>
        <p:nvSpPr>
          <p:cNvPr id="2" name="rule-10">
            <a:extLst xmlns:a="http://schemas.openxmlformats.org/drawingml/2006/main">
              <a:ext uri="{FF2B5EF4-FFF2-40B4-BE49-F238E27FC236}">
                <a16:creationId xmlns:a16="http://schemas.microsoft.com/office/drawing/2014/main" id="{515F5722-40F2-4371-A937-5ADCC888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7A9E7A5B-E418-4051-A9F8-062F9A958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text-12">
            <a:extLst xmlns:a="http://schemas.openxmlformats.org/drawingml/2006/main">
              <a:ext uri="{FF2B5EF4-FFF2-40B4-BE49-F238E27FC236}">
                <a16:creationId xmlns:a16="http://schemas.microsoft.com/office/drawing/2014/main" id="{699FDFEC-F108-42A8-B81E-8E988D103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447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Example: a spam classifier uses many measurements of an email.</a:t>
            </a:r>
          </a:p>
        </p:txBody>
      </p:sp>
      <p:sp>
        <p:nvSpPr>
          <p:cNvPr id="5" name="stage-13">
            <a:extLst xmlns:a="http://schemas.openxmlformats.org/drawingml/2006/main">
              <a:ext uri="{FF2B5EF4-FFF2-40B4-BE49-F238E27FC236}">
                <a16:creationId xmlns:a16="http://schemas.microsoft.com/office/drawing/2014/main" id="{BAEBDA2E-B4DD-4B19-B442-98D659CC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13100"/>
            <a:ext cx="3937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4">
            <a:extLst xmlns:a="http://schemas.openxmlformats.org/drawingml/2006/main">
              <a:ext uri="{FF2B5EF4-FFF2-40B4-BE49-F238E27FC236}">
                <a16:creationId xmlns:a16="http://schemas.microsoft.com/office/drawing/2014/main" id="{0D9D4505-65A0-4346-8733-E253F688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655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 measurements</a:t>
            </a:r>
          </a:p>
        </p:txBody>
      </p:sp>
      <p:sp>
        <p:nvSpPr>
          <p:cNvPr id="7" name="text-15">
            <a:extLst xmlns:a="http://schemas.openxmlformats.org/drawingml/2006/main">
              <a:ext uri="{FF2B5EF4-FFF2-40B4-BE49-F238E27FC236}">
                <a16:creationId xmlns:a16="http://schemas.microsoft.com/office/drawing/2014/main" id="{77A8F6C9-C689-4F4A-8015-12371C868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49700"/>
            <a:ext cx="3530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Word frequencies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Punctuation and capitals</a:t>
            </a:r>
          </a:p>
        </p:txBody>
      </p:sp>
      <p:sp>
        <p:nvSpPr>
          <p:cNvPr id="8" name="stage-16">
            <a:extLst xmlns:a="http://schemas.openxmlformats.org/drawingml/2006/main">
              <a:ext uri="{FF2B5EF4-FFF2-40B4-BE49-F238E27FC236}">
                <a16:creationId xmlns:a16="http://schemas.microsoft.com/office/drawing/2014/main" id="{AF969B7D-511D-4C99-87A8-2747C360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0400" y="3213100"/>
            <a:ext cx="36830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17">
            <a:extLst xmlns:a="http://schemas.openxmlformats.org/drawingml/2006/main">
              <a:ext uri="{FF2B5EF4-FFF2-40B4-BE49-F238E27FC236}">
                <a16:creationId xmlns:a16="http://schemas.microsoft.com/office/drawing/2014/main" id="{DA096CA3-C731-4904-A93F-0F3DA1DE4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365500"/>
            <a:ext cx="3276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a model</a:t>
            </a:r>
          </a:p>
        </p:txBody>
      </p:sp>
      <p:sp>
        <p:nvSpPr>
          <p:cNvPr id="10" name="text-18">
            <a:extLst xmlns:a="http://schemas.openxmlformats.org/drawingml/2006/main">
              <a:ext uri="{FF2B5EF4-FFF2-40B4-BE49-F238E27FC236}">
                <a16:creationId xmlns:a16="http://schemas.microsoft.com/office/drawing/2014/main" id="{2C3384F9-A611-4714-A8EE-888BA7C5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949700"/>
            <a:ext cx="32766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Learn from emails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with known labels</a:t>
            </a:r>
          </a:p>
        </p:txBody>
      </p:sp>
      <p:sp>
        <p:nvSpPr>
          <p:cNvPr id="11" name="stage-19">
            <a:extLst xmlns:a="http://schemas.openxmlformats.org/drawingml/2006/main">
              <a:ext uri="{FF2B5EF4-FFF2-40B4-BE49-F238E27FC236}">
                <a16:creationId xmlns:a16="http://schemas.microsoft.com/office/drawing/2014/main" id="{C544131F-124C-4938-AA80-12077790F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213100"/>
            <a:ext cx="4000500" cy="173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20">
            <a:extLst xmlns:a="http://schemas.openxmlformats.org/drawingml/2006/main">
              <a:ext uri="{FF2B5EF4-FFF2-40B4-BE49-F238E27FC236}">
                <a16:creationId xmlns:a16="http://schemas.microsoft.com/office/drawing/2014/main" id="{3BD03389-9928-4935-8E35-53C74956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365500"/>
            <a:ext cx="3594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</a:t>
            </a:r>
          </a:p>
        </p:txBody>
      </p:sp>
      <p:sp>
        <p:nvSpPr>
          <p:cNvPr id="13" name="text-21">
            <a:extLst xmlns:a="http://schemas.openxmlformats.org/drawingml/2006/main">
              <a:ext uri="{FF2B5EF4-FFF2-40B4-BE49-F238E27FC236}">
                <a16:creationId xmlns:a16="http://schemas.microsoft.com/office/drawing/2014/main" id="{2E26144B-6DE7-4147-9FFA-855E61E0B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0700" y="3949700"/>
            <a:ext cx="3594100" cy="86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Spam or non-spam</a:t>
            </a:r>
          </a:p>
        </p:txBody>
      </p:sp>
      <p:cxnSp>
        <p:nvCxnSpPr>
          <p:cNvPr id="32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99000" y="40830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423400" y="40830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22">
            <a:extLst xmlns:a="http://schemas.openxmlformats.org/drawingml/2006/main">
              <a:ext uri="{FF2B5EF4-FFF2-40B4-BE49-F238E27FC236}">
                <a16:creationId xmlns:a16="http://schemas.microsoft.com/office/drawing/2014/main" id="{360943CF-392E-4D06-B622-5B87781D4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64200"/>
            <a:ext cx="469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Why reduce inputs?</a:t>
            </a:r>
          </a:p>
        </p:txBody>
      </p:sp>
      <p:sp>
        <p:nvSpPr>
          <p:cNvPr id="17" name="text-23">
            <a:extLst xmlns:a="http://schemas.openxmlformats.org/drawingml/2006/main">
              <a:ext uri="{FF2B5EF4-FFF2-40B4-BE49-F238E27FC236}">
                <a16:creationId xmlns:a16="http://schemas.microsoft.com/office/drawing/2014/main" id="{405009B9-D6BB-47DF-818C-0DDFA34A2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8000" y="5549900"/>
            <a:ext cx="8890000" cy="127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Less measurement and model cost. Fewer redundant inputs.</a:t>
            </a:r>
          </a:p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But a smaller model must still meet the prediction requirement.</a:t>
            </a:r>
          </a:p>
        </p:txBody>
      </p:sp>
      <p:sp>
        <p:nvSpPr>
          <p:cNvPr id="18" name="text-24">
            <a:extLst xmlns:a="http://schemas.openxmlformats.org/drawingml/2006/main">
              <a:ext uri="{FF2B5EF4-FFF2-40B4-BE49-F238E27FC236}">
                <a16:creationId xmlns:a16="http://schemas.microsoft.com/office/drawing/2014/main" id="{51064DFA-6D0F-4D4C-A837-FC3B5286D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research need: an inspectable reason to test a feature for removal.</a:t>
            </a:r>
          </a:p>
        </p:txBody>
      </p:sp>
    </p:spTree>
    <p:extLst>
      <p:ext uri="{BB962C8B-B14F-4D97-AF65-F5344CB8AC3E}">
        <p14:creationId xmlns:p14="http://schemas.microsoft.com/office/powerpoint/2010/main" val="2127469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25">
            <a:extLst xmlns:a="http://schemas.openxmlformats.org/drawingml/2006/main">
              <a:ext uri="{FF2B5EF4-FFF2-40B4-BE49-F238E27FC236}">
                <a16:creationId xmlns:a16="http://schemas.microsoft.com/office/drawing/2014/main" id="{F7F6E85C-D4F7-4607-BBF6-DB37753F7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Two checks: addition and removal</a:t>
            </a:r>
          </a:p>
        </p:txBody>
      </p:sp>
      <p:sp>
        <p:nvSpPr>
          <p:cNvPr id="2" name="rule-26">
            <a:extLst xmlns:a="http://schemas.openxmlformats.org/drawingml/2006/main">
              <a:ext uri="{FF2B5EF4-FFF2-40B4-BE49-F238E27FC236}">
                <a16:creationId xmlns:a16="http://schemas.microsoft.com/office/drawing/2014/main" id="{6901C1AF-75EC-4890-B4C0-0C9C96535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27">
            <a:extLst xmlns:a="http://schemas.openxmlformats.org/drawingml/2006/main">
              <a:ext uri="{FF2B5EF4-FFF2-40B4-BE49-F238E27FC236}">
                <a16:creationId xmlns:a16="http://schemas.microsoft.com/office/drawing/2014/main" id="{B91C9B46-8D0E-4816-A1EE-03DF4CE8D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text-28">
            <a:extLst xmlns:a="http://schemas.openxmlformats.org/drawingml/2006/main">
              <a:ext uri="{FF2B5EF4-FFF2-40B4-BE49-F238E27FC236}">
                <a16:creationId xmlns:a16="http://schemas.microsoft.com/office/drawing/2014/main" id="{692AE055-D674-4FBA-A202-629ADAFAD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13716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First find a harmful context.</a:t>
            </a:r>
          </a:p>
          <a:p xmlns:a="http://schemas.openxmlformats.org/drawingml/2006/main">
            <a:pPr algn="l">
              <a:defRPr sz="37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7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Then test whether removal helps.</a:t>
            </a:r>
          </a:p>
        </p:txBody>
      </p:sp>
      <p:sp>
        <p:nvSpPr>
          <p:cNvPr id="5" name="text-29">
            <a:extLst xmlns:a="http://schemas.openxmlformats.org/drawingml/2006/main">
              <a:ext uri="{FF2B5EF4-FFF2-40B4-BE49-F238E27FC236}">
                <a16:creationId xmlns:a16="http://schemas.microsoft.com/office/drawing/2014/main" id="{91A16461-472A-40F4-A491-7AB846CF9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98900"/>
            <a:ext cx="654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1. Addition check</a:t>
            </a:r>
          </a:p>
        </p:txBody>
      </p:sp>
      <p:sp>
        <p:nvSpPr>
          <p:cNvPr id="6" name="text-30">
            <a:extLst xmlns:a="http://schemas.openxmlformats.org/drawingml/2006/main">
              <a:ext uri="{FF2B5EF4-FFF2-40B4-BE49-F238E27FC236}">
                <a16:creationId xmlns:a16="http://schemas.microsoft.com/office/drawing/2014/main" id="{57089787-F752-43C9-B6F8-7687657D9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898900"/>
            <a:ext cx="622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9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Removal check</a:t>
            </a:r>
          </a:p>
        </p:txBody>
      </p:sp>
      <p:sp>
        <p:nvSpPr>
          <p:cNvPr id="7" name="text-31">
            <a:extLst xmlns:a="http://schemas.openxmlformats.org/drawingml/2006/main">
              <a:ext uri="{FF2B5EF4-FFF2-40B4-BE49-F238E27FC236}">
                <a16:creationId xmlns:a16="http://schemas.microsoft.com/office/drawing/2014/main" id="{5CE282DD-AC03-4779-87E4-91F4E4308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35500"/>
            <a:ext cx="65405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S with S plus input i.</a:t>
            </a:r>
          </a:p>
        </p:txBody>
      </p:sp>
      <p:sp>
        <p:nvSpPr>
          <p:cNvPr id="8" name="text-32">
            <a:extLst xmlns:a="http://schemas.openxmlformats.org/drawingml/2006/main">
              <a:ext uri="{FF2B5EF4-FFF2-40B4-BE49-F238E27FC236}">
                <a16:creationId xmlns:a16="http://schemas.microsoft.com/office/drawing/2014/main" id="{523056A2-C2ED-4F04-94ED-C30CD9D6A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635500"/>
            <a:ext cx="6223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full inputs with a reduced set.</a:t>
            </a:r>
          </a:p>
        </p:txBody>
      </p:sp>
      <p:sp>
        <p:nvSpPr>
          <p:cNvPr id="9" name="text-33">
            <a:extLst xmlns:a="http://schemas.openxmlformats.org/drawingml/2006/main">
              <a:ext uri="{FF2B5EF4-FFF2-40B4-BE49-F238E27FC236}">
                <a16:creationId xmlns:a16="http://schemas.microsoft.com/office/drawing/2014/main" id="{BB29A491-CFF0-455C-B8F3-C9E8A6050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00700"/>
            <a:ext cx="65405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Does adding i make this feature group fall below the performance requirement?</a:t>
            </a:r>
          </a:p>
        </p:txBody>
      </p:sp>
      <p:sp>
        <p:nvSpPr>
          <p:cNvPr id="10" name="text-34">
            <a:extLst xmlns:a="http://schemas.openxmlformats.org/drawingml/2006/main">
              <a:ext uri="{FF2B5EF4-FFF2-40B4-BE49-F238E27FC236}">
                <a16:creationId xmlns:a16="http://schemas.microsoft.com/office/drawing/2014/main" id="{7A3E8D6A-BFC8-4692-A138-CF47C4C06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5600700"/>
            <a:ext cx="6223000" cy="142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On independent data, does removal give a useful smaller model? Check prediction loss and total cost.</a:t>
            </a:r>
          </a:p>
        </p:txBody>
      </p:sp>
      <p:sp>
        <p:nvSpPr>
          <p:cNvPr id="11" name="rule-35">
            <a:extLst xmlns:a="http://schemas.openxmlformats.org/drawingml/2006/main">
              <a:ext uri="{FF2B5EF4-FFF2-40B4-BE49-F238E27FC236}">
                <a16:creationId xmlns:a16="http://schemas.microsoft.com/office/drawing/2014/main" id="{E8EC974B-DD58-43DF-BB43-4C0CE9538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27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2" name="text-36">
            <a:extLst xmlns:a="http://schemas.openxmlformats.org/drawingml/2006/main">
              <a:ext uri="{FF2B5EF4-FFF2-40B4-BE49-F238E27FC236}">
                <a16:creationId xmlns:a16="http://schemas.microsoft.com/office/drawing/2014/main" id="{1CF5B842-FA02-49CB-AEDC-CBC6C3E83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56500"/>
            <a:ext cx="13716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Local harm motivates a removal test. Deletion benefit needs separate evidence.</a:t>
            </a:r>
          </a:p>
        </p:txBody>
      </p:sp>
    </p:spTree>
    <p:extLst>
      <p:ext uri="{BB962C8B-B14F-4D97-AF65-F5344CB8AC3E}">
        <p14:creationId xmlns:p14="http://schemas.microsoft.com/office/powerpoint/2010/main" val="105192312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ext-37">
            <a:extLst xmlns:a="http://schemas.openxmlformats.org/drawingml/2006/main">
              <a:ext uri="{FF2B5EF4-FFF2-40B4-BE49-F238E27FC236}">
                <a16:creationId xmlns:a16="http://schemas.microsoft.com/office/drawing/2014/main" id="{EBA0969A-F3F4-4CAE-BA8D-C0B6D5BC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concrete example of the core idea</a:t>
            </a:r>
          </a:p>
        </p:txBody>
      </p:sp>
      <p:sp>
        <p:nvSpPr>
          <p:cNvPr id="2" name="rule-38">
            <a:extLst xmlns:a="http://schemas.openxmlformats.org/drawingml/2006/main">
              <a:ext uri="{FF2B5EF4-FFF2-40B4-BE49-F238E27FC236}">
                <a16:creationId xmlns:a16="http://schemas.microsoft.com/office/drawing/2014/main" id="{FCB7B95A-8EC5-42A8-BF8D-65063CA2E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39">
            <a:extLst xmlns:a="http://schemas.openxmlformats.org/drawingml/2006/main">
              <a:ext uri="{FF2B5EF4-FFF2-40B4-BE49-F238E27FC236}">
                <a16:creationId xmlns:a16="http://schemas.microsoft.com/office/drawing/2014/main" id="{26EC4A0F-73FB-4114-A2B3-461F9458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text-40">
            <a:extLst xmlns:a="http://schemas.openxmlformats.org/drawingml/2006/main">
              <a:ext uri="{FF2B5EF4-FFF2-40B4-BE49-F238E27FC236}">
                <a16:creationId xmlns:a16="http://schemas.microsoft.com/office/drawing/2014/main" id="{4813B6E0-8EC3-46C6-A09F-5AC3BEC44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Illustration only. Minimum acceptable validation score: 0.855</a:t>
            </a:r>
          </a:p>
        </p:txBody>
      </p:sp>
      <p:sp>
        <p:nvSpPr>
          <p:cNvPr id="5" name="stage-41">
            <a:extLst xmlns:a="http://schemas.openxmlformats.org/drawingml/2006/main">
              <a:ext uri="{FF2B5EF4-FFF2-40B4-BE49-F238E27FC236}">
                <a16:creationId xmlns:a16="http://schemas.microsoft.com/office/drawing/2014/main" id="{96B6A8C9-7002-4E9E-A4CD-60B828FF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6" name="text-42">
            <a:extLst xmlns:a="http://schemas.openxmlformats.org/drawingml/2006/main">
              <a:ext uri="{FF2B5EF4-FFF2-40B4-BE49-F238E27FC236}">
                <a16:creationId xmlns:a16="http://schemas.microsoft.com/office/drawing/2014/main" id="{7A70C684-FE11-404B-B73C-2D039F038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Model using a subset S</a:t>
            </a:r>
          </a:p>
        </p:txBody>
      </p:sp>
      <p:sp>
        <p:nvSpPr>
          <p:cNvPr id="7" name="text-43">
            <a:extLst xmlns:a="http://schemas.openxmlformats.org/drawingml/2006/main">
              <a:ext uri="{FF2B5EF4-FFF2-40B4-BE49-F238E27FC236}">
                <a16:creationId xmlns:a16="http://schemas.microsoft.com/office/drawing/2014/main" id="{5F9A90CD-F6A8-4304-90FB-4A583330E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0.87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Meets the requirement</a:t>
            </a:r>
          </a:p>
        </p:txBody>
      </p:sp>
      <p:sp>
        <p:nvSpPr>
          <p:cNvPr id="8" name="stage-44">
            <a:extLst xmlns:a="http://schemas.openxmlformats.org/drawingml/2006/main">
              <a:ext uri="{FF2B5EF4-FFF2-40B4-BE49-F238E27FC236}">
                <a16:creationId xmlns:a16="http://schemas.microsoft.com/office/drawing/2014/main" id="{E3731363-2FC2-4BC9-980D-B8B9619FB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25800"/>
            <a:ext cx="533400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9" name="text-45">
            <a:extLst xmlns:a="http://schemas.openxmlformats.org/drawingml/2006/main">
              <a:ext uri="{FF2B5EF4-FFF2-40B4-BE49-F238E27FC236}">
                <a16:creationId xmlns:a16="http://schemas.microsoft.com/office/drawing/2014/main" id="{DE792B82-9289-47DD-8EE0-48895FB6E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378200"/>
            <a:ext cx="4927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Model using S plus input i</a:t>
            </a:r>
          </a:p>
        </p:txBody>
      </p:sp>
      <p:sp>
        <p:nvSpPr>
          <p:cNvPr id="10" name="text-46">
            <a:extLst xmlns:a="http://schemas.openxmlformats.org/drawingml/2006/main">
              <a:ext uri="{FF2B5EF4-FFF2-40B4-BE49-F238E27FC236}">
                <a16:creationId xmlns:a16="http://schemas.microsoft.com/office/drawing/2014/main" id="{172243B0-89B8-4843-A02E-03EABB303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47200" y="3962400"/>
            <a:ext cx="492760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Validation score: 0.84</a:t>
            </a:r>
          </a:p>
          <a:p xmlns:a="http://schemas.openxmlformats.org/drawingml/2006/main">
            <a:pPr algn="l">
              <a:defRPr sz="29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Falls below the requirement</a:t>
            </a:r>
          </a:p>
        </p:txBody>
      </p:sp>
      <p:cxnSp>
        <p:nvCxnSpPr>
          <p:cNvPr id="26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6096000" y="4368800"/>
            <a:ext cx="3048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2" name="text-47">
            <a:extLst xmlns:a="http://schemas.openxmlformats.org/drawingml/2006/main">
              <a:ext uri="{FF2B5EF4-FFF2-40B4-BE49-F238E27FC236}">
                <a16:creationId xmlns:a16="http://schemas.microsoft.com/office/drawing/2014/main" id="{4CC90FCB-024B-41EF-9127-DA1C83BB8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365500"/>
            <a:ext cx="2514600" cy="120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Add input i</a:t>
            </a:r>
          </a:p>
          <a:p xmlns:a="http://schemas.openxmlformats.org/drawingml/2006/main">
            <a:pPr algn="ctr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retrain</a:t>
            </a:r>
          </a:p>
        </p:txBody>
      </p:sp>
      <p:sp>
        <p:nvSpPr>
          <p:cNvPr id="13" name="text-48">
            <a:extLst xmlns:a="http://schemas.openxmlformats.org/drawingml/2006/main">
              <a:ext uri="{FF2B5EF4-FFF2-40B4-BE49-F238E27FC236}">
                <a16:creationId xmlns:a16="http://schemas.microsoft.com/office/drawing/2014/main" id="{DAC8B55D-278D-4769-B37F-B020B87CF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54700"/>
            <a:ext cx="13716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Same training rows, learner settings and validation rows</a:t>
            </a:r>
          </a:p>
        </p:txBody>
      </p:sp>
      <p:sp>
        <p:nvSpPr>
          <p:cNvPr id="14" name="text-49">
            <a:extLst xmlns:a="http://schemas.openxmlformats.org/drawingml/2006/main">
              <a:ext uri="{FF2B5EF4-FFF2-40B4-BE49-F238E27FC236}">
                <a16:creationId xmlns:a16="http://schemas.microsoft.com/office/drawing/2014/main" id="{BF2093D4-EEDB-4A04-9E5E-DE36D01E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92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This pair is a witness: a concrete failure that another person can check.</a:t>
            </a:r>
          </a:p>
        </p:txBody>
      </p:sp>
      <p:sp>
        <p:nvSpPr>
          <p:cNvPr id="15" name="text-50">
            <a:extLst xmlns:a="http://schemas.openxmlformats.org/drawingml/2006/main">
              <a:ext uri="{FF2B5EF4-FFF2-40B4-BE49-F238E27FC236}">
                <a16:creationId xmlns:a16="http://schemas.microsoft.com/office/drawing/2014/main" id="{1517DAB7-D98C-496E-AF99-D0831175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962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It motivates a deletion test. It does not prove that joint deletion will help.</a:t>
            </a:r>
          </a:p>
        </p:txBody>
      </p:sp>
    </p:spTree>
    <p:extLst>
      <p:ext uri="{BB962C8B-B14F-4D97-AF65-F5344CB8AC3E}">
        <p14:creationId xmlns:p14="http://schemas.microsoft.com/office/powerpoint/2010/main" val="129820285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text-51">
            <a:extLst xmlns:a="http://schemas.openxmlformats.org/drawingml/2006/main">
              <a:ext uri="{FF2B5EF4-FFF2-40B4-BE49-F238E27FC236}">
                <a16:creationId xmlns:a16="http://schemas.microsoft.com/office/drawing/2014/main" id="{29FDE90D-0293-4DBC-B3B6-1F1023873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Research architecture</a:t>
            </a:r>
          </a:p>
        </p:txBody>
      </p:sp>
      <p:sp>
        <p:nvSpPr>
          <p:cNvPr id="2" name="rule-52">
            <a:extLst xmlns:a="http://schemas.openxmlformats.org/drawingml/2006/main">
              <a:ext uri="{FF2B5EF4-FFF2-40B4-BE49-F238E27FC236}">
                <a16:creationId xmlns:a16="http://schemas.microsoft.com/office/drawing/2014/main" id="{2D1D4949-FE33-4730-A246-E2E9402D8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53">
            <a:extLst xmlns:a="http://schemas.openxmlformats.org/drawingml/2006/main">
              <a:ext uri="{FF2B5EF4-FFF2-40B4-BE49-F238E27FC236}">
                <a16:creationId xmlns:a16="http://schemas.microsoft.com/office/drawing/2014/main" id="{B588D11A-7894-4710-B856-8704B52BB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text-54">
            <a:extLst xmlns:a="http://schemas.openxmlformats.org/drawingml/2006/main">
              <a:ext uri="{FF2B5EF4-FFF2-40B4-BE49-F238E27FC236}">
                <a16:creationId xmlns:a16="http://schemas.microsoft.com/office/drawing/2014/main" id="{AB6F4453-3363-464B-AF9E-F898CC75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Fixed supervised task: labeled data, learner, split and performance requirement</a:t>
            </a:r>
          </a:p>
        </p:txBody>
      </p:sp>
      <p:sp>
        <p:nvSpPr>
          <p:cNvPr id="5" name="stage-55">
            <a:extLst xmlns:a="http://schemas.openxmlformats.org/drawingml/2006/main">
              <a:ext uri="{FF2B5EF4-FFF2-40B4-BE49-F238E27FC236}">
                <a16:creationId xmlns:a16="http://schemas.microsoft.com/office/drawing/2014/main" id="{5F2B5047-1F6C-44AE-AFCF-0FA355AC4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56">
            <a:extLst xmlns:a="http://schemas.openxmlformats.org/drawingml/2006/main">
              <a:ext uri="{FF2B5EF4-FFF2-40B4-BE49-F238E27FC236}">
                <a16:creationId xmlns:a16="http://schemas.microsoft.com/office/drawing/2014/main" id="{2CEAB75F-83CA-4DD9-8AD3-6A5D310E1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1. Choose a context</a:t>
            </a:r>
          </a:p>
        </p:txBody>
      </p:sp>
      <p:sp>
        <p:nvSpPr>
          <p:cNvPr id="7" name="text-57">
            <a:extLst xmlns:a="http://schemas.openxmlformats.org/drawingml/2006/main">
              <a:ext uri="{FF2B5EF4-FFF2-40B4-BE49-F238E27FC236}">
                <a16:creationId xmlns:a16="http://schemas.microsoft.com/office/drawing/2014/main" id="{0F645251-1596-4FAE-8DD2-775FF2A8F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 input i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 inputs S</a:t>
            </a:r>
          </a:p>
        </p:txBody>
      </p:sp>
      <p:sp>
        <p:nvSpPr>
          <p:cNvPr id="8" name="stage-58">
            <a:extLst xmlns:a="http://schemas.openxmlformats.org/drawingml/2006/main">
              <a:ext uri="{FF2B5EF4-FFF2-40B4-BE49-F238E27FC236}">
                <a16:creationId xmlns:a16="http://schemas.microsoft.com/office/drawing/2014/main" id="{2A4CD35C-5AAE-490F-895B-7DE366DCA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984500"/>
            <a:ext cx="4127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59">
            <a:extLst xmlns:a="http://schemas.openxmlformats.org/drawingml/2006/main">
              <a:ext uri="{FF2B5EF4-FFF2-40B4-BE49-F238E27FC236}">
                <a16:creationId xmlns:a16="http://schemas.microsoft.com/office/drawing/2014/main" id="{55B7DADF-5A21-413F-8EA4-32D7281D4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1369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2. Test the addition</a:t>
            </a:r>
          </a:p>
        </p:txBody>
      </p:sp>
      <p:sp>
        <p:nvSpPr>
          <p:cNvPr id="10" name="text-60">
            <a:extLst xmlns:a="http://schemas.openxmlformats.org/drawingml/2006/main">
              <a:ext uri="{FF2B5EF4-FFF2-40B4-BE49-F238E27FC236}">
                <a16:creationId xmlns:a16="http://schemas.microsoft.com/office/drawing/2014/main" id="{A53687F9-452F-40F2-8949-B4B348C8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3721100"/>
            <a:ext cx="3721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Train on S and on S+i.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validation scores.</a:t>
            </a:r>
          </a:p>
        </p:txBody>
      </p:sp>
      <p:sp>
        <p:nvSpPr>
          <p:cNvPr id="11" name="stage-61">
            <a:extLst xmlns:a="http://schemas.openxmlformats.org/drawingml/2006/main">
              <a:ext uri="{FF2B5EF4-FFF2-40B4-BE49-F238E27FC236}">
                <a16:creationId xmlns:a16="http://schemas.microsoft.com/office/drawing/2014/main" id="{7051A348-E755-4209-BFCD-464C76E35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84500"/>
            <a:ext cx="3619500" cy="199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62">
            <a:extLst xmlns:a="http://schemas.openxmlformats.org/drawingml/2006/main">
              <a:ext uri="{FF2B5EF4-FFF2-40B4-BE49-F238E27FC236}">
                <a16:creationId xmlns:a16="http://schemas.microsoft.com/office/drawing/2014/main" id="{BD5AECEE-A556-44FF-83DD-DDED2C0F7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1369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3. Record failures</a:t>
            </a:r>
          </a:p>
        </p:txBody>
      </p:sp>
      <p:sp>
        <p:nvSpPr>
          <p:cNvPr id="13" name="text-63">
            <a:extLst xmlns:a="http://schemas.openxmlformats.org/drawingml/2006/main">
              <a:ext uri="{FF2B5EF4-FFF2-40B4-BE49-F238E27FC236}">
                <a16:creationId xmlns:a16="http://schemas.microsoft.com/office/drawing/2014/main" id="{38DA4B20-607B-4EC8-A00A-646BA1276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3721100"/>
            <a:ext cx="32131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Save only pass-to-fail: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i, S, scores and threshold.</a:t>
            </a:r>
          </a:p>
        </p:txBody>
      </p:sp>
      <p:cxnSp>
        <p:nvCxnSpPr>
          <p:cNvPr id="44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381500" y="39814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5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690100" y="39814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64">
            <a:extLst xmlns:a="http://schemas.openxmlformats.org/drawingml/2006/main">
              <a:ext uri="{FF2B5EF4-FFF2-40B4-BE49-F238E27FC236}">
                <a16:creationId xmlns:a16="http://schemas.microsoft.com/office/drawing/2014/main" id="{904944FB-C6E7-4098-A453-33BBABF6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289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FEATURE AUDIT</a:t>
            </a:r>
          </a:p>
        </p:txBody>
      </p:sp>
      <p:sp>
        <p:nvSpPr>
          <p:cNvPr id="17" name="stage-65">
            <a:extLst xmlns:a="http://schemas.openxmlformats.org/drawingml/2006/main">
              <a:ext uri="{FF2B5EF4-FFF2-40B4-BE49-F238E27FC236}">
                <a16:creationId xmlns:a16="http://schemas.microsoft.com/office/drawing/2014/main" id="{8ED9F0CA-BEC4-4670-8867-1A7BB6460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8" name="text-66">
            <a:extLst xmlns:a="http://schemas.openxmlformats.org/drawingml/2006/main">
              <a:ext uri="{FF2B5EF4-FFF2-40B4-BE49-F238E27FC236}">
                <a16:creationId xmlns:a16="http://schemas.microsoft.com/office/drawing/2014/main" id="{847304FA-2DB7-4774-A373-427B8BE0C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4. Propose removal</a:t>
            </a:r>
          </a:p>
        </p:txBody>
      </p:sp>
      <p:sp>
        <p:nvSpPr>
          <p:cNvPr id="19" name="text-67">
            <a:extLst xmlns:a="http://schemas.openxmlformats.org/drawingml/2006/main">
              <a:ext uri="{FF2B5EF4-FFF2-40B4-BE49-F238E27FC236}">
                <a16:creationId xmlns:a16="http://schemas.microsoft.com/office/drawing/2014/main" id="{EFDED600-3F57-4ED2-B135-21AF9D5C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617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one candidate.</a:t>
            </a:r>
          </a:p>
        </p:txBody>
      </p:sp>
      <p:sp>
        <p:nvSpPr>
          <p:cNvPr id="20" name="stage-68">
            <a:extLst xmlns:a="http://schemas.openxmlformats.org/drawingml/2006/main">
              <a:ext uri="{FF2B5EF4-FFF2-40B4-BE49-F238E27FC236}">
                <a16:creationId xmlns:a16="http://schemas.microsoft.com/office/drawing/2014/main" id="{A6C7CE00-887E-417C-9016-1668AE8D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6070600"/>
            <a:ext cx="4127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1" name="text-69">
            <a:extLst xmlns:a="http://schemas.openxmlformats.org/drawingml/2006/main">
              <a:ext uri="{FF2B5EF4-FFF2-40B4-BE49-F238E27FC236}">
                <a16:creationId xmlns:a16="http://schemas.microsoft.com/office/drawing/2014/main" id="{3DF72A59-8369-4D5D-B75D-A6546797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223000"/>
            <a:ext cx="3721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5. Independent check</a:t>
            </a:r>
          </a:p>
        </p:txBody>
      </p:sp>
      <p:sp>
        <p:nvSpPr>
          <p:cNvPr id="22" name="text-70">
            <a:extLst xmlns:a="http://schemas.openxmlformats.org/drawingml/2006/main">
              <a:ext uri="{FF2B5EF4-FFF2-40B4-BE49-F238E27FC236}">
                <a16:creationId xmlns:a16="http://schemas.microsoft.com/office/drawing/2014/main" id="{2A994628-23A1-4563-8F1F-3568603DB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5800" y="6807200"/>
            <a:ext cx="3721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it or keep all inputs.</a:t>
            </a:r>
          </a:p>
        </p:txBody>
      </p:sp>
      <p:sp>
        <p:nvSpPr>
          <p:cNvPr id="23" name="stage-71">
            <a:extLst xmlns:a="http://schemas.openxmlformats.org/drawingml/2006/main">
              <a:ext uri="{FF2B5EF4-FFF2-40B4-BE49-F238E27FC236}">
                <a16:creationId xmlns:a16="http://schemas.microsoft.com/office/drawing/2014/main" id="{C04738A5-9C2B-4461-A22A-34F107A45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070600"/>
            <a:ext cx="3619500" cy="146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24" name="text-72">
            <a:extLst xmlns:a="http://schemas.openxmlformats.org/drawingml/2006/main">
              <a:ext uri="{FF2B5EF4-FFF2-40B4-BE49-F238E27FC236}">
                <a16:creationId xmlns:a16="http://schemas.microsoft.com/office/drawing/2014/main" id="{D03C1D8A-DAA4-4A27-9FBC-69FD1F0F5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223000"/>
            <a:ext cx="3213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6. Held-out test</a:t>
            </a:r>
          </a:p>
        </p:txBody>
      </p:sp>
      <p:sp>
        <p:nvSpPr>
          <p:cNvPr id="25" name="text-73">
            <a:extLst xmlns:a="http://schemas.openxmlformats.org/drawingml/2006/main">
              <a:ext uri="{FF2B5EF4-FFF2-40B4-BE49-F238E27FC236}">
                <a16:creationId xmlns:a16="http://schemas.microsoft.com/office/drawing/2014/main" id="{4D2437EF-8D26-44B5-A248-C08299EC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6807200"/>
            <a:ext cx="3213100" cy="584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Measure size, loss and cost.</a:t>
            </a:r>
          </a:p>
        </p:txBody>
      </p:sp>
      <p:cxnSp>
        <p:nvCxnSpPr>
          <p:cNvPr id="56" name=""/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>
            <a:off x="12668250" y="4978400"/>
            <a:ext cx="0" cy="109220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7" name=""/>
          <p:cNvCxnSpPr>
            <a:stCxn xmlns:a="http://schemas.openxmlformats.org/drawingml/2006/main" id="17" idx="1"/>
            <a:endCxn xmlns:a="http://schemas.openxmlformats.org/drawingml/2006/main" id="20" idx="3"/>
          </p:cNvCxnSpPr>
          <p:nvPr/>
        </p:nvCxnSpPr>
        <p:spPr>
          <a:xfrm xmlns:a="http://schemas.openxmlformats.org/drawingml/2006/main" flipH="1">
            <a:off x="9690100" y="6800850"/>
            <a:ext cx="1168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58" name=""/>
          <p:cNvCxnSpPr>
            <a:stCxn xmlns:a="http://schemas.openxmlformats.org/drawingml/2006/main" id="20" idx="1"/>
            <a:endCxn xmlns:a="http://schemas.openxmlformats.org/drawingml/2006/main" id="23" idx="3"/>
          </p:cNvCxnSpPr>
          <p:nvPr/>
        </p:nvCxnSpPr>
        <p:spPr>
          <a:xfrm xmlns:a="http://schemas.openxmlformats.org/drawingml/2006/main" flipH="1">
            <a:off x="4381500" y="6800850"/>
            <a:ext cx="1181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9" name="text-74">
            <a:extLst xmlns:a="http://schemas.openxmlformats.org/drawingml/2006/main">
              <a:ext uri="{FF2B5EF4-FFF2-40B4-BE49-F238E27FC236}">
                <a16:creationId xmlns:a16="http://schemas.microsoft.com/office/drawing/2014/main" id="{3BE7B588-2F20-4B83-99F2-34B5E9EE0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30800"/>
            <a:ext cx="9144000" cy="35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Repeat the audit within a fixed query budget.</a:t>
            </a:r>
          </a:p>
        </p:txBody>
      </p:sp>
      <p:sp>
        <p:nvSpPr>
          <p:cNvPr id="30" name="text-75">
            <a:extLst xmlns:a="http://schemas.openxmlformats.org/drawingml/2006/main">
              <a:ext uri="{FF2B5EF4-FFF2-40B4-BE49-F238E27FC236}">
                <a16:creationId xmlns:a16="http://schemas.microsoft.com/office/drawing/2014/main" id="{8DEA0206-E991-48CC-9B59-64BB63FBE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26100"/>
            <a:ext cx="8636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17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PLANNED DELETION EVALUATION</a:t>
            </a:r>
          </a:p>
        </p:txBody>
      </p:sp>
    </p:spTree>
    <p:extLst>
      <p:ext uri="{BB962C8B-B14F-4D97-AF65-F5344CB8AC3E}">
        <p14:creationId xmlns:p14="http://schemas.microsoft.com/office/powerpoint/2010/main" val="65321309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76">
            <a:extLst xmlns:a="http://schemas.openxmlformats.org/drawingml/2006/main">
              <a:ext uri="{FF2B5EF4-FFF2-40B4-BE49-F238E27FC236}">
                <a16:creationId xmlns:a16="http://schemas.microsoft.com/office/drawing/2014/main" id="{EAAA14DE-628A-4200-BA3F-F4902D1D6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theory behind MinPPI</a:t>
            </a:r>
          </a:p>
        </p:txBody>
      </p:sp>
      <p:sp>
        <p:nvSpPr>
          <p:cNvPr id="2" name="rule-77">
            <a:extLst xmlns:a="http://schemas.openxmlformats.org/drawingml/2006/main">
              <a:ext uri="{FF2B5EF4-FFF2-40B4-BE49-F238E27FC236}">
                <a16:creationId xmlns:a16="http://schemas.microsoft.com/office/drawing/2014/main" id="{088B7016-4587-4C88-A305-759BA1CB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78">
            <a:extLst xmlns:a="http://schemas.openxmlformats.org/drawingml/2006/main">
              <a:ext uri="{FF2B5EF4-FFF2-40B4-BE49-F238E27FC236}">
                <a16:creationId xmlns:a16="http://schemas.microsoft.com/office/drawing/2014/main" id="{5626CA22-A0C5-4ED4-B242-99A1C4EA6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133600"/>
          <a:ext xmlns:a="http://schemas.openxmlformats.org/drawingml/2006/main" cx="13716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191000"/>
                <a:gridCol w="9525000"/>
              </a:tblGrid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Game-theoretic idea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 for a prediction model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Player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One input column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Coalition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 group of columns used to train a model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62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Marginal contribution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5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change after adding one column to that group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79">
            <a:extLst xmlns:a="http://schemas.openxmlformats.org/drawingml/2006/main">
              <a:ext uri="{FF2B5EF4-FFF2-40B4-BE49-F238E27FC236}">
                <a16:creationId xmlns:a16="http://schemas.microsoft.com/office/drawing/2014/main" id="{02C4356A-5E21-45CC-AD09-708B117A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62600"/>
            <a:ext cx="13716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MinPPI checks the worst threshold change across feature groups.</a:t>
            </a:r>
          </a:p>
        </p:txBody>
      </p:sp>
      <p:sp>
        <p:nvSpPr>
          <p:cNvPr id="6" name="text-80">
            <a:extLst xmlns:a="http://schemas.openxmlformats.org/drawingml/2006/main">
              <a:ext uri="{FF2B5EF4-FFF2-40B4-BE49-F238E27FC236}">
                <a16:creationId xmlns:a16="http://schemas.microsoft.com/office/drawing/2014/main" id="{63908CD5-4CB2-46E5-B162-D88699677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578600"/>
            <a:ext cx="13716000" cy="82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If any group changes from pass to fail, that input has a negative witness.</a:t>
            </a:r>
          </a:p>
        </p:txBody>
      </p:sp>
      <p:sp>
        <p:nvSpPr>
          <p:cNvPr id="7" name="text-81">
            <a:extLst xmlns:a="http://schemas.openxmlformats.org/drawingml/2006/main">
              <a:ext uri="{FF2B5EF4-FFF2-40B4-BE49-F238E27FC236}">
                <a16:creationId xmlns:a16="http://schemas.microsoft.com/office/drawing/2014/main" id="{F7517864-5086-42A1-B26A-86E2AF982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21600"/>
            <a:ext cx="13716000" cy="36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Minimum aggregation builds on prior work. Our focus is evidence at a fixed performance requirement.</a:t>
            </a:r>
          </a:p>
        </p:txBody>
      </p:sp>
    </p:spTree>
    <p:extLst>
      <p:ext uri="{BB962C8B-B14F-4D97-AF65-F5344CB8AC3E}">
        <p14:creationId xmlns:p14="http://schemas.microsoft.com/office/powerpoint/2010/main" val="9949728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82">
            <a:extLst xmlns:a="http://schemas.openxmlformats.org/drawingml/2006/main">
              <a:ext uri="{FF2B5EF4-FFF2-40B4-BE49-F238E27FC236}">
                <a16:creationId xmlns:a16="http://schemas.microsoft.com/office/drawing/2014/main" id="{254B36B0-64D8-4CB3-AB23-3B2C2712E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Finding witnesses within a limited budget</a:t>
            </a:r>
          </a:p>
        </p:txBody>
      </p:sp>
      <p:sp>
        <p:nvSpPr>
          <p:cNvPr id="2" name="rule-83">
            <a:extLst xmlns:a="http://schemas.openxmlformats.org/drawingml/2006/main">
              <a:ext uri="{FF2B5EF4-FFF2-40B4-BE49-F238E27FC236}">
                <a16:creationId xmlns:a16="http://schemas.microsoft.com/office/drawing/2014/main" id="{7C2CBE76-2F1E-47C3-8D0C-86493C55D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84">
            <a:extLst xmlns:a="http://schemas.openxmlformats.org/drawingml/2006/main">
              <a:ext uri="{FF2B5EF4-FFF2-40B4-BE49-F238E27FC236}">
                <a16:creationId xmlns:a16="http://schemas.microsoft.com/office/drawing/2014/main" id="{AE6DAC37-417A-4441-AC85-92C5C57F4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text-85">
            <a:extLst xmlns:a="http://schemas.openxmlformats.org/drawingml/2006/main">
              <a:ext uri="{FF2B5EF4-FFF2-40B4-BE49-F238E27FC236}">
                <a16:creationId xmlns:a16="http://schemas.microsoft.com/office/drawing/2014/main" id="{3EE11CB7-A209-45BA-A3B9-A2FC8A5D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828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Checking every combination becomes expensive as inputs grow.</a:t>
            </a:r>
          </a:p>
        </p:txBody>
      </p:sp>
      <p:sp>
        <p:nvSpPr>
          <p:cNvPr id="5" name="text-86">
            <a:extLst xmlns:a="http://schemas.openxmlformats.org/drawingml/2006/main">
              <a:ext uri="{FF2B5EF4-FFF2-40B4-BE49-F238E27FC236}">
                <a16:creationId xmlns:a16="http://schemas.microsoft.com/office/drawing/2014/main" id="{E21A4553-6050-4BE6-8E8C-D231D58C4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54400"/>
            <a:ext cx="6350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A: random exploration</a:t>
            </a:r>
          </a:p>
        </p:txBody>
      </p:sp>
      <p:sp>
        <p:nvSpPr>
          <p:cNvPr id="6" name="text-87">
            <a:extLst xmlns:a="http://schemas.openxmlformats.org/drawingml/2006/main">
              <a:ext uri="{FF2B5EF4-FFF2-40B4-BE49-F238E27FC236}">
                <a16:creationId xmlns:a16="http://schemas.microsoft.com/office/drawing/2014/main" id="{0851CDA2-22F8-4701-9FA2-38CA0107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52900"/>
            <a:ext cx="6350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Try varied groups of inputs.</a:t>
            </a:r>
          </a:p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This is the reference search strategy.</a:t>
            </a:r>
          </a:p>
        </p:txBody>
      </p:sp>
      <p:sp>
        <p:nvSpPr>
          <p:cNvPr id="7" name="text-88">
            <a:extLst xmlns:a="http://schemas.openxmlformats.org/drawingml/2006/main">
              <a:ext uri="{FF2B5EF4-FFF2-40B4-BE49-F238E27FC236}">
                <a16:creationId xmlns:a16="http://schemas.microsoft.com/office/drawing/2014/main" id="{70BAD7A7-70D2-4DCC-B03A-023A148E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3454400"/>
            <a:ext cx="622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B: guided exploration</a:t>
            </a:r>
          </a:p>
        </p:txBody>
      </p:sp>
      <p:sp>
        <p:nvSpPr>
          <p:cNvPr id="8" name="text-89">
            <a:extLst xmlns:a="http://schemas.openxmlformats.org/drawingml/2006/main">
              <a:ext uri="{FF2B5EF4-FFF2-40B4-BE49-F238E27FC236}">
                <a16:creationId xmlns:a16="http://schemas.microsoft.com/office/drawing/2014/main" id="{6E1B33B0-B67F-43BD-AE2E-BDD61A5F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5000" y="4152900"/>
            <a:ext cx="6223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associations to propose groups worth testing.</a:t>
            </a:r>
          </a:p>
        </p:txBody>
      </p:sp>
      <p:sp>
        <p:nvSpPr>
          <p:cNvPr id="9" name="rule-90">
            <a:extLst xmlns:a="http://schemas.openxmlformats.org/drawingml/2006/main">
              <a:ext uri="{FF2B5EF4-FFF2-40B4-BE49-F238E27FC236}">
                <a16:creationId xmlns:a16="http://schemas.microsoft.com/office/drawing/2014/main" id="{1815CEEF-0020-4C94-A527-1BAFB1259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039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D7DEDF"/>
            </a:solidFill>
          </a:ln>
        </p:spPr>
      </p:sp>
      <p:sp>
        <p:nvSpPr>
          <p:cNvPr id="10" name="text-91">
            <a:extLst xmlns:a="http://schemas.openxmlformats.org/drawingml/2006/main">
              <a:ext uri="{FF2B5EF4-FFF2-40B4-BE49-F238E27FC236}">
                <a16:creationId xmlns:a16="http://schemas.microsoft.com/office/drawing/2014/main" id="{D2D09E54-E015-46A2-9039-085084084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087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Both use the same two-model check and the same query budget.</a:t>
            </a:r>
          </a:p>
        </p:txBody>
      </p:sp>
      <p:sp>
        <p:nvSpPr>
          <p:cNvPr id="11" name="text-92">
            <a:extLst xmlns:a="http://schemas.openxmlformats.org/drawingml/2006/main">
              <a:ext uri="{FF2B5EF4-FFF2-40B4-BE49-F238E27FC236}">
                <a16:creationId xmlns:a16="http://schemas.microsoft.com/office/drawing/2014/main" id="{B0EB6110-717A-45CF-98D8-9ABB25F48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162800"/>
            <a:ext cx="13716000" cy="850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 found witness is checkable. An unvisited group may still hide one.</a:t>
            </a:r>
          </a:p>
        </p:txBody>
      </p:sp>
    </p:spTree>
    <p:extLst>
      <p:ext uri="{BB962C8B-B14F-4D97-AF65-F5344CB8AC3E}">
        <p14:creationId xmlns:p14="http://schemas.microsoft.com/office/powerpoint/2010/main" val="441391631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93">
            <a:extLst xmlns:a="http://schemas.openxmlformats.org/drawingml/2006/main">
              <a:ext uri="{FF2B5EF4-FFF2-40B4-BE49-F238E27FC236}">
                <a16:creationId xmlns:a16="http://schemas.microsoft.com/office/drawing/2014/main" id="{663BF0F8-FA4F-47F2-BBB7-5AC9A335F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Why these datasets fit the research</a:t>
            </a:r>
          </a:p>
        </p:txBody>
      </p:sp>
      <p:sp>
        <p:nvSpPr>
          <p:cNvPr id="2" name="rule-94">
            <a:extLst xmlns:a="http://schemas.openxmlformats.org/drawingml/2006/main">
              <a:ext uri="{FF2B5EF4-FFF2-40B4-BE49-F238E27FC236}">
                <a16:creationId xmlns:a16="http://schemas.microsoft.com/office/drawing/2014/main" id="{6FF57BD9-4B10-4982-9CF2-0C4A06380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95">
            <a:extLst xmlns:a="http://schemas.openxmlformats.org/drawingml/2006/main">
              <a:ext uri="{FF2B5EF4-FFF2-40B4-BE49-F238E27FC236}">
                <a16:creationId xmlns:a16="http://schemas.microsoft.com/office/drawing/2014/main" id="{3537651A-5530-4398-8FCA-A246731F1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text-96">
            <a:extLst xmlns:a="http://schemas.openxmlformats.org/drawingml/2006/main">
              <a:ext uri="{FF2B5EF4-FFF2-40B4-BE49-F238E27FC236}">
                <a16:creationId xmlns:a16="http://schemas.microsoft.com/office/drawing/2014/main" id="{A100C789-B6E2-43E5-A720-6084DB41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core studies need checkable cases, known structure and real prediction tasks.</a:t>
            </a:r>
          </a:p>
        </p:txBody>
      </p:sp>
      <p:graphicFrame>
        <p:nvGraphicFramePr>
          <p:cNvPr id="12" name=""/>
          <p:cNvGraphicFramePr/>
          <p:nvPr/>
        </p:nvGraphicFramePr>
        <p:xfrm>
          <a:off xmlns:a="http://schemas.openxmlformats.org/drawingml/2006/main" x="762000" y="2946400"/>
          <a:ext xmlns:a="http://schemas.openxmlformats.org/drawingml/2006/main" cx="13716000" cy="41021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048000"/>
                <a:gridCol w="5334000"/>
                <a:gridCol w="5334000"/>
              </a:tblGrid>
              <a:tr h="546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 and target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Reason for inclusion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predict ring count.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Eight inputs allow every subset to be checked. Covers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Signal, redundant and distractor columns predict a synthetic class.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Known generating structure challenges feature search.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Word and character statistics predict spam.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Real inputs give interpretable classification examples.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8890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PCA components and amount predict fraud.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Rare positive cases test a different classification setting.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</a:tbl>
          </a:graphicData>
        </a:graphic>
      </p:graphicFrame>
      <p:sp>
        <p:nvSpPr>
          <p:cNvPr id="6" name="text-97">
            <a:extLst xmlns:a="http://schemas.openxmlformats.org/drawingml/2006/main">
              <a:ext uri="{FF2B5EF4-FFF2-40B4-BE49-F238E27FC236}">
                <a16:creationId xmlns:a16="http://schemas.microsoft.com/office/drawing/2014/main" id="{654379C8-4B9A-42F9-BB92-509BA487D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3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All four are supervised tasks. PCA describes inputs, not a change of learning task.</a:t>
            </a:r>
          </a:p>
        </p:txBody>
      </p:sp>
      <p:sp>
        <p:nvSpPr>
          <p:cNvPr id="7" name="text-98">
            <a:extLst xmlns:a="http://schemas.openxmlformats.org/drawingml/2006/main">
              <a:ext uri="{FF2B5EF4-FFF2-40B4-BE49-F238E27FC236}">
                <a16:creationId xmlns:a16="http://schemas.microsoft.com/office/drawing/2014/main" id="{5C5DEB26-6C32-4E2E-A69D-EC3D3113B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74000"/>
            <a:ext cx="13716000" cy="31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 broader benchmark also includes Gisette and ISOLET. Details are in the appendix.</a:t>
            </a:r>
          </a:p>
        </p:txBody>
      </p:sp>
    </p:spTree>
    <p:extLst>
      <p:ext uri="{BB962C8B-B14F-4D97-AF65-F5344CB8AC3E}">
        <p14:creationId xmlns:p14="http://schemas.microsoft.com/office/powerpoint/2010/main" val="162384038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99">
            <a:extLst xmlns:a="http://schemas.openxmlformats.org/drawingml/2006/main">
              <a:ext uri="{FF2B5EF4-FFF2-40B4-BE49-F238E27FC236}">
                <a16:creationId xmlns:a16="http://schemas.microsoft.com/office/drawing/2014/main" id="{9CE1E73F-EFF6-46DD-B5C3-01F4AA5E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Three studies answer three different questions</a:t>
            </a:r>
          </a:p>
        </p:txBody>
      </p:sp>
      <p:sp>
        <p:nvSpPr>
          <p:cNvPr id="2" name="rule-100">
            <a:extLst xmlns:a="http://schemas.openxmlformats.org/drawingml/2006/main">
              <a:ext uri="{FF2B5EF4-FFF2-40B4-BE49-F238E27FC236}">
                <a16:creationId xmlns:a16="http://schemas.microsoft.com/office/drawing/2014/main" id="{48EC4A54-D67A-4AD3-A190-D3D97BA64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01">
            <a:extLst xmlns:a="http://schemas.openxmlformats.org/drawingml/2006/main">
              <a:ext uri="{FF2B5EF4-FFF2-40B4-BE49-F238E27FC236}">
                <a16:creationId xmlns:a16="http://schemas.microsoft.com/office/drawing/2014/main" id="{96189CA8-0D94-4F50-9715-BC5603D5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text-102">
            <a:extLst xmlns:a="http://schemas.openxmlformats.org/drawingml/2006/main">
              <a:ext uri="{FF2B5EF4-FFF2-40B4-BE49-F238E27FC236}">
                <a16:creationId xmlns:a16="http://schemas.microsoft.com/office/drawing/2014/main" id="{FEA85141-335E-4909-89EC-4F61855EC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463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03">
            <a:extLst xmlns:a="http://schemas.openxmlformats.org/drawingml/2006/main">
              <a:ext uri="{FF2B5EF4-FFF2-40B4-BE49-F238E27FC236}">
                <a16:creationId xmlns:a16="http://schemas.microsoft.com/office/drawing/2014/main" id="{A6538D86-97BC-4991-AC5B-11191A668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463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Discovery: how much do we miss?</a:t>
            </a:r>
          </a:p>
        </p:txBody>
      </p:sp>
      <p:sp>
        <p:nvSpPr>
          <p:cNvPr id="6" name="text-104">
            <a:extLst xmlns:a="http://schemas.openxmlformats.org/drawingml/2006/main">
              <a:ext uri="{FF2B5EF4-FFF2-40B4-BE49-F238E27FC236}">
                <a16:creationId xmlns:a16="http://schemas.microsoft.com/office/drawing/2014/main" id="{0ECA0368-3BBE-4200-8A9D-671698AD8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686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Compare the search with all possible subsets in small problems.</a:t>
            </a:r>
          </a:p>
        </p:txBody>
      </p:sp>
      <p:sp>
        <p:nvSpPr>
          <p:cNvPr id="7" name="text-105">
            <a:extLst xmlns:a="http://schemas.openxmlformats.org/drawingml/2006/main">
              <a:ext uri="{FF2B5EF4-FFF2-40B4-BE49-F238E27FC236}">
                <a16:creationId xmlns:a16="http://schemas.microsoft.com/office/drawing/2014/main" id="{F18B7BDF-6821-444C-A933-F41A14D27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624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06">
            <a:extLst xmlns:a="http://schemas.openxmlformats.org/drawingml/2006/main">
              <a:ext uri="{FF2B5EF4-FFF2-40B4-BE49-F238E27FC236}">
                <a16:creationId xmlns:a16="http://schemas.microsoft.com/office/drawing/2014/main" id="{333260A5-9C03-4AFC-AB1F-8E6048E6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624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Mechanism: what makes discovery difficult?</a:t>
            </a:r>
          </a:p>
        </p:txBody>
      </p:sp>
      <p:sp>
        <p:nvSpPr>
          <p:cNvPr id="9" name="text-107">
            <a:extLst xmlns:a="http://schemas.openxmlformats.org/drawingml/2006/main">
              <a:ext uri="{FF2B5EF4-FFF2-40B4-BE49-F238E27FC236}">
                <a16:creationId xmlns:a16="http://schemas.microsoft.com/office/drawing/2014/main" id="{093CFB06-290B-475B-95E7-E4B7C1B80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847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 signal, redundancy and interaction in synthetic data.</a:t>
            </a:r>
          </a:p>
        </p:txBody>
      </p:sp>
      <p:sp>
        <p:nvSpPr>
          <p:cNvPr id="10" name="text-108">
            <a:extLst xmlns:a="http://schemas.openxmlformats.org/drawingml/2006/main">
              <a:ext uri="{FF2B5EF4-FFF2-40B4-BE49-F238E27FC236}">
                <a16:creationId xmlns:a16="http://schemas.microsoft.com/office/drawing/2014/main" id="{648C7DAC-64DC-49DF-AFB6-5012E1C7D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785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09">
            <a:extLst xmlns:a="http://schemas.openxmlformats.org/drawingml/2006/main">
              <a:ext uri="{FF2B5EF4-FFF2-40B4-BE49-F238E27FC236}">
                <a16:creationId xmlns:a16="http://schemas.microsoft.com/office/drawing/2014/main" id="{84930AB0-4E27-49F6-8596-E7C772B0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785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Decision: is removal worth doing?</a:t>
            </a:r>
          </a:p>
        </p:txBody>
      </p:sp>
      <p:sp>
        <p:nvSpPr>
          <p:cNvPr id="12" name="text-110">
            <a:extLst xmlns:a="http://schemas.openxmlformats.org/drawingml/2006/main">
              <a:ext uri="{FF2B5EF4-FFF2-40B4-BE49-F238E27FC236}">
                <a16:creationId xmlns:a16="http://schemas.microsoft.com/office/drawing/2014/main" id="{DC266D52-2737-4747-A519-7DD621C6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008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Test smaller models on independent data and include the full cost.</a:t>
            </a:r>
          </a:p>
        </p:txBody>
      </p:sp>
    </p:spTree>
    <p:extLst>
      <p:ext uri="{BB962C8B-B14F-4D97-AF65-F5344CB8AC3E}">
        <p14:creationId xmlns:p14="http://schemas.microsoft.com/office/powerpoint/2010/main" val="55425733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11">
            <a:extLst xmlns:a="http://schemas.openxmlformats.org/drawingml/2006/main">
              <a:ext uri="{FF2B5EF4-FFF2-40B4-BE49-F238E27FC236}">
                <a16:creationId xmlns:a16="http://schemas.microsoft.com/office/drawing/2014/main" id="{2CEC9414-3994-44A2-919D-AE3E5CE6A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1: measure what the search misses</a:t>
            </a:r>
          </a:p>
        </p:txBody>
      </p:sp>
      <p:sp>
        <p:nvSpPr>
          <p:cNvPr id="2" name="rule-112">
            <a:extLst xmlns:a="http://schemas.openxmlformats.org/drawingml/2006/main">
              <a:ext uri="{FF2B5EF4-FFF2-40B4-BE49-F238E27FC236}">
                <a16:creationId xmlns:a16="http://schemas.microsoft.com/office/drawing/2014/main" id="{AFB046B3-6488-479E-ACDC-37C306C9A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13">
            <a:extLst xmlns:a="http://schemas.openxmlformats.org/drawingml/2006/main">
              <a:ext uri="{FF2B5EF4-FFF2-40B4-BE49-F238E27FC236}">
                <a16:creationId xmlns:a16="http://schemas.microsoft.com/office/drawing/2014/main" id="{FB02D941-B826-4ACF-85AA-83C87C04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text-114">
            <a:extLst xmlns:a="http://schemas.openxmlformats.org/drawingml/2006/main">
              <a:ext uri="{FF2B5EF4-FFF2-40B4-BE49-F238E27FC236}">
                <a16:creationId xmlns:a16="http://schemas.microsoft.com/office/drawing/2014/main" id="{AB443528-1CF6-4D59-81E4-D46B9136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66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Small problems let us establish a complete reference.</a:t>
            </a:r>
          </a:p>
        </p:txBody>
      </p:sp>
      <p:sp>
        <p:nvSpPr>
          <p:cNvPr id="5" name="stage-115">
            <a:extLst xmlns:a="http://schemas.openxmlformats.org/drawingml/2006/main">
              <a:ext uri="{FF2B5EF4-FFF2-40B4-BE49-F238E27FC236}">
                <a16:creationId xmlns:a16="http://schemas.microsoft.com/office/drawing/2014/main" id="{B981DC74-E00B-4266-8B8A-D62C3AD5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89300"/>
            <a:ext cx="3937000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16">
            <a:extLst xmlns:a="http://schemas.openxmlformats.org/drawingml/2006/main">
              <a:ext uri="{FF2B5EF4-FFF2-40B4-BE49-F238E27FC236}">
                <a16:creationId xmlns:a16="http://schemas.microsoft.com/office/drawing/2014/main" id="{7A4B8DE4-EF36-4A3A-A3A8-0C70FC855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441700"/>
            <a:ext cx="3530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8-input problem</a:t>
            </a:r>
          </a:p>
        </p:txBody>
      </p:sp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E4A58663-57AF-4E85-AD7C-48FBEEA34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025900"/>
            <a:ext cx="353060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Same data split, model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and performance requirement</a:t>
            </a:r>
          </a:p>
        </p:txBody>
      </p:sp>
      <p:sp>
        <p:nvSpPr>
          <p:cNvPr id="8" name="stage-118">
            <a:extLst xmlns:a="http://schemas.openxmlformats.org/drawingml/2006/main">
              <a:ext uri="{FF2B5EF4-FFF2-40B4-BE49-F238E27FC236}">
                <a16:creationId xmlns:a16="http://schemas.microsoft.com/office/drawing/2014/main" id="{F246A566-AA1F-4604-9249-7341C26E8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28702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19">
            <a:extLst xmlns:a="http://schemas.openxmlformats.org/drawingml/2006/main">
              <a:ext uri="{FF2B5EF4-FFF2-40B4-BE49-F238E27FC236}">
                <a16:creationId xmlns:a16="http://schemas.microsoft.com/office/drawing/2014/main" id="{1DE5C129-4AEF-40F7-80CC-D2F3A1344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0226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Complete enumeration</a:t>
            </a:r>
          </a:p>
        </p:txBody>
      </p:sp>
      <p:sp>
        <p:nvSpPr>
          <p:cNvPr id="10" name="text-120">
            <a:extLst xmlns:a="http://schemas.openxmlformats.org/drawingml/2006/main">
              <a:ext uri="{FF2B5EF4-FFF2-40B4-BE49-F238E27FC236}">
                <a16:creationId xmlns:a16="http://schemas.microsoft.com/office/drawing/2014/main" id="{326D6E6D-2376-4E27-8873-1750BB80A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36068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Check all 256 subsets.</a:t>
            </a:r>
          </a:p>
        </p:txBody>
      </p:sp>
      <p:sp>
        <p:nvSpPr>
          <p:cNvPr id="11" name="stage-121">
            <a:extLst xmlns:a="http://schemas.openxmlformats.org/drawingml/2006/main">
              <a:ext uri="{FF2B5EF4-FFF2-40B4-BE49-F238E27FC236}">
                <a16:creationId xmlns:a16="http://schemas.microsoft.com/office/drawing/2014/main" id="{A3DE62D9-C7E7-4B5A-965D-9814EC57E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0600" y="5092700"/>
            <a:ext cx="4089400" cy="158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22">
            <a:extLst xmlns:a="http://schemas.openxmlformats.org/drawingml/2006/main">
              <a:ext uri="{FF2B5EF4-FFF2-40B4-BE49-F238E27FC236}">
                <a16:creationId xmlns:a16="http://schemas.microsoft.com/office/drawing/2014/main" id="{179BB770-2ACB-4BD1-BAC7-FEA9AAC7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245100"/>
            <a:ext cx="36830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Limited-budget search</a:t>
            </a:r>
          </a:p>
        </p:txBody>
      </p:sp>
      <p:sp>
        <p:nvSpPr>
          <p:cNvPr id="13" name="text-123">
            <a:extLst xmlns:a="http://schemas.openxmlformats.org/drawingml/2006/main">
              <a:ext uri="{FF2B5EF4-FFF2-40B4-BE49-F238E27FC236}">
                <a16:creationId xmlns:a16="http://schemas.microsoft.com/office/drawing/2014/main" id="{7FACEB17-CC1A-4E52-B5D3-93A50722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3800" y="5829300"/>
            <a:ext cx="3683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Let A or B request subsets.</a:t>
            </a:r>
          </a:p>
        </p:txBody>
      </p:sp>
      <p:sp>
        <p:nvSpPr>
          <p:cNvPr id="14" name="stage-124">
            <a:extLst xmlns:a="http://schemas.openxmlformats.org/drawingml/2006/main">
              <a:ext uri="{FF2B5EF4-FFF2-40B4-BE49-F238E27FC236}">
                <a16:creationId xmlns:a16="http://schemas.microsoft.com/office/drawing/2014/main" id="{339292E8-3FA9-4618-8AB2-D4A50EE03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66500" y="3937000"/>
            <a:ext cx="3111500" cy="2044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5" name="text-125">
            <a:extLst xmlns:a="http://schemas.openxmlformats.org/drawingml/2006/main">
              <a:ext uri="{FF2B5EF4-FFF2-40B4-BE49-F238E27FC236}">
                <a16:creationId xmlns:a16="http://schemas.microsoft.com/office/drawing/2014/main" id="{3A780061-C049-408E-8680-81D20F51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089400"/>
            <a:ext cx="2705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16" name="text-126">
            <a:extLst xmlns:a="http://schemas.openxmlformats.org/drawingml/2006/main">
              <a:ext uri="{FF2B5EF4-FFF2-40B4-BE49-F238E27FC236}">
                <a16:creationId xmlns:a16="http://schemas.microsoft.com/office/drawing/2014/main" id="{5C15491C-311F-4C48-B671-FEF5796F9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69700" y="4673600"/>
            <a:ext cx="2705100" cy="11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How many harmful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inputs were found?</a:t>
            </a:r>
          </a:p>
        </p:txBody>
      </p:sp>
      <p:cxnSp>
        <p:nvCxnSpPr>
          <p:cNvPr id="38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 flipV="1">
            <a:off x="4699000" y="3663950"/>
            <a:ext cx="1371600" cy="6540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9" name=""/>
          <p:cNvCxnSpPr>
            <a:stCxn xmlns:a="http://schemas.openxmlformats.org/drawingml/2006/main" id="5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4699000" y="4318000"/>
            <a:ext cx="1371600" cy="156845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0" name=""/>
          <p:cNvCxnSpPr>
            <a:stCxn xmlns:a="http://schemas.openxmlformats.org/drawingml/2006/main" id="8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10160000" y="3663950"/>
            <a:ext cx="1206500" cy="12954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41" name=""/>
          <p:cNvCxnSpPr>
            <a:stCxn xmlns:a="http://schemas.openxmlformats.org/drawingml/2006/main" id="11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 flipV="1">
            <a:off x="10160000" y="4959350"/>
            <a:ext cx="1206500" cy="927100"/>
          </a:xfrm>
          <a:prstGeom xmlns:a="http://schemas.openxmlformats.org/drawingml/2006/main" prst="bentConnector3">
            <a:avLst>
              <a:gd name="adj1" fmla="val 50000"/>
            </a:avLst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21" name="text-127">
            <a:extLst xmlns:a="http://schemas.openxmlformats.org/drawingml/2006/main">
              <a:ext uri="{FF2B5EF4-FFF2-40B4-BE49-F238E27FC236}">
                <a16:creationId xmlns:a16="http://schemas.microsoft.com/office/drawing/2014/main" id="{3B126C20-32EF-4670-9EE9-F347231CD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Success means finding more of the known harmful inputs at the same budget.</a:t>
            </a:r>
          </a:p>
        </p:txBody>
      </p:sp>
    </p:spTree>
    <p:extLst>
      <p:ext uri="{BB962C8B-B14F-4D97-AF65-F5344CB8AC3E}">
        <p14:creationId xmlns:p14="http://schemas.microsoft.com/office/powerpoint/2010/main" val="166669958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28">
            <a:extLst xmlns:a="http://schemas.openxmlformats.org/drawingml/2006/main">
              <a:ext uri="{FF2B5EF4-FFF2-40B4-BE49-F238E27FC236}">
                <a16:creationId xmlns:a16="http://schemas.microsoft.com/office/drawing/2014/main" id="{EE2D174B-AFDE-4508-BF81-E3455CCF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2: explain why some witnesses are harder to find</a:t>
            </a:r>
          </a:p>
        </p:txBody>
      </p:sp>
      <p:sp>
        <p:nvSpPr>
          <p:cNvPr id="2" name="rule-129">
            <a:extLst xmlns:a="http://schemas.openxmlformats.org/drawingml/2006/main">
              <a:ext uri="{FF2B5EF4-FFF2-40B4-BE49-F238E27FC236}">
                <a16:creationId xmlns:a16="http://schemas.microsoft.com/office/drawing/2014/main" id="{854E99EC-9209-4F14-841F-744578F2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327EA6C6-32EE-4E1A-876C-5D991D91F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2E3A599B-AB50-40A4-A745-4234FF79B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68500"/>
            <a:ext cx="13716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controlled experiment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762000" y="2844800"/>
          <a:ext xmlns:a="http://schemas.openxmlformats.org/drawingml/2006/main" cx="13716000" cy="37719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83000"/>
                <a:gridCol w="5397500"/>
                <a:gridCol w="4635500"/>
              </a:tblGrid>
              <a:tr h="6096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Controlled structure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changes in the inputs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we learn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Signal with distractors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Useful variables plus unrelated columns.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extra noise creates difficult contexts.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Correlated redundancy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Add noisy copies of informative variables.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How overlapping information affects discovery.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0541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Interaction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The target depends on a combination of variables.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3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Whether the search reaches important combinations.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6" name="text-132">
            <a:extLst xmlns:a="http://schemas.openxmlformats.org/drawingml/2006/main">
              <a:ext uri="{FF2B5EF4-FFF2-40B4-BE49-F238E27FC236}">
                <a16:creationId xmlns:a16="http://schemas.microsoft.com/office/drawing/2014/main" id="{74B8A5E8-AF79-47EB-A3EB-52EAF4466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Keep the model and evaluation fixed. Change the data structure deliberately.</a:t>
            </a:r>
          </a:p>
        </p:txBody>
      </p:sp>
    </p:spTree>
    <p:extLst>
      <p:ext uri="{BB962C8B-B14F-4D97-AF65-F5344CB8AC3E}">
        <p14:creationId xmlns:p14="http://schemas.microsoft.com/office/powerpoint/2010/main" val="213422245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33">
            <a:extLst xmlns:a="http://schemas.openxmlformats.org/drawingml/2006/main">
              <a:ext uri="{FF2B5EF4-FFF2-40B4-BE49-F238E27FC236}">
                <a16:creationId xmlns:a16="http://schemas.microsoft.com/office/drawing/2014/main" id="{55D58DE1-6732-4416-8491-14903921A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Study 3: test whether removal is useful</a:t>
            </a:r>
          </a:p>
        </p:txBody>
      </p:sp>
      <p:sp>
        <p:nvSpPr>
          <p:cNvPr id="2" name="rule-134">
            <a:extLst xmlns:a="http://schemas.openxmlformats.org/drawingml/2006/main">
              <a:ext uri="{FF2B5EF4-FFF2-40B4-BE49-F238E27FC236}">
                <a16:creationId xmlns:a16="http://schemas.microsoft.com/office/drawing/2014/main" id="{BC5E5851-C940-46A0-8141-88F7785F6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35">
            <a:extLst xmlns:a="http://schemas.openxmlformats.org/drawingml/2006/main">
              <a:ext uri="{FF2B5EF4-FFF2-40B4-BE49-F238E27FC236}">
                <a16:creationId xmlns:a16="http://schemas.microsoft.com/office/drawing/2014/main" id="{8600E00B-7FFB-4718-8B3D-B5247DB99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text-136">
            <a:extLst xmlns:a="http://schemas.openxmlformats.org/drawingml/2006/main">
              <a:ext uri="{FF2B5EF4-FFF2-40B4-BE49-F238E27FC236}">
                <a16:creationId xmlns:a16="http://schemas.microsoft.com/office/drawing/2014/main" id="{3DA65190-AC02-4C2D-91B7-6C24282E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93900"/>
            <a:ext cx="13716000" cy="69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Planned decision experiment with separate data for each decision stage</a:t>
            </a:r>
          </a:p>
        </p:txBody>
      </p:sp>
      <p:sp>
        <p:nvSpPr>
          <p:cNvPr id="5" name="stage-137">
            <a:extLst xmlns:a="http://schemas.openxmlformats.org/drawingml/2006/main">
              <a:ext uri="{FF2B5EF4-FFF2-40B4-BE49-F238E27FC236}">
                <a16:creationId xmlns:a16="http://schemas.microsoft.com/office/drawing/2014/main" id="{C270D38C-9622-4B12-8265-DB75562B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38">
            <a:extLst xmlns:a="http://schemas.openxmlformats.org/drawingml/2006/main">
              <a:ext uri="{FF2B5EF4-FFF2-40B4-BE49-F238E27FC236}">
                <a16:creationId xmlns:a16="http://schemas.microsoft.com/office/drawing/2014/main" id="{600D8879-B732-4899-A728-A2D1D533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Choose a candidate</a:t>
            </a:r>
          </a:p>
        </p:txBody>
      </p:sp>
      <p:sp>
        <p:nvSpPr>
          <p:cNvPr id="7" name="text-139">
            <a:extLst xmlns:a="http://schemas.openxmlformats.org/drawingml/2006/main">
              <a:ext uri="{FF2B5EF4-FFF2-40B4-BE49-F238E27FC236}">
                <a16:creationId xmlns:a16="http://schemas.microsoft.com/office/drawing/2014/main" id="{674B8401-395E-404D-8A95-4516B9B7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Use training and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selection-validation data.</a:t>
            </a:r>
          </a:p>
        </p:txBody>
      </p:sp>
      <p:sp>
        <p:nvSpPr>
          <p:cNvPr id="8" name="stage-140">
            <a:extLst xmlns:a="http://schemas.openxmlformats.org/drawingml/2006/main">
              <a:ext uri="{FF2B5EF4-FFF2-40B4-BE49-F238E27FC236}">
                <a16:creationId xmlns:a16="http://schemas.microsoft.com/office/drawing/2014/main" id="{D9F8BF57-4310-486F-9A80-48216C67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41">
            <a:extLst xmlns:a="http://schemas.openxmlformats.org/drawingml/2006/main">
              <a:ext uri="{FF2B5EF4-FFF2-40B4-BE49-F238E27FC236}">
                <a16:creationId xmlns:a16="http://schemas.microsoft.com/office/drawing/2014/main" id="{5130FB88-2B5A-4624-AC25-AB338358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Check independently</a:t>
            </a:r>
          </a:p>
        </p:txBody>
      </p:sp>
      <p:sp>
        <p:nvSpPr>
          <p:cNvPr id="10" name="text-142">
            <a:extLst xmlns:a="http://schemas.openxmlformats.org/drawingml/2006/main">
              <a:ext uri="{FF2B5EF4-FFF2-40B4-BE49-F238E27FC236}">
                <a16:creationId xmlns:a16="http://schemas.microsoft.com/office/drawing/2014/main" id="{9EA0986F-4A28-42FC-AEF8-07BF06C32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01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Accept within tolerance.</a:t>
            </a:r>
          </a:p>
          <a:p xmlns:a="http://schemas.openxmlformats.org/drawingml/2006/main">
            <a:pPr algn="l">
              <a:defRPr sz="22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Otherwise keep all inputs.</a:t>
            </a:r>
          </a:p>
        </p:txBody>
      </p:sp>
      <p:sp>
        <p:nvSpPr>
          <p:cNvPr id="11" name="stage-143">
            <a:extLst xmlns:a="http://schemas.openxmlformats.org/drawingml/2006/main">
              <a:ext uri="{FF2B5EF4-FFF2-40B4-BE49-F238E27FC236}">
                <a16:creationId xmlns:a16="http://schemas.microsoft.com/office/drawing/2014/main" id="{1D934815-2F47-4E26-8D45-CCDC3CA8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4500" y="3429000"/>
            <a:ext cx="3873500" cy="196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44">
            <a:extLst xmlns:a="http://schemas.openxmlformats.org/drawingml/2006/main">
              <a:ext uri="{FF2B5EF4-FFF2-40B4-BE49-F238E27FC236}">
                <a16:creationId xmlns:a16="http://schemas.microsoft.com/office/drawing/2014/main" id="{DB6191E8-21D0-4166-9640-9D26D7DA8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3581400"/>
            <a:ext cx="34671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Freeze and test</a:t>
            </a:r>
          </a:p>
        </p:txBody>
      </p:sp>
      <p:sp>
        <p:nvSpPr>
          <p:cNvPr id="13" name="text-145">
            <a:extLst xmlns:a="http://schemas.openxmlformats.org/drawingml/2006/main">
              <a:ext uri="{FF2B5EF4-FFF2-40B4-BE49-F238E27FC236}">
                <a16:creationId xmlns:a16="http://schemas.microsoft.com/office/drawing/2014/main" id="{261A39EE-EEB8-4468-9AC3-82CC7F969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7700" y="4165600"/>
            <a:ext cx="3467100" cy="1092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Refit the chosen model.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Evaluate on held-out data.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635500" y="4413250"/>
            <a:ext cx="10414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50400" y="4413250"/>
            <a:ext cx="10541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146">
            <a:extLst xmlns:a="http://schemas.openxmlformats.org/drawingml/2006/main">
              <a:ext uri="{FF2B5EF4-FFF2-40B4-BE49-F238E27FC236}">
                <a16:creationId xmlns:a16="http://schemas.microsoft.com/office/drawing/2014/main" id="{BD0A6F9C-18F9-4EE6-9945-CBE4E7D28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43600"/>
            <a:ext cx="1371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Compare with established feature-ranking and elimination methods.</a:t>
            </a:r>
          </a:p>
        </p:txBody>
      </p:sp>
      <p:sp>
        <p:nvSpPr>
          <p:cNvPr id="17" name="text-147">
            <a:extLst xmlns:a="http://schemas.openxmlformats.org/drawingml/2006/main">
              <a:ext uri="{FF2B5EF4-FFF2-40B4-BE49-F238E27FC236}">
                <a16:creationId xmlns:a16="http://schemas.microsoft.com/office/drawing/2014/main" id="{7F51DE14-2F84-4D44-8508-77FCAA0B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771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Judge three outcomes together: fewer inputs, prediction loss and total cost.</a:t>
            </a:r>
          </a:p>
        </p:txBody>
      </p:sp>
    </p:spTree>
    <p:extLst>
      <p:ext uri="{BB962C8B-B14F-4D97-AF65-F5344CB8AC3E}">
        <p14:creationId xmlns:p14="http://schemas.microsoft.com/office/powerpoint/2010/main" val="10906810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148">
            <a:extLst xmlns:a="http://schemas.openxmlformats.org/drawingml/2006/main">
              <a:ext uri="{FF2B5EF4-FFF2-40B4-BE49-F238E27FC236}">
                <a16:creationId xmlns:a16="http://schemas.microsoft.com/office/drawing/2014/main" id="{994CD35F-908F-4539-AF4E-14B58DC67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Current evidence and what it means</a:t>
            </a:r>
          </a:p>
        </p:txBody>
      </p:sp>
      <p:sp>
        <p:nvSpPr>
          <p:cNvPr id="2" name="rule-149">
            <a:extLst xmlns:a="http://schemas.openxmlformats.org/drawingml/2006/main">
              <a:ext uri="{FF2B5EF4-FFF2-40B4-BE49-F238E27FC236}">
                <a16:creationId xmlns:a16="http://schemas.microsoft.com/office/drawing/2014/main" id="{68D80BF9-AFF0-4F41-8EC8-1D300C6D5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50">
            <a:extLst xmlns:a="http://schemas.openxmlformats.org/drawingml/2006/main">
              <a:ext uri="{FF2B5EF4-FFF2-40B4-BE49-F238E27FC236}">
                <a16:creationId xmlns:a16="http://schemas.microsoft.com/office/drawing/2014/main" id="{8B19BF3C-7D41-497D-B4EF-EF91A34BC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text-151">
            <a:extLst xmlns:a="http://schemas.openxmlformats.org/drawingml/2006/main">
              <a:ext uri="{FF2B5EF4-FFF2-40B4-BE49-F238E27FC236}">
                <a16:creationId xmlns:a16="http://schemas.microsoft.com/office/drawing/2014/main" id="{423817FE-FE2E-43AF-AFCA-FF69FCE50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text-152">
            <a:extLst xmlns:a="http://schemas.openxmlformats.org/drawingml/2006/main">
              <a:ext uri="{FF2B5EF4-FFF2-40B4-BE49-F238E27FC236}">
                <a16:creationId xmlns:a16="http://schemas.microsoft.com/office/drawing/2014/main" id="{1660F96C-B6D9-4C63-8697-AA2C09205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1590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The reference audit is complete</a:t>
            </a:r>
          </a:p>
        </p:txBody>
      </p:sp>
      <p:sp>
        <p:nvSpPr>
          <p:cNvPr id="6" name="text-153">
            <a:extLst xmlns:a="http://schemas.openxmlformats.org/drawingml/2006/main">
              <a:ext uri="{FF2B5EF4-FFF2-40B4-BE49-F238E27FC236}">
                <a16:creationId xmlns:a16="http://schemas.microsoft.com/office/drawing/2014/main" id="{A0142056-23CB-48BE-BE44-B5ACFF79F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27813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Small problems provide checkable witnesses and reveal missed cases.</a:t>
            </a:r>
          </a:p>
        </p:txBody>
      </p:sp>
      <p:sp>
        <p:nvSpPr>
          <p:cNvPr id="7" name="text-154">
            <a:extLst xmlns:a="http://schemas.openxmlformats.org/drawingml/2006/main">
              <a:ext uri="{FF2B5EF4-FFF2-40B4-BE49-F238E27FC236}">
                <a16:creationId xmlns:a16="http://schemas.microsoft.com/office/drawing/2014/main" id="{36BA0693-D35B-4BA0-B6ED-422B8A9A1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751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text-155">
            <a:extLst xmlns:a="http://schemas.openxmlformats.org/drawingml/2006/main">
              <a:ext uri="{FF2B5EF4-FFF2-40B4-BE49-F238E27FC236}">
                <a16:creationId xmlns:a16="http://schemas.microsoft.com/office/drawing/2014/main" id="{F390C86A-2F3A-4328-A15C-BCFB5D08A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39751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Guidance has no stable advantage yet</a:t>
            </a:r>
          </a:p>
        </p:txBody>
      </p:sp>
      <p:sp>
        <p:nvSpPr>
          <p:cNvPr id="9" name="text-156">
            <a:extLst xmlns:a="http://schemas.openxmlformats.org/drawingml/2006/main">
              <a:ext uri="{FF2B5EF4-FFF2-40B4-BE49-F238E27FC236}">
                <a16:creationId xmlns:a16="http://schemas.microsoft.com/office/drawing/2014/main" id="{8E675A69-D92E-4257-B824-5B48699F1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45974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Training associations do not consistently point toward failure contexts.</a:t>
            </a:r>
          </a:p>
        </p:txBody>
      </p:sp>
      <p:sp>
        <p:nvSpPr>
          <p:cNvPr id="10" name="text-157">
            <a:extLst xmlns:a="http://schemas.openxmlformats.org/drawingml/2006/main">
              <a:ext uri="{FF2B5EF4-FFF2-40B4-BE49-F238E27FC236}">
                <a16:creationId xmlns:a16="http://schemas.microsoft.com/office/drawing/2014/main" id="{C688D845-AEA7-48BB-AA7A-7E5F0524A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91200"/>
            <a:ext cx="88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text-158">
            <a:extLst xmlns:a="http://schemas.openxmlformats.org/drawingml/2006/main">
              <a:ext uri="{FF2B5EF4-FFF2-40B4-BE49-F238E27FC236}">
                <a16:creationId xmlns:a16="http://schemas.microsoft.com/office/drawing/2014/main" id="{B9DFE82F-7AB6-432D-95F3-F8C541F9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5791200"/>
            <a:ext cx="125095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8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8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Practical deletion value is still open</a:t>
            </a:r>
          </a:p>
        </p:txBody>
      </p:sp>
      <p:sp>
        <p:nvSpPr>
          <p:cNvPr id="12" name="text-159">
            <a:extLst xmlns:a="http://schemas.openxmlformats.org/drawingml/2006/main">
              <a:ext uri="{FF2B5EF4-FFF2-40B4-BE49-F238E27FC236}">
                <a16:creationId xmlns:a16="http://schemas.microsoft.com/office/drawing/2014/main" id="{ACAB17C8-CD90-488B-9F7D-C42F71EF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1500" y="6413500"/>
            <a:ext cx="12509500" cy="90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Controlled mechanisms and independent removal tests are the next evidence.</a:t>
            </a:r>
          </a:p>
        </p:txBody>
      </p:sp>
    </p:spTree>
    <p:extLst>
      <p:ext uri="{BB962C8B-B14F-4D97-AF65-F5344CB8AC3E}">
        <p14:creationId xmlns:p14="http://schemas.microsoft.com/office/powerpoint/2010/main" val="75259907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B20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160">
            <a:extLst xmlns:a="http://schemas.openxmlformats.org/drawingml/2006/main">
              <a:ext uri="{FF2B5EF4-FFF2-40B4-BE49-F238E27FC236}">
                <a16:creationId xmlns:a16="http://schemas.microsoft.com/office/drawing/2014/main" id="{89F705FC-7E5D-4D1D-84B4-2588F7B83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Expected contribution</a:t>
            </a:r>
          </a:p>
        </p:txBody>
      </p:sp>
      <p:sp>
        <p:nvSpPr>
          <p:cNvPr id="2" name="rule-161">
            <a:extLst xmlns:a="http://schemas.openxmlformats.org/drawingml/2006/main">
              <a:ext uri="{FF2B5EF4-FFF2-40B4-BE49-F238E27FC236}">
                <a16:creationId xmlns:a16="http://schemas.microsoft.com/office/drawing/2014/main" id="{1A27BA38-236A-4666-AA41-19A67BF3C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5D0C9"/>
            </a:solidFill>
          </a:ln>
        </p:spPr>
      </p:sp>
      <p:sp>
        <p:nvSpPr>
          <p:cNvPr id="3" name="text-162">
            <a:extLst xmlns:a="http://schemas.openxmlformats.org/drawingml/2006/main">
              <a:ext uri="{FF2B5EF4-FFF2-40B4-BE49-F238E27FC236}">
                <a16:creationId xmlns:a16="http://schemas.microsoft.com/office/drawing/2014/main" id="{28903B78-A305-4C2D-BB42-036F78CC1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text-163">
            <a:extLst xmlns:a="http://schemas.openxmlformats.org/drawingml/2006/main">
              <a:ext uri="{FF2B5EF4-FFF2-40B4-BE49-F238E27FC236}">
                <a16:creationId xmlns:a16="http://schemas.microsoft.com/office/drawing/2014/main" id="{C89E8C7C-C275-4AA3-B760-047C25B6F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157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 feature-selection decision</a:t>
            </a:r>
          </a:p>
          <a:p xmlns:a="http://schemas.openxmlformats.org/drawingml/2006/main">
            <a:pPr algn="l">
              <a:defRPr sz="4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with evidence that can be inspected.</a:t>
            </a:r>
          </a:p>
        </p:txBody>
      </p:sp>
      <p:sp>
        <p:nvSpPr>
          <p:cNvPr id="5" name="text-164">
            <a:extLst xmlns:a="http://schemas.openxmlformats.org/drawingml/2006/main">
              <a:ext uri="{FF2B5EF4-FFF2-40B4-BE49-F238E27FC236}">
                <a16:creationId xmlns:a16="http://schemas.microsoft.com/office/drawing/2014/main" id="{2725C97B-FCA3-446D-868A-AC1C937B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56100"/>
            <a:ext cx="1371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 concrete failure context explains what happened.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exact reference shows what the search missed.</a:t>
            </a:r>
          </a:p>
          <a:p xmlns:a="http://schemas.openxmlformats.org/drawingml/2006/main">
            <a:pPr algn="l">
              <a:defRPr sz="2900" b="0">
                <a:solidFill>
                  <a:srgbClr val="75D0C9"/>
                </a:solidFill>
                <a:latin typeface="Arial"/>
                <a:ea typeface="Arial"/>
                <a:cs typeface="Arial"/>
              </a:defRPr>
            </a:pPr>
            <a:r>
              <a:rPr sz="2900" b="0">
                <a:solidFill>
                  <a:srgbClr val="75D0C9"/>
                </a:solidFill>
                <a:latin typeface="Arial"/>
                <a:ea typeface="Arial"/>
                <a:cs typeface="Arial"/>
              </a:rPr>
              <a:t>An independent test shows whether removal is worthwhile.</a:t>
            </a:r>
          </a:p>
        </p:txBody>
      </p:sp>
      <p:sp>
        <p:nvSpPr>
          <p:cNvPr id="6" name="rule-165">
            <a:extLst xmlns:a="http://schemas.openxmlformats.org/drawingml/2006/main">
              <a:ext uri="{FF2B5EF4-FFF2-40B4-BE49-F238E27FC236}">
                <a16:creationId xmlns:a16="http://schemas.microsoft.com/office/drawing/2014/main" id="{E839180E-10A4-4113-BCB0-317E5FFA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0231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700">
            <a:solidFill>
              <a:srgbClr val="496174"/>
            </a:solidFill>
          </a:ln>
        </p:spPr>
      </p:sp>
      <p:sp>
        <p:nvSpPr>
          <p:cNvPr id="7" name="text-166">
            <a:extLst xmlns:a="http://schemas.openxmlformats.org/drawingml/2006/main">
              <a:ext uri="{FF2B5EF4-FFF2-40B4-BE49-F238E27FC236}">
                <a16:creationId xmlns:a16="http://schemas.microsoft.com/office/drawing/2014/main" id="{33357938-0828-433B-A9BD-72E628CF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3406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Next: controlled mechanisms, then independent deletion evaluation.</a:t>
            </a:r>
          </a:p>
        </p:txBody>
      </p:sp>
    </p:spTree>
    <p:extLst>
      <p:ext uri="{BB962C8B-B14F-4D97-AF65-F5344CB8AC3E}">
        <p14:creationId xmlns:p14="http://schemas.microsoft.com/office/powerpoint/2010/main" val="181369446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67">
            <a:extLst xmlns:a="http://schemas.openxmlformats.org/drawingml/2006/main">
              <a:ext uri="{FF2B5EF4-FFF2-40B4-BE49-F238E27FC236}">
                <a16:creationId xmlns:a16="http://schemas.microsoft.com/office/drawing/2014/main" id="{4368B615-4411-4128-95B7-CD309E5E6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(1/2)</a:t>
            </a:r>
          </a:p>
        </p:txBody>
      </p:sp>
      <p:sp>
        <p:nvSpPr>
          <p:cNvPr id="2" name="rule-168">
            <a:extLst xmlns:a="http://schemas.openxmlformats.org/drawingml/2006/main">
              <a:ext uri="{FF2B5EF4-FFF2-40B4-BE49-F238E27FC236}">
                <a16:creationId xmlns:a16="http://schemas.microsoft.com/office/drawing/2014/main" id="{A69BC118-E0F6-4F89-952F-3C71A5B6C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69">
            <a:extLst xmlns:a="http://schemas.openxmlformats.org/drawingml/2006/main">
              <a:ext uri="{FF2B5EF4-FFF2-40B4-BE49-F238E27FC236}">
                <a16:creationId xmlns:a16="http://schemas.microsoft.com/office/drawing/2014/main" id="{0CC26C1E-9A1B-4382-AA62-D6762CA5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Spambase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4,601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 word frequencies, e.g. free, money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 character frequencies, e.g. !, $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capital-run statistics: mean, max, total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spam / non-spam. Observable text statistics make witnesses easier to interpret.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Madelon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2,600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500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 informative coordinates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15 linear combinations of them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480 irrelevant probe variables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synthetic class ±1. Redundancy and distractors challenge discovery. Generating roles are not MinPPI labels.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Gisette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7,000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5,000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image-derived variables, including pixel products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2,500 distractor probes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Numeric columns encode digit images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digit 4 / 9. High-dimensional inputs stress screening and cost. Outside the current 35-game study.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70">
            <a:extLst xmlns:a="http://schemas.openxmlformats.org/drawingml/2006/main">
              <a:ext uri="{FF2B5EF4-FFF2-40B4-BE49-F238E27FC236}">
                <a16:creationId xmlns:a16="http://schemas.microsoft.com/office/drawing/2014/main" id="{457CE5AB-9316-474E-9B67-39407CF15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A MinPPI player is an analyzed column. A coalition selects columns while retaining the same target.</a:t>
            </a:r>
          </a:p>
        </p:txBody>
      </p:sp>
    </p:spTree>
    <p:extLst>
      <p:ext uri="{BB962C8B-B14F-4D97-AF65-F5344CB8AC3E}">
        <p14:creationId xmlns:p14="http://schemas.microsoft.com/office/powerpoint/2010/main" val="48848121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171">
            <a:extLst xmlns:a="http://schemas.openxmlformats.org/drawingml/2006/main">
              <a:ext uri="{FF2B5EF4-FFF2-40B4-BE49-F238E27FC236}">
                <a16:creationId xmlns:a16="http://schemas.microsoft.com/office/drawing/2014/main" id="{9E524455-3E46-4771-9B98-5549CFCDC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dataset inputs (2/2)</a:t>
            </a:r>
          </a:p>
        </p:txBody>
      </p:sp>
      <p:sp>
        <p:nvSpPr>
          <p:cNvPr id="2" name="rule-172">
            <a:extLst xmlns:a="http://schemas.openxmlformats.org/drawingml/2006/main">
              <a:ext uri="{FF2B5EF4-FFF2-40B4-BE49-F238E27FC236}">
                <a16:creationId xmlns:a16="http://schemas.microsoft.com/office/drawing/2014/main" id="{0A6007DB-553F-42CA-91E5-E8113A86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73">
            <a:extLst xmlns:a="http://schemas.openxmlformats.org/drawingml/2006/main">
              <a:ext uri="{FF2B5EF4-FFF2-40B4-BE49-F238E27FC236}">
                <a16:creationId xmlns:a16="http://schemas.microsoft.com/office/drawing/2014/main" id="{2D53B9D0-DD49-450C-9C5E-46B643439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9" name=""/>
          <p:cNvGraphicFramePr/>
          <p:nvPr/>
        </p:nvGraphicFramePr>
        <p:xfrm>
          <a:off xmlns:a="http://schemas.openxmlformats.org/drawingml/2006/main" x="762000" y="2197100"/>
          <a:ext xmlns:a="http://schemas.openxmlformats.org/drawingml/2006/main" cx="13716000" cy="51816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349500"/>
                <a:gridCol w="6096000"/>
                <a:gridCol w="5270500"/>
              </a:tblGrid>
              <a:tr h="5715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Dataset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input columns represent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Why this structure fits the study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ISOLET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7,797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617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Acoustic descriptors: spectral coefficients, contours, sonorant and surrounding-segment features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the spoken letter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Tests whether witness auditing extends to multiclass utility. Individual column order has no published semantic map.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Credit-card fraud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284,807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29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28 anonymized PCA components V1–V28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Amount: transaction value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Time is excluded from project inputs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Large labeled data with rare fraud cases tests AUC-based decisions and cost. Witnesses concern components, not raw financial attributes.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153670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Abalone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4,177 rows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8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Sex; Length; Diameter; Height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Whole weight; Shucked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Viscera weight; Shell weight</a:t>
                      </a:r>
                    </a:p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Target: Rings, excluded from inputs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1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Physical measurements provide a regression task. Eight variables permit all 256 subsets and exact harmful labels.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74">
            <a:extLst xmlns:a="http://schemas.openxmlformats.org/drawingml/2006/main">
              <a:ext uri="{FF2B5EF4-FFF2-40B4-BE49-F238E27FC236}">
                <a16:creationId xmlns:a16="http://schemas.microsoft.com/office/drawing/2014/main" id="{71EF4647-6440-42E1-BF5E-66381116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607300"/>
            <a:ext cx="13716000" cy="393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0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PCA describes the input representation. Fraud labels still define a supervised classification task.</a:t>
            </a:r>
          </a:p>
        </p:txBody>
      </p:sp>
    </p:spTree>
    <p:extLst>
      <p:ext uri="{BB962C8B-B14F-4D97-AF65-F5344CB8AC3E}">
        <p14:creationId xmlns:p14="http://schemas.microsoft.com/office/powerpoint/2010/main" val="118888058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75">
            <a:extLst xmlns:a="http://schemas.openxmlformats.org/drawingml/2006/main">
              <a:ext uri="{FF2B5EF4-FFF2-40B4-BE49-F238E27FC236}">
                <a16:creationId xmlns:a16="http://schemas.microsoft.com/office/drawing/2014/main" id="{B31CE609-2291-4EC9-90FC-81D6CE21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formal definition and assumptions</a:t>
            </a:r>
          </a:p>
        </p:txBody>
      </p:sp>
      <p:sp>
        <p:nvSpPr>
          <p:cNvPr id="2" name="rule-176">
            <a:extLst xmlns:a="http://schemas.openxmlformats.org/drawingml/2006/main">
              <a:ext uri="{FF2B5EF4-FFF2-40B4-BE49-F238E27FC236}">
                <a16:creationId xmlns:a16="http://schemas.microsoft.com/office/drawing/2014/main" id="{69EBE05F-019D-4C1E-8D62-E78BE097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77">
            <a:extLst xmlns:a="http://schemas.openxmlformats.org/drawingml/2006/main">
              <a:ext uri="{FF2B5EF4-FFF2-40B4-BE49-F238E27FC236}">
                <a16:creationId xmlns:a16="http://schemas.microsoft.com/office/drawing/2014/main" id="{0534FD70-AC3E-459A-A9D9-D309A5781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4" name="text-178">
            <a:extLst xmlns:a="http://schemas.openxmlformats.org/drawingml/2006/main">
              <a:ext uri="{FF2B5EF4-FFF2-40B4-BE49-F238E27FC236}">
                <a16:creationId xmlns:a16="http://schemas.microsoft.com/office/drawing/2014/main" id="{0CD84472-DB91-4244-AF94-30B60700E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90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4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4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q = α U(D)       vα(S) = 1[U(S) ≥ q]</a:t>
            </a:r>
          </a:p>
        </p:txBody>
      </p:sp>
      <p:sp>
        <p:nvSpPr>
          <p:cNvPr id="5" name="text-179">
            <a:extLst xmlns:a="http://schemas.openxmlformats.org/drawingml/2006/main">
              <a:ext uri="{FF2B5EF4-FFF2-40B4-BE49-F238E27FC236}">
                <a16:creationId xmlns:a16="http://schemas.microsoft.com/office/drawing/2014/main" id="{F0A22E8D-E902-4217-B738-EBBC9E623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49600"/>
            <a:ext cx="13716000" cy="78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2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32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Mi = min { vα(S ∪ {i}) − vα(S) : S ⊆ D \ {i} }</a:t>
            </a:r>
          </a:p>
        </p:txBody>
      </p:sp>
      <p:sp>
        <p:nvSpPr>
          <p:cNvPr id="6" name="text-180">
            <a:extLst xmlns:a="http://schemas.openxmlformats.org/drawingml/2006/main">
              <a:ext uri="{FF2B5EF4-FFF2-40B4-BE49-F238E27FC236}">
                <a16:creationId xmlns:a16="http://schemas.microsoft.com/office/drawing/2014/main" id="{85B1DB67-4D5E-4B58-A07C-7096372F4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05300"/>
            <a:ext cx="13716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D: analyzed input set. S: a subset without i. U: validation utility.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Default α = 0.95, with U(D) &gt; 0 and finite utilities.</a:t>
            </a:r>
          </a:p>
        </p:txBody>
      </p:sp>
      <p:sp>
        <p:nvSpPr>
          <p:cNvPr id="7" name="text-181">
            <a:extLst xmlns:a="http://schemas.openxmlformats.org/drawingml/2006/main">
              <a:ext uri="{FF2B5EF4-FFF2-40B4-BE49-F238E27FC236}">
                <a16:creationId xmlns:a16="http://schemas.microsoft.com/office/drawing/2014/main" id="{D4C1001E-D9AF-43C9-9B3D-330EA2D55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13716000" cy="146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−1: a negative witness exists.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0: no negative context, but at least one zero marginal.</a:t>
            </a:r>
          </a:p>
          <a:p xmlns:a="http://schemas.openxmlformats.org/drawingml/2006/main">
            <a:pPr algn="l">
              <a:defRPr sz="25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+1: every context changes from fail to pass.</a:t>
            </a:r>
          </a:p>
        </p:txBody>
      </p:sp>
      <p:sp>
        <p:nvSpPr>
          <p:cNvPr id="8" name="text-182">
            <a:extLst xmlns:a="http://schemas.openxmlformats.org/drawingml/2006/main">
              <a:ext uri="{FF2B5EF4-FFF2-40B4-BE49-F238E27FC236}">
                <a16:creationId xmlns:a16="http://schemas.microsoft.com/office/drawing/2014/main" id="{F0ABA78C-56AA-41B6-BECB-5815EA5D8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54900"/>
            <a:ext cx="13716000" cy="62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2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2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Sampled minima bound the exact minimum from above. No sampled witness does not certify safety.</a:t>
            </a:r>
          </a:p>
        </p:txBody>
      </p:sp>
    </p:spTree>
    <p:extLst>
      <p:ext uri="{BB962C8B-B14F-4D97-AF65-F5344CB8AC3E}">
        <p14:creationId xmlns:p14="http://schemas.microsoft.com/office/powerpoint/2010/main" val="889304770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183">
            <a:extLst xmlns:a="http://schemas.openxmlformats.org/drawingml/2006/main">
              <a:ext uri="{FF2B5EF4-FFF2-40B4-BE49-F238E27FC236}">
                <a16:creationId xmlns:a16="http://schemas.microsoft.com/office/drawing/2014/main" id="{CEABA61A-C9AB-429F-9937-F48AA4A4E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experimental protocol and evidence</a:t>
            </a:r>
          </a:p>
        </p:txBody>
      </p:sp>
      <p:sp>
        <p:nvSpPr>
          <p:cNvPr id="2" name="rule-184">
            <a:extLst xmlns:a="http://schemas.openxmlformats.org/drawingml/2006/main">
              <a:ext uri="{FF2B5EF4-FFF2-40B4-BE49-F238E27FC236}">
                <a16:creationId xmlns:a16="http://schemas.microsoft.com/office/drawing/2014/main" id="{2DB2FD40-AD7B-488F-9FD5-A39FB4B14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85">
            <a:extLst xmlns:a="http://schemas.openxmlformats.org/drawingml/2006/main">
              <a:ext uri="{FF2B5EF4-FFF2-40B4-BE49-F238E27FC236}">
                <a16:creationId xmlns:a16="http://schemas.microsoft.com/office/drawing/2014/main" id="{DE629449-F586-4B48-8322-D5D478C35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graphicFrame>
        <p:nvGraphicFramePr>
          <p:cNvPr id="10" name=""/>
          <p:cNvGraphicFramePr/>
          <p:nvPr/>
        </p:nvGraphicFramePr>
        <p:xfrm>
          <a:off xmlns:a="http://schemas.openxmlformats.org/drawingml/2006/main" x="762000" y="2159000"/>
          <a:ext xmlns:a="http://schemas.openxmlformats.org/drawingml/2006/main" cx="13716000" cy="4381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37000"/>
                <a:gridCol w="9779000"/>
              </a:tblGrid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Item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Prespecified design or current evidence</a:t>
                      </a:r>
                    </a:p>
                  </a:txBody>
                  <a:tcPr marL="91440" marR="91440" marT="45720" marB="45720">
                    <a:solidFill>
                      <a:srgbClr val="0B2033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1: complete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35 eight-input games from 4 datasets. Full references, paired A/B search.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2: planned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3 mechanisms × 5 instances. Each has 2,000 rows and 8 inputs.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Study 3: planned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20 games. Train / selection / gate / test = 64 / 8 / 8 / 20%.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Fixed learner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XGBoost: 100 rounds, depth 4, learning rate 0.1.</a:t>
                      </a:r>
                    </a:p>
                  </a:txBody>
                  <a:tcPr marL="91440" marR="91440" marT="45720" marB="45720">
                    <a:solidFill>
                      <a:srgbClr val="EEEEE7"/>
                    </a:solidFill>
                  </a:tcPr>
                </a:tc>
              </a:tr>
              <a:tr h="7302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Decision tolerance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200" b="0">
                          <a:solidFill>
                            <a:srgbClr val="0B2033"/>
                          </a:solidFill>
                          <a:latin typeface="Arial"/>
                          <a:ea typeface="Arial"/>
                          <a:cs typeface="Arial"/>
                        </a:rPr>
                        <a:t>AUC loss ≤ 0.005 for classification. Raw R² loss ≤ 0.01 for regression.</a:t>
                      </a:r>
                    </a:p>
                  </a:txBody>
                  <a:tcPr marL="91440" marR="91440" marT="45720" marB="45720">
                    <a:solidFill>
                      <a:srgbClr val="F6F3EB"/>
                    </a:solidFill>
                  </a:tcPr>
                </a:tc>
              </a:tr>
            </a:tbl>
          </a:graphicData>
        </a:graphic>
      </p:graphicFrame>
      <p:sp>
        <p:nvSpPr>
          <p:cNvPr id="5" name="text-186">
            <a:extLst xmlns:a="http://schemas.openxmlformats.org/drawingml/2006/main">
              <a:ext uri="{FF2B5EF4-FFF2-40B4-BE49-F238E27FC236}">
                <a16:creationId xmlns:a16="http://schemas.microsoft.com/office/drawing/2014/main" id="{17BD7983-A90B-4016-B344-D09B2F1B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883400"/>
            <a:ext cx="13716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Study 1 recall area: A = 0.4012, B = 0.3718. No stable advantage for B.</a:t>
            </a:r>
          </a:p>
        </p:txBody>
      </p:sp>
      <p:sp>
        <p:nvSpPr>
          <p:cNvPr id="6" name="text-187">
            <a:extLst xmlns:a="http://schemas.openxmlformats.org/drawingml/2006/main">
              <a:ext uri="{FF2B5EF4-FFF2-40B4-BE49-F238E27FC236}">
                <a16:creationId xmlns:a16="http://schemas.microsoft.com/office/drawing/2014/main" id="{9B4FA143-9E09-4C2D-A420-26AB94064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543800"/>
            <a:ext cx="13716000" cy="596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22 of 35 games have harmful inputs. The other 13 have undefined recall.</a:t>
            </a:r>
          </a:p>
          <a:p xmlns:a="http://schemas.openxmlformats.org/drawingml/2006/main">
            <a:pPr algn="l">
              <a:defRPr sz="19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9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These results describe small fixed games, not deletion benefit or high-dimensional truth.</a:t>
            </a:r>
          </a:p>
        </p:txBody>
      </p:sp>
    </p:spTree>
    <p:extLst>
      <p:ext uri="{BB962C8B-B14F-4D97-AF65-F5344CB8AC3E}">
        <p14:creationId xmlns:p14="http://schemas.microsoft.com/office/powerpoint/2010/main" val="628451245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6F3E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text-188">
            <a:extLst xmlns:a="http://schemas.openxmlformats.org/drawingml/2006/main">
              <a:ext uri="{FF2B5EF4-FFF2-40B4-BE49-F238E27FC236}">
                <a16:creationId xmlns:a16="http://schemas.microsoft.com/office/drawing/2014/main" id="{05293D1C-C4B9-4A5E-8445-1F901A812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8800"/>
            <a:ext cx="138430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Backup: multi-objective selection as an extension</a:t>
            </a:r>
          </a:p>
        </p:txBody>
      </p:sp>
      <p:sp>
        <p:nvSpPr>
          <p:cNvPr id="2" name="rule-189">
            <a:extLst xmlns:a="http://schemas.openxmlformats.org/drawingml/2006/main">
              <a:ext uri="{FF2B5EF4-FFF2-40B4-BE49-F238E27FC236}">
                <a16:creationId xmlns:a16="http://schemas.microsoft.com/office/drawing/2014/main" id="{8CC452E4-29A8-4420-8732-9669F8EAE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01800"/>
            <a:ext cx="1371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C7C78"/>
            </a:solidFill>
          </a:ln>
        </p:spPr>
      </p:sp>
      <p:sp>
        <p:nvSpPr>
          <p:cNvPr id="3" name="text-190">
            <a:extLst xmlns:a="http://schemas.openxmlformats.org/drawingml/2006/main">
              <a:ext uri="{FF2B5EF4-FFF2-40B4-BE49-F238E27FC236}">
                <a16:creationId xmlns:a16="http://schemas.microsoft.com/office/drawing/2014/main" id="{ABF42746-CA4B-4976-AA75-ECDA903F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2400" y="80772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16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16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4" name="text-191">
            <a:extLst xmlns:a="http://schemas.openxmlformats.org/drawingml/2006/main">
              <a:ext uri="{FF2B5EF4-FFF2-40B4-BE49-F238E27FC236}">
                <a16:creationId xmlns:a16="http://schemas.microsoft.com/office/drawing/2014/main" id="{01D1B090-6F16-4AAA-AABA-82000695D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95500"/>
            <a:ext cx="13716000" cy="67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31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A possible later use of the audit</a:t>
            </a:r>
          </a:p>
        </p:txBody>
      </p:sp>
      <p:sp>
        <p:nvSpPr>
          <p:cNvPr id="5" name="stage-192">
            <a:extLst xmlns:a="http://schemas.openxmlformats.org/drawingml/2006/main">
              <a:ext uri="{FF2B5EF4-FFF2-40B4-BE49-F238E27FC236}">
                <a16:creationId xmlns:a16="http://schemas.microsoft.com/office/drawing/2014/main" id="{7BF3FE4B-6E48-4FF7-B55F-2C9F0B35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6" name="text-193">
            <a:extLst xmlns:a="http://schemas.openxmlformats.org/drawingml/2006/main">
              <a:ext uri="{FF2B5EF4-FFF2-40B4-BE49-F238E27FC236}">
                <a16:creationId xmlns:a16="http://schemas.microsoft.com/office/drawing/2014/main" id="{24223327-0B4A-4A87-B081-C53EC7CC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MinPPI evidence</a:t>
            </a:r>
          </a:p>
        </p:txBody>
      </p:sp>
      <p:sp>
        <p:nvSpPr>
          <p:cNvPr id="7" name="text-194">
            <a:extLst xmlns:a="http://schemas.openxmlformats.org/drawingml/2006/main">
              <a:ext uri="{FF2B5EF4-FFF2-40B4-BE49-F238E27FC236}">
                <a16:creationId xmlns:a16="http://schemas.microsoft.com/office/drawing/2014/main" id="{D1EA6773-FBBF-4912-BEFE-FF7A4A3E7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Propose a smaller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search space.</a:t>
            </a:r>
          </a:p>
        </p:txBody>
      </p:sp>
      <p:sp>
        <p:nvSpPr>
          <p:cNvPr id="8" name="stage-195">
            <a:extLst xmlns:a="http://schemas.openxmlformats.org/drawingml/2006/main">
              <a:ext uri="{FF2B5EF4-FFF2-40B4-BE49-F238E27FC236}">
                <a16:creationId xmlns:a16="http://schemas.microsoft.com/office/drawing/2014/main" id="{4A77AB3B-DF7D-4202-920D-B95330507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0F0EB"/>
          </a:solidFill>
          <a:ln xmlns:a="http://schemas.openxmlformats.org/drawingml/2006/main" w="16510">
            <a:solidFill>
              <a:srgbClr val="0C7C78"/>
            </a:solidFill>
          </a:ln>
        </p:spPr>
      </p:sp>
      <p:sp>
        <p:nvSpPr>
          <p:cNvPr id="9" name="text-196">
            <a:extLst xmlns:a="http://schemas.openxmlformats.org/drawingml/2006/main">
              <a:ext uri="{FF2B5EF4-FFF2-40B4-BE49-F238E27FC236}">
                <a16:creationId xmlns:a16="http://schemas.microsoft.com/office/drawing/2014/main" id="{D3D20592-4A37-44B7-9D9B-261E5554C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NSGA-II search</a:t>
            </a:r>
          </a:p>
        </p:txBody>
      </p:sp>
      <p:sp>
        <p:nvSpPr>
          <p:cNvPr id="10" name="text-197">
            <a:extLst xmlns:a="http://schemas.openxmlformats.org/drawingml/2006/main">
              <a:ext uri="{FF2B5EF4-FFF2-40B4-BE49-F238E27FC236}">
                <a16:creationId xmlns:a16="http://schemas.microsoft.com/office/drawing/2014/main" id="{189805DA-0B25-4911-93F7-381C42F58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8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Trade input count against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prediction performance.</a:t>
            </a:r>
          </a:p>
        </p:txBody>
      </p:sp>
      <p:sp>
        <p:nvSpPr>
          <p:cNvPr id="11" name="stage-198">
            <a:extLst xmlns:a="http://schemas.openxmlformats.org/drawingml/2006/main">
              <a:ext uri="{FF2B5EF4-FFF2-40B4-BE49-F238E27FC236}">
                <a16:creationId xmlns:a16="http://schemas.microsoft.com/office/drawing/2014/main" id="{D2D2D22C-36D4-4537-A0E8-A9B13A1FF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3505200"/>
            <a:ext cx="3810000" cy="2019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3EB"/>
          </a:solidFill>
          <a:ln xmlns:a="http://schemas.openxmlformats.org/drawingml/2006/main" w="16510">
            <a:solidFill>
              <a:srgbClr val="526675"/>
            </a:solidFill>
          </a:ln>
        </p:spPr>
      </p:sp>
      <p:sp>
        <p:nvSpPr>
          <p:cNvPr id="12" name="text-199">
            <a:extLst xmlns:a="http://schemas.openxmlformats.org/drawingml/2006/main">
              <a:ext uri="{FF2B5EF4-FFF2-40B4-BE49-F238E27FC236}">
                <a16:creationId xmlns:a16="http://schemas.microsoft.com/office/drawing/2014/main" id="{8BD63001-1F1D-4041-8460-DF76BBEC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3657600"/>
            <a:ext cx="3403600" cy="546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500" b="1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500" b="1">
                <a:solidFill>
                  <a:srgbClr val="0B2033"/>
                </a:solidFill>
                <a:latin typeface="Arial"/>
                <a:ea typeface="Arial"/>
                <a:cs typeface="Arial"/>
              </a:rPr>
              <a:t>Candidate models</a:t>
            </a:r>
          </a:p>
        </p:txBody>
      </p:sp>
      <p:sp>
        <p:nvSpPr>
          <p:cNvPr id="13" name="text-200">
            <a:extLst xmlns:a="http://schemas.openxmlformats.org/drawingml/2006/main">
              <a:ext uri="{FF2B5EF4-FFF2-40B4-BE49-F238E27FC236}">
                <a16:creationId xmlns:a16="http://schemas.microsoft.com/office/drawing/2014/main" id="{2F1EB6DD-59C9-47F3-BA2B-286AACF6E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71200" y="4241800"/>
            <a:ext cx="340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Offer different</a:t>
            </a:r>
          </a:p>
          <a:p xmlns:a="http://schemas.openxmlformats.org/drawingml/2006/main">
            <a:pPr algn="l">
              <a:defRPr sz="2300" b="0">
                <a:solidFill>
                  <a:srgbClr val="0B2033"/>
                </a:solidFill>
                <a:latin typeface="Arial"/>
                <a:ea typeface="Arial"/>
                <a:cs typeface="Arial"/>
              </a:defRPr>
            </a:pPr>
            <a:r>
              <a:rPr sz="2300" b="0">
                <a:solidFill>
                  <a:srgbClr val="0B2033"/>
                </a:solidFill>
                <a:latin typeface="Arial"/>
                <a:ea typeface="Arial"/>
                <a:cs typeface="Arial"/>
              </a:rPr>
              <a:t>size–performance choices.</a:t>
            </a:r>
          </a:p>
        </p:txBody>
      </p:sp>
      <p:cxnSp>
        <p:nvCxnSpPr>
          <p:cNvPr id="31" name=""/>
          <p:cNvCxnSpPr>
            <a:stCxn xmlns:a="http://schemas.openxmlformats.org/drawingml/2006/main" id="5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4572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cxnSp>
        <p:nvCxnSpPr>
          <p:cNvPr id="32" name=""/>
          <p:cNvCxnSpPr>
            <a:stCxn xmlns:a="http://schemas.openxmlformats.org/drawingml/2006/main" id="8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9525000" y="4514850"/>
            <a:ext cx="1143000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>
            <a:solidFill>
              <a:srgbClr val="0C7C78"/>
            </a:solidFill>
            <a:tailEnd type="triangle" w="med" len="med"/>
          </a:ln>
        </p:spPr>
      </p:cxnSp>
      <p:sp>
        <p:nvSpPr>
          <p:cNvPr id="16" name="text-201">
            <a:extLst xmlns:a="http://schemas.openxmlformats.org/drawingml/2006/main">
              <a:ext uri="{FF2B5EF4-FFF2-40B4-BE49-F238E27FC236}">
                <a16:creationId xmlns:a16="http://schemas.microsoft.com/office/drawing/2014/main" id="{FDFA8598-D082-435D-9EEA-4827E7C12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184900"/>
            <a:ext cx="13716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600" b="1">
                <a:solidFill>
                  <a:srgbClr val="0C7C78"/>
                </a:solidFill>
                <a:latin typeface="Arial"/>
                <a:ea typeface="Arial"/>
                <a:cs typeface="Arial"/>
              </a:defRPr>
            </a:pPr>
            <a:r>
              <a:rPr sz="2600" b="1">
                <a:solidFill>
                  <a:srgbClr val="0C7C78"/>
                </a:solidFill>
                <a:latin typeface="Arial"/>
                <a:ea typeface="Arial"/>
                <a:cs typeface="Arial"/>
              </a:rPr>
              <a:t>The supervised prediction task stays fixed throughout the search.</a:t>
            </a:r>
          </a:p>
        </p:txBody>
      </p:sp>
      <p:sp>
        <p:nvSpPr>
          <p:cNvPr id="17" name="text-202">
            <a:extLst xmlns:a="http://schemas.openxmlformats.org/drawingml/2006/main">
              <a:ext uri="{FF2B5EF4-FFF2-40B4-BE49-F238E27FC236}">
                <a16:creationId xmlns:a16="http://schemas.microsoft.com/office/drawing/2014/main" id="{3BCFCB11-EFE6-4C49-9E13-5AE373FB3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404100"/>
            <a:ext cx="1371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526675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526675"/>
                </a:solidFill>
                <a:latin typeface="Arial"/>
                <a:ea typeface="Arial"/>
                <a:cs typeface="Arial"/>
              </a:rPr>
              <a:t>Any benefit must include the preceding audit cost. This extension is outside the core evidence.</a:t>
            </a:r>
          </a:p>
        </p:txBody>
      </p:sp>
    </p:spTree>
    <p:extLst>
      <p:ext uri="{BB962C8B-B14F-4D97-AF65-F5344CB8AC3E}">
        <p14:creationId xmlns:p14="http://schemas.microsoft.com/office/powerpoint/2010/main" val="13816659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2026-09-30T06:58:35.7520000Z</dcterms:created>
  <dcterms:modified xsi:type="dcterms:W3CDTF">2026-09-30T06:58:35.7520000Z</dcterms:modified>
</coreProperties>
</file>