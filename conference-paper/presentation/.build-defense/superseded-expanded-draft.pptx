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7231bdc7db446a" /><Relationship Type="http://schemas.openxmlformats.org/officeDocument/2006/relationships/extended-properties" Target="/docProps/app.xml" Id="Rc4fad021fb1e4946" /><Relationship Type="http://schemas.openxmlformats.org/officeDocument/2006/relationships/officeDocument" Target="/ppt/presentation.xml" Id="Reb25ef2385424d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839df3a7fb44b1"/>
  </p:sldMasterIdLst>
  <p:notesMasterIdLst>
    <p:notesMasterId xmlns:r="http://schemas.openxmlformats.org/officeDocument/2006/relationships" r:id="R4661ca12aa8946ba"/>
  </p:notesMasterIdLst>
  <p:sldIdLst>
    <p:sldId xmlns:r="http://schemas.openxmlformats.org/officeDocument/2006/relationships" id="256" r:id="R713050c429534438"/>
    <p:sldId xmlns:r="http://schemas.openxmlformats.org/officeDocument/2006/relationships" id="257" r:id="Rd72ca663b90c4dca"/>
    <p:sldId xmlns:r="http://schemas.openxmlformats.org/officeDocument/2006/relationships" id="258" r:id="Re592c197cb1a410e"/>
    <p:sldId xmlns:r="http://schemas.openxmlformats.org/officeDocument/2006/relationships" id="259" r:id="R93b10ecfb2fa4ce5"/>
    <p:sldId xmlns:r="http://schemas.openxmlformats.org/officeDocument/2006/relationships" id="260" r:id="R851c4f5ad2b94515"/>
    <p:sldId xmlns:r="http://schemas.openxmlformats.org/officeDocument/2006/relationships" id="261" r:id="Rcf2ae4e041f14956"/>
    <p:sldId xmlns:r="http://schemas.openxmlformats.org/officeDocument/2006/relationships" id="262" r:id="Rc505ad3537734b40"/>
    <p:sldId xmlns:r="http://schemas.openxmlformats.org/officeDocument/2006/relationships" id="263" r:id="R4c414e2feb1d403b"/>
    <p:sldId xmlns:r="http://schemas.openxmlformats.org/officeDocument/2006/relationships" id="264" r:id="R4b41c1eae1944ad9"/>
    <p:sldId xmlns:r="http://schemas.openxmlformats.org/officeDocument/2006/relationships" id="265" r:id="R9cd7314a4b414ff7"/>
    <p:sldId xmlns:r="http://schemas.openxmlformats.org/officeDocument/2006/relationships" id="266" r:id="R6aa9293c8f224cc5"/>
    <p:sldId xmlns:r="http://schemas.openxmlformats.org/officeDocument/2006/relationships" id="267" r:id="R1a9abac700954e77"/>
    <p:sldId xmlns:r="http://schemas.openxmlformats.org/officeDocument/2006/relationships" id="268" r:id="R583e0a897c224bad"/>
    <p:sldId xmlns:r="http://schemas.openxmlformats.org/officeDocument/2006/relationships" id="269" r:id="Rd499839fcc1f4262"/>
    <p:sldId xmlns:r="http://schemas.openxmlformats.org/officeDocument/2006/relationships" id="270" r:id="Rce0ea654bfb64278"/>
    <p:sldId xmlns:r="http://schemas.openxmlformats.org/officeDocument/2006/relationships" id="271" r:id="R3c2a71e5dacc447a"/>
    <p:sldId xmlns:r="http://schemas.openxmlformats.org/officeDocument/2006/relationships" id="272" r:id="Re3989720d7174ad2"/>
    <p:sldId xmlns:r="http://schemas.openxmlformats.org/officeDocument/2006/relationships" id="273" r:id="Rf08b2e03bd864b17"/>
    <p:sldId xmlns:r="http://schemas.openxmlformats.org/officeDocument/2006/relationships" id="274" r:id="Rf43af24717b846af"/>
    <p:sldId xmlns:r="http://schemas.openxmlformats.org/officeDocument/2006/relationships" id="275" r:id="R51104040d3e141b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0dabb87e32475a" /><Relationship Type="http://schemas.openxmlformats.org/officeDocument/2006/relationships/slideMaster" Target="/ppt/slideMasters/slideMaster1.xml" Id="R13839df3a7fb44b1" /><Relationship Type="http://schemas.openxmlformats.org/officeDocument/2006/relationships/notesMaster" Target="/ppt/notesMasters/notesMaster1.xml" Id="R4661ca12aa8946ba" /><Relationship Type="http://schemas.openxmlformats.org/officeDocument/2006/relationships/presProps" Target="/ppt/presProps.xml" Id="R02720db7698541e6" /><Relationship Type="http://schemas.openxmlformats.org/officeDocument/2006/relationships/tableStyles" Target="/ppt/tableStyles.xml" Id="R8e8bb2020efc40c7" /><Relationship Type="http://schemas.openxmlformats.org/officeDocument/2006/relationships/slide" Target="/ppt/slides/slide1.xml" Id="R713050c429534438" /><Relationship Type="http://schemas.openxmlformats.org/officeDocument/2006/relationships/slide" Target="/ppt/slides/slide2.xml" Id="Rd72ca663b90c4dca" /><Relationship Type="http://schemas.openxmlformats.org/officeDocument/2006/relationships/slide" Target="/ppt/slides/slide3.xml" Id="Re592c197cb1a410e" /><Relationship Type="http://schemas.openxmlformats.org/officeDocument/2006/relationships/slide" Target="/ppt/slides/slide4.xml" Id="R93b10ecfb2fa4ce5" /><Relationship Type="http://schemas.openxmlformats.org/officeDocument/2006/relationships/slide" Target="/ppt/slides/slide5.xml" Id="R851c4f5ad2b94515" /><Relationship Type="http://schemas.openxmlformats.org/officeDocument/2006/relationships/slide" Target="/ppt/slides/slide6.xml" Id="Rcf2ae4e041f14956" /><Relationship Type="http://schemas.openxmlformats.org/officeDocument/2006/relationships/slide" Target="/ppt/slides/slide7.xml" Id="Rc505ad3537734b40" /><Relationship Type="http://schemas.openxmlformats.org/officeDocument/2006/relationships/slide" Target="/ppt/slides/slide8.xml" Id="R4c414e2feb1d403b" /><Relationship Type="http://schemas.openxmlformats.org/officeDocument/2006/relationships/slide" Target="/ppt/slides/slide9.xml" Id="R4b41c1eae1944ad9" /><Relationship Type="http://schemas.openxmlformats.org/officeDocument/2006/relationships/slide" Target="/ppt/slides/slide10.xml" Id="R9cd7314a4b414ff7" /><Relationship Type="http://schemas.openxmlformats.org/officeDocument/2006/relationships/slide" Target="/ppt/slides/slide11.xml" Id="R6aa9293c8f224cc5" /><Relationship Type="http://schemas.openxmlformats.org/officeDocument/2006/relationships/slide" Target="/ppt/slides/slide12.xml" Id="R1a9abac700954e77" /><Relationship Type="http://schemas.openxmlformats.org/officeDocument/2006/relationships/slide" Target="/ppt/slides/slide13.xml" Id="R583e0a897c224bad" /><Relationship Type="http://schemas.openxmlformats.org/officeDocument/2006/relationships/slide" Target="/ppt/slides/slide14.xml" Id="Rd499839fcc1f4262" /><Relationship Type="http://schemas.openxmlformats.org/officeDocument/2006/relationships/slide" Target="/ppt/slides/slide15.xml" Id="Rce0ea654bfb64278" /><Relationship Type="http://schemas.openxmlformats.org/officeDocument/2006/relationships/slide" Target="/ppt/slides/slide16.xml" Id="R3c2a71e5dacc447a" /><Relationship Type="http://schemas.openxmlformats.org/officeDocument/2006/relationships/slide" Target="/ppt/slides/slide17.xml" Id="Re3989720d7174ad2" /><Relationship Type="http://schemas.openxmlformats.org/officeDocument/2006/relationships/slide" Target="/ppt/slides/slide18.xml" Id="Rf08b2e03bd864b17" /><Relationship Type="http://schemas.openxmlformats.org/officeDocument/2006/relationships/slide" Target="/ppt/slides/slide19.xml" Id="Rf43af24717b846af" /><Relationship Type="http://schemas.openxmlformats.org/officeDocument/2006/relationships/slide" Target="/ppt/slides/slide20.xml" Id="R51104040d3e141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854510832a4c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f6ca1437c4722" /><Relationship Type="http://schemas.openxmlformats.org/officeDocument/2006/relationships/notesMaster" Target="/ppt/notesMasters/notesMaster1.xml" Id="R858046c5ea014d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9f660f820748ab" /><Relationship Type="http://schemas.openxmlformats.org/officeDocument/2006/relationships/notesMaster" Target="/ppt/notesMasters/notesMaster1.xml" Id="R279ff3b82f004a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9dc8e0e22e4ad5" /><Relationship Type="http://schemas.openxmlformats.org/officeDocument/2006/relationships/notesMaster" Target="/ppt/notesMasters/notesMaster1.xml" Id="R6a702674be5c45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d4679b02784b49" /><Relationship Type="http://schemas.openxmlformats.org/officeDocument/2006/relationships/notesMaster" Target="/ppt/notesMasters/notesMaster1.xml" Id="R5ae8a9675a184a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845cf2e68540f0" /><Relationship Type="http://schemas.openxmlformats.org/officeDocument/2006/relationships/notesMaster" Target="/ppt/notesMasters/notesMaster1.xml" Id="R836c64acb07144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6a1c1a188043d5" /><Relationship Type="http://schemas.openxmlformats.org/officeDocument/2006/relationships/notesMaster" Target="/ppt/notesMasters/notesMaster1.xml" Id="R2ca967972aa443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4b9fb39d2240d6" /><Relationship Type="http://schemas.openxmlformats.org/officeDocument/2006/relationships/notesMaster" Target="/ppt/notesMasters/notesMaster1.xml" Id="Rf6201baf5f9844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d9e422a14245fa" /><Relationship Type="http://schemas.openxmlformats.org/officeDocument/2006/relationships/notesMaster" Target="/ppt/notesMasters/notesMaster1.xml" Id="R3dd547bd71c84f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5b4d28d3b0482b" /><Relationship Type="http://schemas.openxmlformats.org/officeDocument/2006/relationships/notesMaster" Target="/ppt/notesMasters/notesMaster1.xml" Id="Rbad3791c1c694c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31f0ff4000484d" /><Relationship Type="http://schemas.openxmlformats.org/officeDocument/2006/relationships/notesMaster" Target="/ppt/notesMasters/notesMaster1.xml" Id="R933c8e09bda742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e570109a024f90" /><Relationship Type="http://schemas.openxmlformats.org/officeDocument/2006/relationships/notesMaster" Target="/ppt/notesMasters/notesMaster1.xml" Id="Ref8a89d655fa4d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d512896baf4824" /><Relationship Type="http://schemas.openxmlformats.org/officeDocument/2006/relationships/notesMaster" Target="/ppt/notesMasters/notesMaster1.xml" Id="Ra66ffed4b7dd48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61c0a85b7c440c" /><Relationship Type="http://schemas.openxmlformats.org/officeDocument/2006/relationships/notesMaster" Target="/ppt/notesMasters/notesMaster1.xml" Id="Ra58715a4a2b047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991c3ce6be47bb" /><Relationship Type="http://schemas.openxmlformats.org/officeDocument/2006/relationships/notesMaster" Target="/ppt/notesMasters/notesMaster1.xml" Id="R5afca19d2d594f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dc449e04494cf4" /><Relationship Type="http://schemas.openxmlformats.org/officeDocument/2006/relationships/notesMaster" Target="/ppt/notesMasters/notesMaster1.xml" Id="Rcafd2f54163045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ce77499777477c" /><Relationship Type="http://schemas.openxmlformats.org/officeDocument/2006/relationships/notesMaster" Target="/ppt/notesMasters/notesMaster1.xml" Id="R14de7776b77141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9ceb22c5e24a5a" /><Relationship Type="http://schemas.openxmlformats.org/officeDocument/2006/relationships/notesMaster" Target="/ppt/notesMasters/notesMaster1.xml" Id="R09384bd128df40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de9f09c8c945d5" /><Relationship Type="http://schemas.openxmlformats.org/officeDocument/2006/relationships/notesMaster" Target="/ppt/notesMasters/notesMaster1.xml" Id="Re40b9c07466247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17f295c47542b6" /><Relationship Type="http://schemas.openxmlformats.org/officeDocument/2006/relationships/notesMaster" Target="/ppt/notesMasters/notesMaster1.xml" Id="R746b882935c94f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d6dfbbb2718464a" /><Relationship Type="http://schemas.openxmlformats.org/officeDocument/2006/relationships/notesMaster" Target="/ppt/notesMasters/notesMaster1.xml" Id="Rb27fd92e577844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25 秒。研究主题是 MinPPI：在给定模型、数据划分和效用门槛下寻找特征的上下文有害证据，并研究它能否支持特征选择。本次重点讲研究意义、理论和实验设计，实验结果仍在优化，不把阶段性观察当作最终优势。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  <a:p xmlns:a="http://schemas.openxmlformats.org/drawingml/2006/main">
            <a:r>
              <a:t>Original presentation PDF, slide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40 秒。先解释为什么“多一个特征”不一定更好：我们讨论的是有限数据和固定学习算法下，重新拟合不同子集的实际表现。平均重要性会概括许多上下文，而研究希望保留一个可具体复查的失败上下文。实际意义是为压缩、后续模型维护提供证据，但是否降低成本或改善预测需要单独实验。这里并不声称相关变量都必须删除，也不把负 SHAP 当成有害标签。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§1–3</a:t>
            </a:r>
          </a:p>
          <a:p xmlns:a="http://schemas.openxmlformats.org/drawingml/2006/main">
            <a:r>
              <a:t>C:/work/学校/A.SPBU/paper/ZhaoCHI/Paper/Master/conference-paper/paper/icomp2026_conference.tex 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35 秒。项目的目标分为三个可检验的问题。第一，有限预算能找全多少有害见证；第二，删除策略在统一容忍度下是否值得；第三，给出的证据能否复查、代价是否透明。这三个问题互相联系，但第一个见证成立并不能直接推出联合删除安全。预期产出是配额条件下的审计方法、精确参照评价以及独立的删除决策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§1.1–1.3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秒。这一页明确学习范式。我们手里有成对的输入 X 和标签 y，模型根据已知标签学习映射，所以六个任务都是监督学习。特征是作为预测输入的一列，不是一个样本，也不是目标标签。以邮件为例，每一行是一封邮件，free 的词频、感叹号频率是输入列，是否垃圾邮件是目标。MinPPI 中的参与者就是当前表示的一列，联盟是一组列。每选一个联盟，都用相同的监督学习模型重新训练，再通过验证标签计算效用。数据集可以被用于其他研究，但当前项目并未执行无监督聚类或强化学习。PCA 是部分数据的表示来源，也不会改变这里的监督分类任务。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C:/work/学校/A.SPBU/paper/ZhaoCHI/Paper/Master/configs/spambase.yaml</a:t>
            </a:r>
          </a:p>
          <a:p xmlns:a="http://schemas.openxmlformats.org/drawingml/2006/main">
            <a:r>
              <a:t>C:/work/学校/A.SPBU/paper/ZhaoCHI/Paper/Master/experiments/preprocess_data/preprocess_Spambase.py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40 秒。按用途介绍理论，不逐个念名词。合作博弈把特征看作参与者。Shapley 和 Banzhaf 的经典思想是平均边际贡献，而本研究问是否存在负向阈值翻转。最小聚合已有 MinShap 等直接前驱，因此不把 min 本身宣称为首创。本文将其特化为固定效用配额的二值博弈。概率论说明发现能力受见证概率限制；多目标优化用于后续的压缩与效用权衡。SHAP 对模型预测的归因与重新训练后的效用博弈需要区分。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§2–3</a:t>
            </a:r>
          </a:p>
          <a:p xmlns:a="http://schemas.openxmlformats.org/drawingml/2006/main">
            <a:r>
              <a:t>Shapley (1953), A Value for n-Person Games; Banzhaf (1965), Weighted Voting Doesn’t Work: A Mathematical Analysis.</a:t>
            </a:r>
          </a:p>
          <a:p xmlns:a="http://schemas.openxmlformats.org/drawingml/2006/main">
            <a:r>
              <a:t>Zheng &amp; Raskutti (2026), MinShap: https://arxiv.org/abs/2604.15107</a:t>
            </a:r>
          </a:p>
          <a:p xmlns:a="http://schemas.openxmlformats.org/drawingml/2006/main">
            <a:r>
              <a:t>Lundberg &amp; Lee (2017), SHAP: https://arxiv.org/abs/1705.07874</a:t>
            </a:r>
          </a:p>
          <a:p xmlns:a="http://schemas.openxmlformats.org/drawingml/2006/main">
            <a:r>
              <a:t>Deb et al. (2002), NSGA-II: https://doi.org/10.1109/4235.996017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秒。本页数字仅为教学示例。假设完整特征效用为 0.90，配额为它的 95%，即 0.855。集合 S 的效用 0.87 达标，加上 i 后效用 0.84 不达标，二元边际就是负一。保存特征集合、两侧模型效用和配额就能复查这次负翻转。注意，见证只说明在 S 这个上下文中出现过问题，并没有直接评价从完整集合删除 i 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All numerical utilities on this slide are explicitly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秒。固定数据划分、预处理、学习器、随机种子、效用和配额，才得到本研究讨论的一个固定博弈。这里 U 是验证集上的表现，训练仍只使用训练集。二元博弈可非单调，所以增加特征可能从达标变成不达标。三个值是精确枚举下的定义，0 并不意味着没有预测价值；+1 要求所有上下文都是正向决定，是非常强的条件。MinSS 与 MinBz 的最小值相同，因为各目标排除子集都能作为某种排列的前驱集合，这不意味着经典加权指数相同。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C:/work/学校/A.SPBU/paper/ZhaoCHI/Paper/Master/conference-paper/paper/icomp2026_conference.tex Method / Proposition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秒。算法 A 并不是对所有子集等概率，而是先等概率抽集合大小，再在该大小内等概率抽子集。算法 B 只使用训练侧的互信息和相关结构，不使用精确标签来指导寻找。采样最小值不低于真实最小值，所以负一一旦出现就有证据，但没有出现负一可能只是漏检。最新协议用总边际查询预算统一 A/B，找到了见证的特征会退出轮转。引导是否更好要看数据，不由理论公式自动保证。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§4.4–4.6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秒。数据集中有标签，使我们能够把模型预测与真实目标进行比较，从而定义每个子集的效用。四个二分类使用 ROC AUC，ISOLET 是 26 分类并使用宏平均 one-vs-rest AUC，Abalone 在项目中将 Rings 作为回归目标并用 R² 评价。Madelon 虽然是人工生成数据，仍有标签，因而是监督分类。Abalone 的 Rings 与年龄有关，但本项目直接预测环数，不把年龄另加为输入。行数是项目使用的有标签样本量，列数不含目标。较高维池还会进行训练侧 MI 预筛选到最多100列。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Table: Datasets</a:t>
            </a:r>
          </a:p>
          <a:p xmlns:a="http://schemas.openxmlformats.org/drawingml/2006/main">
            <a:r>
              <a:t>C:/work/学校/A.SPBU/paper/ZhaoCHI/Paper/Master/configs/credit_card_fraud.yaml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https://www.kaggle.com/datasets/mlg-ulb/creditcardfraud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秒。详细说明三类变量。Spambase 的48维词频指某词占邮件单词数的百分比，6维字符频率和3维连续大写统计共同构成57列。目标 is_spam 不属于特征。Madelon 的5个信息维度加15个线性组合构成20个相关信息变量，另480个干扰列，总计500列。Gisette 把手写4和9图像转成数值描述，含像素及高阶乘积等衍生变量，再加入2500个干扰变量。这里的特征既可能是可解释的原始统计量，也可能是变换后的数值坐标。Madelon、Gisette 的原始变量身份并未按语义逐列公开，不能给 f_i 编造实际含义。已知生成角色也不能替代固定模型下的精确有害标签。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C:/work/学校/A.SPBU/paper/ZhaoCHI/Paper/Master/experiments/preprocess_data/preprocess_Spambase.py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秒。ISOLET 的617个数值是已经提取好的声学描述，不是原始音频波形；原始资料没有给出每列的具体语义顺序，所以只说明可核实的特征族。Fraud 是监督二分类，V1到V28是匿名PCA主成分，加上金额构成项目的29列，Time不进入本项目输入。PCA作为表示处理不意味着当前任务是无监督学习，标签 Class 仍用于训练和效用评价。PCA成分的负见证也不能直接解释成某个原始金融行为有害。Abalone 的八列全部列出，其中Sex是原始类别变量在现有数据中的数值表示，其余七列是尺寸和重量。Rings是目标，不是第九个输入。完整八维枚举提供精确参照。这些数据能用于项目的共同原因是标签、可选择的有限列集合，以及可计算的监督预测效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https://www.openml.org/api/v1/json/data/1597</a:t>
            </a:r>
          </a:p>
          <a:p xmlns:a="http://schemas.openxmlformats.org/drawingml/2006/main">
            <a:r>
              <a:t>https://archive-beta.ics.uci.edu/dataset/1/abalone</a:t>
            </a:r>
          </a:p>
          <a:p xmlns:a="http://schemas.openxmlformats.org/drawingml/2006/main">
            <a:r>
              <a:t>C:/work/学校/A.SPBU/paper/ZhaoCHI/Paper/Master/data/raw/abalone.csv</a:t>
            </a:r>
          </a:p>
          <a:p xmlns:a="http://schemas.openxmlformats.org/drawingml/2006/main">
            <a:r>
              <a:t>C:/work/学校/A.SPBU/paper/ZhaoCHI/Paper/Master/data/raw/credit_card_fraud.csv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秒。E1 的 35 个游戏已经完成，这是当前最直接的发现能力评价。组成是 Abalone 1 面板、其余三个数据集各 2 面板，再乘 5 个划分。每个八维游戏完整计算 256 个效用，之后 A/B 通过盲查询接口采样，不能访问完整表或精确标签。每个游戏 30 次日程重复，总上限 800 个边际查询。主终点为每次查询后的召回率平均值，也就是归一化召回面积。没有 harmful 的游戏不是失败，召回应记 NA，并保留分母。30 次日程重复也不是 30 个独立数据集。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秒。E2 尚未实施。真实数据很难解释哪些结构导致漏检，所以补三个受控机制。S1 是 logistic(x1+x2) 的二元任务；S2 额外加入 x3=x1+0.1e3、x4=x2+0.1e4；S3 是两变量符号的 XOR，再独立翻转 10% 的标签。每种五个固定实例，各 2,000 行八列。仍用同一模型和完整枚举，避免把生成角色当成审计真值：生成上无关不等于固定样本、模型、配额下有害。所有 15 个槽位都保留，不根据效果更换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§22.3 and §23</a:t>
            </a:r>
          </a:p>
          <a:p xmlns:a="http://schemas.openxmlformats.org/drawingml/2006/main">
            <a:r>
              <a:t>C:/work/学校/A.SPBU/paper/ZhaoCHI/Paper/Master-mr2/MR3_E2_PLAN.md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65 秒。这是应用层面最关键的改进，而且尚未完成。旧方案反复用同一验证集寻找见证和做 gate，新 E4 把验证部分分成独立的选择集与 gate。每种策略只能提交一个候选，gate 不通过就回 full，不能继续尝试直到通过。子集冻结后，统一在非测试 80% 上重新拟合模型，预处理参数仍来自原 64% train。分类允许损失 0.005 AUC，回归 0.01 raw R²。这只是预先固定的有限样本点估计规则，不等于统计上的无损或非劣保证。首批为四数据集各五划分，共 20 个八维决策游戏。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秒。不能只赢过随机删除就认为有实用价值，因此引入简单、可解释的强对照。MI 按互信息，TreeSHAP 按平均绝对归因，静态 LOFO 逐一去掉特征后只计算一次得分，RFE 是同一 XGBoost 上的递归特征消除。portfolio 在选择验证集上合并三种排名的可行前缀，取最大压缩，并计入三个排名的全成本。主比较预先固定为 A 对 portfolio，不能看到 B 的效果后换主比较。逐数据集报告测试效用差，不将 AUC 和 R² 的原始差值直接平均成总体结论。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§7.3–7.4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40 秒。题目中的多目标特征选择由两个目标构成：保留特征比例和预测损失。一个解只有在至少一项更好、另一项不更差时才支配另一个解，所以最终得到多个折中解。NSGA-II 通过非支配排序和拥挤距离保持这些解的多样性。MinPPI 可在搜索前给出候选过滤，但这是次要应用。p0 必须使用过滤前相同的维数分母。旧实验的种群是 40、每个变体 800 evaluations，超体积参照点 (1.1,1.1)。相同搜索评价次数不代表同端到端耗时，重新比较前要把审计成本纳入。最新路线先完成发现和独立删除实验，再决定是否扩展搜索。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Experimental design</a:t>
            </a:r>
          </a:p>
          <a:p xmlns:a="http://schemas.openxmlformats.org/drawingml/2006/main">
            <a:r>
              <a:t>C:/work/学校/A.SPBU/paper/ZhaoCHI/Paper/Master-mr2/MAJOR_REVISION_PROTOCOL.md §7</a:t>
            </a:r>
          </a:p>
          <a:p xmlns:a="http://schemas.openxmlformats.org/drawingml/2006/main">
            <a:r>
              <a:t>Deb et al. (2002), https://doi.org/10.1109/4235.996017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40 秒。按用户要求结果简要带过。以 9 月 26 日最新台账为准：35 个游戏完整完成，其中 22 个有 harmful，13 个为空；A/B 宏平均召回面积为 0.4012/0.3718，不能宣称 B 更优。该宏平均先在同游戏平均 30 日程，再到面板、数据集，最后四数据集等权，仅有定义游戏进入召回，空游戏仍保留覆盖分母。冷缓存六次检查只表明已访问的效用及轨迹可重现，不证明稳定加速。旧六数据集结果也不建立普遍选择优势。下一步的 E2 和独立 gate/test 决策实验仍未完成。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C:/work/学校/A.SPBU/paper/ZhaoCHI/Paper/Master-mr2/MR3_P3_FINDINGS.md §1–6</a:t>
            </a:r>
          </a:p>
          <a:p xmlns:a="http://schemas.openxmlformats.org/drawingml/2006/main">
            <a:r>
              <a:t>C:/work/学校/A.SPBU/paper/ZhaoCHI/Paper/Master-mr2/MAJOR_REVISION_WORKPLAN.md Latest recovery entry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30 秒。结尾回到意义：提供一个可以复查的负向阈值翻转上下文，让特征选择的理由更具体；用精确参照衡量遗漏；再独立评价删除收益与成本。预期贡献不依赖必须证明 B 胜过 A，也不承诺通用选择优势。接下来按固定计划完成合成机制和独立决策实验。主讲至此结束，附录只在提问时使用。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 and §22</a:t>
            </a:r>
          </a:p>
          <a:p xmlns:a="http://schemas.openxmlformats.org/drawingml/2006/main">
            <a:r>
              <a:t>C:/work/学校/A.SPBU/paper/ZhaoCHI/Paper/Master-mr2/MR3_P3_FINDINGS.md Next steps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备用页。第一个结论只针对 support-level minimum，不针对经典带权平均 Shapley–Shubik 与 Banzhaf 指数。对于第二个结论，有限采样子集上的最小值大于等于全域最小值。若固定指导条件下，某个负见证每次被抽到的概率是 rho，独立 K 次至少命中它的概率为 1-(1-rho)^K，因此发现任意负见证的概率至少是这个值。若 rho=0 就没有正的发现保证。条件概率公式不保证引导 B 的 rho 高于随机 A，也不能把自适应全局轮转预算 Q 直接替代局部 IID 次数 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  <a:p xmlns:a="http://schemas.openxmlformats.org/drawingml/2006/main">
            <a:r>
              <a:t>C:/work/学校/A.SPBU/paper/ZhaoCHI/Paper/Master/conference-paper/paper/icomp2026_conference.tex Proposition 1 and finite-budget estimation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备用页。正文数据集属性参考原始发布方；实验数字和状态参考当前项目文件。精确参照游戏使用 64/16/20 划分但不访问 test；计划中的决策实验为 64/8/8/20，两者不是同一个效用博弈。新审计中回归效用为 max(raw R²,0)，同时保存 raw R²，删除 gate 和测试评价使用 raw R²。全部引用和每页中文提示在备注中。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  <a:p xmlns:a="http://schemas.openxmlformats.org/drawingml/2006/main">
            <a:r>
              <a:t>C:/work/学校/A.SPBU/paper/ZhaoCHI/Paper/Master/conference-paper/paper/icomp2026_conference.tex</a:t>
            </a:r>
          </a:p>
          <a:p xmlns:a="http://schemas.openxmlformats.org/drawingml/2006/main">
            <a:r>
              <a:t>https://arxiv.org/abs/1705.07874</a:t>
            </a:r>
          </a:p>
          <a:p xmlns:a="http://schemas.openxmlformats.org/drawingml/2006/main">
            <a:r>
              <a:t>https://arxiv.org/abs/2604.15107</a:t>
            </a:r>
          </a:p>
          <a:p xmlns:a="http://schemas.openxmlformats.org/drawingml/2006/main">
            <a:r>
              <a:t>https://doi.org/10.1109/4235.996017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https://www.kaggle.com/datasets/mlg-ulb/creditcardfraud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af72897194b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3d834906044e2b" /><Relationship Type="http://schemas.openxmlformats.org/officeDocument/2006/relationships/slideLayout" Target="/ppt/slideLayouts/slideLayout1.xml" Id="Rd2ca94165f374f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ca94165f374f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a5210e30d4ff7" /><Relationship Type="http://schemas.openxmlformats.org/officeDocument/2006/relationships/notesSlide" Target="/ppt/notesSlides/notesSlide1.xml" Id="R9ca406bd9eee41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61ee3bee5492a" /><Relationship Type="http://schemas.openxmlformats.org/officeDocument/2006/relationships/notesSlide" Target="/ppt/notesSlides/notesSlide2.xml" Id="R80b30c84d8a348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ad8b961c24408" /><Relationship Type="http://schemas.openxmlformats.org/officeDocument/2006/relationships/notesSlide" Target="/ppt/notesSlides/notesSlide3.xml" Id="R27dbc44eb9ad49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5083781354484" /><Relationship Type="http://schemas.openxmlformats.org/officeDocument/2006/relationships/notesSlide" Target="/ppt/notesSlides/notesSlide4.xml" Id="R5d9ebdba227741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87beebcba4481" /><Relationship Type="http://schemas.openxmlformats.org/officeDocument/2006/relationships/notesSlide" Target="/ppt/notesSlides/notesSlide5.xml" Id="Ra91ce61b30ee40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15a586def4c41" /><Relationship Type="http://schemas.openxmlformats.org/officeDocument/2006/relationships/notesSlide" Target="/ppt/notesSlides/notesSlide6.xml" Id="R3a4a4ea8bfce46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a7699b21d4466" /><Relationship Type="http://schemas.openxmlformats.org/officeDocument/2006/relationships/notesSlide" Target="/ppt/notesSlides/notesSlide7.xml" Id="R96b22044149645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f131480f04c5f" /><Relationship Type="http://schemas.openxmlformats.org/officeDocument/2006/relationships/notesSlide" Target="/ppt/notesSlides/notesSlide8.xml" Id="R79a3d4fe200544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ef57db3a44acc" /><Relationship Type="http://schemas.openxmlformats.org/officeDocument/2006/relationships/notesSlide" Target="/ppt/notesSlides/notesSlide9.xml" Id="R579ea46f677248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628771946474e" /><Relationship Type="http://schemas.openxmlformats.org/officeDocument/2006/relationships/notesSlide" Target="/ppt/notesSlides/notesSlide10.xml" Id="R81f213e2d0fb47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633facd8a4264" /><Relationship Type="http://schemas.openxmlformats.org/officeDocument/2006/relationships/notesSlide" Target="/ppt/notesSlides/notesSlide11.xml" Id="R72131a1962a14b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6ba5c029e4bb4" /><Relationship Type="http://schemas.openxmlformats.org/officeDocument/2006/relationships/notesSlide" Target="/ppt/notesSlides/notesSlide12.xml" Id="R2476fe3ef51148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bb028519b4a1c" /><Relationship Type="http://schemas.openxmlformats.org/officeDocument/2006/relationships/notesSlide" Target="/ppt/notesSlides/notesSlide13.xml" Id="Rab74e2fa7cab48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3e44a1f9b4d1d" /><Relationship Type="http://schemas.openxmlformats.org/officeDocument/2006/relationships/notesSlide" Target="/ppt/notesSlides/notesSlide14.xml" Id="Rdbf2722fb87448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1e56a93864e63" /><Relationship Type="http://schemas.openxmlformats.org/officeDocument/2006/relationships/notesSlide" Target="/ppt/notesSlides/notesSlide15.xml" Id="R1e55f9f3002f44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5ec5ee9834306" /><Relationship Type="http://schemas.openxmlformats.org/officeDocument/2006/relationships/notesSlide" Target="/ppt/notesSlides/notesSlide16.xml" Id="R5279d716ad7b4e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b93ffadec4729" /><Relationship Type="http://schemas.openxmlformats.org/officeDocument/2006/relationships/notesSlide" Target="/ppt/notesSlides/notesSlide17.xml" Id="R9400679b0b6e45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213e16e6a4583" /><Relationship Type="http://schemas.openxmlformats.org/officeDocument/2006/relationships/notesSlide" Target="/ppt/notesSlides/notesSlide18.xml" Id="Re89fb977d363445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bcf7fc5664b08" /><Relationship Type="http://schemas.openxmlformats.org/officeDocument/2006/relationships/notesSlide" Target="/ppt/notesSlides/notesSlide19.xml" Id="R489f9fcafa9741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bce83824445b8" /><Relationship Type="http://schemas.openxmlformats.org/officeDocument/2006/relationships/notesSlide" Target="/ppt/notesSlides/notesSlide20.xml" Id="R7de5089a48c940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C0F98737-7AFF-4FB2-A6C6-E84522B9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0E425B9-CE5A-4EDE-B2ED-7623A572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3462000" cy="123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76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MinPPI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619A7F8-155E-4796-BD5F-D65C1491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3716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Min-Marginal Power Indices for</a:t>
            </a:r>
          </a:p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Multi-Objective Feature Selection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659E873-1AEE-439C-B7D3-3A389C3C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3843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D2DEE4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D2DEE4"/>
                </a:solidFill>
                <a:latin typeface="Arial"/>
                <a:ea typeface="Arial"/>
                <a:cs typeface="Arial"/>
              </a:rPr>
              <a:t>Research motivation, theoretical basis and experimental design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7B6EDD2A-EE1B-4ED6-AA04-2ADCAD26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58A0BD7-8F84-4E98-812E-4816D36E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6300"/>
            <a:ext cx="6731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Wenjie SHI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552E9E8-45F2-400E-AF8F-25114CB1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54800"/>
            <a:ext cx="9144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Saint Petersburg State University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0BA3A94-ACCB-49C3-8959-FA79A6E4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7400"/>
            <a:ext cx="11557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Applied Mathematics and Control Processes (AMCP)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B29CC733-5F7F-4F4A-B1C7-1755E280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057900"/>
            <a:ext cx="520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Supervisor: Chi ZHAO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0EEBF07A-F97D-4B5F-9DA7-F1306827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500" y="6616700"/>
            <a:ext cx="41275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Research in progress</a:t>
            </a:r>
          </a:p>
        </p:txBody>
      </p:sp>
    </p:spTree>
    <p:extLst>
      <p:ext uri="{BB962C8B-B14F-4D97-AF65-F5344CB8AC3E}">
        <p14:creationId xmlns:p14="http://schemas.microsoft.com/office/powerpoint/2010/main" val="1703270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DE920C0F-2A5A-43D4-95B2-A768ED28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study contextual harm?</a:t>
            </a:r>
          </a:p>
        </p:txBody>
      </p:sp>
      <p:sp>
        <p:nvSpPr>
          <p:cNvPr id="2" name="rule-12">
            <a:extLst xmlns:a="http://schemas.openxmlformats.org/drawingml/2006/main">
              <a:ext uri="{FF2B5EF4-FFF2-40B4-BE49-F238E27FC236}">
                <a16:creationId xmlns:a16="http://schemas.microsoft.com/office/drawing/2014/main" id="{E2694CB2-BA92-44CF-9161-2D60BD36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3">
            <a:extLst xmlns:a="http://schemas.openxmlformats.org/drawingml/2006/main">
              <a:ext uri="{FF2B5EF4-FFF2-40B4-BE49-F238E27FC236}">
                <a16:creationId xmlns:a16="http://schemas.microsoft.com/office/drawing/2014/main" id="{65FE5398-C4BC-406C-9D87-881B8E0B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14">
            <a:extLst xmlns:a="http://schemas.openxmlformats.org/drawingml/2006/main">
              <a:ext uri="{FF2B5EF4-FFF2-40B4-BE49-F238E27FC236}">
                <a16:creationId xmlns:a16="http://schemas.microsoft.com/office/drawing/2014/main" id="{3D8066D5-F342-4C92-94C5-0B733252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feature can help on average and still break</a:t>
            </a:r>
          </a:p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an acceptable model in a particular subset.</a:t>
            </a:r>
          </a:p>
        </p:txBody>
      </p:sp>
      <p:sp>
        <p:nvSpPr>
          <p:cNvPr id="5" name="rule-15">
            <a:extLst xmlns:a="http://schemas.openxmlformats.org/drawingml/2006/main">
              <a:ext uri="{FF2B5EF4-FFF2-40B4-BE49-F238E27FC236}">
                <a16:creationId xmlns:a16="http://schemas.microsoft.com/office/drawing/2014/main" id="{AB32F52B-5038-4F2C-8C6F-8FA50F3A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6" name="text-16">
            <a:extLst xmlns:a="http://schemas.openxmlformats.org/drawingml/2006/main">
              <a:ext uri="{FF2B5EF4-FFF2-40B4-BE49-F238E27FC236}">
                <a16:creationId xmlns:a16="http://schemas.microsoft.com/office/drawing/2014/main" id="{831A8B7E-9794-4993-B116-96E1646A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4200"/>
            <a:ext cx="6413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Scientific motivation</a:t>
            </a:r>
          </a:p>
        </p:txBody>
      </p:sp>
      <p:sp>
        <p:nvSpPr>
          <p:cNvPr id="7" name="text-17">
            <a:extLst xmlns:a="http://schemas.openxmlformats.org/drawingml/2006/main">
              <a:ext uri="{FF2B5EF4-FFF2-40B4-BE49-F238E27FC236}">
                <a16:creationId xmlns:a16="http://schemas.microsoft.com/office/drawing/2014/main" id="{3ACDA687-9AD4-49C2-930C-47033DBA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2700"/>
            <a:ext cx="641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Redundancy, interactions and finite-sample fitting can make a variable useful in one subset and harmful in another.</a:t>
            </a:r>
          </a:p>
        </p:txBody>
      </p:sp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B46197EF-D76E-4729-A16B-C9A3FBBD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942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Practical motivation</a:t>
            </a:r>
          </a:p>
        </p:txBody>
      </p:sp>
      <p:sp>
        <p:nvSpPr>
          <p:cNvPr id="9" name="text-19">
            <a:extLst xmlns:a="http://schemas.openxmlformats.org/drawingml/2006/main">
              <a:ext uri="{FF2B5EF4-FFF2-40B4-BE49-F238E27FC236}">
                <a16:creationId xmlns:a16="http://schemas.microsoft.com/office/drawing/2014/main" id="{0D3194EA-894A-4C78-9C82-719E4D2D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27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Fewer input variables may reduce measurement and model cost. A checked failure context gives a concrete reason to test removal.</a:t>
            </a:r>
          </a:p>
        </p:txBody>
      </p:sp>
      <p:sp>
        <p:nvSpPr>
          <p:cNvPr id="10" name="text-20">
            <a:extLst xmlns:a="http://schemas.openxmlformats.org/drawingml/2006/main">
              <a:ext uri="{FF2B5EF4-FFF2-40B4-BE49-F238E27FC236}">
                <a16:creationId xmlns:a16="http://schemas.microsoft.com/office/drawing/2014/main" id="{7E27D265-7DC5-40A5-8C95-EDF9C929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24700"/>
            <a:ext cx="13525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Potential value: traceable evidence for a selection decision, with utility loss checked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983555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1">
            <a:extLst xmlns:a="http://schemas.openxmlformats.org/drawingml/2006/main">
              <a:ext uri="{FF2B5EF4-FFF2-40B4-BE49-F238E27FC236}">
                <a16:creationId xmlns:a16="http://schemas.microsoft.com/office/drawing/2014/main" id="{4A286466-8957-4867-9224-AF84445A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objective and questions</a:t>
            </a:r>
          </a:p>
        </p:txBody>
      </p:sp>
      <p:sp>
        <p:nvSpPr>
          <p:cNvPr id="2" name="rule-22">
            <a:extLst xmlns:a="http://schemas.openxmlformats.org/drawingml/2006/main">
              <a:ext uri="{FF2B5EF4-FFF2-40B4-BE49-F238E27FC236}">
                <a16:creationId xmlns:a16="http://schemas.microsoft.com/office/drawing/2014/main" id="{E7FF4BD1-745A-4120-92D1-DAD02A05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D9694A02-4B16-4287-AF94-CB73CED8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62C65D81-3251-46F2-B77A-5243AF5F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8200"/>
            <a:ext cx="13716000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Find verifiable harmful contexts under a limited budget,</a:t>
            </a:r>
          </a:p>
          <a:p xmlns:a="http://schemas.openxmlformats.org/drawingml/2006/main">
            <a:pPr algn="l">
              <a:defRPr sz="33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then test whether they support useful removal decisions.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9FB78EAA-6DF2-4BC4-9DD5-5CA805E3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03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26">
            <a:extLst xmlns:a="http://schemas.openxmlformats.org/drawingml/2006/main">
              <a:ext uri="{FF2B5EF4-FFF2-40B4-BE49-F238E27FC236}">
                <a16:creationId xmlns:a16="http://schemas.microsoft.com/office/drawing/2014/main" id="{1AE76680-B71D-49A2-95D1-BD4AB0B5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6703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Discovery completeness</a:t>
            </a: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775880E7-9F44-4EB8-B966-5DBEF762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2926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Exact small-game labels measure recall and missed witnesses at a fixed query budget.</a:t>
            </a: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BF11C5A5-A160-488C-9EA5-3EACD466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6A14DADA-1D26-4E32-BB87-9F32BC53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0800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Decision value</a:t>
            </a: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2A1FAA17-917D-4105-98AD-F542B5D8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023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Compare compression and test loss with MI, SHAP, LOFO, RFE and a portfolio.</a:t>
            </a:r>
          </a:p>
        </p:txBody>
      </p:sp>
      <p:sp>
        <p:nvSpPr>
          <p:cNvPr id="11" name="text-31">
            <a:extLst xmlns:a="http://schemas.openxmlformats.org/drawingml/2006/main">
              <a:ext uri="{FF2B5EF4-FFF2-40B4-BE49-F238E27FC236}">
                <a16:creationId xmlns:a16="http://schemas.microsoft.com/office/drawing/2014/main" id="{791541C0-FD37-44F4-A4BD-989902DC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97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32">
            <a:extLst xmlns:a="http://schemas.openxmlformats.org/drawingml/2006/main">
              <a:ext uri="{FF2B5EF4-FFF2-40B4-BE49-F238E27FC236}">
                <a16:creationId xmlns:a16="http://schemas.microsoft.com/office/drawing/2014/main" id="{61793BF7-A03F-493A-8CE1-DDDEF480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897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Explanation and cost</a:t>
            </a:r>
          </a:p>
        </p:txBody>
      </p:sp>
      <p:sp>
        <p:nvSpPr>
          <p:cNvPr id="13" name="text-33">
            <a:extLst xmlns:a="http://schemas.openxmlformats.org/drawingml/2006/main">
              <a:ext uri="{FF2B5EF4-FFF2-40B4-BE49-F238E27FC236}">
                <a16:creationId xmlns:a16="http://schemas.microsoft.com/office/drawing/2014/main" id="{9C286B1B-51A5-4D9E-8958-DD616FDD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71120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Record the subset, both utilities and quota. Count queries, fits and total time.</a:t>
            </a:r>
          </a:p>
        </p:txBody>
      </p:sp>
    </p:spTree>
    <p:extLst>
      <p:ext uri="{BB962C8B-B14F-4D97-AF65-F5344CB8AC3E}">
        <p14:creationId xmlns:p14="http://schemas.microsoft.com/office/powerpoint/2010/main" val="1910730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34">
            <a:extLst xmlns:a="http://schemas.openxmlformats.org/drawingml/2006/main">
              <a:ext uri="{FF2B5EF4-FFF2-40B4-BE49-F238E27FC236}">
                <a16:creationId xmlns:a16="http://schemas.microsoft.com/office/drawing/2014/main" id="{0D273085-6F4D-4A4A-89B1-BB604A61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Learning setting: supervised feature selection</a:t>
            </a:r>
          </a:p>
        </p:txBody>
      </p:sp>
      <p:sp>
        <p:nvSpPr>
          <p:cNvPr id="2" name="rule-35">
            <a:extLst xmlns:a="http://schemas.openxmlformats.org/drawingml/2006/main">
              <a:ext uri="{FF2B5EF4-FFF2-40B4-BE49-F238E27FC236}">
                <a16:creationId xmlns:a16="http://schemas.microsoft.com/office/drawing/2014/main" id="{D04EB59A-0069-4ED4-BFB6-8AC652EE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2C387395-9CB6-4346-A344-24A0D68D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37">
            <a:extLst xmlns:a="http://schemas.openxmlformats.org/drawingml/2006/main">
              <a:ext uri="{FF2B5EF4-FFF2-40B4-BE49-F238E27FC236}">
                <a16:creationId xmlns:a16="http://schemas.microsoft.com/office/drawing/2014/main" id="{58B823F2-C9E1-466E-A615-162E862A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3716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Each observation has input variables X and a known target y.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946400"/>
          <a:ext xmlns:a="http://schemas.openxmlformats.org/drawingml/2006/main" cx="13716000" cy="353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94000"/>
                <a:gridCol w="5651500"/>
                <a:gridCol w="5270500"/>
              </a:tblGrid>
              <a:tr h="7061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in this project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Example: an email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061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Sample / row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One labeled observation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One email with its spam label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061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Feature / column xᵢ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 predictor available to the model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word_freq_free or char_freq_!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061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 y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outcome to predict, excluded from X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is_spam: 1 or 0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061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Coalition 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 selected group of input columns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Two word frequencies + capital count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6" name="text-38">
            <a:extLst xmlns:a="http://schemas.openxmlformats.org/drawingml/2006/main">
              <a:ext uri="{FF2B5EF4-FFF2-40B4-BE49-F238E27FC236}">
                <a16:creationId xmlns:a16="http://schemas.microsoft.com/office/drawing/2014/main" id="{A116AC31-0F26-4914-A509-3BD7BE63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9100"/>
            <a:ext cx="13716000" cy="73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For each S: fit XGBoost on labeled training rows, then compute U(S) on validation rows.</a:t>
            </a:r>
          </a:p>
        </p:txBody>
      </p:sp>
      <p:sp>
        <p:nvSpPr>
          <p:cNvPr id="7" name="text-39">
            <a:extLst xmlns:a="http://schemas.openxmlformats.org/drawingml/2006/main">
              <a:ext uri="{FF2B5EF4-FFF2-40B4-BE49-F238E27FC236}">
                <a16:creationId xmlns:a16="http://schemas.microsoft.com/office/drawing/2014/main" id="{54827F1C-2B7C-4AE4-BAA0-0D1D9807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5400"/>
            <a:ext cx="1371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Classification and regression. No clustering objective or agent–environment reward loop.</a:t>
            </a:r>
          </a:p>
        </p:txBody>
      </p:sp>
    </p:spTree>
    <p:extLst>
      <p:ext uri="{BB962C8B-B14F-4D97-AF65-F5344CB8AC3E}">
        <p14:creationId xmlns:p14="http://schemas.microsoft.com/office/powerpoint/2010/main" val="1997951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C25C8BA4-1EDE-40D3-B5FB-3AC650A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Theoretical foundations</a:t>
            </a:r>
          </a:p>
        </p:txBody>
      </p:sp>
      <p:sp>
        <p:nvSpPr>
          <p:cNvPr id="2" name="rule-41">
            <a:extLst xmlns:a="http://schemas.openxmlformats.org/drawingml/2006/main">
              <a:ext uri="{FF2B5EF4-FFF2-40B4-BE49-F238E27FC236}">
                <a16:creationId xmlns:a16="http://schemas.microsoft.com/office/drawing/2014/main" id="{DFD058FC-D465-403B-BD2A-B02CA962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42">
            <a:extLst xmlns:a="http://schemas.openxmlformats.org/drawingml/2006/main">
              <a:ext uri="{FF2B5EF4-FFF2-40B4-BE49-F238E27FC236}">
                <a16:creationId xmlns:a16="http://schemas.microsoft.com/office/drawing/2014/main" id="{EE0150F9-770A-46EA-8E18-08E3B6F3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247900"/>
          <a:ext xmlns:a="http://schemas.openxmlformats.org/drawingml/2006/main" cx="137160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54500"/>
                <a:gridCol w="9461500"/>
              </a:tblGrid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Foundation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this project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Cooperative games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Features are players. A coalition is a feature subset.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Shapley / Banzhaf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Weighted / uniform mean marginals summarize contribution across subsets.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Minimum aggregation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MinShap is a direct predecessor. MinPPI uses a binary quota game.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Probability and sampling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Witness probability controls finite-budget discovery.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Pareto optimization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NSGA-II studies the trade-off between subset size and utility.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43">
            <a:extLst xmlns:a="http://schemas.openxmlformats.org/drawingml/2006/main">
              <a:ext uri="{FF2B5EF4-FFF2-40B4-BE49-F238E27FC236}">
                <a16:creationId xmlns:a16="http://schemas.microsoft.com/office/drawing/2014/main" id="{C4DDFE0E-F1D3-475A-96D4-CE52C2E0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13462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Contribution focus: quota-conditioned witness semantics and an auditable evaluation procedure.</a:t>
            </a:r>
          </a:p>
        </p:txBody>
      </p:sp>
    </p:spTree>
    <p:extLst>
      <p:ext uri="{BB962C8B-B14F-4D97-AF65-F5344CB8AC3E}">
        <p14:creationId xmlns:p14="http://schemas.microsoft.com/office/powerpoint/2010/main" val="1251039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4">
            <a:extLst xmlns:a="http://schemas.openxmlformats.org/drawingml/2006/main">
              <a:ext uri="{FF2B5EF4-FFF2-40B4-BE49-F238E27FC236}">
                <a16:creationId xmlns:a16="http://schemas.microsoft.com/office/drawing/2014/main" id="{F086DD12-7357-40DD-A5AB-10CD5B85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concrete witness of harm</a:t>
            </a:r>
          </a:p>
        </p:txBody>
      </p:sp>
      <p:sp>
        <p:nvSpPr>
          <p:cNvPr id="2" name="rule-45">
            <a:extLst xmlns:a="http://schemas.openxmlformats.org/drawingml/2006/main">
              <a:ext uri="{FF2B5EF4-FFF2-40B4-BE49-F238E27FC236}">
                <a16:creationId xmlns:a16="http://schemas.microsoft.com/office/drawing/2014/main" id="{E8868C1D-C9A6-41BC-A195-CD54EB9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0909875B-F13B-4A91-A6EE-C842E173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92F02A61-C5D2-45A4-8742-6235F151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0100"/>
            <a:ext cx="13716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Illustrative values, not an experimental result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036FC465-3D04-4F50-9997-885CDE4D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5900"/>
            <a:ext cx="13843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Full-set utility = 0.90       α = 0.95       Quota q = 0.855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3911600"/>
          <a:ext xmlns:a="http://schemas.openxmlformats.org/drawingml/2006/main" cx="13716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302500"/>
                <a:gridCol w="2222500"/>
                <a:gridCol w="41910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Evaluated subset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Utility U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Quota outcome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S, before adding feature i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0.87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Pass: v(S) = 1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 ∪ {i}, after adding i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0.84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Fail: v(S ∪ {i}) = 0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2474AB21-C4AB-4B02-8F20-BF83DF8B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659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C63E40"/>
                </a:solidFill>
                <a:latin typeface="Arial"/>
                <a:ea typeface="Arial"/>
                <a:cs typeface="Arial"/>
              </a:defRPr>
            </a:pPr>
            <a:r>
              <a:rPr sz="3500" b="1">
                <a:solidFill>
                  <a:srgbClr val="C63E40"/>
                </a:solidFill>
                <a:latin typeface="Arial"/>
                <a:ea typeface="Arial"/>
                <a:cs typeface="Arial"/>
              </a:rPr>
              <a:t>Marginal change: 0 − 1 = −1</a:t>
            </a:r>
          </a:p>
        </p:txBody>
      </p:sp>
      <p:sp>
        <p:nvSpPr>
          <p:cNvPr id="8" name="text-50">
            <a:extLst xmlns:a="http://schemas.openxmlformats.org/drawingml/2006/main">
              <a:ext uri="{FF2B5EF4-FFF2-40B4-BE49-F238E27FC236}">
                <a16:creationId xmlns:a16="http://schemas.microsoft.com/office/drawing/2014/main" id="{2CA0C2B4-67EF-4032-9D1D-2B1F42F0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66000"/>
            <a:ext cx="137160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two evaluated subsets form a witness that can be checked again.</a:t>
            </a:r>
          </a:p>
        </p:txBody>
      </p:sp>
    </p:spTree>
    <p:extLst>
      <p:ext uri="{BB962C8B-B14F-4D97-AF65-F5344CB8AC3E}">
        <p14:creationId xmlns:p14="http://schemas.microsoft.com/office/powerpoint/2010/main" val="1856219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51">
            <a:extLst xmlns:a="http://schemas.openxmlformats.org/drawingml/2006/main">
              <a:ext uri="{FF2B5EF4-FFF2-40B4-BE49-F238E27FC236}">
                <a16:creationId xmlns:a16="http://schemas.microsoft.com/office/drawing/2014/main" id="{3CE65ED2-889C-481A-95E2-C257267C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in a fixed utility game</a:t>
            </a:r>
          </a:p>
        </p:txBody>
      </p:sp>
      <p:sp>
        <p:nvSpPr>
          <p:cNvPr id="2" name="rule-52">
            <a:extLst xmlns:a="http://schemas.openxmlformats.org/drawingml/2006/main">
              <a:ext uri="{FF2B5EF4-FFF2-40B4-BE49-F238E27FC236}">
                <a16:creationId xmlns:a16="http://schemas.microsoft.com/office/drawing/2014/main" id="{1262A5EF-DFAB-4658-A434-44BEE861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0D74A8D6-2187-4849-82C2-B5809393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F97B4D9F-93D4-434A-A173-16E97C60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09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q = α U(D)       vα(S) = 1[U(S) ≥ q]</a:t>
            </a:r>
          </a:p>
        </p:txBody>
      </p:sp>
      <p:sp>
        <p:nvSpPr>
          <p:cNvPr id="5" name="text-55">
            <a:extLst xmlns:a="http://schemas.openxmlformats.org/drawingml/2006/main">
              <a:ext uri="{FF2B5EF4-FFF2-40B4-BE49-F238E27FC236}">
                <a16:creationId xmlns:a16="http://schemas.microsoft.com/office/drawing/2014/main" id="{0D64F631-F707-42A3-AB3A-F4F18188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 = min { vα(S ∪ {i}) − vα(S) : S ⊆ D \ {i} }</a:t>
            </a:r>
          </a:p>
        </p:txBody>
      </p:sp>
      <p:sp>
        <p:nvSpPr>
          <p:cNvPr id="6" name="text-56">
            <a:extLst xmlns:a="http://schemas.openxmlformats.org/drawingml/2006/main">
              <a:ext uri="{FF2B5EF4-FFF2-40B4-BE49-F238E27FC236}">
                <a16:creationId xmlns:a16="http://schemas.microsoft.com/office/drawing/2014/main" id="{7A057141-8C92-4C6E-A843-54E678D3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D is the analyzed feature set. U(D) &gt; 0. The default quota is α = 0.95.</a:t>
            </a:r>
          </a:p>
        </p:txBody>
      </p:sp>
      <p:sp>
        <p:nvSpPr>
          <p:cNvPr id="7" name="text-57">
            <a:extLst xmlns:a="http://schemas.openxmlformats.org/drawingml/2006/main">
              <a:ext uri="{FF2B5EF4-FFF2-40B4-BE49-F238E27FC236}">
                <a16:creationId xmlns:a16="http://schemas.microsoft.com/office/drawing/2014/main" id="{AEF7862A-5CB0-4A41-882A-8AE76583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1371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U: ROC AUC (binary), macro OVR AUC (multiclass), max(R², 0) (regression).</a:t>
            </a:r>
          </a:p>
        </p:txBody>
      </p:sp>
      <p:sp>
        <p:nvSpPr>
          <p:cNvPr id="8" name="text-58">
            <a:extLst xmlns:a="http://schemas.openxmlformats.org/drawingml/2006/main">
              <a:ext uri="{FF2B5EF4-FFF2-40B4-BE49-F238E27FC236}">
                <a16:creationId xmlns:a16="http://schemas.microsoft.com/office/drawing/2014/main" id="{575DC17B-18F8-4C09-92BB-BCD29A84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1900"/>
            <a:ext cx="4064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00" b="1">
                <a:solidFill>
                  <a:srgbClr val="C63E40"/>
                </a:solidFill>
                <a:latin typeface="Arial"/>
                <a:ea typeface="Arial"/>
                <a:cs typeface="Arial"/>
              </a:defRPr>
            </a:pPr>
            <a:r>
              <a:rPr sz="4900" b="1">
                <a:solidFill>
                  <a:srgbClr val="C63E40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9" name="text-59">
            <a:extLst xmlns:a="http://schemas.openxmlformats.org/drawingml/2006/main">
              <a:ext uri="{FF2B5EF4-FFF2-40B4-BE49-F238E27FC236}">
                <a16:creationId xmlns:a16="http://schemas.microsoft.com/office/drawing/2014/main" id="{50DC297F-61D7-4C20-94C4-B6660AAC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2800"/>
            <a:ext cx="412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Harmful</a:t>
            </a:r>
          </a:p>
        </p:txBody>
      </p:sp>
      <p:sp>
        <p:nvSpPr>
          <p:cNvPr id="10" name="text-60">
            <a:extLst xmlns:a="http://schemas.openxmlformats.org/drawingml/2006/main">
              <a:ext uri="{FF2B5EF4-FFF2-40B4-BE49-F238E27FC236}">
                <a16:creationId xmlns:a16="http://schemas.microsoft.com/office/drawing/2014/main" id="{5A132305-BB6D-49AB-8B22-2ABF81ED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412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At least one context changes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from pass to fail.</a:t>
            </a:r>
          </a:p>
        </p:txBody>
      </p:sp>
      <p:sp>
        <p:nvSpPr>
          <p:cNvPr id="11" name="text-61">
            <a:extLst xmlns:a="http://schemas.openxmlformats.org/drawingml/2006/main">
              <a:ext uri="{FF2B5EF4-FFF2-40B4-BE49-F238E27FC236}">
                <a16:creationId xmlns:a16="http://schemas.microsoft.com/office/drawing/2014/main" id="{76848157-CE10-457C-8988-41EF1ADC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041900"/>
            <a:ext cx="4064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00" b="1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4900" b="1">
                <a:solidFill>
                  <a:srgbClr val="52667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text-62">
            <a:extLst xmlns:a="http://schemas.openxmlformats.org/drawingml/2006/main">
              <a:ext uri="{FF2B5EF4-FFF2-40B4-BE49-F238E27FC236}">
                <a16:creationId xmlns:a16="http://schemas.microsoft.com/office/drawing/2014/main" id="{53ECE2DD-8D07-4AB0-B406-1584D2DF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892800"/>
            <a:ext cx="412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Neutral at the minimum</a:t>
            </a:r>
          </a:p>
        </p:txBody>
      </p:sp>
      <p:sp>
        <p:nvSpPr>
          <p:cNvPr id="13" name="text-63">
            <a:extLst xmlns:a="http://schemas.openxmlformats.org/drawingml/2006/main">
              <a:ext uri="{FF2B5EF4-FFF2-40B4-BE49-F238E27FC236}">
                <a16:creationId xmlns:a16="http://schemas.microsoft.com/office/drawing/2014/main" id="{B444811D-3F53-4F13-BAA3-6B917FB1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6553200"/>
            <a:ext cx="412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No negative context exists,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but not every context is positive.</a:t>
            </a:r>
          </a:p>
        </p:txBody>
      </p:sp>
      <p:sp>
        <p:nvSpPr>
          <p:cNvPr id="14" name="text-64">
            <a:extLst xmlns:a="http://schemas.openxmlformats.org/drawingml/2006/main">
              <a:ext uri="{FF2B5EF4-FFF2-40B4-BE49-F238E27FC236}">
                <a16:creationId xmlns:a16="http://schemas.microsoft.com/office/drawing/2014/main" id="{4BF063D8-AFE2-4B74-9140-0685C80E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5041900"/>
            <a:ext cx="4064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4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15" name="text-65">
            <a:extLst xmlns:a="http://schemas.openxmlformats.org/drawingml/2006/main">
              <a:ext uri="{FF2B5EF4-FFF2-40B4-BE49-F238E27FC236}">
                <a16:creationId xmlns:a16="http://schemas.microsoft.com/office/drawing/2014/main" id="{AEB1A8DF-685A-40E2-B47D-5EB7EFBE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5892800"/>
            <a:ext cx="412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Universally decisive</a:t>
            </a:r>
          </a:p>
        </p:txBody>
      </p:sp>
      <p:sp>
        <p:nvSpPr>
          <p:cNvPr id="16" name="text-66">
            <a:extLst xmlns:a="http://schemas.openxmlformats.org/drawingml/2006/main">
              <a:ext uri="{FF2B5EF4-FFF2-40B4-BE49-F238E27FC236}">
                <a16:creationId xmlns:a16="http://schemas.microsoft.com/office/drawing/2014/main" id="{88B60C5D-F022-4D0E-9D32-B12548B4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53200"/>
            <a:ext cx="412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Every context changes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from fail to pass.</a:t>
            </a:r>
          </a:p>
        </p:txBody>
      </p:sp>
    </p:spTree>
    <p:extLst>
      <p:ext uri="{BB962C8B-B14F-4D97-AF65-F5344CB8AC3E}">
        <p14:creationId xmlns:p14="http://schemas.microsoft.com/office/powerpoint/2010/main" val="568393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67">
            <a:extLst xmlns:a="http://schemas.openxmlformats.org/drawingml/2006/main">
              <a:ext uri="{FF2B5EF4-FFF2-40B4-BE49-F238E27FC236}">
                <a16:creationId xmlns:a16="http://schemas.microsoft.com/office/drawing/2014/main" id="{DAAFC9FA-6143-4B80-BB73-261BBD28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Finite-budget witness search</a:t>
            </a:r>
          </a:p>
        </p:txBody>
      </p:sp>
      <p:sp>
        <p:nvSpPr>
          <p:cNvPr id="2" name="rule-68">
            <a:extLst xmlns:a="http://schemas.openxmlformats.org/drawingml/2006/main">
              <a:ext uri="{FF2B5EF4-FFF2-40B4-BE49-F238E27FC236}">
                <a16:creationId xmlns:a16="http://schemas.microsoft.com/office/drawing/2014/main" id="{E780E5FC-7739-4EE7-9CC7-11C09E8E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69">
            <a:extLst xmlns:a="http://schemas.openxmlformats.org/drawingml/2006/main">
              <a:ext uri="{FF2B5EF4-FFF2-40B4-BE49-F238E27FC236}">
                <a16:creationId xmlns:a16="http://schemas.microsoft.com/office/drawing/2014/main" id="{B4426BEF-90D8-4DA8-8279-24969B6E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CA0C71A7-851B-450D-8958-DF7F3FCC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Algorithm A: random contexts</a:t>
            </a:r>
          </a:p>
        </p:txBody>
      </p:sp>
      <p:sp>
        <p:nvSpPr>
          <p:cNvPr id="5" name="text-71">
            <a:extLst xmlns:a="http://schemas.openxmlformats.org/drawingml/2006/main">
              <a:ext uri="{FF2B5EF4-FFF2-40B4-BE49-F238E27FC236}">
                <a16:creationId xmlns:a16="http://schemas.microsoft.com/office/drawing/2014/main" id="{730529F4-6086-407C-9D93-A47BBB07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0200"/>
            <a:ext cx="635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Sample a subset size uniformly, then sample a subset of that size.</a:t>
            </a:r>
          </a:p>
        </p:txBody>
      </p:sp>
      <p:sp>
        <p:nvSpPr>
          <p:cNvPr id="6" name="text-72">
            <a:extLst xmlns:a="http://schemas.openxmlformats.org/drawingml/2006/main">
              <a:ext uri="{FF2B5EF4-FFF2-40B4-BE49-F238E27FC236}">
                <a16:creationId xmlns:a16="http://schemas.microsoft.com/office/drawing/2014/main" id="{D8C90AE7-8D9D-40D8-996F-53D49366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Algorithm B: guided contexts</a:t>
            </a:r>
          </a:p>
        </p:txBody>
      </p:sp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98AC10C4-2498-4DCB-9EE8-D3E62EE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02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Build a seed using training mutual information (MI) and correlations, then perturb it.</a:t>
            </a:r>
          </a:p>
        </p:txBody>
      </p:sp>
      <p:sp>
        <p:nvSpPr>
          <p:cNvPr id="8" name="rule-74">
            <a:extLst xmlns:a="http://schemas.openxmlformats.org/drawingml/2006/main">
              <a:ext uri="{FF2B5EF4-FFF2-40B4-BE49-F238E27FC236}">
                <a16:creationId xmlns:a16="http://schemas.microsoft.com/office/drawing/2014/main" id="{E33E58ED-5E39-42B5-BA18-8ED085A7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9" name="text-75">
            <a:extLst xmlns:a="http://schemas.openxmlformats.org/drawingml/2006/main">
              <a:ext uri="{FF2B5EF4-FFF2-40B4-BE49-F238E27FC236}">
                <a16:creationId xmlns:a16="http://schemas.microsoft.com/office/drawing/2014/main" id="{64E1F606-FA7E-4BB5-AE85-ACD10D9A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2700"/>
            <a:ext cx="4191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63E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63E40"/>
                </a:solidFill>
                <a:latin typeface="Arial"/>
                <a:ea typeface="Arial"/>
                <a:cs typeface="Arial"/>
              </a:rPr>
              <a:t>Observed −1</a:t>
            </a:r>
          </a:p>
        </p:txBody>
      </p:sp>
      <p:sp>
        <p:nvSpPr>
          <p:cNvPr id="10" name="text-76">
            <a:extLst xmlns:a="http://schemas.openxmlformats.org/drawingml/2006/main">
              <a:ext uri="{FF2B5EF4-FFF2-40B4-BE49-F238E27FC236}">
                <a16:creationId xmlns:a16="http://schemas.microsoft.com/office/drawing/2014/main" id="{36AA6AA6-C4A1-42DF-966C-93500B4E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5105400"/>
            <a:ext cx="9017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checked negative crossing certifies this fixed game.</a:t>
            </a:r>
          </a:p>
        </p:txBody>
      </p:sp>
      <p:sp>
        <p:nvSpPr>
          <p:cNvPr id="11" name="text-77">
            <a:extLst xmlns:a="http://schemas.openxmlformats.org/drawingml/2006/main">
              <a:ext uri="{FF2B5EF4-FFF2-40B4-BE49-F238E27FC236}">
                <a16:creationId xmlns:a16="http://schemas.microsoft.com/office/drawing/2014/main" id="{5BF4D5B8-FC44-40A2-B416-2D65A2B7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1900"/>
            <a:ext cx="4191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No observed −1</a:t>
            </a:r>
          </a:p>
        </p:txBody>
      </p:sp>
      <p:sp>
        <p:nvSpPr>
          <p:cNvPr id="12" name="text-78">
            <a:extLst xmlns:a="http://schemas.openxmlformats.org/drawingml/2006/main">
              <a:ext uri="{FF2B5EF4-FFF2-40B4-BE49-F238E27FC236}">
                <a16:creationId xmlns:a16="http://schemas.microsoft.com/office/drawing/2014/main" id="{3D82CE2B-DB57-4352-8BD1-F4BF4B71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6324600"/>
            <a:ext cx="9017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An unvisited context may still contain a harmful witness.</a:t>
            </a:r>
          </a:p>
        </p:txBody>
      </p:sp>
      <p:sp>
        <p:nvSpPr>
          <p:cNvPr id="13" name="text-79">
            <a:extLst xmlns:a="http://schemas.openxmlformats.org/drawingml/2006/main">
              <a:ext uri="{FF2B5EF4-FFF2-40B4-BE49-F238E27FC236}">
                <a16:creationId xmlns:a16="http://schemas.microsoft.com/office/drawing/2014/main" id="{2C04712D-D635-4A35-877B-B3AA0FBB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52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Compare A and B at the same total query cap. Guidance is a hypothesis to test.</a:t>
            </a:r>
          </a:p>
        </p:txBody>
      </p:sp>
    </p:spTree>
    <p:extLst>
      <p:ext uri="{BB962C8B-B14F-4D97-AF65-F5344CB8AC3E}">
        <p14:creationId xmlns:p14="http://schemas.microsoft.com/office/powerpoint/2010/main" val="8770037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80">
            <a:extLst xmlns:a="http://schemas.openxmlformats.org/drawingml/2006/main">
              <a:ext uri="{FF2B5EF4-FFF2-40B4-BE49-F238E27FC236}">
                <a16:creationId xmlns:a16="http://schemas.microsoft.com/office/drawing/2014/main" id="{026EB4AB-98CE-4BD8-A71F-19DC4296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Dataset tasks, targets and evaluation metrics</a:t>
            </a:r>
          </a:p>
        </p:txBody>
      </p:sp>
      <p:sp>
        <p:nvSpPr>
          <p:cNvPr id="2" name="rule-81">
            <a:extLst xmlns:a="http://schemas.openxmlformats.org/drawingml/2006/main">
              <a:ext uri="{FF2B5EF4-FFF2-40B4-BE49-F238E27FC236}">
                <a16:creationId xmlns:a16="http://schemas.microsoft.com/office/drawing/2014/main" id="{9D0B766F-BEF9-4101-9599-F0923D44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F41F3C89-A52F-4C34-85C8-5BD91402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83">
            <a:extLst xmlns:a="http://schemas.openxmlformats.org/drawingml/2006/main">
              <a:ext uri="{FF2B5EF4-FFF2-40B4-BE49-F238E27FC236}">
                <a16:creationId xmlns:a16="http://schemas.microsoft.com/office/drawing/2014/main" id="{55922DE5-AA1C-4922-A921-B30FDF95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3716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six datasets serve supervised learning in this project.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781300"/>
          <a:ext xmlns:a="http://schemas.openxmlformats.org/drawingml/2006/main" cx="13716000" cy="436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30500"/>
                <a:gridCol w="2476500"/>
                <a:gridCol w="3810000"/>
                <a:gridCol w="2349500"/>
                <a:gridCol w="2349500"/>
              </a:tblGrid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 / inputs¹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4,601 / 57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 / non-spam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Binary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2,600 / 500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Synthetic class ±1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Binary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7,000 / 5,000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Digit 4 / 9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Binary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7,797 / 617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Spoken letter A–Z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26 classes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OVR AUC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284,807 / 29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Fraud: 1 / 0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Binary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4,177 / 8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Rings count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Regression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6" name="text-84">
            <a:extLst xmlns:a="http://schemas.openxmlformats.org/drawingml/2006/main">
              <a:ext uri="{FF2B5EF4-FFF2-40B4-BE49-F238E27FC236}">
                <a16:creationId xmlns:a16="http://schemas.microsoft.com/office/drawing/2014/main" id="{CAC371E5-9192-4968-AE94-2EFD0A4E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78700"/>
            <a:ext cx="1371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¹ Project input pools. Madelon/Gisette use labeled train + validation rows. Fraud excludes Time.</a:t>
            </a:r>
          </a:p>
        </p:txBody>
      </p:sp>
    </p:spTree>
    <p:extLst>
      <p:ext uri="{BB962C8B-B14F-4D97-AF65-F5344CB8AC3E}">
        <p14:creationId xmlns:p14="http://schemas.microsoft.com/office/powerpoint/2010/main" val="5588959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5">
            <a:extLst xmlns:a="http://schemas.openxmlformats.org/drawingml/2006/main">
              <a:ext uri="{FF2B5EF4-FFF2-40B4-BE49-F238E27FC236}">
                <a16:creationId xmlns:a16="http://schemas.microsoft.com/office/drawing/2014/main" id="{60C94901-CA99-4014-BC2D-1A2B2103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features and their role in MinPPI (1/2)</a:t>
            </a:r>
          </a:p>
        </p:txBody>
      </p:sp>
      <p:sp>
        <p:nvSpPr>
          <p:cNvPr id="2" name="rule-86">
            <a:extLst xmlns:a="http://schemas.openxmlformats.org/drawingml/2006/main">
              <a:ext uri="{FF2B5EF4-FFF2-40B4-BE49-F238E27FC236}">
                <a16:creationId xmlns:a16="http://schemas.microsoft.com/office/drawing/2014/main" id="{322AB69F-7122-41BC-99D2-FCEF3E23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87">
            <a:extLst xmlns:a="http://schemas.openxmlformats.org/drawingml/2006/main">
              <a:ext uri="{FF2B5EF4-FFF2-40B4-BE49-F238E27FC236}">
                <a16:creationId xmlns:a16="http://schemas.microsoft.com/office/drawing/2014/main" id="{294D730B-6485-4703-AC63-C9F4201A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 word frequencies, e.g. free, money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 character frequencies, e.g. !, $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capital-run statistics: mean, max, total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Observable text statistics make subset witnesses easier to interpret. Real binary data complements synthetic structure.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500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 informative coordinates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linear combinations of them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480 irrelevant probe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Known redundancy and distractors test discovery under nonlinear interactions. Generating roles are not MinPPI labels.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5,000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image-derived variables, including pixel products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distractor probes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Numeric columns encode digit images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High dimensional, nonlinear visual features stress screening and search cost. The project analyzes a train-selected pool.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88">
            <a:extLst xmlns:a="http://schemas.openxmlformats.org/drawingml/2006/main">
              <a:ext uri="{FF2B5EF4-FFF2-40B4-BE49-F238E27FC236}">
                <a16:creationId xmlns:a16="http://schemas.microsoft.com/office/drawing/2014/main" id="{A593310E-A95F-4600-B1EB-85414E39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MinPPI player is an analyzed column. A coalition selects columns while retaining the same target.</a:t>
            </a:r>
          </a:p>
        </p:txBody>
      </p:sp>
    </p:spTree>
    <p:extLst>
      <p:ext uri="{BB962C8B-B14F-4D97-AF65-F5344CB8AC3E}">
        <p14:creationId xmlns:p14="http://schemas.microsoft.com/office/powerpoint/2010/main" val="17125967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9">
            <a:extLst xmlns:a="http://schemas.openxmlformats.org/drawingml/2006/main">
              <a:ext uri="{FF2B5EF4-FFF2-40B4-BE49-F238E27FC236}">
                <a16:creationId xmlns:a16="http://schemas.microsoft.com/office/drawing/2014/main" id="{7C911BEE-F5BD-4F1B-8CEA-7AC59B3C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features and their role in MinPPI (2/2)</a:t>
            </a:r>
          </a:p>
        </p:txBody>
      </p:sp>
      <p:sp>
        <p:nvSpPr>
          <p:cNvPr id="2" name="rule-90">
            <a:extLst xmlns:a="http://schemas.openxmlformats.org/drawingml/2006/main">
              <a:ext uri="{FF2B5EF4-FFF2-40B4-BE49-F238E27FC236}">
                <a16:creationId xmlns:a16="http://schemas.microsoft.com/office/drawing/2014/main" id="{E4424094-5A13-4967-9B90-89CD9FBC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1">
            <a:extLst xmlns:a="http://schemas.openxmlformats.org/drawingml/2006/main">
              <a:ext uri="{FF2B5EF4-FFF2-40B4-BE49-F238E27FC236}">
                <a16:creationId xmlns:a16="http://schemas.microsoft.com/office/drawing/2014/main" id="{A9ADE1B5-40D9-437A-A6AA-A2F5CDA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617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Acoustic descriptors: spectral coefficients, contours, sonorant and surrounding-segment features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the spoken letter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Tests whether witness auditing extends to multiclass utility. Individual column order has no published semantic map.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29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 anonymized PCA components V1–V28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Amount: transaction value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Time is excluded from project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Large labeled data with rare fraud cases tests AUC-based decisions and cost. Witnesses concern components, not raw financial attributes.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Sex; Length; Diameter; Height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Whole weight; Shucked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Viscera weight; Shell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Rings, excluded from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provide a regression task. Eight variables permit all 256 subsets and exact harmful labels.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92">
            <a:extLst xmlns:a="http://schemas.openxmlformats.org/drawingml/2006/main">
              <a:ext uri="{FF2B5EF4-FFF2-40B4-BE49-F238E27FC236}">
                <a16:creationId xmlns:a16="http://schemas.microsoft.com/office/drawing/2014/main" id="{25D4CF48-153A-4E25-BEE2-0E346F4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Labeled rows allow retraining on X[S] and measuring U(S). Harm depends on the model, split and quota.</a:t>
            </a:r>
          </a:p>
        </p:txBody>
      </p:sp>
    </p:spTree>
    <p:extLst>
      <p:ext uri="{BB962C8B-B14F-4D97-AF65-F5344CB8AC3E}">
        <p14:creationId xmlns:p14="http://schemas.microsoft.com/office/powerpoint/2010/main" val="17392208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93">
            <a:extLst xmlns:a="http://schemas.openxmlformats.org/drawingml/2006/main">
              <a:ext uri="{FF2B5EF4-FFF2-40B4-BE49-F238E27FC236}">
                <a16:creationId xmlns:a16="http://schemas.microsoft.com/office/drawing/2014/main" id="{7DA707D9-BA88-470F-ACBE-85C11D2B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Experiment 1: discovery against exact references</a:t>
            </a:r>
          </a:p>
        </p:txBody>
      </p:sp>
      <p:sp>
        <p:nvSpPr>
          <p:cNvPr id="2" name="rule-94">
            <a:extLst xmlns:a="http://schemas.openxmlformats.org/drawingml/2006/main">
              <a:ext uri="{FF2B5EF4-FFF2-40B4-BE49-F238E27FC236}">
                <a16:creationId xmlns:a16="http://schemas.microsoft.com/office/drawing/2014/main" id="{3592FE4D-D951-4FD2-957F-B4A0CD88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5">
            <a:extLst xmlns:a="http://schemas.openxmlformats.org/drawingml/2006/main">
              <a:ext uri="{FF2B5EF4-FFF2-40B4-BE49-F238E27FC236}">
                <a16:creationId xmlns:a16="http://schemas.microsoft.com/office/drawing/2014/main" id="{3F9EBD3F-4918-4A1E-92E1-ACD61548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AB8D3D1A-CE8F-4D9A-BD9E-1F95C44C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66675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35 fixed games</a:t>
            </a:r>
          </a:p>
        </p:txBody>
      </p:sp>
      <p:sp>
        <p:nvSpPr>
          <p:cNvPr id="5" name="text-97">
            <a:extLst xmlns:a="http://schemas.openxmlformats.org/drawingml/2006/main">
              <a:ext uri="{FF2B5EF4-FFF2-40B4-BE49-F238E27FC236}">
                <a16:creationId xmlns:a16="http://schemas.microsoft.com/office/drawing/2014/main" id="{68D9E013-3919-4489-BBD1-C176C69B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6400"/>
            <a:ext cx="6985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Abalone, Spambase, Madelon, credit-card fraud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7 panels × 5 fixed data splits</a:t>
            </a:r>
          </a:p>
        </p:txBody>
      </p:sp>
      <p:sp>
        <p:nvSpPr>
          <p:cNvPr id="6" name="text-98">
            <a:extLst xmlns:a="http://schemas.openxmlformats.org/drawingml/2006/main">
              <a:ext uri="{FF2B5EF4-FFF2-40B4-BE49-F238E27FC236}">
                <a16:creationId xmlns:a16="http://schemas.microsoft.com/office/drawing/2014/main" id="{29904E88-385D-451D-9ACD-C32B681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6500"/>
            <a:ext cx="717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256 subset utilities per game</a:t>
            </a:r>
          </a:p>
        </p:txBody>
      </p:sp>
      <p:sp>
        <p:nvSpPr>
          <p:cNvPr id="7" name="text-99">
            <a:extLst xmlns:a="http://schemas.openxmlformats.org/drawingml/2006/main">
              <a:ext uri="{FF2B5EF4-FFF2-40B4-BE49-F238E27FC236}">
                <a16:creationId xmlns:a16="http://schemas.microsoft.com/office/drawing/2014/main" id="{CFFC3736-FDB6-4713-B7A4-E9FDC7FA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6985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Abalone: all 8 inputs. Other datasets: MI top8 and MI top4 + random4 panels.</a:t>
            </a:r>
          </a:p>
        </p:txBody>
      </p:sp>
      <p:sp>
        <p:nvSpPr>
          <p:cNvPr id="8" name="text-100">
            <a:extLst xmlns:a="http://schemas.openxmlformats.org/drawingml/2006/main">
              <a:ext uri="{FF2B5EF4-FFF2-40B4-BE49-F238E27FC236}">
                <a16:creationId xmlns:a16="http://schemas.microsoft.com/office/drawing/2014/main" id="{B1D8CDA4-FEF6-42BB-9D2D-4CEACDFA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59055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Fair A/B comparison</a:t>
            </a:r>
          </a:p>
        </p:txBody>
      </p:sp>
      <p:sp>
        <p:nvSpPr>
          <p:cNvPr id="9" name="text-101">
            <a:extLst xmlns:a="http://schemas.openxmlformats.org/drawingml/2006/main">
              <a:ext uri="{FF2B5EF4-FFF2-40B4-BE49-F238E27FC236}">
                <a16:creationId xmlns:a16="http://schemas.microsoft.com/office/drawing/2014/main" id="{F05FE7F4-0652-4F55-BB73-18D5AAF0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5778500" cy="19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30 paired sampling schedules per game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Total marginal-query cap Q = 800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Sampler sees only its requested utilities</a:t>
            </a:r>
          </a:p>
        </p:txBody>
      </p:sp>
      <p:sp>
        <p:nvSpPr>
          <p:cNvPr id="10" name="rule-102">
            <a:extLst xmlns:a="http://schemas.openxmlformats.org/drawingml/2006/main">
              <a:ext uri="{FF2B5EF4-FFF2-40B4-BE49-F238E27FC236}">
                <a16:creationId xmlns:a16="http://schemas.microsoft.com/office/drawing/2014/main" id="{A153B337-C720-475F-9B95-065680D5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82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1" name="text-103">
            <a:extLst xmlns:a="http://schemas.openxmlformats.org/drawingml/2006/main">
              <a:ext uri="{FF2B5EF4-FFF2-40B4-BE49-F238E27FC236}">
                <a16:creationId xmlns:a16="http://schemas.microsoft.com/office/drawing/2014/main" id="{5E69D316-E28F-4FB2-8243-374B6609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7600"/>
            <a:ext cx="48895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Primary endpoint</a:t>
            </a:r>
          </a:p>
        </p:txBody>
      </p:sp>
      <p:sp>
        <p:nvSpPr>
          <p:cNvPr id="12" name="text-104">
            <a:extLst xmlns:a="http://schemas.openxmlformats.org/drawingml/2006/main">
              <a:ext uri="{FF2B5EF4-FFF2-40B4-BE49-F238E27FC236}">
                <a16:creationId xmlns:a16="http://schemas.microsoft.com/office/drawing/2014/main" id="{CBE36EFC-0DD9-4C02-BE71-4A66DA35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6197600"/>
            <a:ext cx="86360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Recall across the full query budget, summarized by recall area.</a:t>
            </a:r>
          </a:p>
        </p:txBody>
      </p:sp>
      <p:sp>
        <p:nvSpPr>
          <p:cNvPr id="13" name="text-105">
            <a:extLst xmlns:a="http://schemas.openxmlformats.org/drawingml/2006/main">
              <a:ext uri="{FF2B5EF4-FFF2-40B4-BE49-F238E27FC236}">
                <a16:creationId xmlns:a16="http://schemas.microsoft.com/office/drawing/2014/main" id="{6C574D84-96DC-4709-B93B-955836F1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Exact labels belong to each 8-feature panel. Empty harmful sets have undefined recall.</a:t>
            </a:r>
          </a:p>
        </p:txBody>
      </p:sp>
    </p:spTree>
    <p:extLst>
      <p:ext uri="{BB962C8B-B14F-4D97-AF65-F5344CB8AC3E}">
        <p14:creationId xmlns:p14="http://schemas.microsoft.com/office/powerpoint/2010/main" val="5533921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06">
            <a:extLst xmlns:a="http://schemas.openxmlformats.org/drawingml/2006/main">
              <a:ext uri="{FF2B5EF4-FFF2-40B4-BE49-F238E27FC236}">
                <a16:creationId xmlns:a16="http://schemas.microsoft.com/office/drawing/2014/main" id="{F2060F0D-04C3-4084-8FDA-706A9FFE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Planned experiment 2: controlled mechanisms</a:t>
            </a:r>
          </a:p>
        </p:txBody>
      </p:sp>
      <p:sp>
        <p:nvSpPr>
          <p:cNvPr id="2" name="rule-107">
            <a:extLst xmlns:a="http://schemas.openxmlformats.org/drawingml/2006/main">
              <a:ext uri="{FF2B5EF4-FFF2-40B4-BE49-F238E27FC236}">
                <a16:creationId xmlns:a16="http://schemas.microsoft.com/office/drawing/2014/main" id="{22CB6A61-2469-4C0B-9254-553A6898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08">
            <a:extLst xmlns:a="http://schemas.openxmlformats.org/drawingml/2006/main">
              <a:ext uri="{FF2B5EF4-FFF2-40B4-BE49-F238E27FC236}">
                <a16:creationId xmlns:a16="http://schemas.microsoft.com/office/drawing/2014/main" id="{62D92B08-048F-4D7E-BCF4-A036E2F3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109">
            <a:extLst xmlns:a="http://schemas.openxmlformats.org/drawingml/2006/main">
              <a:ext uri="{FF2B5EF4-FFF2-40B4-BE49-F238E27FC236}">
                <a16:creationId xmlns:a16="http://schemas.microsoft.com/office/drawing/2014/main" id="{5E320ABE-1F6A-438A-8643-4647D727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15 prespecified instances: 3 mechanisms × 5 instances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3098800"/>
          <a:ext xmlns:a="http://schemas.openxmlformats.org/drawingml/2006/main" cx="13716000" cy="359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75000"/>
                <a:gridCol w="5397500"/>
                <a:gridCol w="5143500"/>
              </a:tblGrid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Construction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it isolates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Additive signal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Two signal variables + six irrelevant variables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Does irrelevant input produce harmful contexts?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Correlated redundancy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Two signal variables + two noisy proxies + four irrelevant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How does redundancy change witness discovery?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Noisy XOR of two variables + six irrelevant variables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Can sampling recover contexts driven by interactions?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10">
            <a:extLst xmlns:a="http://schemas.openxmlformats.org/drawingml/2006/main">
              <a:ext uri="{FF2B5EF4-FFF2-40B4-BE49-F238E27FC236}">
                <a16:creationId xmlns:a16="http://schemas.microsoft.com/office/drawing/2014/main" id="{B4C15502-3002-40DA-AF73-82CDC791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72300"/>
            <a:ext cx="13716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Each instance: 2,000 rows, 8 features, full enumeration and the same A/B budget.</a:t>
            </a:r>
          </a:p>
        </p:txBody>
      </p:sp>
      <p:sp>
        <p:nvSpPr>
          <p:cNvPr id="7" name="text-111">
            <a:extLst xmlns:a="http://schemas.openxmlformats.org/drawingml/2006/main">
              <a:ext uri="{FF2B5EF4-FFF2-40B4-BE49-F238E27FC236}">
                <a16:creationId xmlns:a16="http://schemas.microsoft.com/office/drawing/2014/main" id="{C77F0BAB-DB35-4072-9F66-94154A1B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58100"/>
            <a:ext cx="13716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 variable’s generating role does not determine its MinPPI label.</a:t>
            </a:r>
          </a:p>
        </p:txBody>
      </p:sp>
    </p:spTree>
    <p:extLst>
      <p:ext uri="{BB962C8B-B14F-4D97-AF65-F5344CB8AC3E}">
        <p14:creationId xmlns:p14="http://schemas.microsoft.com/office/powerpoint/2010/main" val="8292269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12">
            <a:extLst xmlns:a="http://schemas.openxmlformats.org/drawingml/2006/main">
              <a:ext uri="{FF2B5EF4-FFF2-40B4-BE49-F238E27FC236}">
                <a16:creationId xmlns:a16="http://schemas.microsoft.com/office/drawing/2014/main" id="{A20331AD-FDD7-49AB-96F4-D02AE4DF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Planned experiment 3: removal decisions</a:t>
            </a:r>
          </a:p>
        </p:txBody>
      </p:sp>
      <p:sp>
        <p:nvSpPr>
          <p:cNvPr id="2" name="rule-113">
            <a:extLst xmlns:a="http://schemas.openxmlformats.org/drawingml/2006/main">
              <a:ext uri="{FF2B5EF4-FFF2-40B4-BE49-F238E27FC236}">
                <a16:creationId xmlns:a16="http://schemas.microsoft.com/office/drawing/2014/main" id="{D245DE47-0A64-4E82-96A0-B0CE6FF7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4">
            <a:extLst xmlns:a="http://schemas.openxmlformats.org/drawingml/2006/main">
              <a:ext uri="{FF2B5EF4-FFF2-40B4-BE49-F238E27FC236}">
                <a16:creationId xmlns:a16="http://schemas.microsoft.com/office/drawing/2014/main" id="{A0A2DC90-4D9E-48F7-A37D-70A9BB4B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59000"/>
          <a:ext xmlns:a="http://schemas.openxmlformats.org/drawingml/2006/main" cx="13716000" cy="393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1778000"/>
                <a:gridCol w="8001000"/>
              </a:tblGrid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 role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Permitted use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64%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Fit preprocessing, models and feature rankings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Selection validation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Audit contexts and choose one candidate per strategy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Independent gate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Accept the candidate or revert to the full set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Held-out test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Evaluate the frozen decision after refitting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A1862B8A-1488-4936-AF71-6D61AA5E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62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Gate rule: candidate loss ≤ 0.005 AUC or ≤ 0.01 raw R²</a:t>
            </a:r>
          </a:p>
        </p:txBody>
      </p:sp>
      <p:sp>
        <p:nvSpPr>
          <p:cNvPr id="6" name="text-116">
            <a:extLst xmlns:a="http://schemas.openxmlformats.org/drawingml/2006/main">
              <a:ext uri="{FF2B5EF4-FFF2-40B4-BE49-F238E27FC236}">
                <a16:creationId xmlns:a16="http://schemas.microsoft.com/office/drawing/2014/main" id="{0FA031AF-AEEA-46DD-B81D-833A95F5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53300"/>
            <a:ext cx="137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verified local witness alone does not establish that joint removal is useful.</a:t>
            </a:r>
          </a:p>
        </p:txBody>
      </p:sp>
    </p:spTree>
    <p:extLst>
      <p:ext uri="{BB962C8B-B14F-4D97-AF65-F5344CB8AC3E}">
        <p14:creationId xmlns:p14="http://schemas.microsoft.com/office/powerpoint/2010/main" val="9104220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17">
            <a:extLst xmlns:a="http://schemas.openxmlformats.org/drawingml/2006/main">
              <a:ext uri="{FF2B5EF4-FFF2-40B4-BE49-F238E27FC236}">
                <a16:creationId xmlns:a16="http://schemas.microsoft.com/office/drawing/2014/main" id="{D67CE26B-4BAC-43AA-A614-08E17B84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Practical baselines and success criteria</a:t>
            </a:r>
          </a:p>
        </p:txBody>
      </p:sp>
      <p:sp>
        <p:nvSpPr>
          <p:cNvPr id="2" name="rule-118">
            <a:extLst xmlns:a="http://schemas.openxmlformats.org/drawingml/2006/main">
              <a:ext uri="{FF2B5EF4-FFF2-40B4-BE49-F238E27FC236}">
                <a16:creationId xmlns:a16="http://schemas.microsoft.com/office/drawing/2014/main" id="{B62FC4B9-06AC-43A8-A985-DA742DF2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9">
            <a:extLst xmlns:a="http://schemas.openxmlformats.org/drawingml/2006/main">
              <a:ext uri="{FF2B5EF4-FFF2-40B4-BE49-F238E27FC236}">
                <a16:creationId xmlns:a16="http://schemas.microsoft.com/office/drawing/2014/main" id="{748286A6-56C2-438B-BA33-95229676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text-120">
            <a:extLst xmlns:a="http://schemas.openxmlformats.org/drawingml/2006/main">
              <a:ext uri="{FF2B5EF4-FFF2-40B4-BE49-F238E27FC236}">
                <a16:creationId xmlns:a16="http://schemas.microsoft.com/office/drawing/2014/main" id="{77B4236C-FEBA-4EA3-9918-68B235BE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371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Primary comparison: MinPPI-A versus a validation-only portfolio</a:t>
            </a:r>
          </a:p>
        </p:txBody>
      </p:sp>
      <p:sp>
        <p:nvSpPr>
          <p:cNvPr id="5" name="text-121">
            <a:extLst xmlns:a="http://schemas.openxmlformats.org/drawingml/2006/main">
              <a:ext uri="{FF2B5EF4-FFF2-40B4-BE49-F238E27FC236}">
                <a16:creationId xmlns:a16="http://schemas.microsoft.com/office/drawing/2014/main" id="{6AA36170-0F61-4326-99F7-9FA3146F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6413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Eight strategies</a:t>
            </a:r>
          </a:p>
        </p:txBody>
      </p:sp>
      <p:sp>
        <p:nvSpPr>
          <p:cNvPr id="6" name="text-122">
            <a:extLst xmlns:a="http://schemas.openxmlformats.org/drawingml/2006/main">
              <a:ext uri="{FF2B5EF4-FFF2-40B4-BE49-F238E27FC236}">
                <a16:creationId xmlns:a16="http://schemas.microsoft.com/office/drawing/2014/main" id="{6F328356-DDD0-4331-9732-8568BED0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641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Full, MinPPI-A, MinPPI-B, MI, TreeSHAP, static LOFO, RFE and the portfolio.</a:t>
            </a:r>
          </a:p>
        </p:txBody>
      </p:sp>
      <p:sp>
        <p:nvSpPr>
          <p:cNvPr id="7" name="text-123">
            <a:extLst xmlns:a="http://schemas.openxmlformats.org/drawingml/2006/main">
              <a:ext uri="{FF2B5EF4-FFF2-40B4-BE49-F238E27FC236}">
                <a16:creationId xmlns:a16="http://schemas.microsoft.com/office/drawing/2014/main" id="{E1350DA6-9581-4C64-9782-8503EF67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demanding practical control</a:t>
            </a:r>
          </a:p>
        </p:txBody>
      </p:sp>
      <p:sp>
        <p:nvSpPr>
          <p:cNvPr id="8" name="text-124">
            <a:extLst xmlns:a="http://schemas.openxmlformats.org/drawingml/2006/main">
              <a:ext uri="{FF2B5EF4-FFF2-40B4-BE49-F238E27FC236}">
                <a16:creationId xmlns:a16="http://schemas.microsoft.com/office/drawing/2014/main" id="{649CCAA0-8F52-45AE-B263-DABC12D8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75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portfolio selects among MI, TreeSHAP and LOFO candidates using selection validation only.</a:t>
            </a:r>
          </a:p>
        </p:txBody>
      </p:sp>
      <p:sp>
        <p:nvSpPr>
          <p:cNvPr id="9" name="rule-125">
            <a:extLst xmlns:a="http://schemas.openxmlformats.org/drawingml/2006/main">
              <a:ext uri="{FF2B5EF4-FFF2-40B4-BE49-F238E27FC236}">
                <a16:creationId xmlns:a16="http://schemas.microsoft.com/office/drawing/2014/main" id="{47581B8A-30D4-4455-A58B-4EF6A7C9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42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CB19AA15-FC82-4D90-9FD9-37A3CC7E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9000"/>
            <a:ext cx="5270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Measure decision value</a:t>
            </a:r>
          </a:p>
        </p:txBody>
      </p:sp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C42B6D18-BBAD-4821-BD05-0CFDAA05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69000"/>
            <a:ext cx="8382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Compression, test utility loss, tolerance violations and gate rejection.</a:t>
            </a:r>
          </a:p>
        </p:txBody>
      </p:sp>
      <p:sp>
        <p:nvSpPr>
          <p:cNvPr id="12" name="text-128">
            <a:extLst xmlns:a="http://schemas.openxmlformats.org/drawingml/2006/main">
              <a:ext uri="{FF2B5EF4-FFF2-40B4-BE49-F238E27FC236}">
                <a16:creationId xmlns:a16="http://schemas.microsoft.com/office/drawing/2014/main" id="{3469224C-D27A-4117-9C59-E4AEB551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75500"/>
            <a:ext cx="5270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Measure actual cost</a:t>
            </a:r>
          </a:p>
        </p:txBody>
      </p:sp>
      <p:sp>
        <p:nvSpPr>
          <p:cNvPr id="13" name="text-129">
            <a:extLst xmlns:a="http://schemas.openxmlformats.org/drawingml/2006/main">
              <a:ext uri="{FF2B5EF4-FFF2-40B4-BE49-F238E27FC236}">
                <a16:creationId xmlns:a16="http://schemas.microsoft.com/office/drawing/2014/main" id="{026B2D88-7BBA-44AD-8447-F8B285BC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137400"/>
            <a:ext cx="8382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Count queries and model fits. Include guidance, selection, gate and refit time.</a:t>
            </a:r>
          </a:p>
        </p:txBody>
      </p:sp>
    </p:spTree>
    <p:extLst>
      <p:ext uri="{BB962C8B-B14F-4D97-AF65-F5344CB8AC3E}">
        <p14:creationId xmlns:p14="http://schemas.microsoft.com/office/powerpoint/2010/main" val="3213312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30">
            <a:extLst xmlns:a="http://schemas.openxmlformats.org/drawingml/2006/main">
              <a:ext uri="{FF2B5EF4-FFF2-40B4-BE49-F238E27FC236}">
                <a16:creationId xmlns:a16="http://schemas.microsoft.com/office/drawing/2014/main" id="{694970BA-5B1D-40DF-8C52-D21B0822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Multi-objective feature selection</a:t>
            </a:r>
          </a:p>
        </p:txBody>
      </p:sp>
      <p:sp>
        <p:nvSpPr>
          <p:cNvPr id="2" name="rule-131">
            <a:extLst xmlns:a="http://schemas.openxmlformats.org/drawingml/2006/main">
              <a:ext uri="{FF2B5EF4-FFF2-40B4-BE49-F238E27FC236}">
                <a16:creationId xmlns:a16="http://schemas.microsoft.com/office/drawing/2014/main" id="{7D3D09A3-2AAE-4750-ABD0-9152ED91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32">
            <a:extLst xmlns:a="http://schemas.openxmlformats.org/drawingml/2006/main">
              <a:ext uri="{FF2B5EF4-FFF2-40B4-BE49-F238E27FC236}">
                <a16:creationId xmlns:a16="http://schemas.microsoft.com/office/drawing/2014/main" id="{3668D8EA-14F0-446F-A2C8-583FAA4C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text-133">
            <a:extLst xmlns:a="http://schemas.openxmlformats.org/drawingml/2006/main">
              <a:ext uri="{FF2B5EF4-FFF2-40B4-BE49-F238E27FC236}">
                <a16:creationId xmlns:a16="http://schemas.microsoft.com/office/drawing/2014/main" id="{8434029C-18E4-46C3-B8A4-391557B5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44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Two competing objectives</a:t>
            </a:r>
          </a:p>
        </p:txBody>
      </p:sp>
      <p:sp>
        <p:nvSpPr>
          <p:cNvPr id="5" name="text-134">
            <a:extLst xmlns:a="http://schemas.openxmlformats.org/drawingml/2006/main">
              <a:ext uri="{FF2B5EF4-FFF2-40B4-BE49-F238E27FC236}">
                <a16:creationId xmlns:a16="http://schemas.microsoft.com/office/drawing/2014/main" id="{C678F4FC-0EE5-4CCE-A430-2F8B21F4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88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Minimize the retained feature fraction:  |S| / p₀</a:t>
            </a:r>
          </a:p>
        </p:txBody>
      </p:sp>
      <p:sp>
        <p:nvSpPr>
          <p:cNvPr id="6" name="text-135">
            <a:extLst xmlns:a="http://schemas.openxmlformats.org/drawingml/2006/main">
              <a:ext uri="{FF2B5EF4-FFF2-40B4-BE49-F238E27FC236}">
                <a16:creationId xmlns:a16="http://schemas.microsoft.com/office/drawing/2014/main" id="{F52B1726-82A3-4EDE-A4DF-56F426E1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Minimize predictive loss:  1 − clip(U(S), 0, 1)</a:t>
            </a:r>
          </a:p>
        </p:txBody>
      </p:sp>
      <p:sp>
        <p:nvSpPr>
          <p:cNvPr id="7" name="rule-136">
            <a:extLst xmlns:a="http://schemas.openxmlformats.org/drawingml/2006/main">
              <a:ext uri="{FF2B5EF4-FFF2-40B4-BE49-F238E27FC236}">
                <a16:creationId xmlns:a16="http://schemas.microsoft.com/office/drawing/2014/main" id="{E738548D-677F-4894-963E-2CD6C64E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4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8" name="text-137">
            <a:extLst xmlns:a="http://schemas.openxmlformats.org/drawingml/2006/main">
              <a:ext uri="{FF2B5EF4-FFF2-40B4-BE49-F238E27FC236}">
                <a16:creationId xmlns:a16="http://schemas.microsoft.com/office/drawing/2014/main" id="{C3EA6257-7A32-484C-80F3-E0BF13FE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0"/>
            <a:ext cx="647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NSGA-II search</a:t>
            </a:r>
          </a:p>
        </p:txBody>
      </p:sp>
      <p:sp>
        <p:nvSpPr>
          <p:cNvPr id="9" name="text-138">
            <a:extLst xmlns:a="http://schemas.openxmlformats.org/drawingml/2006/main">
              <a:ext uri="{FF2B5EF4-FFF2-40B4-BE49-F238E27FC236}">
                <a16:creationId xmlns:a16="http://schemas.microsoft.com/office/drawing/2014/main" id="{4DBEAA8F-55E2-4343-89A7-E833ACC7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nondominated set offers different compression–utility trade-offs.</a:t>
            </a:r>
          </a:p>
        </p:txBody>
      </p:sp>
      <p:sp>
        <p:nvSpPr>
          <p:cNvPr id="10" name="text-139">
            <a:extLst xmlns:a="http://schemas.openxmlformats.org/drawingml/2006/main">
              <a:ext uri="{FF2B5EF4-FFF2-40B4-BE49-F238E27FC236}">
                <a16:creationId xmlns:a16="http://schemas.microsoft.com/office/drawing/2014/main" id="{08240CEE-0C65-402A-AE0D-A3D1F7F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880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MinPPI as a possible prefilter</a:t>
            </a:r>
          </a:p>
        </p:txBody>
      </p:sp>
      <p:sp>
        <p:nvSpPr>
          <p:cNvPr id="11" name="text-140">
            <a:extLst xmlns:a="http://schemas.openxmlformats.org/drawingml/2006/main">
              <a:ext uri="{FF2B5EF4-FFF2-40B4-BE49-F238E27FC236}">
                <a16:creationId xmlns:a16="http://schemas.microsoft.com/office/drawing/2014/main" id="{B91DD7C1-AE19-453A-9F1B-C0D0DB4E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2865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search quality and full cost, including the preceding audit.</a:t>
            </a:r>
          </a:p>
        </p:txBody>
      </p:sp>
    </p:spTree>
    <p:extLst>
      <p:ext uri="{BB962C8B-B14F-4D97-AF65-F5344CB8AC3E}">
        <p14:creationId xmlns:p14="http://schemas.microsoft.com/office/powerpoint/2010/main" val="13255006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41">
            <a:extLst xmlns:a="http://schemas.openxmlformats.org/drawingml/2006/main">
              <a:ext uri="{FF2B5EF4-FFF2-40B4-BE49-F238E27FC236}">
                <a16:creationId xmlns:a16="http://schemas.microsoft.com/office/drawing/2014/main" id="{811FC495-664C-4F54-B893-E74A2354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Current evidence and remaining experiments</a:t>
            </a:r>
          </a:p>
        </p:txBody>
      </p:sp>
      <p:sp>
        <p:nvSpPr>
          <p:cNvPr id="2" name="rule-142">
            <a:extLst xmlns:a="http://schemas.openxmlformats.org/drawingml/2006/main">
              <a:ext uri="{FF2B5EF4-FFF2-40B4-BE49-F238E27FC236}">
                <a16:creationId xmlns:a16="http://schemas.microsoft.com/office/drawing/2014/main" id="{547CB1E0-46DA-4799-829F-35234F27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3">
            <a:extLst xmlns:a="http://schemas.openxmlformats.org/drawingml/2006/main">
              <a:ext uri="{FF2B5EF4-FFF2-40B4-BE49-F238E27FC236}">
                <a16:creationId xmlns:a16="http://schemas.microsoft.com/office/drawing/2014/main" id="{56FDB949-17B9-472F-9AC6-587F3C81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text-144">
            <a:extLst xmlns:a="http://schemas.openxmlformats.org/drawingml/2006/main">
              <a:ext uri="{FF2B5EF4-FFF2-40B4-BE49-F238E27FC236}">
                <a16:creationId xmlns:a16="http://schemas.microsoft.com/office/drawing/2014/main" id="{56F906D9-C443-403F-A97D-E05C90F5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75600"/>
            <a:ext cx="12700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Project evidence status: 26 September 2026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444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3111500"/>
                <a:gridCol w="6667500"/>
              </a:tblGrid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layer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currently supports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Exact reference audit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35 games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Harmful set: 22 nonempty, 13 empty.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A/B discovery comparison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Recall area A/B: 0.4012 / 0.3718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Cold-cache checks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Six checks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Queried utilities and traces reproduced.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Controlled mechanisms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instances to examine mechanisms.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Deletion decisions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 games to test deletion value and cost.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45">
            <a:extLst xmlns:a="http://schemas.openxmlformats.org/drawingml/2006/main">
              <a:ext uri="{FF2B5EF4-FFF2-40B4-BE49-F238E27FC236}">
                <a16:creationId xmlns:a16="http://schemas.microsoft.com/office/drawing/2014/main" id="{8C9CED78-9E46-46CD-BB86-8FDD4CF4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5000"/>
            <a:ext cx="13462000" cy="77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 has no stable advantage. Practical removal value remains under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10167516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46">
            <a:extLst xmlns:a="http://schemas.openxmlformats.org/drawingml/2006/main">
              <a:ext uri="{FF2B5EF4-FFF2-40B4-BE49-F238E27FC236}">
                <a16:creationId xmlns:a16="http://schemas.microsoft.com/office/drawing/2014/main" id="{F9C92DA4-D68E-4EEA-A57F-6A8DFF92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contribution and next steps</a:t>
            </a:r>
          </a:p>
        </p:txBody>
      </p:sp>
      <p:sp>
        <p:nvSpPr>
          <p:cNvPr id="2" name="rule-147">
            <a:extLst xmlns:a="http://schemas.openxmlformats.org/drawingml/2006/main">
              <a:ext uri="{FF2B5EF4-FFF2-40B4-BE49-F238E27FC236}">
                <a16:creationId xmlns:a16="http://schemas.microsoft.com/office/drawing/2014/main" id="{53061385-820A-4E59-BE0F-EFEDF3C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D0C9"/>
            </a:solidFill>
          </a:ln>
        </p:spPr>
      </p:sp>
      <p:sp>
        <p:nvSpPr>
          <p:cNvPr id="3" name="text-148">
            <a:extLst xmlns:a="http://schemas.openxmlformats.org/drawingml/2006/main">
              <a:ext uri="{FF2B5EF4-FFF2-40B4-BE49-F238E27FC236}">
                <a16:creationId xmlns:a16="http://schemas.microsoft.com/office/drawing/2014/main" id="{E4E24E3B-A862-482E-9190-5378ED40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text-149">
            <a:extLst xmlns:a="http://schemas.openxmlformats.org/drawingml/2006/main">
              <a:ext uri="{FF2B5EF4-FFF2-40B4-BE49-F238E27FC236}">
                <a16:creationId xmlns:a16="http://schemas.microsoft.com/office/drawing/2014/main" id="{1E34F6FE-5DD5-445E-83B9-732F63D2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1400"/>
            <a:ext cx="1358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feature audit that explains where a variable</a:t>
            </a:r>
          </a:p>
          <a:p xmlns:a="http://schemas.openxmlformats.org/drawingml/2006/main">
            <a:pPr algn="l">
              <a:defRPr sz="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breaks a defined utility requirement.</a:t>
            </a:r>
          </a:p>
        </p:txBody>
      </p:sp>
      <p:sp>
        <p:nvSpPr>
          <p:cNvPr id="5" name="text-150">
            <a:extLst xmlns:a="http://schemas.openxmlformats.org/drawingml/2006/main">
              <a:ext uri="{FF2B5EF4-FFF2-40B4-BE49-F238E27FC236}">
                <a16:creationId xmlns:a16="http://schemas.microsoft.com/office/drawing/2014/main" id="{7F5FFB75-8D69-40BB-8872-468E4723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0700"/>
            <a:ext cx="13716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Exact references quantify what the audit misses.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Independent decisions test whether removal is worth the cost.</a:t>
            </a:r>
          </a:p>
        </p:txBody>
      </p:sp>
      <p:sp>
        <p:nvSpPr>
          <p:cNvPr id="6" name="rule-151">
            <a:extLst xmlns:a="http://schemas.openxmlformats.org/drawingml/2006/main">
              <a:ext uri="{FF2B5EF4-FFF2-40B4-BE49-F238E27FC236}">
                <a16:creationId xmlns:a16="http://schemas.microsoft.com/office/drawing/2014/main" id="{F4144F5A-4BC6-4A86-B230-4220ED17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7" name="text-152">
            <a:extLst xmlns:a="http://schemas.openxmlformats.org/drawingml/2006/main">
              <a:ext uri="{FF2B5EF4-FFF2-40B4-BE49-F238E27FC236}">
                <a16:creationId xmlns:a16="http://schemas.microsoft.com/office/drawing/2014/main" id="{D0FD88EE-9BBB-4EDA-8F34-7F7A86A1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8300"/>
            <a:ext cx="431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Next evidence</a:t>
            </a:r>
          </a:p>
        </p:txBody>
      </p:sp>
      <p:sp>
        <p:nvSpPr>
          <p:cNvPr id="8" name="text-153">
            <a:extLst xmlns:a="http://schemas.openxmlformats.org/drawingml/2006/main">
              <a:ext uri="{FF2B5EF4-FFF2-40B4-BE49-F238E27FC236}">
                <a16:creationId xmlns:a16="http://schemas.microsoft.com/office/drawing/2014/main" id="{FB501796-5D9C-4F8C-94E2-64A8EC9F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6705600"/>
            <a:ext cx="901700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Controlled mechanisms, followed by independent gate and test evaluation.</a:t>
            </a:r>
          </a:p>
        </p:txBody>
      </p:sp>
    </p:spTree>
    <p:extLst>
      <p:ext uri="{BB962C8B-B14F-4D97-AF65-F5344CB8AC3E}">
        <p14:creationId xmlns:p14="http://schemas.microsoft.com/office/powerpoint/2010/main" val="991656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54">
            <a:extLst xmlns:a="http://schemas.openxmlformats.org/drawingml/2006/main">
              <a:ext uri="{FF2B5EF4-FFF2-40B4-BE49-F238E27FC236}">
                <a16:creationId xmlns:a16="http://schemas.microsoft.com/office/drawing/2014/main" id="{4010782C-C70B-47B3-984E-0C366BE9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exact and sampled guarantees</a:t>
            </a:r>
          </a:p>
        </p:txBody>
      </p:sp>
      <p:sp>
        <p:nvSpPr>
          <p:cNvPr id="2" name="rule-155">
            <a:extLst xmlns:a="http://schemas.openxmlformats.org/drawingml/2006/main">
              <a:ext uri="{FF2B5EF4-FFF2-40B4-BE49-F238E27FC236}">
                <a16:creationId xmlns:a16="http://schemas.microsoft.com/office/drawing/2014/main" id="{904EF1A6-C637-4BA3-BD49-120462D0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56">
            <a:extLst xmlns:a="http://schemas.openxmlformats.org/drawingml/2006/main">
              <a:ext uri="{FF2B5EF4-FFF2-40B4-BE49-F238E27FC236}">
                <a16:creationId xmlns:a16="http://schemas.microsoft.com/office/drawing/2014/main" id="{733EE868-AD8D-423F-9B33-C81AE143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text-157">
            <a:extLst xmlns:a="http://schemas.openxmlformats.org/drawingml/2006/main">
              <a:ext uri="{FF2B5EF4-FFF2-40B4-BE49-F238E27FC236}">
                <a16:creationId xmlns:a16="http://schemas.microsoft.com/office/drawing/2014/main" id="{360906D6-7E81-43AD-9F89-AB855257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09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58">
            <a:extLst xmlns:a="http://schemas.openxmlformats.org/drawingml/2006/main">
              <a:ext uri="{FF2B5EF4-FFF2-40B4-BE49-F238E27FC236}">
                <a16:creationId xmlns:a16="http://schemas.microsoft.com/office/drawing/2014/main" id="{CA493BB7-052B-44AD-8933-2A48B3D2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209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Support-level equality</a:t>
            </a:r>
          </a:p>
        </p:txBody>
      </p:sp>
      <p:sp>
        <p:nvSpPr>
          <p:cNvPr id="6" name="text-159">
            <a:extLst xmlns:a="http://schemas.openxmlformats.org/drawingml/2006/main">
              <a:ext uri="{FF2B5EF4-FFF2-40B4-BE49-F238E27FC236}">
                <a16:creationId xmlns:a16="http://schemas.microsoft.com/office/drawing/2014/main" id="{6E1ACEB4-2273-49F7-8AA4-C077F89A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432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Every target-excluding subset can precede that feature in a permutation.</a:t>
            </a:r>
          </a:p>
        </p:txBody>
      </p:sp>
      <p:sp>
        <p:nvSpPr>
          <p:cNvPr id="7" name="text-160">
            <a:extLst xmlns:a="http://schemas.openxmlformats.org/drawingml/2006/main">
              <a:ext uri="{FF2B5EF4-FFF2-40B4-BE49-F238E27FC236}">
                <a16:creationId xmlns:a16="http://schemas.microsoft.com/office/drawing/2014/main" id="{E6E2AC9A-0CDC-45E1-99A8-F1521663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429000"/>
            <a:ext cx="1257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MinSSᵢ = MinBzᵢ = Mᵢ</a:t>
            </a:r>
          </a:p>
        </p:txBody>
      </p:sp>
      <p:sp>
        <p:nvSpPr>
          <p:cNvPr id="8" name="text-161">
            <a:extLst xmlns:a="http://schemas.openxmlformats.org/drawingml/2006/main">
              <a:ext uri="{FF2B5EF4-FFF2-40B4-BE49-F238E27FC236}">
                <a16:creationId xmlns:a16="http://schemas.microsoft.com/office/drawing/2014/main" id="{AE32EFAF-A33D-4076-8845-219B343B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162">
            <a:extLst xmlns:a="http://schemas.openxmlformats.org/drawingml/2006/main">
              <a:ext uri="{FF2B5EF4-FFF2-40B4-BE49-F238E27FC236}">
                <a16:creationId xmlns:a16="http://schemas.microsoft.com/office/drawing/2014/main" id="{E6ED74FB-EEF9-46C0-9438-BB2C268F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3815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Sample minimum is an upper bound</a:t>
            </a:r>
          </a:p>
        </p:txBody>
      </p:sp>
      <p:sp>
        <p:nvSpPr>
          <p:cNvPr id="10" name="text-163">
            <a:extLst xmlns:a="http://schemas.openxmlformats.org/drawingml/2006/main">
              <a:ext uri="{FF2B5EF4-FFF2-40B4-BE49-F238E27FC236}">
                <a16:creationId xmlns:a16="http://schemas.microsoft.com/office/drawing/2014/main" id="{F43E6140-D3A0-404D-AECC-BA16DA39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0038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 sample visits only part of the domain. An observed −1 is conclusive.</a:t>
            </a:r>
          </a:p>
        </p:txBody>
      </p:sp>
      <p:sp>
        <p:nvSpPr>
          <p:cNvPr id="11" name="text-164">
            <a:extLst xmlns:a="http://schemas.openxmlformats.org/drawingml/2006/main">
              <a:ext uri="{FF2B5EF4-FFF2-40B4-BE49-F238E27FC236}">
                <a16:creationId xmlns:a16="http://schemas.microsoft.com/office/drawing/2014/main" id="{757114DF-4293-43C0-8E81-CDB7D7CE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7300"/>
            <a:ext cx="137160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If a fixed witness has probability ρ &gt; 0 in K independent draws:</a:t>
            </a:r>
          </a:p>
        </p:txBody>
      </p:sp>
      <p:sp>
        <p:nvSpPr>
          <p:cNvPr id="12" name="text-165">
            <a:extLst xmlns:a="http://schemas.openxmlformats.org/drawingml/2006/main">
              <a:ext uri="{FF2B5EF4-FFF2-40B4-BE49-F238E27FC236}">
                <a16:creationId xmlns:a16="http://schemas.microsoft.com/office/drawing/2014/main" id="{AD9EEE3C-7E51-4AB6-AD0C-683A5284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50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P(detect a harmful witness) ≥ 1 − (1 − ρ)ᴷ</a:t>
            </a:r>
          </a:p>
        </p:txBody>
      </p:sp>
    </p:spTree>
    <p:extLst>
      <p:ext uri="{BB962C8B-B14F-4D97-AF65-F5344CB8AC3E}">
        <p14:creationId xmlns:p14="http://schemas.microsoft.com/office/powerpoint/2010/main" val="17731856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66">
            <a:extLst xmlns:a="http://schemas.openxmlformats.org/drawingml/2006/main">
              <a:ext uri="{FF2B5EF4-FFF2-40B4-BE49-F238E27FC236}">
                <a16:creationId xmlns:a16="http://schemas.microsoft.com/office/drawing/2014/main" id="{447260D5-DF0B-4B30-857E-D4D0F771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sources and protocol details</a:t>
            </a:r>
          </a:p>
        </p:txBody>
      </p:sp>
      <p:sp>
        <p:nvSpPr>
          <p:cNvPr id="2" name="rule-167">
            <a:extLst xmlns:a="http://schemas.openxmlformats.org/drawingml/2006/main">
              <a:ext uri="{FF2B5EF4-FFF2-40B4-BE49-F238E27FC236}">
                <a16:creationId xmlns:a16="http://schemas.microsoft.com/office/drawing/2014/main" id="{ED5508CA-D263-4EA7-93FC-BB8E3B2E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68">
            <a:extLst xmlns:a="http://schemas.openxmlformats.org/drawingml/2006/main">
              <a:ext uri="{FF2B5EF4-FFF2-40B4-BE49-F238E27FC236}">
                <a16:creationId xmlns:a16="http://schemas.microsoft.com/office/drawing/2014/main" id="{D55C049D-EA0D-4D8E-AE5C-0889BE76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text-169">
            <a:extLst xmlns:a="http://schemas.openxmlformats.org/drawingml/2006/main">
              <a:ext uri="{FF2B5EF4-FFF2-40B4-BE49-F238E27FC236}">
                <a16:creationId xmlns:a16="http://schemas.microsoft.com/office/drawing/2014/main" id="{FF226335-39B2-498D-9E3D-C04CA60B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3048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5" name="text-170">
            <a:extLst xmlns:a="http://schemas.openxmlformats.org/drawingml/2006/main">
              <a:ext uri="{FF2B5EF4-FFF2-40B4-BE49-F238E27FC236}">
                <a16:creationId xmlns:a16="http://schemas.microsoft.com/office/drawing/2014/main" id="{0606F996-BB9D-4706-B01B-9CBAE6B6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2159000"/>
            <a:ext cx="10541000" cy="298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Shapley (1953), A Value for n-Person Games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Banzhaf (1965), Weighted Voting Doesn’t Work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Lundberg &amp; Lee (2017), A Unified Approach to Interpreting Model Predictions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Zheng &amp; Raskutti (2026), MinShap: A Shapley-Based Framework for Feature Redundancy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Deb et al. (2002), A Fast and Elitist Multiobjective Genetic Algorithm: NSGA-II</a:t>
            </a:r>
          </a:p>
        </p:txBody>
      </p:sp>
      <p:sp>
        <p:nvSpPr>
          <p:cNvPr id="6" name="rule-171">
            <a:extLst xmlns:a="http://schemas.openxmlformats.org/drawingml/2006/main">
              <a:ext uri="{FF2B5EF4-FFF2-40B4-BE49-F238E27FC236}">
                <a16:creationId xmlns:a16="http://schemas.microsoft.com/office/drawing/2014/main" id="{9073AF3F-D9AE-46F2-A388-BC14EA52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7" name="text-172">
            <a:extLst xmlns:a="http://schemas.openxmlformats.org/drawingml/2006/main">
              <a:ext uri="{FF2B5EF4-FFF2-40B4-BE49-F238E27FC236}">
                <a16:creationId xmlns:a16="http://schemas.microsoft.com/office/drawing/2014/main" id="{29023848-86F1-4DFB-8159-4C30D650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3048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Data and protocol</a:t>
            </a:r>
          </a:p>
        </p:txBody>
      </p:sp>
      <p:sp>
        <p:nvSpPr>
          <p:cNvPr id="8" name="text-173">
            <a:extLst xmlns:a="http://schemas.openxmlformats.org/drawingml/2006/main">
              <a:ext uri="{FF2B5EF4-FFF2-40B4-BE49-F238E27FC236}">
                <a16:creationId xmlns:a16="http://schemas.microsoft.com/office/drawing/2014/main" id="{F16A728D-CFAB-4AA0-A1A7-8F67597C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5778500"/>
            <a:ext cx="10541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UCI dataset documentation and the ULB credit-card dataset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Local revision protocol and the 35-game P3 findings, 26 September 2026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XGBoost: 100 rounds, depth 4, learning rate 0.1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Five split identifiers: 42, 123, 456, 789, 1024</a:t>
            </a:r>
          </a:p>
        </p:txBody>
      </p:sp>
    </p:spTree>
    <p:extLst>
      <p:ext uri="{BB962C8B-B14F-4D97-AF65-F5344CB8AC3E}">
        <p14:creationId xmlns:p14="http://schemas.microsoft.com/office/powerpoint/2010/main" val="272004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2026-09-28T10:26:47.3510000Z</dcterms:created>
  <dcterms:modified xsi:type="dcterms:W3CDTF">2026-09-28T10:26:47.3510000Z</dcterms:modified>
</coreProperties>
</file>