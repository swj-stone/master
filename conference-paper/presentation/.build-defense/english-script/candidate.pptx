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320a4081554de8" /><Relationship Type="http://schemas.openxmlformats.org/officeDocument/2006/relationships/extended-properties" Target="/docProps/app.xml" Id="R415f80f1e09d41ee" /><Relationship Type="http://schemas.openxmlformats.org/officeDocument/2006/relationships/officeDocument" Target="/ppt/presentation.xml" Id="R1e1df90e68cb4ec3" /></Relationships>
</file>

<file path=ppt/presentation.xml><?xml version="1.0" encoding="utf-8"?>
<p:presentation xmlns:p="http://schemas.openxmlformats.org/presentationml/2006/main">
  <p:sldMasterIdLst>
    <p:sldMasterId xmlns:r="http://schemas.openxmlformats.org/officeDocument/2006/relationships" id="2147483648" r:id="R4830ef730bb54eb4"/>
  </p:sldMasterIdLst>
  <p:notesMasterIdLst>
    <p:notesMasterId xmlns:r="http://schemas.openxmlformats.org/officeDocument/2006/relationships" r:id="R7842e03ea1c0413e"/>
  </p:notesMasterIdLst>
  <p:sldIdLst>
    <p:sldId xmlns:r="http://schemas.openxmlformats.org/officeDocument/2006/relationships" id="256" r:id="R05db6ec362224e9e"/>
    <p:sldId xmlns:r="http://schemas.openxmlformats.org/officeDocument/2006/relationships" id="257" r:id="Rf2fb9b87fbf54dc9"/>
    <p:sldId xmlns:r="http://schemas.openxmlformats.org/officeDocument/2006/relationships" id="258" r:id="Rdfe94f0a8ad3426b"/>
    <p:sldId xmlns:r="http://schemas.openxmlformats.org/officeDocument/2006/relationships" id="259" r:id="R447d58448133408e"/>
    <p:sldId xmlns:r="http://schemas.openxmlformats.org/officeDocument/2006/relationships" id="260" r:id="R3ee17d0f2a2e4172"/>
    <p:sldId xmlns:r="http://schemas.openxmlformats.org/officeDocument/2006/relationships" id="261" r:id="R7be98b0cf8864fc9"/>
    <p:sldId xmlns:r="http://schemas.openxmlformats.org/officeDocument/2006/relationships" id="262" r:id="Rbf7f07a853784576"/>
    <p:sldId xmlns:r="http://schemas.openxmlformats.org/officeDocument/2006/relationships" id="263" r:id="Re2b88f02d5344c3e"/>
    <p:sldId xmlns:r="http://schemas.openxmlformats.org/officeDocument/2006/relationships" id="264" r:id="Ra179508a7f3c4e3e"/>
    <p:sldId xmlns:r="http://schemas.openxmlformats.org/officeDocument/2006/relationships" id="265" r:id="Rd83ab58cc7404989"/>
    <p:sldId xmlns:r="http://schemas.openxmlformats.org/officeDocument/2006/relationships" id="266" r:id="R5331aaddfae04de7"/>
    <p:sldId xmlns:r="http://schemas.openxmlformats.org/officeDocument/2006/relationships" id="267" r:id="R56515b9e3f1841d2"/>
    <p:sldId xmlns:r="http://schemas.openxmlformats.org/officeDocument/2006/relationships" id="268" r:id="R3bea923dda7748ea"/>
    <p:sldId xmlns:r="http://schemas.openxmlformats.org/officeDocument/2006/relationships" id="269" r:id="Rf1e2b862c5064550"/>
    <p:sldId xmlns:r="http://schemas.openxmlformats.org/officeDocument/2006/relationships" id="270" r:id="Rb8e31d73cf424e4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7284bb30834f0f" /><Relationship Type="http://schemas.openxmlformats.org/officeDocument/2006/relationships/slideMaster" Target="/ppt/slideMasters/slideMaster1.xml" Id="R4830ef730bb54eb4" /><Relationship Type="http://schemas.openxmlformats.org/officeDocument/2006/relationships/notesMaster" Target="/ppt/notesMasters/notesMaster1.xml" Id="R7842e03ea1c0413e" /><Relationship Type="http://schemas.openxmlformats.org/officeDocument/2006/relationships/presProps" Target="/ppt/presProps.xml" Id="R5c814fb83b88487b" /><Relationship Type="http://schemas.openxmlformats.org/officeDocument/2006/relationships/tableStyles" Target="/ppt/tableStyles.xml" Id="Re4fa4ce337574c4f" /><Relationship Type="http://schemas.openxmlformats.org/officeDocument/2006/relationships/slide" Target="/ppt/slides/slide1.xml" Id="R05db6ec362224e9e" /><Relationship Type="http://schemas.openxmlformats.org/officeDocument/2006/relationships/slide" Target="/ppt/slides/slide2.xml" Id="Rf2fb9b87fbf54dc9" /><Relationship Type="http://schemas.openxmlformats.org/officeDocument/2006/relationships/slide" Target="/ppt/slides/slide3.xml" Id="Rdfe94f0a8ad3426b" /><Relationship Type="http://schemas.openxmlformats.org/officeDocument/2006/relationships/slide" Target="/ppt/slides/slide4.xml" Id="R447d58448133408e" /><Relationship Type="http://schemas.openxmlformats.org/officeDocument/2006/relationships/slide" Target="/ppt/slides/slide5.xml" Id="R3ee17d0f2a2e4172" /><Relationship Type="http://schemas.openxmlformats.org/officeDocument/2006/relationships/slide" Target="/ppt/slides/slide6.xml" Id="R7be98b0cf8864fc9" /><Relationship Type="http://schemas.openxmlformats.org/officeDocument/2006/relationships/slide" Target="/ppt/slides/slide7.xml" Id="Rbf7f07a853784576" /><Relationship Type="http://schemas.openxmlformats.org/officeDocument/2006/relationships/slide" Target="/ppt/slides/slide8.xml" Id="Re2b88f02d5344c3e" /><Relationship Type="http://schemas.openxmlformats.org/officeDocument/2006/relationships/slide" Target="/ppt/slides/slide9.xml" Id="Ra179508a7f3c4e3e" /><Relationship Type="http://schemas.openxmlformats.org/officeDocument/2006/relationships/slide" Target="/ppt/slides/slide10.xml" Id="Rd83ab58cc7404989" /><Relationship Type="http://schemas.openxmlformats.org/officeDocument/2006/relationships/slide" Target="/ppt/slides/slide11.xml" Id="R5331aaddfae04de7" /><Relationship Type="http://schemas.openxmlformats.org/officeDocument/2006/relationships/slide" Target="/ppt/slides/slide12.xml" Id="R56515b9e3f1841d2" /><Relationship Type="http://schemas.openxmlformats.org/officeDocument/2006/relationships/slide" Target="/ppt/slides/slide13.xml" Id="R3bea923dda7748ea" /><Relationship Type="http://schemas.openxmlformats.org/officeDocument/2006/relationships/slide" Target="/ppt/slides/slide14.xml" Id="Rf1e2b862c5064550" /><Relationship Type="http://schemas.openxmlformats.org/officeDocument/2006/relationships/slide" Target="/ppt/slides/slide15.xml" Id="Rb8e31d73cf424e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b7d9254e6f45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9ee9edfea847cc" /><Relationship Type="http://schemas.openxmlformats.org/officeDocument/2006/relationships/notesMaster" Target="/ppt/notesMasters/notesMaster1.xml" Id="R849af7413da0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65e0125be8484d" /><Relationship Type="http://schemas.openxmlformats.org/officeDocument/2006/relationships/notesMaster" Target="/ppt/notesMasters/notesMaster1.xml" Id="R145f218714f24a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64aece2d834834" /><Relationship Type="http://schemas.openxmlformats.org/officeDocument/2006/relationships/notesMaster" Target="/ppt/notesMasters/notesMaster1.xml" Id="Rc6488f4839aa40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90d1618294c80" /><Relationship Type="http://schemas.openxmlformats.org/officeDocument/2006/relationships/notesMaster" Target="/ppt/notesMasters/notesMaster1.xml" Id="R0ccfa45cb7c44d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f9720a51e649ab" /><Relationship Type="http://schemas.openxmlformats.org/officeDocument/2006/relationships/notesMaster" Target="/ppt/notesMasters/notesMaster1.xml" Id="Rd394771535134f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52ffe58e674a90" /><Relationship Type="http://schemas.openxmlformats.org/officeDocument/2006/relationships/notesMaster" Target="/ppt/notesMasters/notesMaster1.xml" Id="Rc84a48149d144c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05d84cab9a4b90" /><Relationship Type="http://schemas.openxmlformats.org/officeDocument/2006/relationships/notesMaster" Target="/ppt/notesMasters/notesMaster1.xml" Id="R9348134b753d4e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ce6598e3b14b71" /><Relationship Type="http://schemas.openxmlformats.org/officeDocument/2006/relationships/notesMaster" Target="/ppt/notesMasters/notesMaster1.xml" Id="R12acb984e0ad45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1cba736e924c69" /><Relationship Type="http://schemas.openxmlformats.org/officeDocument/2006/relationships/notesMaster" Target="/ppt/notesMasters/notesMaster1.xml" Id="Rc974cb28436c42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ce302b7172403a" /><Relationship Type="http://schemas.openxmlformats.org/officeDocument/2006/relationships/notesMaster" Target="/ppt/notesMasters/notesMaster1.xml" Id="Rd6c36ed4fb244b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8f97d22a754e6f" /><Relationship Type="http://schemas.openxmlformats.org/officeDocument/2006/relationships/notesMaster" Target="/ppt/notesMasters/notesMaster1.xml" Id="R209179a37dda49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47a4b46ac44135" /><Relationship Type="http://schemas.openxmlformats.org/officeDocument/2006/relationships/notesMaster" Target="/ppt/notesMasters/notesMaster1.xml" Id="R46d227179b2d4a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aa0b5888d349b7" /><Relationship Type="http://schemas.openxmlformats.org/officeDocument/2006/relationships/notesMaster" Target="/ppt/notesMasters/notesMaster1.xml" Id="Rf25fed0c560947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8a54cf30fc4078" /><Relationship Type="http://schemas.openxmlformats.org/officeDocument/2006/relationships/notesMaster" Target="/ppt/notesMasters/notesMaster1.xml" Id="R8fd98f6aacfa4b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50b90b3f604435" /><Relationship Type="http://schemas.openxmlformats.org/officeDocument/2006/relationships/notesMaster" Target="/ppt/notesMasters/notesMaster1.xml" Id="Re96723493ea24a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My name is Wenjie Shi, and my supervisor is Chi Zhao. Today I will present my research, Min-Marginal Power Indices for Multi-Objective Feature Selection.</a:t>
            </a:r>
          </a:p>
          <a:p xmlns:a="http://schemas.openxmlformats.org/drawingml/2006/main">
            <a:r>
              <a:t/>
            </a:r>
          </a:p>
          <a:p xmlns:a="http://schemas.openxmlformats.org/drawingml/2006/main">
            <a:r>
              <a:t>The central question is simple: when can an extra feature make a model worse? I will explain why this question matters, how the proposed method finds evidence of harm, and how the experiments will test its practical value. The research is still in progress, so I will focus mainly on the method and experimental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begin with a familiar example: detecting spam emails. Each email is described by input features, such as word frequencies, punctuation, and statistics about capital letters. During training, we also know whether each email is spam or a legitimate email. The model learns from these labeled examples and predicts the category of new emails.</a:t>
            </a:r>
          </a:p>
          <a:p xmlns:a="http://schemas.openxmlformats.org/drawingml/2006/main">
            <a:r>
              <a:t/>
            </a:r>
          </a:p>
          <a:p xmlns:a="http://schemas.openxmlformats.org/drawingml/2006/main">
            <a:r>
              <a:t>We may want to use fewer features to reduce measurement, storage, or model costs. However, removing inputs can also damage prediction performance. Similarly, adding another input does not always improve a model trained on a finite sample. Its effect can depend on the other inputs already present.</a:t>
            </a:r>
          </a:p>
          <a:p xmlns:a="http://schemas.openxmlformats.org/drawingml/2006/main">
            <a:r>
              <a:t/>
            </a:r>
          </a:p>
          <a:p xmlns:a="http://schemas.openxmlformats.org/drawingml/2006/main">
            <a:r>
              <a:t>This motivates my research: can we provide a concrete, checkable reason to consider a feature for removal, and then test whether that removal is worthwhile?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separates two complementary checks.</a:t>
            </a:r>
          </a:p>
          <a:p xmlns:a="http://schemas.openxmlformats.org/drawingml/2006/main">
            <a:r>
              <a:t/>
            </a:r>
          </a:p>
          <a:p xmlns:a="http://schemas.openxmlformats.org/drawingml/2006/main">
            <a:r>
              <a:t>The first is the addition check. We take a group of features, called S, train a model with that group, and compare it with a model trained after adding feature i. We ask whether adding i makes the score fall below the performance requirement. This identifies harm in that particular feature group.</a:t>
            </a:r>
          </a:p>
          <a:p xmlns:a="http://schemas.openxmlformats.org/drawingml/2006/main">
            <a:r>
              <a:t/>
            </a:r>
          </a:p>
          <a:p xmlns:a="http://schemas.openxmlformats.org/drawingml/2006/main">
            <a:r>
              <a:t>The second is the removal check. We start from the full input set and propose a smaller set. On independent data, we then examine whether the smaller model provides an acceptable balance of prediction performance, size, and cost.</a:t>
            </a:r>
          </a:p>
          <a:p xmlns:a="http://schemas.openxmlformats.org/drawingml/2006/main">
            <a:r>
              <a:t/>
            </a:r>
          </a:p>
          <a:p xmlns:a="http://schemas.openxmlformats.org/drawingml/2006/main">
            <a:r>
              <a:t>These are different questions. A feature that causes harm in one combination is not automatically beneficial to remove from the full model. The removal decision therefore needs its own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example, let me explain the formulas. D is the full set of inputs being analyzed. S is a subset that does not contain feature i. U of S is the validation score of a model trained using S, with higher scores meaning better performance.</a:t>
            </a:r>
          </a:p>
          <a:p xmlns:a="http://schemas.openxmlformats.org/drawingml/2006/main">
            <a:r>
              <a:t/>
            </a:r>
          </a:p>
          <a:p xmlns:a="http://schemas.openxmlformats.org/drawingml/2006/main">
            <a:r>
              <a:t>First, we set the required score, q, by multiplying the full-set score by alpha. The default alpha is zero point nine five. We therefore require ninety-five percent of the full-set score. This does not mean ninety-five percent classification accuracy.</a:t>
            </a:r>
          </a:p>
          <a:p xmlns:a="http://schemas.openxmlformats.org/drawingml/2006/main">
            <a:r>
              <a:t/>
            </a:r>
          </a:p>
          <a:p xmlns:a="http://schemas.openxmlformats.org/drawingml/2006/main">
            <a:r>
              <a:t>Second, v converts the score into a pass or fail result. It equals one when the score reaches q, and zero otherwise.</a:t>
            </a:r>
          </a:p>
          <a:p xmlns:a="http://schemas.openxmlformats.org/drawingml/2006/main">
            <a:r>
              <a:t/>
            </a:r>
          </a:p>
          <a:p xmlns:a="http://schemas.openxmlformats.org/drawingml/2006/main">
            <a:r>
              <a:t>Third, delta compares these results after and before adding i. A change from one to zero gives minus one.</a:t>
            </a:r>
          </a:p>
          <a:p xmlns:a="http://schemas.openxmlformats.org/drawingml/2006/main">
            <a:r>
              <a:t/>
            </a:r>
          </a:p>
          <a:p xmlns:a="http://schemas.openxmlformats.org/drawingml/2006/main">
            <a:r>
              <a:t>Finally, MinPPI takes the minimum delta across all feature groups without i. If any group produces minus one, a harmful context exists. We can now apply these definitions to a concrete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numbers are an illustration, not an experimental result. Suppose the model using the full input set has a validation score of zero point nine zero. With alpha set to zero point nine five, the required score is zero point eight five five.</a:t>
            </a:r>
          </a:p>
          <a:p xmlns:a="http://schemas.openxmlformats.org/drawingml/2006/main">
            <a:r>
              <a:t/>
            </a:r>
          </a:p>
          <a:p xmlns:a="http://schemas.openxmlformats.org/drawingml/2006/main">
            <a:r>
              <a:t>On the left, the model using subset S scores zero point eight seven. It passes the requirement, so its binary value is one.</a:t>
            </a:r>
          </a:p>
          <a:p xmlns:a="http://schemas.openxmlformats.org/drawingml/2006/main">
            <a:r>
              <a:t/>
            </a:r>
          </a:p>
          <a:p xmlns:a="http://schemas.openxmlformats.org/drawingml/2006/main">
            <a:r>
              <a:t>We then add feature i and retrain using the same training rows and learner settings. The score falls to zero point eight four. It now fails, so its binary value is zero. Delta is therefore zero minus one, which equals minus one.</a:t>
            </a:r>
          </a:p>
          <a:p xmlns:a="http://schemas.openxmlformats.org/drawingml/2006/main">
            <a:r>
              <a:t/>
            </a:r>
          </a:p>
          <a:p xmlns:a="http://schemas.openxmlformats.org/drawingml/2006/main">
            <a:r>
              <a:t>We save this pair as a witness of harm. It records what happened in this context. Whether removing i from the full model helps is a separate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brings the research together. The upper row shows the feature audit. We first choose an input i and a group of other inputs, S. We then train and evaluate the models using S and S plus i. If adding i changes a pass into a fail, we record the feature, the group, both scores, and the threshold. We repeat this process within a fixed query budget.</a:t>
            </a:r>
          </a:p>
          <a:p xmlns:a="http://schemas.openxmlformats.org/drawingml/2006/main">
            <a:r>
              <a:t/>
            </a:r>
          </a:p>
          <a:p xmlns:a="http://schemas.openxmlformats.org/drawingml/2006/main">
            <a:r>
              <a:t>The lower row shows the planned deletion evaluation. Following the arrows from right to left, we use the audit evidence to propose one removal candidate. An independent validation check decides whether to accept it or keep the full input set.</a:t>
            </a:r>
          </a:p>
          <a:p xmlns:a="http://schemas.openxmlformats.org/drawingml/2006/main">
            <a:r>
              <a:t/>
            </a:r>
          </a:p>
          <a:p xmlns:a="http://schemas.openxmlformats.org/drawingml/2006/main">
            <a:r>
              <a:t>After freezing that decision, we evaluate the chosen model on held-out test data. We measure how many inputs remain, how much prediction performance changes, and the total computational cost. This keeps the discovery of a harmful context separate from the evaluation of a removal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theoretical framework comes from cooperative game theory. A player corresponds to one input column. A coalition is a group of columns used together to train a model. The marginal contribution is the change caused by adding another column.</a:t>
            </a:r>
          </a:p>
          <a:p xmlns:a="http://schemas.openxmlformats.org/drawingml/2006/main">
            <a:r>
              <a:t/>
            </a:r>
          </a:p>
          <a:p xmlns:a="http://schemas.openxmlformats.org/drawingml/2006/main">
            <a:r>
              <a:t>Classical Shapley and Banzhaf measures summarize marginal contributions through weighted averages. Here, the question is whether any feature group changes from passing to failing. MinPPI therefore considers the minimum change in the threshold outcome.</a:t>
            </a:r>
          </a:p>
          <a:p xmlns:a="http://schemas.openxmlformats.org/drawingml/2006/main">
            <a:r>
              <a:t/>
            </a:r>
          </a:p>
          <a:p xmlns:a="http://schemas.openxmlformats.org/drawingml/2006/main">
            <a:r>
              <a:t>Minimum aggregation has predecessors, including MinShap. The focus of this project is its use with a fixed performance requirement, together with a record of the evaluated failure and a procedure for testing removal. A negative witness gives a specific context that can be checked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slides explain how we check whether adding a feature causes harm. The next question is how to find such cases efficiently.</a:t>
            </a:r>
          </a:p>
          <a:p xmlns:a="http://schemas.openxmlformats.org/drawingml/2006/main">
            <a:r>
              <a:t/>
            </a:r>
          </a:p>
          <a:p xmlns:a="http://schemas.openxmlformats.org/drawingml/2006/main">
            <a:r>
              <a:t>As the number of features grows, checking every combination becomes expensive. We therefore compare two search strategies. Method A selects feature groups randomly. Method B uses information from the training data, including associations with the target and relationships between features, to guide this selection.</a:t>
            </a:r>
          </a:p>
          <a:p xmlns:a="http://schemas.openxmlformats.org/drawingml/2006/main">
            <a:r>
              <a:t/>
            </a:r>
          </a:p>
          <a:p xmlns:a="http://schemas.openxmlformats.org/drawingml/2006/main">
            <a:r>
              <a:t>Both methods use the same addition check and the same query budget. We then compare how many harmful cases they discover. Guidance is a hypothesis to test, rather than a guaranteed improvement.</a:t>
            </a:r>
          </a:p>
          <a:p xmlns:a="http://schemas.openxmlformats.org/drawingml/2006/main">
            <a:r>
              <a:t/>
            </a:r>
          </a:p>
          <a:p xmlns:a="http://schemas.openxmlformats.org/drawingml/2006/main">
            <a:r>
              <a:t>A discovered witness provides evidence of harm in that specific context. However, finding no witness does not prove safety, because some combinations remain unchecked. We also measure computational cost separately, since equal query budgets do not necessarily mean equal running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datasets were chosen to serve different parts of the research.</a:t>
            </a:r>
          </a:p>
          <a:p xmlns:a="http://schemas.openxmlformats.org/drawingml/2006/main">
            <a:r>
              <a:t/>
            </a:r>
          </a:p>
          <a:p xmlns:a="http://schemas.openxmlformats.org/drawingml/2006/main">
            <a:r>
              <a:t>Abalone uses physical measurements to predict ring count. It provides a regression task, and its eight inputs allow us to check every possible subset.</a:t>
            </a:r>
          </a:p>
          <a:p xmlns:a="http://schemas.openxmlformats.org/drawingml/2006/main">
            <a:r>
              <a:t/>
            </a:r>
          </a:p>
          <a:p xmlns:a="http://schemas.openxmlformats.org/drawingml/2006/main">
            <a:r>
              <a:t>Madelon is a labeled synthetic classification dataset. It contains informative variables, redundant combinations, and distractor variables. This structure helps us investigate difficult feature combinations, although a variable's generating role does not automatically determine whether MinPPI finds it harmful.</a:t>
            </a:r>
          </a:p>
          <a:p xmlns:a="http://schemas.openxmlformats.org/drawingml/2006/main">
            <a:r>
              <a:t/>
            </a:r>
          </a:p>
          <a:p xmlns:a="http://schemas.openxmlformats.org/drawingml/2006/main">
            <a:r>
              <a:t>Spambase uses word and character statistics to predict whether an email is spam. Its inputs make the feature combinations easier to explain.</a:t>
            </a:r>
          </a:p>
          <a:p xmlns:a="http://schemas.openxmlformats.org/drawingml/2006/main">
            <a:r>
              <a:t/>
            </a:r>
          </a:p>
          <a:p xmlns:a="http://schemas.openxmlformats.org/drawingml/2006/main">
            <a:r>
              <a:t>Credit-card fraud provides a classification task with rare positive cases. Its inputs include anonymized PCA components and transaction amount. PCA describes the input representation. The prediction task still uses known fraud labels and remains supervised.</a:t>
            </a:r>
          </a:p>
          <a:p xmlns:a="http://schemas.openxmlformats.org/drawingml/2006/main">
            <a:r>
              <a:t/>
            </a:r>
          </a:p>
          <a:p xmlns:a="http://schemas.openxmlformats.org/drawingml/2006/main">
            <a:r>
              <a:t>The current exact-reference study uses these four datasets. Gisette and ISOLET belong to the broader benchmark, but they are not part of the current thirty-five small reference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plan follows three questions.</a:t>
            </a:r>
          </a:p>
          <a:p xmlns:a="http://schemas.openxmlformats.org/drawingml/2006/main">
            <a:r>
              <a:t/>
            </a:r>
          </a:p>
          <a:p xmlns:a="http://schemas.openxmlformats.org/drawingml/2006/main">
            <a:r>
              <a:t>First, how much does the search miss? We compare its discoveries with a complete reference on small problems. This study has been completed.</a:t>
            </a:r>
          </a:p>
          <a:p xmlns:a="http://schemas.openxmlformats.org/drawingml/2006/main">
            <a:r>
              <a:t/>
            </a:r>
          </a:p>
          <a:p xmlns:a="http://schemas.openxmlformats.org/drawingml/2006/main">
            <a:r>
              <a:t>Second, what makes discovery difficult? We plan to control the structure of synthetic data so that we can examine signal, redundancy, and interaction separately.</a:t>
            </a:r>
          </a:p>
          <a:p xmlns:a="http://schemas.openxmlformats.org/drawingml/2006/main">
            <a:r>
              <a:t/>
            </a:r>
          </a:p>
          <a:p xmlns:a="http://schemas.openxmlformats.org/drawingml/2006/main">
            <a:r>
              <a:t>Third, is removal worthwhile? We plan to test the selected smaller models using independent validation and test data, while accounting for the full cost.</a:t>
            </a:r>
          </a:p>
          <a:p xmlns:a="http://schemas.openxmlformats.org/drawingml/2006/main">
            <a:r>
              <a:t/>
            </a:r>
          </a:p>
          <a:p xmlns:a="http://schemas.openxmlformats.org/drawingml/2006/main">
            <a:r>
              <a:t>These studies provide different kinds of evidence. Finding valid witnesses and measuring missed cases does not, by itself, establish that deleting features improves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study uses small problems because we need a complete reference. With eight inputs, there are two hundred and fifty-six possible subsets. We can evaluate all of them and determine which inputs have at least one harmful context.</a:t>
            </a:r>
          </a:p>
          <a:p xmlns:a="http://schemas.openxmlformats.org/drawingml/2006/main">
            <a:r>
              <a:t/>
            </a:r>
          </a:p>
          <a:p xmlns:a="http://schemas.openxmlformats.org/drawingml/2006/main">
            <a:r>
              <a:t>We then let methods A and B search under the same query budget. They cannot see the complete reference or its harmful-feature labels. They can only request the subset evaluations selected by their own search strategy.</a:t>
            </a:r>
          </a:p>
          <a:p xmlns:a="http://schemas.openxmlformats.org/drawingml/2006/main">
            <a:r>
              <a:t/>
            </a:r>
          </a:p>
          <a:p xmlns:a="http://schemas.openxmlformats.org/drawingml/2006/main">
            <a:r>
              <a:t>After the search, we compare the discovered harmful inputs with the reference. This allows us to measure what was found and what was missed across the query budget.</a:t>
            </a:r>
          </a:p>
          <a:p xmlns:a="http://schemas.openxmlformats.org/drawingml/2006/main">
            <a:r>
              <a:t/>
            </a:r>
          </a:p>
          <a:p xmlns:a="http://schemas.openxmlformats.org/drawingml/2006/main">
            <a:r>
              <a:t>The completed study contains thirty-five fixed problems across four datasets. Each reference applies to its own eight-input problem, model, split, and threshold. It does not provide a complete answer for the original high-dimensional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study is planned to help explain the discovery results. Real datasets contain many overlapping influences, which makes it difficult to identify why a search succeeds or fails.</a:t>
            </a:r>
          </a:p>
          <a:p xmlns:a="http://schemas.openxmlformats.org/drawingml/2006/main">
            <a:r>
              <a:t/>
            </a:r>
          </a:p>
          <a:p xmlns:a="http://schemas.openxmlformats.org/drawingml/2006/main">
            <a:r>
              <a:t>We therefore use three controlled structures. The first combines useful variables with unrelated distractors. The second adds noisy copies of informative variables, creating correlated redundancy. The third uses an interaction in which the target depends on a combination of variables.</a:t>
            </a:r>
          </a:p>
          <a:p xmlns:a="http://schemas.openxmlformats.org/drawingml/2006/main">
            <a:r>
              <a:t/>
            </a:r>
          </a:p>
          <a:p xmlns:a="http://schemas.openxmlformats.org/drawingml/2006/main">
            <a:r>
              <a:t>For each structure, we keep the learning and evaluation procedure fixed, construct a complete reference, and compare A and B under the same budget.</a:t>
            </a:r>
          </a:p>
          <a:p xmlns:a="http://schemas.openxmlformats.org/drawingml/2006/main">
            <a:r>
              <a:t/>
            </a:r>
          </a:p>
          <a:p xmlns:a="http://schemas.openxmlformats.org/drawingml/2006/main">
            <a:r>
              <a:t>The aim is to understand how data structure affects harmful contexts and their discovery. We do not assume that an irrelevant or redundant variable must be harmful. Its MinPPI status still depends on the evaluated model and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study addresses practical value. It is planned, because a harmful witness alone does not establish that removal is useful.</a:t>
            </a:r>
          </a:p>
          <a:p xmlns:a="http://schemas.openxmlformats.org/drawingml/2006/main">
            <a:r>
              <a:t/>
            </a:r>
          </a:p>
          <a:p xmlns:a="http://schemas.openxmlformats.org/drawingml/2006/main">
            <a:r>
              <a:t>First, each strategy proposes one candidate input set using training and selection-validation data. A separate validation set then checks whether the candidate stays within a predefined tolerance for prediction loss. If it fails this check, the strategy keeps the full input set. We do not repeatedly try candidates until one passes.</a:t>
            </a:r>
          </a:p>
          <a:p xmlns:a="http://schemas.openxmlformats.org/drawingml/2006/main">
            <a:r>
              <a:t/>
            </a:r>
          </a:p>
          <a:p xmlns:a="http://schemas.openxmlformats.org/drawingml/2006/main">
            <a:r>
              <a:t>After fixing the decision, we refit the chosen model and evaluate it on held-out test data. We compare the result with established feature-ranking and elimination methods, using consistent learning and evaluation conditions.</a:t>
            </a:r>
          </a:p>
          <a:p xmlns:a="http://schemas.openxmlformats.org/drawingml/2006/main">
            <a:r>
              <a:t/>
            </a:r>
          </a:p>
          <a:p xmlns:a="http://schemas.openxmlformats.org/drawingml/2006/main">
            <a:r>
              <a:t>We judge three outcomes together: the number of retained inputs, prediction loss, and total computational cost, including the audit. Classification and regression results are evaluated with their appropriate metrics. A smaller model is valuable only when the reduction justifies its performance trade-off and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this stage, the complete reference audit has been carried out for the small fixed problems. It provides checkable witnesses and shows that a limited search can miss harmful cases.</a:t>
            </a:r>
          </a:p>
          <a:p xmlns:a="http://schemas.openxmlformats.org/drawingml/2006/main">
            <a:r>
              <a:t/>
            </a:r>
          </a:p>
          <a:p xmlns:a="http://schemas.openxmlformats.org/drawingml/2006/main">
            <a:r>
              <a:t>The current guided strategy does not show a stable advantage over random exploration. Relationships found in the training data do not consistently lead the search toward the contexts where the threshold fails.</a:t>
            </a:r>
          </a:p>
          <a:p xmlns:a="http://schemas.openxmlformats.org/drawingml/2006/main">
            <a:r>
              <a:t/>
            </a:r>
          </a:p>
          <a:p xmlns:a="http://schemas.openxmlformats.org/drawingml/2006/main">
            <a:r>
              <a:t>The practical value of deletion remains an open question. The next steps are the controlled mechanism study and the independent removal evaluation. These results will help define when the method is useful and where its limitations 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contribution is a feature-selection decision supported by evidence that can be inspected.</a:t>
            </a:r>
          </a:p>
          <a:p xmlns:a="http://schemas.openxmlformats.org/drawingml/2006/main">
            <a:r>
              <a:t/>
            </a:r>
          </a:p>
          <a:p xmlns:a="http://schemas.openxmlformats.org/drawingml/2006/main">
            <a:r>
              <a:t>A concrete failure context shows which input caused a threshold crossing and in which combination. An exact reference measures how much the search missed. An independent evaluation tests whether acting on the evidence produces a useful smaller model.</a:t>
            </a:r>
          </a:p>
          <a:p xmlns:a="http://schemas.openxmlformats.org/drawingml/2006/main">
            <a:r>
              <a:t/>
            </a:r>
          </a:p>
          <a:p xmlns:a="http://schemas.openxmlformats.org/drawingml/2006/main">
            <a:r>
              <a:t>Together, these steps connect the mathematical definition to a practical decision. The next work is to complete the controlled mechanism experiments and the independent deletion evaluation. 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9dd1718f7e4a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e9d60ecf9c4b99" /><Relationship Type="http://schemas.openxmlformats.org/officeDocument/2006/relationships/slideLayout" Target="/ppt/slideLayouts/slideLayout1.xml" Id="Rbe81fdce9ffc4d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81fdce9ffc4d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1c90facac1408d" /><Relationship Type="http://schemas.openxmlformats.org/officeDocument/2006/relationships/notesSlide" Target="/ppt/notesSlides/notesSlide1.xml" Id="Rafc404b96f9540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1c6bde5111493e" /><Relationship Type="http://schemas.openxmlformats.org/officeDocument/2006/relationships/notesSlide" Target="/ppt/notesSlides/notesSlide2.xml" Id="Rda163fb5f49842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462a606aa247c5" /><Relationship Type="http://schemas.openxmlformats.org/officeDocument/2006/relationships/notesSlide" Target="/ppt/notesSlides/notesSlide3.xml" Id="Re03a38458ecf4e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0d7f03889e4494" /><Relationship Type="http://schemas.openxmlformats.org/officeDocument/2006/relationships/notesSlide" Target="/ppt/notesSlides/notesSlide4.xml" Id="Rea80329e13e245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7e6d3f486a4205" /><Relationship Type="http://schemas.openxmlformats.org/officeDocument/2006/relationships/notesSlide" Target="/ppt/notesSlides/notesSlide5.xml" Id="R691a3e93b33841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15327666bd44a9" /><Relationship Type="http://schemas.openxmlformats.org/officeDocument/2006/relationships/notesSlide" Target="/ppt/notesSlides/notesSlide6.xml" Id="Rd8c42c223f4549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3723d61eb54dc3" /><Relationship Type="http://schemas.openxmlformats.org/officeDocument/2006/relationships/notesSlide" Target="/ppt/notesSlides/notesSlide7.xml" Id="Rf369573f62e141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4f2ec9ec864fb5" /><Relationship Type="http://schemas.openxmlformats.org/officeDocument/2006/relationships/notesSlide" Target="/ppt/notesSlides/notesSlide8.xml" Id="R5cb99a92883f43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c57c603e3f44e6" /><Relationship Type="http://schemas.openxmlformats.org/officeDocument/2006/relationships/notesSlide" Target="/ppt/notesSlides/notesSlide9.xml" Id="R7b1fb06c5ee84a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d833ada17645d2" /><Relationship Type="http://schemas.openxmlformats.org/officeDocument/2006/relationships/notesSlide" Target="/ppt/notesSlides/notesSlide10.xml" Id="R75b1d3c2589141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31defb223b4eae" /><Relationship Type="http://schemas.openxmlformats.org/officeDocument/2006/relationships/notesSlide" Target="/ppt/notesSlides/notesSlide11.xml" Id="R664fed5fe63642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8cffed95ab4855" /><Relationship Type="http://schemas.openxmlformats.org/officeDocument/2006/relationships/notesSlide" Target="/ppt/notesSlides/notesSlide12.xml" Id="R88b04862a4a54f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0af91596b64e09" /><Relationship Type="http://schemas.openxmlformats.org/officeDocument/2006/relationships/notesSlide" Target="/ppt/notesSlides/notesSlide13.xml" Id="R00cfe0412a2e4c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c3598e50bf4c50" /><Relationship Type="http://schemas.openxmlformats.org/officeDocument/2006/relationships/notesSlide" Target="/ppt/notesSlides/notesSlide14.xml" Id="Rd93fc89f17f14a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ac24d5480f488b" /><Relationship Type="http://schemas.openxmlformats.org/officeDocument/2006/relationships/notesSlide" Target="/ppt/notesSlides/notesSlide15.xml" Id="R39e91c77f23a464a" /></Relationships>
</file>

<file path=ppt/slides/slide1.xml><?xml version="1.0" encoding="utf-8"?>
<p:sld xmlns:p="http://schemas.openxmlformats.org/presentationml/2006/main">
  <p:cSld>
    <p:bg>
      <p:bgPr>
        <a:solidFill xmlns:a="http://schemas.openxmlformats.org/drawingml/2006/main">
          <a:srgbClr val="0B2033"/>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7A360668-8126-4DC7-8129-C67B849DA540}"/>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75D0C9"/>
                </a:solidFill>
                <a:latin typeface="Arial"/>
                <a:ea typeface="Arial"/>
                <a:cs typeface="Arial"/>
              </a:defRPr>
            </a:pPr>
            <a:r>
              <a:rPr sz="1600" b="0">
                <a:solidFill>
                  <a:srgbClr val="75D0C9"/>
                </a:solidFill>
                <a:latin typeface="Arial"/>
                <a:ea typeface="Arial"/>
                <a:cs typeface="Arial"/>
              </a:rPr>
              <a:t>01</a:t>
            </a:r>
          </a:p>
        </p:txBody>
      </p:sp>
      <p:sp>
        <p:nvSpPr>
          <p:cNvPr id="2" name="text-2">
            <a:extLst xmlns:a="http://schemas.openxmlformats.org/drawingml/2006/main">
              <a:ext uri="{FF2B5EF4-FFF2-40B4-BE49-F238E27FC236}">
                <a16:creationId xmlns:a16="http://schemas.microsoft.com/office/drawing/2014/main" id="{D2E2A96F-505F-4886-91C4-621750E40455}"/>
              </a:ext>
            </a:extLst>
          </p:cNvPr>
          <p:cNvSpPr>
            <a:spLocks xmlns:a="http://schemas.openxmlformats.org/drawingml/2006/main" noGrp="1"/>
          </p:cNvSpPr>
          <p:nvPr/>
        </p:nvSpPr>
        <p:spPr>
          <a:xfrm xmlns:a="http://schemas.openxmlformats.org/drawingml/2006/main">
            <a:off x="762000" y="7493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00" b="1">
                <a:solidFill>
                  <a:srgbClr val="75D0C9"/>
                </a:solidFill>
                <a:latin typeface="Arial"/>
                <a:ea typeface="Arial"/>
                <a:cs typeface="Arial"/>
              </a:defRPr>
            </a:pPr>
            <a:r>
              <a:rPr sz="4800" b="1">
                <a:solidFill>
                  <a:srgbClr val="75D0C9"/>
                </a:solidFill>
                <a:latin typeface="Arial"/>
                <a:ea typeface="Arial"/>
                <a:cs typeface="Arial"/>
              </a:rPr>
              <a:t>MinPPI</a:t>
            </a:r>
          </a:p>
        </p:txBody>
      </p:sp>
      <p:sp>
        <p:nvSpPr>
          <p:cNvPr id="3" name="text-3">
            <a:extLst xmlns:a="http://schemas.openxmlformats.org/drawingml/2006/main">
              <a:ext uri="{FF2B5EF4-FFF2-40B4-BE49-F238E27FC236}">
                <a16:creationId xmlns:a16="http://schemas.microsoft.com/office/drawing/2014/main" id="{DF52EC00-A6DC-4343-B188-708DB1D1CB21}"/>
              </a:ext>
            </a:extLst>
          </p:cNvPr>
          <p:cNvSpPr>
            <a:spLocks xmlns:a="http://schemas.openxmlformats.org/drawingml/2006/main" noGrp="1"/>
          </p:cNvSpPr>
          <p:nvPr/>
        </p:nvSpPr>
        <p:spPr>
          <a:xfrm xmlns:a="http://schemas.openxmlformats.org/drawingml/2006/main">
            <a:off x="762000" y="2197100"/>
            <a:ext cx="1371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400" b="1">
                <a:solidFill>
                  <a:srgbClr val="FFFFFF"/>
                </a:solidFill>
                <a:latin typeface="Arial"/>
                <a:ea typeface="Arial"/>
                <a:cs typeface="Arial"/>
              </a:defRPr>
            </a:pPr>
            <a:r>
              <a:rPr sz="4400" b="1">
                <a:solidFill>
                  <a:srgbClr val="FFFFFF"/>
                </a:solidFill>
                <a:latin typeface="Arial"/>
                <a:ea typeface="Arial"/>
                <a:cs typeface="Arial"/>
              </a:rPr>
              <a:t>Min-Marginal Power Indices for</a:t>
            </a:r>
          </a:p>
          <a:p xmlns:a="http://schemas.openxmlformats.org/drawingml/2006/main">
            <a:pPr algn="l">
              <a:defRPr sz="4400" b="1">
                <a:solidFill>
                  <a:srgbClr val="FFFFFF"/>
                </a:solidFill>
                <a:latin typeface="Arial"/>
                <a:ea typeface="Arial"/>
                <a:cs typeface="Arial"/>
              </a:defRPr>
            </a:pPr>
            <a:r>
              <a:rPr sz="4400" b="1">
                <a:solidFill>
                  <a:srgbClr val="FFFFFF"/>
                </a:solidFill>
                <a:latin typeface="Arial"/>
                <a:ea typeface="Arial"/>
                <a:cs typeface="Arial"/>
              </a:rPr>
              <a:t>Multi-Objective Feature Selection</a:t>
            </a:r>
          </a:p>
        </p:txBody>
      </p:sp>
      <p:sp>
        <p:nvSpPr>
          <p:cNvPr id="4" name="text-4">
            <a:extLst xmlns:a="http://schemas.openxmlformats.org/drawingml/2006/main">
              <a:ext uri="{FF2B5EF4-FFF2-40B4-BE49-F238E27FC236}">
                <a16:creationId xmlns:a16="http://schemas.microsoft.com/office/drawing/2014/main" id="{BC405B59-833B-454A-8708-17BF86B2193B}"/>
              </a:ext>
            </a:extLst>
          </p:cNvPr>
          <p:cNvSpPr>
            <a:spLocks xmlns:a="http://schemas.openxmlformats.org/drawingml/2006/main" noGrp="1"/>
          </p:cNvSpPr>
          <p:nvPr/>
        </p:nvSpPr>
        <p:spPr>
          <a:xfrm xmlns:a="http://schemas.openxmlformats.org/drawingml/2006/main">
            <a:off x="762000" y="4457700"/>
            <a:ext cx="13716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75D0C9"/>
                </a:solidFill>
                <a:latin typeface="Arial"/>
                <a:ea typeface="Arial"/>
                <a:cs typeface="Arial"/>
              </a:defRPr>
            </a:pPr>
            <a:r>
              <a:rPr sz="2700" b="0">
                <a:solidFill>
                  <a:srgbClr val="75D0C9"/>
                </a:solidFill>
                <a:latin typeface="Arial"/>
                <a:ea typeface="Arial"/>
                <a:cs typeface="Arial"/>
              </a:rPr>
              <a:t>When can an extra feature make a model worse?</a:t>
            </a:r>
          </a:p>
        </p:txBody>
      </p:sp>
      <p:sp>
        <p:nvSpPr>
          <p:cNvPr id="5" name="rule-5">
            <a:extLst xmlns:a="http://schemas.openxmlformats.org/drawingml/2006/main">
              <a:ext uri="{FF2B5EF4-FFF2-40B4-BE49-F238E27FC236}">
                <a16:creationId xmlns:a16="http://schemas.microsoft.com/office/drawing/2014/main" id="{BB53DE2C-063B-4A23-A283-1DB9B4AB14DD}"/>
              </a:ext>
            </a:extLst>
          </p:cNvPr>
          <p:cNvSpPr>
            <a:spLocks xmlns:a="http://schemas.openxmlformats.org/drawingml/2006/main" noGrp="1"/>
          </p:cNvSpPr>
          <p:nvPr/>
        </p:nvSpPr>
        <p:spPr>
          <a:xfrm xmlns:a="http://schemas.openxmlformats.org/drawingml/2006/main">
            <a:off x="762000" y="5727700"/>
            <a:ext cx="13716000" cy="0"/>
          </a:xfrm>
          <a:prstGeom xmlns:a="http://schemas.openxmlformats.org/drawingml/2006/main" prst="line">
            <a:avLst/>
          </a:prstGeom>
          <a:noFill xmlns:a="http://schemas.openxmlformats.org/drawingml/2006/main"/>
          <a:ln xmlns:a="http://schemas.openxmlformats.org/drawingml/2006/main" w="12700">
            <a:solidFill>
              <a:srgbClr val="496174"/>
            </a:solidFill>
          </a:ln>
        </p:spPr>
      </p:sp>
      <p:sp>
        <p:nvSpPr>
          <p:cNvPr id="6" name="text-6">
            <a:extLst xmlns:a="http://schemas.openxmlformats.org/drawingml/2006/main">
              <a:ext uri="{FF2B5EF4-FFF2-40B4-BE49-F238E27FC236}">
                <a16:creationId xmlns:a16="http://schemas.microsoft.com/office/drawing/2014/main" id="{0746CAD9-AB81-44FB-AB8D-7E08198FFC9A}"/>
              </a:ext>
            </a:extLst>
          </p:cNvPr>
          <p:cNvSpPr>
            <a:spLocks xmlns:a="http://schemas.openxmlformats.org/drawingml/2006/main" noGrp="1"/>
          </p:cNvSpPr>
          <p:nvPr/>
        </p:nvSpPr>
        <p:spPr>
          <a:xfrm xmlns:a="http://schemas.openxmlformats.org/drawingml/2006/main">
            <a:off x="762000" y="6032500"/>
            <a:ext cx="6096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FFFFFF"/>
                </a:solidFill>
                <a:latin typeface="Arial"/>
                <a:ea typeface="Arial"/>
                <a:cs typeface="Arial"/>
              </a:defRPr>
            </a:pPr>
            <a:r>
              <a:rPr sz="2900" b="1">
                <a:solidFill>
                  <a:srgbClr val="FFFFFF"/>
                </a:solidFill>
                <a:latin typeface="Arial"/>
                <a:ea typeface="Arial"/>
                <a:cs typeface="Arial"/>
              </a:rPr>
              <a:t>Wenjie SHI</a:t>
            </a:r>
          </a:p>
        </p:txBody>
      </p:sp>
      <p:sp>
        <p:nvSpPr>
          <p:cNvPr id="7" name="text-7">
            <a:extLst xmlns:a="http://schemas.openxmlformats.org/drawingml/2006/main">
              <a:ext uri="{FF2B5EF4-FFF2-40B4-BE49-F238E27FC236}">
                <a16:creationId xmlns:a16="http://schemas.microsoft.com/office/drawing/2014/main" id="{98B79277-2A04-4829-A08F-28B0D9F33EB0}"/>
              </a:ext>
            </a:extLst>
          </p:cNvPr>
          <p:cNvSpPr>
            <a:spLocks xmlns:a="http://schemas.openxmlformats.org/drawingml/2006/main" noGrp="1"/>
          </p:cNvSpPr>
          <p:nvPr/>
        </p:nvSpPr>
        <p:spPr>
          <a:xfrm xmlns:a="http://schemas.openxmlformats.org/drawingml/2006/main">
            <a:off x="8509000" y="6032500"/>
            <a:ext cx="5969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2600" b="1">
                <a:solidFill>
                  <a:srgbClr val="FFFFFF"/>
                </a:solidFill>
                <a:latin typeface="Arial"/>
                <a:ea typeface="Arial"/>
                <a:cs typeface="Arial"/>
              </a:defRPr>
            </a:pPr>
            <a:r>
              <a:rPr sz="2600" b="1">
                <a:solidFill>
                  <a:srgbClr val="FFFFFF"/>
                </a:solidFill>
                <a:latin typeface="Arial"/>
                <a:ea typeface="Arial"/>
                <a:cs typeface="Arial"/>
              </a:rPr>
              <a:t>Supervisor: Chi ZHAO</a:t>
            </a:r>
          </a:p>
        </p:txBody>
      </p:sp>
      <p:sp>
        <p:nvSpPr>
          <p:cNvPr id="8" name="text-8">
            <a:extLst xmlns:a="http://schemas.openxmlformats.org/drawingml/2006/main">
              <a:ext uri="{FF2B5EF4-FFF2-40B4-BE49-F238E27FC236}">
                <a16:creationId xmlns:a16="http://schemas.microsoft.com/office/drawing/2014/main" id="{A9D8B5E1-714C-4EA3-A247-C9B481E61775}"/>
              </a:ext>
            </a:extLst>
          </p:cNvPr>
          <p:cNvSpPr>
            <a:spLocks xmlns:a="http://schemas.openxmlformats.org/drawingml/2006/main" noGrp="1"/>
          </p:cNvSpPr>
          <p:nvPr/>
        </p:nvSpPr>
        <p:spPr>
          <a:xfrm xmlns:a="http://schemas.openxmlformats.org/drawingml/2006/main">
            <a:off x="762000" y="6845300"/>
            <a:ext cx="101600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75D0C9"/>
                </a:solidFill>
                <a:latin typeface="Arial"/>
                <a:ea typeface="Arial"/>
                <a:cs typeface="Arial"/>
              </a:defRPr>
            </a:pPr>
            <a:r>
              <a:rPr sz="2200" b="0">
                <a:solidFill>
                  <a:srgbClr val="75D0C9"/>
                </a:solidFill>
                <a:latin typeface="Arial"/>
                <a:ea typeface="Arial"/>
                <a:cs typeface="Arial"/>
              </a:rPr>
              <a:t>Saint Petersburg State University</a:t>
            </a:r>
          </a:p>
          <a:p xmlns:a="http://schemas.openxmlformats.org/drawingml/2006/main">
            <a:pPr algn="l">
              <a:defRPr sz="2200" b="0">
                <a:solidFill>
                  <a:srgbClr val="75D0C9"/>
                </a:solidFill>
                <a:latin typeface="Arial"/>
                <a:ea typeface="Arial"/>
                <a:cs typeface="Arial"/>
              </a:defRPr>
            </a:pPr>
            <a:r>
              <a:rPr sz="2200" b="0">
                <a:solidFill>
                  <a:srgbClr val="75D0C9"/>
                </a:solidFill>
                <a:latin typeface="Arial"/>
                <a:ea typeface="Arial"/>
                <a:cs typeface="Arial"/>
              </a:rPr>
              <a:t>Applied Mathematics and Control Processes</a:t>
            </a:r>
          </a:p>
        </p:txBody>
      </p:sp>
    </p:spTree>
    <p:extLst>
      <p:ext uri="{BB962C8B-B14F-4D97-AF65-F5344CB8AC3E}">
        <p14:creationId xmlns:p14="http://schemas.microsoft.com/office/powerpoint/2010/main" val="935564325"/>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text-9">
            <a:extLst xmlns:a="http://schemas.openxmlformats.org/drawingml/2006/main">
              <a:ext uri="{FF2B5EF4-FFF2-40B4-BE49-F238E27FC236}">
                <a16:creationId xmlns:a16="http://schemas.microsoft.com/office/drawing/2014/main" id="{04A7CEC8-2432-44AB-83C4-CCB80CFDBCF9}"/>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Why feature selection needs evidence</a:t>
            </a:r>
          </a:p>
        </p:txBody>
      </p:sp>
      <p:sp>
        <p:nvSpPr>
          <p:cNvPr id="2" name="rule-10">
            <a:extLst xmlns:a="http://schemas.openxmlformats.org/drawingml/2006/main">
              <a:ext uri="{FF2B5EF4-FFF2-40B4-BE49-F238E27FC236}">
                <a16:creationId xmlns:a16="http://schemas.microsoft.com/office/drawing/2014/main" id="{34367F89-662F-4A99-92E4-CB26E1646C3E}"/>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1">
            <a:extLst xmlns:a="http://schemas.openxmlformats.org/drawingml/2006/main">
              <a:ext uri="{FF2B5EF4-FFF2-40B4-BE49-F238E27FC236}">
                <a16:creationId xmlns:a16="http://schemas.microsoft.com/office/drawing/2014/main" id="{61AC9E48-A959-4DCF-9A2E-4CDB1FA3706B}"/>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02</a:t>
            </a:r>
          </a:p>
        </p:txBody>
      </p:sp>
      <p:sp>
        <p:nvSpPr>
          <p:cNvPr id="4" name="text-12">
            <a:extLst xmlns:a="http://schemas.openxmlformats.org/drawingml/2006/main">
              <a:ext uri="{FF2B5EF4-FFF2-40B4-BE49-F238E27FC236}">
                <a16:creationId xmlns:a16="http://schemas.microsoft.com/office/drawing/2014/main" id="{35D98717-0091-4325-9CD4-5CBD820CFD3F}"/>
              </a:ext>
            </a:extLst>
          </p:cNvPr>
          <p:cNvSpPr>
            <a:spLocks xmlns:a="http://schemas.openxmlformats.org/drawingml/2006/main" noGrp="1"/>
          </p:cNvSpPr>
          <p:nvPr/>
        </p:nvSpPr>
        <p:spPr>
          <a:xfrm xmlns:a="http://schemas.openxmlformats.org/drawingml/2006/main">
            <a:off x="762000" y="2044700"/>
            <a:ext cx="13716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0B2033"/>
                </a:solidFill>
                <a:latin typeface="Arial"/>
                <a:ea typeface="Arial"/>
                <a:cs typeface="Arial"/>
              </a:defRPr>
            </a:pPr>
            <a:r>
              <a:rPr sz="3000" b="1">
                <a:solidFill>
                  <a:srgbClr val="0B2033"/>
                </a:solidFill>
                <a:latin typeface="Arial"/>
                <a:ea typeface="Arial"/>
                <a:cs typeface="Arial"/>
              </a:rPr>
              <a:t>Example: a spam classifier uses many measurements of an email.</a:t>
            </a:r>
          </a:p>
        </p:txBody>
      </p:sp>
      <p:sp>
        <p:nvSpPr>
          <p:cNvPr id="5" name="stage-13">
            <a:extLst xmlns:a="http://schemas.openxmlformats.org/drawingml/2006/main">
              <a:ext uri="{FF2B5EF4-FFF2-40B4-BE49-F238E27FC236}">
                <a16:creationId xmlns:a16="http://schemas.microsoft.com/office/drawing/2014/main" id="{67219B63-5024-42B6-BB2B-1AA3219BD476}"/>
              </a:ext>
            </a:extLst>
          </p:cNvPr>
          <p:cNvSpPr>
            <a:spLocks xmlns:a="http://schemas.openxmlformats.org/drawingml/2006/main" noGrp="1"/>
          </p:cNvSpPr>
          <p:nvPr/>
        </p:nvSpPr>
        <p:spPr>
          <a:xfrm xmlns:a="http://schemas.openxmlformats.org/drawingml/2006/main">
            <a:off x="762000" y="3213100"/>
            <a:ext cx="39370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4">
            <a:extLst xmlns:a="http://schemas.openxmlformats.org/drawingml/2006/main">
              <a:ext uri="{FF2B5EF4-FFF2-40B4-BE49-F238E27FC236}">
                <a16:creationId xmlns:a16="http://schemas.microsoft.com/office/drawing/2014/main" id="{B41683F2-333C-48FC-81DC-8191F596F72F}"/>
              </a:ext>
            </a:extLst>
          </p:cNvPr>
          <p:cNvSpPr>
            <a:spLocks xmlns:a="http://schemas.openxmlformats.org/drawingml/2006/main" noGrp="1"/>
          </p:cNvSpPr>
          <p:nvPr/>
        </p:nvSpPr>
        <p:spPr>
          <a:xfrm xmlns:a="http://schemas.openxmlformats.org/drawingml/2006/main">
            <a:off x="965200" y="3365500"/>
            <a:ext cx="3530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Input measurements</a:t>
            </a:r>
          </a:p>
        </p:txBody>
      </p:sp>
      <p:sp>
        <p:nvSpPr>
          <p:cNvPr id="7" name="text-15">
            <a:extLst xmlns:a="http://schemas.openxmlformats.org/drawingml/2006/main">
              <a:ext uri="{FF2B5EF4-FFF2-40B4-BE49-F238E27FC236}">
                <a16:creationId xmlns:a16="http://schemas.microsoft.com/office/drawing/2014/main" id="{A1717F92-3783-4B02-A761-A2F5D3869EED}"/>
              </a:ext>
            </a:extLst>
          </p:cNvPr>
          <p:cNvSpPr>
            <a:spLocks xmlns:a="http://schemas.openxmlformats.org/drawingml/2006/main" noGrp="1"/>
          </p:cNvSpPr>
          <p:nvPr/>
        </p:nvSpPr>
        <p:spPr>
          <a:xfrm xmlns:a="http://schemas.openxmlformats.org/drawingml/2006/main">
            <a:off x="965200" y="3949700"/>
            <a:ext cx="3530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Word frequencies</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Punctuation and capitals</a:t>
            </a:r>
          </a:p>
        </p:txBody>
      </p:sp>
      <p:sp>
        <p:nvSpPr>
          <p:cNvPr id="8" name="stage-16">
            <a:extLst xmlns:a="http://schemas.openxmlformats.org/drawingml/2006/main">
              <a:ext uri="{FF2B5EF4-FFF2-40B4-BE49-F238E27FC236}">
                <a16:creationId xmlns:a16="http://schemas.microsoft.com/office/drawing/2014/main" id="{2F144B7C-6A51-478E-8EE1-1047A5676E49}"/>
              </a:ext>
            </a:extLst>
          </p:cNvPr>
          <p:cNvSpPr>
            <a:spLocks xmlns:a="http://schemas.openxmlformats.org/drawingml/2006/main" noGrp="1"/>
          </p:cNvSpPr>
          <p:nvPr/>
        </p:nvSpPr>
        <p:spPr>
          <a:xfrm xmlns:a="http://schemas.openxmlformats.org/drawingml/2006/main">
            <a:off x="5740400" y="3213100"/>
            <a:ext cx="36830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9" name="text-17">
            <a:extLst xmlns:a="http://schemas.openxmlformats.org/drawingml/2006/main">
              <a:ext uri="{FF2B5EF4-FFF2-40B4-BE49-F238E27FC236}">
                <a16:creationId xmlns:a16="http://schemas.microsoft.com/office/drawing/2014/main" id="{3ED08D1A-CCFE-4B6C-95ED-D1DBF934F6D0}"/>
              </a:ext>
            </a:extLst>
          </p:cNvPr>
          <p:cNvSpPr>
            <a:spLocks xmlns:a="http://schemas.openxmlformats.org/drawingml/2006/main" noGrp="1"/>
          </p:cNvSpPr>
          <p:nvPr/>
        </p:nvSpPr>
        <p:spPr>
          <a:xfrm xmlns:a="http://schemas.openxmlformats.org/drawingml/2006/main">
            <a:off x="5943600" y="3365500"/>
            <a:ext cx="3276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Train a model</a:t>
            </a:r>
          </a:p>
        </p:txBody>
      </p:sp>
      <p:sp>
        <p:nvSpPr>
          <p:cNvPr id="10" name="text-18">
            <a:extLst xmlns:a="http://schemas.openxmlformats.org/drawingml/2006/main">
              <a:ext uri="{FF2B5EF4-FFF2-40B4-BE49-F238E27FC236}">
                <a16:creationId xmlns:a16="http://schemas.microsoft.com/office/drawing/2014/main" id="{1C3EBD84-5FD7-47E1-B5A7-D7AEDF300F1B}"/>
              </a:ext>
            </a:extLst>
          </p:cNvPr>
          <p:cNvSpPr>
            <a:spLocks xmlns:a="http://schemas.openxmlformats.org/drawingml/2006/main" noGrp="1"/>
          </p:cNvSpPr>
          <p:nvPr/>
        </p:nvSpPr>
        <p:spPr>
          <a:xfrm xmlns:a="http://schemas.openxmlformats.org/drawingml/2006/main">
            <a:off x="5943600" y="3949700"/>
            <a:ext cx="3276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Learn from emails</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with known labels</a:t>
            </a:r>
          </a:p>
        </p:txBody>
      </p:sp>
      <p:sp>
        <p:nvSpPr>
          <p:cNvPr id="11" name="stage-19">
            <a:extLst xmlns:a="http://schemas.openxmlformats.org/drawingml/2006/main">
              <a:ext uri="{FF2B5EF4-FFF2-40B4-BE49-F238E27FC236}">
                <a16:creationId xmlns:a16="http://schemas.microsoft.com/office/drawing/2014/main" id="{06CE8DF1-CCD5-4896-98DD-16A578727EB2}"/>
              </a:ext>
            </a:extLst>
          </p:cNvPr>
          <p:cNvSpPr>
            <a:spLocks xmlns:a="http://schemas.openxmlformats.org/drawingml/2006/main" noGrp="1"/>
          </p:cNvSpPr>
          <p:nvPr/>
        </p:nvSpPr>
        <p:spPr>
          <a:xfrm xmlns:a="http://schemas.openxmlformats.org/drawingml/2006/main">
            <a:off x="10477500" y="3213100"/>
            <a:ext cx="40005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20">
            <a:extLst xmlns:a="http://schemas.openxmlformats.org/drawingml/2006/main">
              <a:ext uri="{FF2B5EF4-FFF2-40B4-BE49-F238E27FC236}">
                <a16:creationId xmlns:a16="http://schemas.microsoft.com/office/drawing/2014/main" id="{6804D382-072C-452E-892D-DFE4DE498713}"/>
              </a:ext>
            </a:extLst>
          </p:cNvPr>
          <p:cNvSpPr>
            <a:spLocks xmlns:a="http://schemas.openxmlformats.org/drawingml/2006/main" noGrp="1"/>
          </p:cNvSpPr>
          <p:nvPr/>
        </p:nvSpPr>
        <p:spPr>
          <a:xfrm xmlns:a="http://schemas.openxmlformats.org/drawingml/2006/main">
            <a:off x="10680700" y="3365500"/>
            <a:ext cx="3594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Predict</a:t>
            </a:r>
          </a:p>
        </p:txBody>
      </p:sp>
      <p:sp>
        <p:nvSpPr>
          <p:cNvPr id="13" name="text-21">
            <a:extLst xmlns:a="http://schemas.openxmlformats.org/drawingml/2006/main">
              <a:ext uri="{FF2B5EF4-FFF2-40B4-BE49-F238E27FC236}">
                <a16:creationId xmlns:a16="http://schemas.microsoft.com/office/drawing/2014/main" id="{AAD72CE4-AEA7-4226-84B0-75AE64FB9808}"/>
              </a:ext>
            </a:extLst>
          </p:cNvPr>
          <p:cNvSpPr>
            <a:spLocks xmlns:a="http://schemas.openxmlformats.org/drawingml/2006/main" noGrp="1"/>
          </p:cNvSpPr>
          <p:nvPr/>
        </p:nvSpPr>
        <p:spPr>
          <a:xfrm xmlns:a="http://schemas.openxmlformats.org/drawingml/2006/main">
            <a:off x="10680700" y="3949700"/>
            <a:ext cx="35941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Spam or non-spam</a:t>
            </a:r>
          </a:p>
        </p:txBody>
      </p:sp>
      <p:cxnSp>
        <p:nvCxnSpPr>
          <p:cNvPr id="32" name=""/>
          <p:cNvCxnSpPr>
            <a:stCxn xmlns:a="http://schemas.openxmlformats.org/drawingml/2006/main" id="5" idx="3"/>
            <a:endCxn xmlns:a="http://schemas.openxmlformats.org/drawingml/2006/main" id="8" idx="1"/>
          </p:cNvCxnSpPr>
          <p:nvPr/>
        </p:nvCxnSpPr>
        <p:spPr>
          <a:xfrm xmlns:a="http://schemas.openxmlformats.org/drawingml/2006/main">
            <a:off x="4699000" y="4083050"/>
            <a:ext cx="1041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33" name=""/>
          <p:cNvCxnSpPr>
            <a:stCxn xmlns:a="http://schemas.openxmlformats.org/drawingml/2006/main" id="8" idx="3"/>
            <a:endCxn xmlns:a="http://schemas.openxmlformats.org/drawingml/2006/main" id="11" idx="1"/>
          </p:cNvCxnSpPr>
          <p:nvPr/>
        </p:nvCxnSpPr>
        <p:spPr>
          <a:xfrm xmlns:a="http://schemas.openxmlformats.org/drawingml/2006/main">
            <a:off x="9423400" y="4083050"/>
            <a:ext cx="1054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22">
            <a:extLst xmlns:a="http://schemas.openxmlformats.org/drawingml/2006/main">
              <a:ext uri="{FF2B5EF4-FFF2-40B4-BE49-F238E27FC236}">
                <a16:creationId xmlns:a16="http://schemas.microsoft.com/office/drawing/2014/main" id="{21B24A8D-0455-4698-98FF-997C1F4A7101}"/>
              </a:ext>
            </a:extLst>
          </p:cNvPr>
          <p:cNvSpPr>
            <a:spLocks xmlns:a="http://schemas.openxmlformats.org/drawingml/2006/main" noGrp="1"/>
          </p:cNvSpPr>
          <p:nvPr/>
        </p:nvSpPr>
        <p:spPr>
          <a:xfrm xmlns:a="http://schemas.openxmlformats.org/drawingml/2006/main">
            <a:off x="762000" y="5664200"/>
            <a:ext cx="469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Why reduce inputs?</a:t>
            </a:r>
          </a:p>
        </p:txBody>
      </p:sp>
      <p:sp>
        <p:nvSpPr>
          <p:cNvPr id="17" name="text-23">
            <a:extLst xmlns:a="http://schemas.openxmlformats.org/drawingml/2006/main">
              <a:ext uri="{FF2B5EF4-FFF2-40B4-BE49-F238E27FC236}">
                <a16:creationId xmlns:a16="http://schemas.microsoft.com/office/drawing/2014/main" id="{985F7701-32C8-4B18-A703-1F0AC85564F0}"/>
              </a:ext>
            </a:extLst>
          </p:cNvPr>
          <p:cNvSpPr>
            <a:spLocks xmlns:a="http://schemas.openxmlformats.org/drawingml/2006/main" noGrp="1"/>
          </p:cNvSpPr>
          <p:nvPr/>
        </p:nvSpPr>
        <p:spPr>
          <a:xfrm xmlns:a="http://schemas.openxmlformats.org/drawingml/2006/main">
            <a:off x="5588000" y="5549900"/>
            <a:ext cx="889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Less measurement and model cost. Fewer redundant inputs.</a:t>
            </a:r>
          </a:p>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But a smaller model must still meet the prediction requirement.</a:t>
            </a:r>
          </a:p>
        </p:txBody>
      </p:sp>
      <p:sp>
        <p:nvSpPr>
          <p:cNvPr id="18" name="text-24">
            <a:extLst xmlns:a="http://schemas.openxmlformats.org/drawingml/2006/main">
              <a:ext uri="{FF2B5EF4-FFF2-40B4-BE49-F238E27FC236}">
                <a16:creationId xmlns:a16="http://schemas.microsoft.com/office/drawing/2014/main" id="{08A2193A-8C2F-426B-9D2D-683BA2351729}"/>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The research need: an inspectable reason to test a feature for removal.</a:t>
            </a:r>
          </a:p>
        </p:txBody>
      </p:sp>
    </p:spTree>
    <p:extLst>
      <p:ext uri="{BB962C8B-B14F-4D97-AF65-F5344CB8AC3E}">
        <p14:creationId xmlns:p14="http://schemas.microsoft.com/office/powerpoint/2010/main" val="242278373"/>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25">
            <a:extLst xmlns:a="http://schemas.openxmlformats.org/drawingml/2006/main">
              <a:ext uri="{FF2B5EF4-FFF2-40B4-BE49-F238E27FC236}">
                <a16:creationId xmlns:a16="http://schemas.microsoft.com/office/drawing/2014/main" id="{0BB4170F-34EB-4D44-877C-5206CBAC7F7C}"/>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Two checks: addition and removal</a:t>
            </a:r>
          </a:p>
        </p:txBody>
      </p:sp>
      <p:sp>
        <p:nvSpPr>
          <p:cNvPr id="2" name="rule-26">
            <a:extLst xmlns:a="http://schemas.openxmlformats.org/drawingml/2006/main">
              <a:ext uri="{FF2B5EF4-FFF2-40B4-BE49-F238E27FC236}">
                <a16:creationId xmlns:a16="http://schemas.microsoft.com/office/drawing/2014/main" id="{1ACAB6EA-F10B-401E-8585-BB4B9F55FF28}"/>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27">
            <a:extLst xmlns:a="http://schemas.openxmlformats.org/drawingml/2006/main">
              <a:ext uri="{FF2B5EF4-FFF2-40B4-BE49-F238E27FC236}">
                <a16:creationId xmlns:a16="http://schemas.microsoft.com/office/drawing/2014/main" id="{18F6F9C8-BA80-4F16-BFA6-3BD7DC96EFD3}"/>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03</a:t>
            </a:r>
          </a:p>
        </p:txBody>
      </p:sp>
      <p:sp>
        <p:nvSpPr>
          <p:cNvPr id="4" name="text-28">
            <a:extLst xmlns:a="http://schemas.openxmlformats.org/drawingml/2006/main">
              <a:ext uri="{FF2B5EF4-FFF2-40B4-BE49-F238E27FC236}">
                <a16:creationId xmlns:a16="http://schemas.microsoft.com/office/drawing/2014/main" id="{D8A4D2B1-F2C8-481D-B3D2-1B64434CADF7}"/>
              </a:ext>
            </a:extLst>
          </p:cNvPr>
          <p:cNvSpPr>
            <a:spLocks xmlns:a="http://schemas.openxmlformats.org/drawingml/2006/main" noGrp="1"/>
          </p:cNvSpPr>
          <p:nvPr/>
        </p:nvSpPr>
        <p:spPr>
          <a:xfrm xmlns:a="http://schemas.openxmlformats.org/drawingml/2006/main">
            <a:off x="762000" y="2146300"/>
            <a:ext cx="1371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00" b="1">
                <a:solidFill>
                  <a:srgbClr val="0B2033"/>
                </a:solidFill>
                <a:latin typeface="Arial"/>
                <a:ea typeface="Arial"/>
                <a:cs typeface="Arial"/>
              </a:defRPr>
            </a:pPr>
            <a:r>
              <a:rPr sz="3700" b="1">
                <a:solidFill>
                  <a:srgbClr val="0B2033"/>
                </a:solidFill>
                <a:latin typeface="Arial"/>
                <a:ea typeface="Arial"/>
                <a:cs typeface="Arial"/>
              </a:rPr>
              <a:t>First find a harmful context.</a:t>
            </a:r>
          </a:p>
          <a:p xmlns:a="http://schemas.openxmlformats.org/drawingml/2006/main">
            <a:pPr algn="l">
              <a:defRPr sz="3700" b="1">
                <a:solidFill>
                  <a:srgbClr val="0B2033"/>
                </a:solidFill>
                <a:latin typeface="Arial"/>
                <a:ea typeface="Arial"/>
                <a:cs typeface="Arial"/>
              </a:defRPr>
            </a:pPr>
            <a:r>
              <a:rPr sz="3700" b="1">
                <a:solidFill>
                  <a:srgbClr val="0B2033"/>
                </a:solidFill>
                <a:latin typeface="Arial"/>
                <a:ea typeface="Arial"/>
                <a:cs typeface="Arial"/>
              </a:rPr>
              <a:t>Then test whether removal helps.</a:t>
            </a:r>
          </a:p>
        </p:txBody>
      </p:sp>
      <p:sp>
        <p:nvSpPr>
          <p:cNvPr id="5" name="text-29">
            <a:extLst xmlns:a="http://schemas.openxmlformats.org/drawingml/2006/main">
              <a:ext uri="{FF2B5EF4-FFF2-40B4-BE49-F238E27FC236}">
                <a16:creationId xmlns:a16="http://schemas.microsoft.com/office/drawing/2014/main" id="{879E462B-8933-48AC-960D-BA55DA023F90}"/>
              </a:ext>
            </a:extLst>
          </p:cNvPr>
          <p:cNvSpPr>
            <a:spLocks xmlns:a="http://schemas.openxmlformats.org/drawingml/2006/main" noGrp="1"/>
          </p:cNvSpPr>
          <p:nvPr/>
        </p:nvSpPr>
        <p:spPr>
          <a:xfrm xmlns:a="http://schemas.openxmlformats.org/drawingml/2006/main">
            <a:off x="762000" y="3898900"/>
            <a:ext cx="654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0C7C78"/>
                </a:solidFill>
                <a:latin typeface="Arial"/>
                <a:ea typeface="Arial"/>
                <a:cs typeface="Arial"/>
              </a:defRPr>
            </a:pPr>
            <a:r>
              <a:rPr sz="2900" b="1">
                <a:solidFill>
                  <a:srgbClr val="0C7C78"/>
                </a:solidFill>
                <a:latin typeface="Arial"/>
                <a:ea typeface="Arial"/>
                <a:cs typeface="Arial"/>
              </a:rPr>
              <a:t>1. Addition check</a:t>
            </a:r>
          </a:p>
        </p:txBody>
      </p:sp>
      <p:sp>
        <p:nvSpPr>
          <p:cNvPr id="6" name="text-30">
            <a:extLst xmlns:a="http://schemas.openxmlformats.org/drawingml/2006/main">
              <a:ext uri="{FF2B5EF4-FFF2-40B4-BE49-F238E27FC236}">
                <a16:creationId xmlns:a16="http://schemas.microsoft.com/office/drawing/2014/main" id="{522C708C-7E78-4D2E-AEA5-F0783E3A32ED}"/>
              </a:ext>
            </a:extLst>
          </p:cNvPr>
          <p:cNvSpPr>
            <a:spLocks xmlns:a="http://schemas.openxmlformats.org/drawingml/2006/main" noGrp="1"/>
          </p:cNvSpPr>
          <p:nvPr/>
        </p:nvSpPr>
        <p:spPr>
          <a:xfrm xmlns:a="http://schemas.openxmlformats.org/drawingml/2006/main">
            <a:off x="8255000" y="3898900"/>
            <a:ext cx="622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0C7C78"/>
                </a:solidFill>
                <a:latin typeface="Arial"/>
                <a:ea typeface="Arial"/>
                <a:cs typeface="Arial"/>
              </a:defRPr>
            </a:pPr>
            <a:r>
              <a:rPr sz="2900" b="1">
                <a:solidFill>
                  <a:srgbClr val="0C7C78"/>
                </a:solidFill>
                <a:latin typeface="Arial"/>
                <a:ea typeface="Arial"/>
                <a:cs typeface="Arial"/>
              </a:rPr>
              <a:t>2. Removal check</a:t>
            </a:r>
          </a:p>
        </p:txBody>
      </p:sp>
      <p:sp>
        <p:nvSpPr>
          <p:cNvPr id="7" name="text-31">
            <a:extLst xmlns:a="http://schemas.openxmlformats.org/drawingml/2006/main">
              <a:ext uri="{FF2B5EF4-FFF2-40B4-BE49-F238E27FC236}">
                <a16:creationId xmlns:a16="http://schemas.microsoft.com/office/drawing/2014/main" id="{1529B90D-7879-43C7-A9D6-CB6A9BCEFF58}"/>
              </a:ext>
            </a:extLst>
          </p:cNvPr>
          <p:cNvSpPr>
            <a:spLocks xmlns:a="http://schemas.openxmlformats.org/drawingml/2006/main" noGrp="1"/>
          </p:cNvSpPr>
          <p:nvPr/>
        </p:nvSpPr>
        <p:spPr>
          <a:xfrm xmlns:a="http://schemas.openxmlformats.org/drawingml/2006/main">
            <a:off x="762000" y="4635500"/>
            <a:ext cx="65405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S with S plus input i.</a:t>
            </a:r>
          </a:p>
        </p:txBody>
      </p:sp>
      <p:sp>
        <p:nvSpPr>
          <p:cNvPr id="8" name="text-32">
            <a:extLst xmlns:a="http://schemas.openxmlformats.org/drawingml/2006/main">
              <a:ext uri="{FF2B5EF4-FFF2-40B4-BE49-F238E27FC236}">
                <a16:creationId xmlns:a16="http://schemas.microsoft.com/office/drawing/2014/main" id="{748B815C-AE2B-4B09-9580-4E5D9DB16568}"/>
              </a:ext>
            </a:extLst>
          </p:cNvPr>
          <p:cNvSpPr>
            <a:spLocks xmlns:a="http://schemas.openxmlformats.org/drawingml/2006/main" noGrp="1"/>
          </p:cNvSpPr>
          <p:nvPr/>
        </p:nvSpPr>
        <p:spPr>
          <a:xfrm xmlns:a="http://schemas.openxmlformats.org/drawingml/2006/main">
            <a:off x="8255000" y="4635500"/>
            <a:ext cx="6223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full inputs with a reduced set.</a:t>
            </a:r>
          </a:p>
        </p:txBody>
      </p:sp>
      <p:sp>
        <p:nvSpPr>
          <p:cNvPr id="9" name="text-33">
            <a:extLst xmlns:a="http://schemas.openxmlformats.org/drawingml/2006/main">
              <a:ext uri="{FF2B5EF4-FFF2-40B4-BE49-F238E27FC236}">
                <a16:creationId xmlns:a16="http://schemas.microsoft.com/office/drawing/2014/main" id="{46606B82-2E8E-480C-B12C-CCCB32A44BB7}"/>
              </a:ext>
            </a:extLst>
          </p:cNvPr>
          <p:cNvSpPr>
            <a:spLocks xmlns:a="http://schemas.openxmlformats.org/drawingml/2006/main" noGrp="1"/>
          </p:cNvSpPr>
          <p:nvPr/>
        </p:nvSpPr>
        <p:spPr>
          <a:xfrm xmlns:a="http://schemas.openxmlformats.org/drawingml/2006/main">
            <a:off x="762000" y="5600700"/>
            <a:ext cx="65405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Does adding i make this feature group fall below the performance requirement?</a:t>
            </a:r>
          </a:p>
        </p:txBody>
      </p:sp>
      <p:sp>
        <p:nvSpPr>
          <p:cNvPr id="10" name="text-34">
            <a:extLst xmlns:a="http://schemas.openxmlformats.org/drawingml/2006/main">
              <a:ext uri="{FF2B5EF4-FFF2-40B4-BE49-F238E27FC236}">
                <a16:creationId xmlns:a16="http://schemas.microsoft.com/office/drawing/2014/main" id="{E099EEC4-6011-4B40-AFC0-901D6972CB2A}"/>
              </a:ext>
            </a:extLst>
          </p:cNvPr>
          <p:cNvSpPr>
            <a:spLocks xmlns:a="http://schemas.openxmlformats.org/drawingml/2006/main" noGrp="1"/>
          </p:cNvSpPr>
          <p:nvPr/>
        </p:nvSpPr>
        <p:spPr>
          <a:xfrm xmlns:a="http://schemas.openxmlformats.org/drawingml/2006/main">
            <a:off x="8255000" y="5600700"/>
            <a:ext cx="62230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On independent data, does removal give a useful smaller model? Check prediction loss and total cost.</a:t>
            </a:r>
          </a:p>
        </p:txBody>
      </p:sp>
      <p:sp>
        <p:nvSpPr>
          <p:cNvPr id="11" name="rule-35">
            <a:extLst xmlns:a="http://schemas.openxmlformats.org/drawingml/2006/main">
              <a:ext uri="{FF2B5EF4-FFF2-40B4-BE49-F238E27FC236}">
                <a16:creationId xmlns:a16="http://schemas.microsoft.com/office/drawing/2014/main" id="{573482F6-E34F-4181-B33D-F4DBDE2EB2AB}"/>
              </a:ext>
            </a:extLst>
          </p:cNvPr>
          <p:cNvSpPr>
            <a:spLocks xmlns:a="http://schemas.openxmlformats.org/drawingml/2006/main" noGrp="1"/>
          </p:cNvSpPr>
          <p:nvPr/>
        </p:nvSpPr>
        <p:spPr>
          <a:xfrm xmlns:a="http://schemas.openxmlformats.org/drawingml/2006/main">
            <a:off x="762000" y="73279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12" name="text-36">
            <a:extLst xmlns:a="http://schemas.openxmlformats.org/drawingml/2006/main">
              <a:ext uri="{FF2B5EF4-FFF2-40B4-BE49-F238E27FC236}">
                <a16:creationId xmlns:a16="http://schemas.microsoft.com/office/drawing/2014/main" id="{03277E03-EAC9-4990-B6AC-F41148B1890B}"/>
              </a:ext>
            </a:extLst>
          </p:cNvPr>
          <p:cNvSpPr>
            <a:spLocks xmlns:a="http://schemas.openxmlformats.org/drawingml/2006/main" noGrp="1"/>
          </p:cNvSpPr>
          <p:nvPr/>
        </p:nvSpPr>
        <p:spPr>
          <a:xfrm xmlns:a="http://schemas.openxmlformats.org/drawingml/2006/main">
            <a:off x="762000" y="7556500"/>
            <a:ext cx="13716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0C7C78"/>
                </a:solidFill>
                <a:latin typeface="Arial"/>
                <a:ea typeface="Arial"/>
                <a:cs typeface="Arial"/>
              </a:defRPr>
            </a:pPr>
            <a:r>
              <a:rPr sz="2400" b="1">
                <a:solidFill>
                  <a:srgbClr val="0C7C78"/>
                </a:solidFill>
                <a:latin typeface="Arial"/>
                <a:ea typeface="Arial"/>
                <a:cs typeface="Arial"/>
              </a:rPr>
              <a:t>Local harm motivates a removal test. Deletion benefit needs separate evidence.</a:t>
            </a:r>
          </a:p>
        </p:txBody>
      </p:sp>
    </p:spTree>
    <p:extLst>
      <p:ext uri="{BB962C8B-B14F-4D97-AF65-F5344CB8AC3E}">
        <p14:creationId xmlns:p14="http://schemas.microsoft.com/office/powerpoint/2010/main" val="788196910"/>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5" name="text-37">
            <a:extLst xmlns:a="http://schemas.openxmlformats.org/drawingml/2006/main">
              <a:ext uri="{FF2B5EF4-FFF2-40B4-BE49-F238E27FC236}">
                <a16:creationId xmlns:a16="http://schemas.microsoft.com/office/drawing/2014/main" id="{44C4AE71-C7E7-4FF5-8972-F3F49E4C4738}"/>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The formulas behind the addition check</a:t>
            </a:r>
          </a:p>
        </p:txBody>
      </p:sp>
      <p:sp>
        <p:nvSpPr>
          <p:cNvPr id="2" name="rule-38">
            <a:extLst xmlns:a="http://schemas.openxmlformats.org/drawingml/2006/main">
              <a:ext uri="{FF2B5EF4-FFF2-40B4-BE49-F238E27FC236}">
                <a16:creationId xmlns:a16="http://schemas.microsoft.com/office/drawing/2014/main" id="{9809D97B-1AD8-48E0-B74E-4D2994F89659}"/>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39">
            <a:extLst xmlns:a="http://schemas.openxmlformats.org/drawingml/2006/main">
              <a:ext uri="{FF2B5EF4-FFF2-40B4-BE49-F238E27FC236}">
                <a16:creationId xmlns:a16="http://schemas.microsoft.com/office/drawing/2014/main" id="{1B7E133F-C1BA-408F-B686-4E8F0D53B60B}"/>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04</a:t>
            </a:r>
          </a:p>
        </p:txBody>
      </p:sp>
      <p:sp>
        <p:nvSpPr>
          <p:cNvPr id="4" name="text-40">
            <a:extLst xmlns:a="http://schemas.openxmlformats.org/drawingml/2006/main">
              <a:ext uri="{FF2B5EF4-FFF2-40B4-BE49-F238E27FC236}">
                <a16:creationId xmlns:a16="http://schemas.microsoft.com/office/drawing/2014/main" id="{22CEFB2E-346E-48B5-847F-A58982771988}"/>
              </a:ext>
            </a:extLst>
          </p:cNvPr>
          <p:cNvSpPr>
            <a:spLocks xmlns:a="http://schemas.openxmlformats.org/drawingml/2006/main" noGrp="1"/>
          </p:cNvSpPr>
          <p:nvPr/>
        </p:nvSpPr>
        <p:spPr>
          <a:xfrm xmlns:a="http://schemas.openxmlformats.org/drawingml/2006/main">
            <a:off x="762000" y="1993900"/>
            <a:ext cx="137160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526675"/>
                </a:solidFill>
                <a:latin typeface="Arial"/>
                <a:ea typeface="Arial"/>
                <a:cs typeface="Arial"/>
              </a:defRPr>
            </a:pPr>
            <a:r>
              <a:rPr sz="2300" b="0">
                <a:solidFill>
                  <a:srgbClr val="526675"/>
                </a:solidFill>
                <a:latin typeface="Arial"/>
                <a:ea typeface="Arial"/>
                <a:cs typeface="Arial"/>
              </a:rPr>
              <a:t>D: full analyzed input set. S: selected inputs without i. i: the input to add.</a:t>
            </a:r>
          </a:p>
          <a:p xmlns:a="http://schemas.openxmlformats.org/drawingml/2006/main">
            <a:pPr algn="l">
              <a:defRPr sz="2300" b="0">
                <a:solidFill>
                  <a:srgbClr val="526675"/>
                </a:solidFill>
                <a:latin typeface="Arial"/>
                <a:ea typeface="Arial"/>
                <a:cs typeface="Arial"/>
              </a:defRPr>
            </a:pPr>
            <a:r>
              <a:rPr sz="2300" b="0">
                <a:solidFill>
                  <a:srgbClr val="526675"/>
                </a:solidFill>
                <a:latin typeface="Arial"/>
                <a:ea typeface="Arial"/>
                <a:cs typeface="Arial"/>
              </a:rPr>
              <a:t>U(S): validation score after training on S. Higher is better.</a:t>
            </a:r>
          </a:p>
        </p:txBody>
      </p:sp>
      <p:sp>
        <p:nvSpPr>
          <p:cNvPr id="5" name="text-41">
            <a:extLst xmlns:a="http://schemas.openxmlformats.org/drawingml/2006/main">
              <a:ext uri="{FF2B5EF4-FFF2-40B4-BE49-F238E27FC236}">
                <a16:creationId xmlns:a16="http://schemas.microsoft.com/office/drawing/2014/main" id="{BC3C4AE6-0040-4576-BCF4-3420FDCCB11A}"/>
              </a:ext>
            </a:extLst>
          </p:cNvPr>
          <p:cNvSpPr>
            <a:spLocks xmlns:a="http://schemas.openxmlformats.org/drawingml/2006/main" noGrp="1"/>
          </p:cNvSpPr>
          <p:nvPr/>
        </p:nvSpPr>
        <p:spPr>
          <a:xfrm xmlns:a="http://schemas.openxmlformats.org/drawingml/2006/main">
            <a:off x="762000" y="3086100"/>
            <a:ext cx="622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00" b="1">
                <a:solidFill>
                  <a:srgbClr val="0C7C78"/>
                </a:solidFill>
                <a:latin typeface="Arial"/>
                <a:ea typeface="Arial"/>
                <a:cs typeface="Arial"/>
              </a:defRPr>
            </a:pPr>
            <a:r>
              <a:rPr sz="3400" b="1">
                <a:solidFill>
                  <a:srgbClr val="0C7C78"/>
                </a:solidFill>
                <a:latin typeface="Arial"/>
                <a:ea typeface="Arial"/>
                <a:cs typeface="Arial"/>
              </a:rPr>
              <a:t>q = α U(D)</a:t>
            </a:r>
          </a:p>
        </p:txBody>
      </p:sp>
      <p:sp>
        <p:nvSpPr>
          <p:cNvPr id="6" name="text-42">
            <a:extLst xmlns:a="http://schemas.openxmlformats.org/drawingml/2006/main">
              <a:ext uri="{FF2B5EF4-FFF2-40B4-BE49-F238E27FC236}">
                <a16:creationId xmlns:a16="http://schemas.microsoft.com/office/drawing/2014/main" id="{7F96A52D-D1EB-4640-964D-5ADC500B274C}"/>
              </a:ext>
            </a:extLst>
          </p:cNvPr>
          <p:cNvSpPr>
            <a:spLocks xmlns:a="http://schemas.openxmlformats.org/drawingml/2006/main" noGrp="1"/>
          </p:cNvSpPr>
          <p:nvPr/>
        </p:nvSpPr>
        <p:spPr>
          <a:xfrm xmlns:a="http://schemas.openxmlformats.org/drawingml/2006/main">
            <a:off x="7683500" y="3048000"/>
            <a:ext cx="67945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q is the required score. By default,</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α = 0.95, so q is 95% of U(D).</a:t>
            </a:r>
          </a:p>
        </p:txBody>
      </p:sp>
      <p:sp>
        <p:nvSpPr>
          <p:cNvPr id="7" name="rule-43">
            <a:extLst xmlns:a="http://schemas.openxmlformats.org/drawingml/2006/main">
              <a:ext uri="{FF2B5EF4-FFF2-40B4-BE49-F238E27FC236}">
                <a16:creationId xmlns:a16="http://schemas.microsoft.com/office/drawing/2014/main" id="{8729A5DB-A2AC-48CB-BEAC-B8EACDD0E0A4}"/>
              </a:ext>
            </a:extLst>
          </p:cNvPr>
          <p:cNvSpPr>
            <a:spLocks xmlns:a="http://schemas.openxmlformats.org/drawingml/2006/main" noGrp="1"/>
          </p:cNvSpPr>
          <p:nvPr/>
        </p:nvSpPr>
        <p:spPr>
          <a:xfrm xmlns:a="http://schemas.openxmlformats.org/drawingml/2006/main">
            <a:off x="762000" y="40132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8" name="text-44">
            <a:extLst xmlns:a="http://schemas.openxmlformats.org/drawingml/2006/main">
              <a:ext uri="{FF2B5EF4-FFF2-40B4-BE49-F238E27FC236}">
                <a16:creationId xmlns:a16="http://schemas.microsoft.com/office/drawing/2014/main" id="{2F5595F0-A3E1-4896-AC7B-1A954B00DCC1}"/>
              </a:ext>
            </a:extLst>
          </p:cNvPr>
          <p:cNvSpPr>
            <a:spLocks xmlns:a="http://schemas.openxmlformats.org/drawingml/2006/main" noGrp="1"/>
          </p:cNvSpPr>
          <p:nvPr/>
        </p:nvSpPr>
        <p:spPr>
          <a:xfrm xmlns:a="http://schemas.openxmlformats.org/drawingml/2006/main">
            <a:off x="762000" y="4203700"/>
            <a:ext cx="65405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vα(S) = 1[U(S) ≥ q]</a:t>
            </a:r>
          </a:p>
        </p:txBody>
      </p:sp>
      <p:sp>
        <p:nvSpPr>
          <p:cNvPr id="9" name="text-45">
            <a:extLst xmlns:a="http://schemas.openxmlformats.org/drawingml/2006/main">
              <a:ext uri="{FF2B5EF4-FFF2-40B4-BE49-F238E27FC236}">
                <a16:creationId xmlns:a16="http://schemas.microsoft.com/office/drawing/2014/main" id="{0C6974A0-CB26-47C4-8842-229D24F1CC06}"/>
              </a:ext>
            </a:extLst>
          </p:cNvPr>
          <p:cNvSpPr>
            <a:spLocks xmlns:a="http://schemas.openxmlformats.org/drawingml/2006/main" noGrp="1"/>
          </p:cNvSpPr>
          <p:nvPr/>
        </p:nvSpPr>
        <p:spPr>
          <a:xfrm xmlns:a="http://schemas.openxmlformats.org/drawingml/2006/main">
            <a:off x="7683500" y="4127500"/>
            <a:ext cx="67945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1 means the score meets the requirement.</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0 means it falls below the requirement.</a:t>
            </a:r>
          </a:p>
        </p:txBody>
      </p:sp>
      <p:sp>
        <p:nvSpPr>
          <p:cNvPr id="10" name="text-46">
            <a:extLst xmlns:a="http://schemas.openxmlformats.org/drawingml/2006/main">
              <a:ext uri="{FF2B5EF4-FFF2-40B4-BE49-F238E27FC236}">
                <a16:creationId xmlns:a16="http://schemas.microsoft.com/office/drawing/2014/main" id="{4BECC972-720A-43DD-ADE9-4565729BDCD0}"/>
              </a:ext>
            </a:extLst>
          </p:cNvPr>
          <p:cNvSpPr>
            <a:spLocks xmlns:a="http://schemas.openxmlformats.org/drawingml/2006/main" noGrp="1"/>
          </p:cNvSpPr>
          <p:nvPr/>
        </p:nvSpPr>
        <p:spPr>
          <a:xfrm xmlns:a="http://schemas.openxmlformats.org/drawingml/2006/main">
            <a:off x="762000" y="5295900"/>
            <a:ext cx="66040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B2033"/>
                </a:solidFill>
                <a:latin typeface="Arial"/>
                <a:ea typeface="Arial"/>
                <a:cs typeface="Arial"/>
              </a:defRPr>
            </a:pPr>
            <a:r>
              <a:rPr sz="2700" b="1">
                <a:solidFill>
                  <a:srgbClr val="0B2033"/>
                </a:solidFill>
                <a:latin typeface="Arial"/>
                <a:ea typeface="Arial"/>
                <a:cs typeface="Arial"/>
              </a:rPr>
              <a:t>Δᵢ(S) = vα(S ∪ {i}) − vα(S)</a:t>
            </a:r>
          </a:p>
        </p:txBody>
      </p:sp>
      <p:sp>
        <p:nvSpPr>
          <p:cNvPr id="11" name="text-47">
            <a:extLst xmlns:a="http://schemas.openxmlformats.org/drawingml/2006/main">
              <a:ext uri="{FF2B5EF4-FFF2-40B4-BE49-F238E27FC236}">
                <a16:creationId xmlns:a16="http://schemas.microsoft.com/office/drawing/2014/main" id="{B19D868A-9EC2-4E68-BAA3-09EC16AF1038}"/>
              </a:ext>
            </a:extLst>
          </p:cNvPr>
          <p:cNvSpPr>
            <a:spLocks xmlns:a="http://schemas.openxmlformats.org/drawingml/2006/main" noGrp="1"/>
          </p:cNvSpPr>
          <p:nvPr/>
        </p:nvSpPr>
        <p:spPr>
          <a:xfrm xmlns:a="http://schemas.openxmlformats.org/drawingml/2006/main">
            <a:off x="7683500" y="5143500"/>
            <a:ext cx="67945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Measure the change after adding i.</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−1 means a change from pass to fail.</a:t>
            </a:r>
          </a:p>
        </p:txBody>
      </p:sp>
      <p:sp>
        <p:nvSpPr>
          <p:cNvPr id="12" name="text-48">
            <a:extLst xmlns:a="http://schemas.openxmlformats.org/drawingml/2006/main">
              <a:ext uri="{FF2B5EF4-FFF2-40B4-BE49-F238E27FC236}">
                <a16:creationId xmlns:a16="http://schemas.microsoft.com/office/drawing/2014/main" id="{CBE041EF-4667-4CE0-98E4-EB88D7320274}"/>
              </a:ext>
            </a:extLst>
          </p:cNvPr>
          <p:cNvSpPr>
            <a:spLocks xmlns:a="http://schemas.openxmlformats.org/drawingml/2006/main" noGrp="1"/>
          </p:cNvSpPr>
          <p:nvPr/>
        </p:nvSpPr>
        <p:spPr>
          <a:xfrm xmlns:a="http://schemas.openxmlformats.org/drawingml/2006/main">
            <a:off x="762000" y="6337300"/>
            <a:ext cx="66040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00" b="1">
                <a:solidFill>
                  <a:srgbClr val="0C7C78"/>
                </a:solidFill>
                <a:latin typeface="Arial"/>
                <a:ea typeface="Arial"/>
                <a:cs typeface="Arial"/>
              </a:defRPr>
            </a:pPr>
            <a:r>
              <a:rPr sz="3200" b="1">
                <a:solidFill>
                  <a:srgbClr val="0C7C78"/>
                </a:solidFill>
                <a:latin typeface="Arial"/>
                <a:ea typeface="Arial"/>
                <a:cs typeface="Arial"/>
              </a:rPr>
              <a:t>Mᵢ = min { Δᵢ(S) }</a:t>
            </a:r>
          </a:p>
        </p:txBody>
      </p:sp>
      <p:sp>
        <p:nvSpPr>
          <p:cNvPr id="13" name="text-49">
            <a:extLst xmlns:a="http://schemas.openxmlformats.org/drawingml/2006/main">
              <a:ext uri="{FF2B5EF4-FFF2-40B4-BE49-F238E27FC236}">
                <a16:creationId xmlns:a16="http://schemas.microsoft.com/office/drawing/2014/main" id="{D44976FD-5E0E-470B-A201-61E73B44D966}"/>
              </a:ext>
            </a:extLst>
          </p:cNvPr>
          <p:cNvSpPr>
            <a:spLocks xmlns:a="http://schemas.openxmlformats.org/drawingml/2006/main" noGrp="1"/>
          </p:cNvSpPr>
          <p:nvPr/>
        </p:nvSpPr>
        <p:spPr>
          <a:xfrm xmlns:a="http://schemas.openxmlformats.org/drawingml/2006/main">
            <a:off x="7683500" y="6235700"/>
            <a:ext cx="679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MinPPI takes the minimum over</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all input groups S without i.</a:t>
            </a:r>
          </a:p>
        </p:txBody>
      </p:sp>
      <p:sp>
        <p:nvSpPr>
          <p:cNvPr id="14" name="text-50">
            <a:extLst xmlns:a="http://schemas.openxmlformats.org/drawingml/2006/main">
              <a:ext uri="{FF2B5EF4-FFF2-40B4-BE49-F238E27FC236}">
                <a16:creationId xmlns:a16="http://schemas.microsoft.com/office/drawing/2014/main" id="{278F9E8B-D02B-47A6-BDF5-61643F6B5540}"/>
              </a:ext>
            </a:extLst>
          </p:cNvPr>
          <p:cNvSpPr>
            <a:spLocks xmlns:a="http://schemas.openxmlformats.org/drawingml/2006/main" noGrp="1"/>
          </p:cNvSpPr>
          <p:nvPr/>
        </p:nvSpPr>
        <p:spPr>
          <a:xfrm xmlns:a="http://schemas.openxmlformats.org/drawingml/2006/main">
            <a:off x="762000" y="7543800"/>
            <a:ext cx="13716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1">
                <a:solidFill>
                  <a:srgbClr val="0C7C78"/>
                </a:solidFill>
                <a:latin typeface="Arial"/>
                <a:ea typeface="Arial"/>
                <a:cs typeface="Arial"/>
              </a:defRPr>
            </a:pPr>
            <a:r>
              <a:rPr sz="2300" b="1">
                <a:solidFill>
                  <a:srgbClr val="0C7C78"/>
                </a:solidFill>
                <a:latin typeface="Arial"/>
                <a:ea typeface="Arial"/>
                <a:cs typeface="Arial"/>
              </a:rPr>
              <a:t>Mᵢ = −1 means at least one harmful context exists under the fixed task conditions.</a:t>
            </a:r>
          </a:p>
        </p:txBody>
      </p:sp>
    </p:spTree>
    <p:extLst>
      <p:ext uri="{BB962C8B-B14F-4D97-AF65-F5344CB8AC3E}">
        <p14:creationId xmlns:p14="http://schemas.microsoft.com/office/powerpoint/2010/main" val="1358383584"/>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text-51">
            <a:extLst xmlns:a="http://schemas.openxmlformats.org/drawingml/2006/main">
              <a:ext uri="{FF2B5EF4-FFF2-40B4-BE49-F238E27FC236}">
                <a16:creationId xmlns:a16="http://schemas.microsoft.com/office/drawing/2014/main" id="{D90262CB-6F1F-4F70-9F2E-FA503613EA64}"/>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A concrete example of the core idea</a:t>
            </a:r>
          </a:p>
        </p:txBody>
      </p:sp>
      <p:sp>
        <p:nvSpPr>
          <p:cNvPr id="2" name="rule-52">
            <a:extLst xmlns:a="http://schemas.openxmlformats.org/drawingml/2006/main">
              <a:ext uri="{FF2B5EF4-FFF2-40B4-BE49-F238E27FC236}">
                <a16:creationId xmlns:a16="http://schemas.microsoft.com/office/drawing/2014/main" id="{AF26411E-B184-450F-9CDA-EE23D52ED9E7}"/>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53">
            <a:extLst xmlns:a="http://schemas.openxmlformats.org/drawingml/2006/main">
              <a:ext uri="{FF2B5EF4-FFF2-40B4-BE49-F238E27FC236}">
                <a16:creationId xmlns:a16="http://schemas.microsoft.com/office/drawing/2014/main" id="{F4F4C6CC-E3AD-42A8-80D8-8525590B5727}"/>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05</a:t>
            </a:r>
          </a:p>
        </p:txBody>
      </p:sp>
      <p:sp>
        <p:nvSpPr>
          <p:cNvPr id="4" name="text-54">
            <a:extLst xmlns:a="http://schemas.openxmlformats.org/drawingml/2006/main">
              <a:ext uri="{FF2B5EF4-FFF2-40B4-BE49-F238E27FC236}">
                <a16:creationId xmlns:a16="http://schemas.microsoft.com/office/drawing/2014/main" id="{461BACE9-5BE7-45DF-B428-B5D5BC734B83}"/>
              </a:ext>
            </a:extLst>
          </p:cNvPr>
          <p:cNvSpPr>
            <a:spLocks xmlns:a="http://schemas.openxmlformats.org/drawingml/2006/main" noGrp="1"/>
          </p:cNvSpPr>
          <p:nvPr/>
        </p:nvSpPr>
        <p:spPr>
          <a:xfrm xmlns:a="http://schemas.openxmlformats.org/drawingml/2006/main">
            <a:off x="762000" y="2082800"/>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526675"/>
                </a:solidFill>
                <a:latin typeface="Arial"/>
                <a:ea typeface="Arial"/>
                <a:cs typeface="Arial"/>
              </a:defRPr>
            </a:pPr>
            <a:r>
              <a:rPr sz="2600" b="0">
                <a:solidFill>
                  <a:srgbClr val="526675"/>
                </a:solidFill>
                <a:latin typeface="Arial"/>
                <a:ea typeface="Arial"/>
                <a:cs typeface="Arial"/>
              </a:rPr>
              <a:t>Illustration only: α = 0.95, U(D) = 0.90, so q = 0.855</a:t>
            </a:r>
          </a:p>
        </p:txBody>
      </p:sp>
      <p:sp>
        <p:nvSpPr>
          <p:cNvPr id="5" name="stage-55">
            <a:extLst xmlns:a="http://schemas.openxmlformats.org/drawingml/2006/main">
              <a:ext uri="{FF2B5EF4-FFF2-40B4-BE49-F238E27FC236}">
                <a16:creationId xmlns:a16="http://schemas.microsoft.com/office/drawing/2014/main" id="{A1096FD7-9E1A-4601-85FB-C0B1E826C67A}"/>
              </a:ext>
            </a:extLst>
          </p:cNvPr>
          <p:cNvSpPr>
            <a:spLocks xmlns:a="http://schemas.openxmlformats.org/drawingml/2006/main" noGrp="1"/>
          </p:cNvSpPr>
          <p:nvPr/>
        </p:nvSpPr>
        <p:spPr>
          <a:xfrm xmlns:a="http://schemas.openxmlformats.org/drawingml/2006/main">
            <a:off x="762000" y="3225800"/>
            <a:ext cx="5334000" cy="22860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6" name="text-56">
            <a:extLst xmlns:a="http://schemas.openxmlformats.org/drawingml/2006/main">
              <a:ext uri="{FF2B5EF4-FFF2-40B4-BE49-F238E27FC236}">
                <a16:creationId xmlns:a16="http://schemas.microsoft.com/office/drawing/2014/main" id="{DD6A6731-C497-4579-89D8-D5A045901E13}"/>
              </a:ext>
            </a:extLst>
          </p:cNvPr>
          <p:cNvSpPr>
            <a:spLocks xmlns:a="http://schemas.openxmlformats.org/drawingml/2006/main" noGrp="1"/>
          </p:cNvSpPr>
          <p:nvPr/>
        </p:nvSpPr>
        <p:spPr>
          <a:xfrm xmlns:a="http://schemas.openxmlformats.org/drawingml/2006/main">
            <a:off x="965200" y="3378200"/>
            <a:ext cx="492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Model using a subset S</a:t>
            </a:r>
          </a:p>
        </p:txBody>
      </p:sp>
      <p:sp>
        <p:nvSpPr>
          <p:cNvPr id="7" name="text-57">
            <a:extLst xmlns:a="http://schemas.openxmlformats.org/drawingml/2006/main">
              <a:ext uri="{FF2B5EF4-FFF2-40B4-BE49-F238E27FC236}">
                <a16:creationId xmlns:a16="http://schemas.microsoft.com/office/drawing/2014/main" id="{F09671BE-1467-4A27-A402-385191A2EBB0}"/>
              </a:ext>
            </a:extLst>
          </p:cNvPr>
          <p:cNvSpPr>
            <a:spLocks xmlns:a="http://schemas.openxmlformats.org/drawingml/2006/main" noGrp="1"/>
          </p:cNvSpPr>
          <p:nvPr/>
        </p:nvSpPr>
        <p:spPr>
          <a:xfrm xmlns:a="http://schemas.openxmlformats.org/drawingml/2006/main">
            <a:off x="965200" y="3962400"/>
            <a:ext cx="4927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Validation score: 0.87</a:t>
            </a:r>
          </a:p>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Meets the requirement</a:t>
            </a:r>
          </a:p>
        </p:txBody>
      </p:sp>
      <p:sp>
        <p:nvSpPr>
          <p:cNvPr id="8" name="stage-58">
            <a:extLst xmlns:a="http://schemas.openxmlformats.org/drawingml/2006/main">
              <a:ext uri="{FF2B5EF4-FFF2-40B4-BE49-F238E27FC236}">
                <a16:creationId xmlns:a16="http://schemas.microsoft.com/office/drawing/2014/main" id="{4F346147-D605-49C5-BDC8-85F5ED0B73D2}"/>
              </a:ext>
            </a:extLst>
          </p:cNvPr>
          <p:cNvSpPr>
            <a:spLocks xmlns:a="http://schemas.openxmlformats.org/drawingml/2006/main" noGrp="1"/>
          </p:cNvSpPr>
          <p:nvPr/>
        </p:nvSpPr>
        <p:spPr>
          <a:xfrm xmlns:a="http://schemas.openxmlformats.org/drawingml/2006/main">
            <a:off x="9144000" y="3225800"/>
            <a:ext cx="5334000" cy="22860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9" name="text-59">
            <a:extLst xmlns:a="http://schemas.openxmlformats.org/drawingml/2006/main">
              <a:ext uri="{FF2B5EF4-FFF2-40B4-BE49-F238E27FC236}">
                <a16:creationId xmlns:a16="http://schemas.microsoft.com/office/drawing/2014/main" id="{06BBDD30-C55D-42CD-A10D-30B7485D836C}"/>
              </a:ext>
            </a:extLst>
          </p:cNvPr>
          <p:cNvSpPr>
            <a:spLocks xmlns:a="http://schemas.openxmlformats.org/drawingml/2006/main" noGrp="1"/>
          </p:cNvSpPr>
          <p:nvPr/>
        </p:nvSpPr>
        <p:spPr>
          <a:xfrm xmlns:a="http://schemas.openxmlformats.org/drawingml/2006/main">
            <a:off x="9347200" y="3378200"/>
            <a:ext cx="492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Model using S plus input i</a:t>
            </a:r>
          </a:p>
        </p:txBody>
      </p:sp>
      <p:sp>
        <p:nvSpPr>
          <p:cNvPr id="10" name="text-60">
            <a:extLst xmlns:a="http://schemas.openxmlformats.org/drawingml/2006/main">
              <a:ext uri="{FF2B5EF4-FFF2-40B4-BE49-F238E27FC236}">
                <a16:creationId xmlns:a16="http://schemas.microsoft.com/office/drawing/2014/main" id="{887BD68D-8CF6-4ADC-985B-35FA834011A9}"/>
              </a:ext>
            </a:extLst>
          </p:cNvPr>
          <p:cNvSpPr>
            <a:spLocks xmlns:a="http://schemas.openxmlformats.org/drawingml/2006/main" noGrp="1"/>
          </p:cNvSpPr>
          <p:nvPr/>
        </p:nvSpPr>
        <p:spPr>
          <a:xfrm xmlns:a="http://schemas.openxmlformats.org/drawingml/2006/main">
            <a:off x="9347200" y="3962400"/>
            <a:ext cx="4927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Validation score: 0.84</a:t>
            </a:r>
          </a:p>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Falls below the requirement</a:t>
            </a:r>
          </a:p>
        </p:txBody>
      </p: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6096000" y="4368800"/>
            <a:ext cx="30480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2" name="text-61">
            <a:extLst xmlns:a="http://schemas.openxmlformats.org/drawingml/2006/main">
              <a:ext uri="{FF2B5EF4-FFF2-40B4-BE49-F238E27FC236}">
                <a16:creationId xmlns:a16="http://schemas.microsoft.com/office/drawing/2014/main" id="{E72201D0-3E5D-4216-800F-EB672FD60CA9}"/>
              </a:ext>
            </a:extLst>
          </p:cNvPr>
          <p:cNvSpPr>
            <a:spLocks xmlns:a="http://schemas.openxmlformats.org/drawingml/2006/main" noGrp="1"/>
          </p:cNvSpPr>
          <p:nvPr/>
        </p:nvSpPr>
        <p:spPr>
          <a:xfrm xmlns:a="http://schemas.openxmlformats.org/drawingml/2006/main">
            <a:off x="6350000" y="3365500"/>
            <a:ext cx="2514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00" b="1">
                <a:solidFill>
                  <a:srgbClr val="0B2033"/>
                </a:solidFill>
                <a:latin typeface="Arial"/>
                <a:ea typeface="Arial"/>
                <a:cs typeface="Arial"/>
              </a:defRPr>
            </a:pPr>
            <a:r>
              <a:rPr sz="2500" b="1">
                <a:solidFill>
                  <a:srgbClr val="0B2033"/>
                </a:solidFill>
                <a:latin typeface="Arial"/>
                <a:ea typeface="Arial"/>
                <a:cs typeface="Arial"/>
              </a:rPr>
              <a:t>Add input i</a:t>
            </a:r>
          </a:p>
          <a:p xmlns:a="http://schemas.openxmlformats.org/drawingml/2006/main">
            <a:pPr algn="ctr">
              <a:defRPr sz="2500" b="1">
                <a:solidFill>
                  <a:srgbClr val="0B2033"/>
                </a:solidFill>
                <a:latin typeface="Arial"/>
                <a:ea typeface="Arial"/>
                <a:cs typeface="Arial"/>
              </a:defRPr>
            </a:pPr>
            <a:r>
              <a:rPr sz="2500" b="1">
                <a:solidFill>
                  <a:srgbClr val="0B2033"/>
                </a:solidFill>
                <a:latin typeface="Arial"/>
                <a:ea typeface="Arial"/>
                <a:cs typeface="Arial"/>
              </a:rPr>
              <a:t>and retrain</a:t>
            </a:r>
          </a:p>
        </p:txBody>
      </p:sp>
      <p:sp>
        <p:nvSpPr>
          <p:cNvPr id="13" name="text-62">
            <a:extLst xmlns:a="http://schemas.openxmlformats.org/drawingml/2006/main">
              <a:ext uri="{FF2B5EF4-FFF2-40B4-BE49-F238E27FC236}">
                <a16:creationId xmlns:a16="http://schemas.microsoft.com/office/drawing/2014/main" id="{3B4CAE8E-5D7F-4C48-80DD-45AFF08A4A1D}"/>
              </a:ext>
            </a:extLst>
          </p:cNvPr>
          <p:cNvSpPr>
            <a:spLocks xmlns:a="http://schemas.openxmlformats.org/drawingml/2006/main" noGrp="1"/>
          </p:cNvSpPr>
          <p:nvPr/>
        </p:nvSpPr>
        <p:spPr>
          <a:xfrm xmlns:a="http://schemas.openxmlformats.org/drawingml/2006/main">
            <a:off x="762000" y="585470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00" b="0">
                <a:solidFill>
                  <a:srgbClr val="526675"/>
                </a:solidFill>
                <a:latin typeface="Arial"/>
                <a:ea typeface="Arial"/>
                <a:cs typeface="Arial"/>
              </a:defRPr>
            </a:pPr>
            <a:r>
              <a:rPr sz="2300" b="0">
                <a:solidFill>
                  <a:srgbClr val="526675"/>
                </a:solidFill>
                <a:latin typeface="Arial"/>
                <a:ea typeface="Arial"/>
                <a:cs typeface="Arial"/>
              </a:rPr>
              <a:t>Same training rows, learner settings and validation rows</a:t>
            </a:r>
          </a:p>
        </p:txBody>
      </p:sp>
      <p:sp>
        <p:nvSpPr>
          <p:cNvPr id="14" name="text-63">
            <a:extLst xmlns:a="http://schemas.openxmlformats.org/drawingml/2006/main">
              <a:ext uri="{FF2B5EF4-FFF2-40B4-BE49-F238E27FC236}">
                <a16:creationId xmlns:a16="http://schemas.microsoft.com/office/drawing/2014/main" id="{8A7AC1F2-4437-4776-9717-B76FE45CBF41}"/>
              </a:ext>
            </a:extLst>
          </p:cNvPr>
          <p:cNvSpPr>
            <a:spLocks xmlns:a="http://schemas.openxmlformats.org/drawingml/2006/main" noGrp="1"/>
          </p:cNvSpPr>
          <p:nvPr/>
        </p:nvSpPr>
        <p:spPr>
          <a:xfrm xmlns:a="http://schemas.openxmlformats.org/drawingml/2006/main">
            <a:off x="762000" y="66929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Here Δᵢ(S) = 0 − 1 = −1: a harmful witness that another person can check.</a:t>
            </a:r>
          </a:p>
        </p:txBody>
      </p:sp>
      <p:sp>
        <p:nvSpPr>
          <p:cNvPr id="15" name="text-64">
            <a:extLst xmlns:a="http://schemas.openxmlformats.org/drawingml/2006/main">
              <a:ext uri="{FF2B5EF4-FFF2-40B4-BE49-F238E27FC236}">
                <a16:creationId xmlns:a16="http://schemas.microsoft.com/office/drawing/2014/main" id="{724D9474-B885-473B-AE8F-7654AA375C67}"/>
              </a:ext>
            </a:extLst>
          </p:cNvPr>
          <p:cNvSpPr>
            <a:spLocks xmlns:a="http://schemas.openxmlformats.org/drawingml/2006/main" noGrp="1"/>
          </p:cNvSpPr>
          <p:nvPr/>
        </p:nvSpPr>
        <p:spPr>
          <a:xfrm xmlns:a="http://schemas.openxmlformats.org/drawingml/2006/main">
            <a:off x="762000" y="7696200"/>
            <a:ext cx="13716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526675"/>
                </a:solidFill>
                <a:latin typeface="Arial"/>
                <a:ea typeface="Arial"/>
                <a:cs typeface="Arial"/>
              </a:defRPr>
            </a:pPr>
            <a:r>
              <a:rPr sz="2100" b="0">
                <a:solidFill>
                  <a:srgbClr val="526675"/>
                </a:solidFill>
                <a:latin typeface="Arial"/>
                <a:ea typeface="Arial"/>
                <a:cs typeface="Arial"/>
              </a:rPr>
              <a:t>It motivates a deletion test. It does not prove that joint deletion will help.</a:t>
            </a:r>
          </a:p>
        </p:txBody>
      </p:sp>
    </p:spTree>
    <p:extLst>
      <p:ext uri="{BB962C8B-B14F-4D97-AF65-F5344CB8AC3E}">
        <p14:creationId xmlns:p14="http://schemas.microsoft.com/office/powerpoint/2010/main" val="897660822"/>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31" name="text-65">
            <a:extLst xmlns:a="http://schemas.openxmlformats.org/drawingml/2006/main">
              <a:ext uri="{FF2B5EF4-FFF2-40B4-BE49-F238E27FC236}">
                <a16:creationId xmlns:a16="http://schemas.microsoft.com/office/drawing/2014/main" id="{AE2C953C-2356-4D36-B029-492455E132BE}"/>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Research architecture</a:t>
            </a:r>
          </a:p>
        </p:txBody>
      </p:sp>
      <p:sp>
        <p:nvSpPr>
          <p:cNvPr id="2" name="rule-66">
            <a:extLst xmlns:a="http://schemas.openxmlformats.org/drawingml/2006/main">
              <a:ext uri="{FF2B5EF4-FFF2-40B4-BE49-F238E27FC236}">
                <a16:creationId xmlns:a16="http://schemas.microsoft.com/office/drawing/2014/main" id="{99D874A9-EA90-483F-B059-AC32653B8CB6}"/>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67">
            <a:extLst xmlns:a="http://schemas.openxmlformats.org/drawingml/2006/main">
              <a:ext uri="{FF2B5EF4-FFF2-40B4-BE49-F238E27FC236}">
                <a16:creationId xmlns:a16="http://schemas.microsoft.com/office/drawing/2014/main" id="{BDF5103D-F593-46B5-B31D-40F8D796C80F}"/>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06</a:t>
            </a:r>
          </a:p>
        </p:txBody>
      </p:sp>
      <p:sp>
        <p:nvSpPr>
          <p:cNvPr id="4" name="text-68">
            <a:extLst xmlns:a="http://schemas.openxmlformats.org/drawingml/2006/main">
              <a:ext uri="{FF2B5EF4-FFF2-40B4-BE49-F238E27FC236}">
                <a16:creationId xmlns:a16="http://schemas.microsoft.com/office/drawing/2014/main" id="{CA1D1C57-0583-4619-ABB0-89DC11D099E5}"/>
              </a:ext>
            </a:extLst>
          </p:cNvPr>
          <p:cNvSpPr>
            <a:spLocks xmlns:a="http://schemas.openxmlformats.org/drawingml/2006/main" noGrp="1"/>
          </p:cNvSpPr>
          <p:nvPr/>
        </p:nvSpPr>
        <p:spPr>
          <a:xfrm xmlns:a="http://schemas.openxmlformats.org/drawingml/2006/main">
            <a:off x="762000" y="2006600"/>
            <a:ext cx="13716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Fixed supervised task: labeled data, learner, split and performance requirement</a:t>
            </a:r>
          </a:p>
        </p:txBody>
      </p:sp>
      <p:sp>
        <p:nvSpPr>
          <p:cNvPr id="5" name="stage-69">
            <a:extLst xmlns:a="http://schemas.openxmlformats.org/drawingml/2006/main">
              <a:ext uri="{FF2B5EF4-FFF2-40B4-BE49-F238E27FC236}">
                <a16:creationId xmlns:a16="http://schemas.microsoft.com/office/drawing/2014/main" id="{CC4CBC4B-904A-443A-9954-9E70F22E703B}"/>
              </a:ext>
            </a:extLst>
          </p:cNvPr>
          <p:cNvSpPr>
            <a:spLocks xmlns:a="http://schemas.openxmlformats.org/drawingml/2006/main" noGrp="1"/>
          </p:cNvSpPr>
          <p:nvPr/>
        </p:nvSpPr>
        <p:spPr>
          <a:xfrm xmlns:a="http://schemas.openxmlformats.org/drawingml/2006/main">
            <a:off x="762000" y="2984500"/>
            <a:ext cx="3619500" cy="1993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70">
            <a:extLst xmlns:a="http://schemas.openxmlformats.org/drawingml/2006/main">
              <a:ext uri="{FF2B5EF4-FFF2-40B4-BE49-F238E27FC236}">
                <a16:creationId xmlns:a16="http://schemas.microsoft.com/office/drawing/2014/main" id="{293EA8CD-D75E-420D-87A1-06691B2DD0D6}"/>
              </a:ext>
            </a:extLst>
          </p:cNvPr>
          <p:cNvSpPr>
            <a:spLocks xmlns:a="http://schemas.openxmlformats.org/drawingml/2006/main" noGrp="1"/>
          </p:cNvSpPr>
          <p:nvPr/>
        </p:nvSpPr>
        <p:spPr>
          <a:xfrm xmlns:a="http://schemas.openxmlformats.org/drawingml/2006/main">
            <a:off x="965200" y="31369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1. Choose a context</a:t>
            </a:r>
          </a:p>
        </p:txBody>
      </p:sp>
      <p:sp>
        <p:nvSpPr>
          <p:cNvPr id="7" name="text-71">
            <a:extLst xmlns:a="http://schemas.openxmlformats.org/drawingml/2006/main">
              <a:ext uri="{FF2B5EF4-FFF2-40B4-BE49-F238E27FC236}">
                <a16:creationId xmlns:a16="http://schemas.microsoft.com/office/drawing/2014/main" id="{51205AAB-1D4E-4B3A-AB9F-F0D9C1451EDA}"/>
              </a:ext>
            </a:extLst>
          </p:cNvPr>
          <p:cNvSpPr>
            <a:spLocks xmlns:a="http://schemas.openxmlformats.org/drawingml/2006/main" noGrp="1"/>
          </p:cNvSpPr>
          <p:nvPr/>
        </p:nvSpPr>
        <p:spPr>
          <a:xfrm xmlns:a="http://schemas.openxmlformats.org/drawingml/2006/main">
            <a:off x="965200" y="3721100"/>
            <a:ext cx="3213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Select input i and</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other inputs S</a:t>
            </a:r>
          </a:p>
        </p:txBody>
      </p:sp>
      <p:sp>
        <p:nvSpPr>
          <p:cNvPr id="8" name="stage-72">
            <a:extLst xmlns:a="http://schemas.openxmlformats.org/drawingml/2006/main">
              <a:ext uri="{FF2B5EF4-FFF2-40B4-BE49-F238E27FC236}">
                <a16:creationId xmlns:a16="http://schemas.microsoft.com/office/drawing/2014/main" id="{CBAE5B3B-606A-4D08-9701-9C5D0E579625}"/>
              </a:ext>
            </a:extLst>
          </p:cNvPr>
          <p:cNvSpPr>
            <a:spLocks xmlns:a="http://schemas.openxmlformats.org/drawingml/2006/main" noGrp="1"/>
          </p:cNvSpPr>
          <p:nvPr/>
        </p:nvSpPr>
        <p:spPr>
          <a:xfrm xmlns:a="http://schemas.openxmlformats.org/drawingml/2006/main">
            <a:off x="5562600" y="2984500"/>
            <a:ext cx="4127500" cy="19939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73">
            <a:extLst xmlns:a="http://schemas.openxmlformats.org/drawingml/2006/main">
              <a:ext uri="{FF2B5EF4-FFF2-40B4-BE49-F238E27FC236}">
                <a16:creationId xmlns:a16="http://schemas.microsoft.com/office/drawing/2014/main" id="{560D29E5-C357-46D5-BA32-02E37686ABD8}"/>
              </a:ext>
            </a:extLst>
          </p:cNvPr>
          <p:cNvSpPr>
            <a:spLocks xmlns:a="http://schemas.openxmlformats.org/drawingml/2006/main" noGrp="1"/>
          </p:cNvSpPr>
          <p:nvPr/>
        </p:nvSpPr>
        <p:spPr>
          <a:xfrm xmlns:a="http://schemas.openxmlformats.org/drawingml/2006/main">
            <a:off x="5765800" y="3136900"/>
            <a:ext cx="3721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2. Test the addition</a:t>
            </a:r>
          </a:p>
        </p:txBody>
      </p:sp>
      <p:sp>
        <p:nvSpPr>
          <p:cNvPr id="10" name="text-74">
            <a:extLst xmlns:a="http://schemas.openxmlformats.org/drawingml/2006/main">
              <a:ext uri="{FF2B5EF4-FFF2-40B4-BE49-F238E27FC236}">
                <a16:creationId xmlns:a16="http://schemas.microsoft.com/office/drawing/2014/main" id="{6A1E617F-28C9-473E-A1F0-F11948421EF5}"/>
              </a:ext>
            </a:extLst>
          </p:cNvPr>
          <p:cNvSpPr>
            <a:spLocks xmlns:a="http://schemas.openxmlformats.org/drawingml/2006/main" noGrp="1"/>
          </p:cNvSpPr>
          <p:nvPr/>
        </p:nvSpPr>
        <p:spPr>
          <a:xfrm xmlns:a="http://schemas.openxmlformats.org/drawingml/2006/main">
            <a:off x="5765800" y="3721100"/>
            <a:ext cx="3721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Train on S and on S+i.</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Compare validation scores.</a:t>
            </a:r>
          </a:p>
        </p:txBody>
      </p:sp>
      <p:sp>
        <p:nvSpPr>
          <p:cNvPr id="11" name="stage-75">
            <a:extLst xmlns:a="http://schemas.openxmlformats.org/drawingml/2006/main">
              <a:ext uri="{FF2B5EF4-FFF2-40B4-BE49-F238E27FC236}">
                <a16:creationId xmlns:a16="http://schemas.microsoft.com/office/drawing/2014/main" id="{A4D91554-13E0-41B0-9E7C-4B3F839DB274}"/>
              </a:ext>
            </a:extLst>
          </p:cNvPr>
          <p:cNvSpPr>
            <a:spLocks xmlns:a="http://schemas.openxmlformats.org/drawingml/2006/main" noGrp="1"/>
          </p:cNvSpPr>
          <p:nvPr/>
        </p:nvSpPr>
        <p:spPr>
          <a:xfrm xmlns:a="http://schemas.openxmlformats.org/drawingml/2006/main">
            <a:off x="10858500" y="2984500"/>
            <a:ext cx="3619500" cy="1993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76">
            <a:extLst xmlns:a="http://schemas.openxmlformats.org/drawingml/2006/main">
              <a:ext uri="{FF2B5EF4-FFF2-40B4-BE49-F238E27FC236}">
                <a16:creationId xmlns:a16="http://schemas.microsoft.com/office/drawing/2014/main" id="{C8354D93-1412-43AE-AC8F-4CEC18CDC7B8}"/>
              </a:ext>
            </a:extLst>
          </p:cNvPr>
          <p:cNvSpPr>
            <a:spLocks xmlns:a="http://schemas.openxmlformats.org/drawingml/2006/main" noGrp="1"/>
          </p:cNvSpPr>
          <p:nvPr/>
        </p:nvSpPr>
        <p:spPr>
          <a:xfrm xmlns:a="http://schemas.openxmlformats.org/drawingml/2006/main">
            <a:off x="11061700" y="31369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3. Record failures</a:t>
            </a:r>
          </a:p>
        </p:txBody>
      </p:sp>
      <p:sp>
        <p:nvSpPr>
          <p:cNvPr id="13" name="text-77">
            <a:extLst xmlns:a="http://schemas.openxmlformats.org/drawingml/2006/main">
              <a:ext uri="{FF2B5EF4-FFF2-40B4-BE49-F238E27FC236}">
                <a16:creationId xmlns:a16="http://schemas.microsoft.com/office/drawing/2014/main" id="{DFD1783D-E3FA-4A6B-BE41-EC4B1C27E0E9}"/>
              </a:ext>
            </a:extLst>
          </p:cNvPr>
          <p:cNvSpPr>
            <a:spLocks xmlns:a="http://schemas.openxmlformats.org/drawingml/2006/main" noGrp="1"/>
          </p:cNvSpPr>
          <p:nvPr/>
        </p:nvSpPr>
        <p:spPr>
          <a:xfrm xmlns:a="http://schemas.openxmlformats.org/drawingml/2006/main">
            <a:off x="11061700" y="3721100"/>
            <a:ext cx="3213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Save only pass-to-fail: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i, S, scores and threshold.</a:t>
            </a:r>
          </a:p>
        </p:txBody>
      </p:sp>
      <p:cxnSp>
        <p:nvCxnSpPr>
          <p:cNvPr id="44" name=""/>
          <p:cNvCxnSpPr>
            <a:stCxn xmlns:a="http://schemas.openxmlformats.org/drawingml/2006/main" id="5" idx="3"/>
            <a:endCxn xmlns:a="http://schemas.openxmlformats.org/drawingml/2006/main" id="8" idx="1"/>
          </p:cNvCxnSpPr>
          <p:nvPr/>
        </p:nvCxnSpPr>
        <p:spPr>
          <a:xfrm xmlns:a="http://schemas.openxmlformats.org/drawingml/2006/main">
            <a:off x="4381500" y="3981450"/>
            <a:ext cx="11811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45" name=""/>
          <p:cNvCxnSpPr>
            <a:stCxn xmlns:a="http://schemas.openxmlformats.org/drawingml/2006/main" id="8" idx="3"/>
            <a:endCxn xmlns:a="http://schemas.openxmlformats.org/drawingml/2006/main" id="11" idx="1"/>
          </p:cNvCxnSpPr>
          <p:nvPr/>
        </p:nvCxnSpPr>
        <p:spPr>
          <a:xfrm xmlns:a="http://schemas.openxmlformats.org/drawingml/2006/main">
            <a:off x="9690100" y="3981450"/>
            <a:ext cx="11684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78">
            <a:extLst xmlns:a="http://schemas.openxmlformats.org/drawingml/2006/main">
              <a:ext uri="{FF2B5EF4-FFF2-40B4-BE49-F238E27FC236}">
                <a16:creationId xmlns:a16="http://schemas.microsoft.com/office/drawing/2014/main" id="{74FF2162-096F-4E4B-95E9-E0B16D2E2F4E}"/>
              </a:ext>
            </a:extLst>
          </p:cNvPr>
          <p:cNvSpPr>
            <a:spLocks xmlns:a="http://schemas.openxmlformats.org/drawingml/2006/main" noGrp="1"/>
          </p:cNvSpPr>
          <p:nvPr/>
        </p:nvSpPr>
        <p:spPr>
          <a:xfrm xmlns:a="http://schemas.openxmlformats.org/drawingml/2006/main">
            <a:off x="762000" y="2628900"/>
            <a:ext cx="1371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00" b="1">
                <a:solidFill>
                  <a:srgbClr val="0C7C78"/>
                </a:solidFill>
                <a:latin typeface="Arial"/>
                <a:ea typeface="Arial"/>
                <a:cs typeface="Arial"/>
              </a:defRPr>
            </a:pPr>
            <a:r>
              <a:rPr sz="1700" b="1">
                <a:solidFill>
                  <a:srgbClr val="0C7C78"/>
                </a:solidFill>
                <a:latin typeface="Arial"/>
                <a:ea typeface="Arial"/>
                <a:cs typeface="Arial"/>
              </a:rPr>
              <a:t>FEATURE AUDIT</a:t>
            </a:r>
          </a:p>
        </p:txBody>
      </p:sp>
      <p:sp>
        <p:nvSpPr>
          <p:cNvPr id="17" name="stage-79">
            <a:extLst xmlns:a="http://schemas.openxmlformats.org/drawingml/2006/main">
              <a:ext uri="{FF2B5EF4-FFF2-40B4-BE49-F238E27FC236}">
                <a16:creationId xmlns:a16="http://schemas.microsoft.com/office/drawing/2014/main" id="{0290C029-2604-4B86-89D6-FC60D64EE14D}"/>
              </a:ext>
            </a:extLst>
          </p:cNvPr>
          <p:cNvSpPr>
            <a:spLocks xmlns:a="http://schemas.openxmlformats.org/drawingml/2006/main" noGrp="1"/>
          </p:cNvSpPr>
          <p:nvPr/>
        </p:nvSpPr>
        <p:spPr>
          <a:xfrm xmlns:a="http://schemas.openxmlformats.org/drawingml/2006/main">
            <a:off x="10858500" y="6070600"/>
            <a:ext cx="3619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8" name="text-80">
            <a:extLst xmlns:a="http://schemas.openxmlformats.org/drawingml/2006/main">
              <a:ext uri="{FF2B5EF4-FFF2-40B4-BE49-F238E27FC236}">
                <a16:creationId xmlns:a16="http://schemas.microsoft.com/office/drawing/2014/main" id="{3E99F060-6D34-42CB-84A9-EC5818D61ABF}"/>
              </a:ext>
            </a:extLst>
          </p:cNvPr>
          <p:cNvSpPr>
            <a:spLocks xmlns:a="http://schemas.openxmlformats.org/drawingml/2006/main" noGrp="1"/>
          </p:cNvSpPr>
          <p:nvPr/>
        </p:nvSpPr>
        <p:spPr>
          <a:xfrm xmlns:a="http://schemas.openxmlformats.org/drawingml/2006/main">
            <a:off x="11061700" y="62230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4. Propose removal</a:t>
            </a:r>
          </a:p>
        </p:txBody>
      </p:sp>
      <p:sp>
        <p:nvSpPr>
          <p:cNvPr id="19" name="text-81">
            <a:extLst xmlns:a="http://schemas.openxmlformats.org/drawingml/2006/main">
              <a:ext uri="{FF2B5EF4-FFF2-40B4-BE49-F238E27FC236}">
                <a16:creationId xmlns:a16="http://schemas.microsoft.com/office/drawing/2014/main" id="{9ACFD685-A82F-4D64-85BB-D7EE748ACCC0}"/>
              </a:ext>
            </a:extLst>
          </p:cNvPr>
          <p:cNvSpPr>
            <a:spLocks xmlns:a="http://schemas.openxmlformats.org/drawingml/2006/main" noGrp="1"/>
          </p:cNvSpPr>
          <p:nvPr/>
        </p:nvSpPr>
        <p:spPr>
          <a:xfrm xmlns:a="http://schemas.openxmlformats.org/drawingml/2006/main">
            <a:off x="11061700" y="6807200"/>
            <a:ext cx="3213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Choose one candidate.</a:t>
            </a:r>
          </a:p>
        </p:txBody>
      </p:sp>
      <p:sp>
        <p:nvSpPr>
          <p:cNvPr id="20" name="stage-82">
            <a:extLst xmlns:a="http://schemas.openxmlformats.org/drawingml/2006/main">
              <a:ext uri="{FF2B5EF4-FFF2-40B4-BE49-F238E27FC236}">
                <a16:creationId xmlns:a16="http://schemas.microsoft.com/office/drawing/2014/main" id="{40D0CC91-7D22-4995-B2BD-989BA464D767}"/>
              </a:ext>
            </a:extLst>
          </p:cNvPr>
          <p:cNvSpPr>
            <a:spLocks xmlns:a="http://schemas.openxmlformats.org/drawingml/2006/main" noGrp="1"/>
          </p:cNvSpPr>
          <p:nvPr/>
        </p:nvSpPr>
        <p:spPr>
          <a:xfrm xmlns:a="http://schemas.openxmlformats.org/drawingml/2006/main">
            <a:off x="5562600" y="6070600"/>
            <a:ext cx="4127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21" name="text-83">
            <a:extLst xmlns:a="http://schemas.openxmlformats.org/drawingml/2006/main">
              <a:ext uri="{FF2B5EF4-FFF2-40B4-BE49-F238E27FC236}">
                <a16:creationId xmlns:a16="http://schemas.microsoft.com/office/drawing/2014/main" id="{DAB57FE2-FFA8-46D3-ADCB-C6F4C8D5F5CA}"/>
              </a:ext>
            </a:extLst>
          </p:cNvPr>
          <p:cNvSpPr>
            <a:spLocks xmlns:a="http://schemas.openxmlformats.org/drawingml/2006/main" noGrp="1"/>
          </p:cNvSpPr>
          <p:nvPr/>
        </p:nvSpPr>
        <p:spPr>
          <a:xfrm xmlns:a="http://schemas.openxmlformats.org/drawingml/2006/main">
            <a:off x="5765800" y="6223000"/>
            <a:ext cx="3721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5. Independent check</a:t>
            </a:r>
          </a:p>
        </p:txBody>
      </p:sp>
      <p:sp>
        <p:nvSpPr>
          <p:cNvPr id="22" name="text-84">
            <a:extLst xmlns:a="http://schemas.openxmlformats.org/drawingml/2006/main">
              <a:ext uri="{FF2B5EF4-FFF2-40B4-BE49-F238E27FC236}">
                <a16:creationId xmlns:a16="http://schemas.microsoft.com/office/drawing/2014/main" id="{BEF44C35-CFEC-4F66-8404-1D7B2F609387}"/>
              </a:ext>
            </a:extLst>
          </p:cNvPr>
          <p:cNvSpPr>
            <a:spLocks xmlns:a="http://schemas.openxmlformats.org/drawingml/2006/main" noGrp="1"/>
          </p:cNvSpPr>
          <p:nvPr/>
        </p:nvSpPr>
        <p:spPr>
          <a:xfrm xmlns:a="http://schemas.openxmlformats.org/drawingml/2006/main">
            <a:off x="5765800" y="6807200"/>
            <a:ext cx="3721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Accept it or keep all inputs.</a:t>
            </a:r>
          </a:p>
        </p:txBody>
      </p:sp>
      <p:sp>
        <p:nvSpPr>
          <p:cNvPr id="23" name="stage-85">
            <a:extLst xmlns:a="http://schemas.openxmlformats.org/drawingml/2006/main">
              <a:ext uri="{FF2B5EF4-FFF2-40B4-BE49-F238E27FC236}">
                <a16:creationId xmlns:a16="http://schemas.microsoft.com/office/drawing/2014/main" id="{F09072A4-6203-4939-8C9D-8CAFB1FA67A3}"/>
              </a:ext>
            </a:extLst>
          </p:cNvPr>
          <p:cNvSpPr>
            <a:spLocks xmlns:a="http://schemas.openxmlformats.org/drawingml/2006/main" noGrp="1"/>
          </p:cNvSpPr>
          <p:nvPr/>
        </p:nvSpPr>
        <p:spPr>
          <a:xfrm xmlns:a="http://schemas.openxmlformats.org/drawingml/2006/main">
            <a:off x="762000" y="6070600"/>
            <a:ext cx="3619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24" name="text-86">
            <a:extLst xmlns:a="http://schemas.openxmlformats.org/drawingml/2006/main">
              <a:ext uri="{FF2B5EF4-FFF2-40B4-BE49-F238E27FC236}">
                <a16:creationId xmlns:a16="http://schemas.microsoft.com/office/drawing/2014/main" id="{8F194BF9-849F-44A9-BA0A-9D646CF3AE31}"/>
              </a:ext>
            </a:extLst>
          </p:cNvPr>
          <p:cNvSpPr>
            <a:spLocks xmlns:a="http://schemas.openxmlformats.org/drawingml/2006/main" noGrp="1"/>
          </p:cNvSpPr>
          <p:nvPr/>
        </p:nvSpPr>
        <p:spPr>
          <a:xfrm xmlns:a="http://schemas.openxmlformats.org/drawingml/2006/main">
            <a:off x="965200" y="62230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6. Held-out test</a:t>
            </a:r>
          </a:p>
        </p:txBody>
      </p:sp>
      <p:sp>
        <p:nvSpPr>
          <p:cNvPr id="25" name="text-87">
            <a:extLst xmlns:a="http://schemas.openxmlformats.org/drawingml/2006/main">
              <a:ext uri="{FF2B5EF4-FFF2-40B4-BE49-F238E27FC236}">
                <a16:creationId xmlns:a16="http://schemas.microsoft.com/office/drawing/2014/main" id="{20B90E91-E198-4EA6-BC1E-CFE086D80584}"/>
              </a:ext>
            </a:extLst>
          </p:cNvPr>
          <p:cNvSpPr>
            <a:spLocks xmlns:a="http://schemas.openxmlformats.org/drawingml/2006/main" noGrp="1"/>
          </p:cNvSpPr>
          <p:nvPr/>
        </p:nvSpPr>
        <p:spPr>
          <a:xfrm xmlns:a="http://schemas.openxmlformats.org/drawingml/2006/main">
            <a:off x="965200" y="6807200"/>
            <a:ext cx="3213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Measure size, loss and cost.</a:t>
            </a:r>
          </a:p>
        </p:txBody>
      </p:sp>
      <p:cxnSp>
        <p:nvCxnSpPr>
          <p:cNvPr id="56" name=""/>
          <p:cNvCxnSpPr>
            <a:stCxn xmlns:a="http://schemas.openxmlformats.org/drawingml/2006/main" id="11" idx="2"/>
            <a:endCxn xmlns:a="http://schemas.openxmlformats.org/drawingml/2006/main" id="17" idx="0"/>
          </p:cNvCxnSpPr>
          <p:nvPr/>
        </p:nvCxnSpPr>
        <p:spPr>
          <a:xfrm xmlns:a="http://schemas.openxmlformats.org/drawingml/2006/main">
            <a:off x="12668250" y="4978400"/>
            <a:ext cx="0" cy="109220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57" name=""/>
          <p:cNvCxnSpPr>
            <a:stCxn xmlns:a="http://schemas.openxmlformats.org/drawingml/2006/main" id="17" idx="1"/>
            <a:endCxn xmlns:a="http://schemas.openxmlformats.org/drawingml/2006/main" id="20" idx="3"/>
          </p:cNvCxnSpPr>
          <p:nvPr/>
        </p:nvCxnSpPr>
        <p:spPr>
          <a:xfrm xmlns:a="http://schemas.openxmlformats.org/drawingml/2006/main" flipH="1">
            <a:off x="9690100" y="6800850"/>
            <a:ext cx="1168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58" name=""/>
          <p:cNvCxnSpPr>
            <a:stCxn xmlns:a="http://schemas.openxmlformats.org/drawingml/2006/main" id="20" idx="1"/>
            <a:endCxn xmlns:a="http://schemas.openxmlformats.org/drawingml/2006/main" id="23" idx="3"/>
          </p:cNvCxnSpPr>
          <p:nvPr/>
        </p:nvCxnSpPr>
        <p:spPr>
          <a:xfrm xmlns:a="http://schemas.openxmlformats.org/drawingml/2006/main" flipH="1">
            <a:off x="4381500" y="6800850"/>
            <a:ext cx="1181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29" name="text-88">
            <a:extLst xmlns:a="http://schemas.openxmlformats.org/drawingml/2006/main">
              <a:ext uri="{FF2B5EF4-FFF2-40B4-BE49-F238E27FC236}">
                <a16:creationId xmlns:a16="http://schemas.microsoft.com/office/drawing/2014/main" id="{05D3B51D-C830-4AFD-94B6-6FFA829DEC91}"/>
              </a:ext>
            </a:extLst>
          </p:cNvPr>
          <p:cNvSpPr>
            <a:spLocks xmlns:a="http://schemas.openxmlformats.org/drawingml/2006/main" noGrp="1"/>
          </p:cNvSpPr>
          <p:nvPr/>
        </p:nvSpPr>
        <p:spPr>
          <a:xfrm xmlns:a="http://schemas.openxmlformats.org/drawingml/2006/main">
            <a:off x="762000" y="5130800"/>
            <a:ext cx="914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526675"/>
                </a:solidFill>
                <a:latin typeface="Arial"/>
                <a:ea typeface="Arial"/>
                <a:cs typeface="Arial"/>
              </a:defRPr>
            </a:pPr>
            <a:r>
              <a:rPr sz="2100" b="0">
                <a:solidFill>
                  <a:srgbClr val="526675"/>
                </a:solidFill>
                <a:latin typeface="Arial"/>
                <a:ea typeface="Arial"/>
                <a:cs typeface="Arial"/>
              </a:rPr>
              <a:t>Repeat the audit within a fixed query budget.</a:t>
            </a:r>
          </a:p>
        </p:txBody>
      </p:sp>
      <p:sp>
        <p:nvSpPr>
          <p:cNvPr id="30" name="text-89">
            <a:extLst xmlns:a="http://schemas.openxmlformats.org/drawingml/2006/main">
              <a:ext uri="{FF2B5EF4-FFF2-40B4-BE49-F238E27FC236}">
                <a16:creationId xmlns:a16="http://schemas.microsoft.com/office/drawing/2014/main" id="{9B15D863-FABE-48F0-A32D-3384259C9CCA}"/>
              </a:ext>
            </a:extLst>
          </p:cNvPr>
          <p:cNvSpPr>
            <a:spLocks xmlns:a="http://schemas.openxmlformats.org/drawingml/2006/main" noGrp="1"/>
          </p:cNvSpPr>
          <p:nvPr/>
        </p:nvSpPr>
        <p:spPr>
          <a:xfrm xmlns:a="http://schemas.openxmlformats.org/drawingml/2006/main">
            <a:off x="762000" y="5626100"/>
            <a:ext cx="863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00" b="1">
                <a:solidFill>
                  <a:srgbClr val="0C7C78"/>
                </a:solidFill>
                <a:latin typeface="Arial"/>
                <a:ea typeface="Arial"/>
                <a:cs typeface="Arial"/>
              </a:defRPr>
            </a:pPr>
            <a:r>
              <a:rPr sz="1700" b="1">
                <a:solidFill>
                  <a:srgbClr val="0C7C78"/>
                </a:solidFill>
                <a:latin typeface="Arial"/>
                <a:ea typeface="Arial"/>
                <a:cs typeface="Arial"/>
              </a:rPr>
              <a:t>PLANNED DELETION EVALUATION</a:t>
            </a:r>
          </a:p>
        </p:txBody>
      </p:sp>
    </p:spTree>
    <p:extLst>
      <p:ext uri="{BB962C8B-B14F-4D97-AF65-F5344CB8AC3E}">
        <p14:creationId xmlns:p14="http://schemas.microsoft.com/office/powerpoint/2010/main" val="1590459766"/>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text-90">
            <a:extLst xmlns:a="http://schemas.openxmlformats.org/drawingml/2006/main">
              <a:ext uri="{FF2B5EF4-FFF2-40B4-BE49-F238E27FC236}">
                <a16:creationId xmlns:a16="http://schemas.microsoft.com/office/drawing/2014/main" id="{D3E48D31-A599-4EB9-8FEC-9CE5B4B7351B}"/>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The theory behind MinPPI</a:t>
            </a:r>
          </a:p>
        </p:txBody>
      </p:sp>
      <p:sp>
        <p:nvSpPr>
          <p:cNvPr id="2" name="rule-91">
            <a:extLst xmlns:a="http://schemas.openxmlformats.org/drawingml/2006/main">
              <a:ext uri="{FF2B5EF4-FFF2-40B4-BE49-F238E27FC236}">
                <a16:creationId xmlns:a16="http://schemas.microsoft.com/office/drawing/2014/main" id="{11E2393A-F07C-47ED-BDE8-CECFE724AB34}"/>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92">
            <a:extLst xmlns:a="http://schemas.openxmlformats.org/drawingml/2006/main">
              <a:ext uri="{FF2B5EF4-FFF2-40B4-BE49-F238E27FC236}">
                <a16:creationId xmlns:a16="http://schemas.microsoft.com/office/drawing/2014/main" id="{B6D3DBC1-A2BD-4851-9A0F-AD6F37EDC637}"/>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07</a:t>
            </a:r>
          </a:p>
        </p:txBody>
      </p:sp>
      <p:graphicFrame>
        <p:nvGraphicFramePr>
          <p:cNvPr id="11" name=""/>
          <p:cNvGraphicFramePr/>
          <p:nvPr/>
        </p:nvGraphicFramePr>
        <p:xfrm>
          <a:off xmlns:a="http://schemas.openxmlformats.org/drawingml/2006/main" x="762000" y="2133600"/>
          <a:ext xmlns:a="http://schemas.openxmlformats.org/drawingml/2006/main" cx="13716000" cy="3048000"/>
        </p:xfrm>
        <a:graphic xmlns:a="http://schemas.openxmlformats.org/drawingml/2006/main">
          <a:graphicData uri="http://schemas.openxmlformats.org/drawingml/2006/table">
            <a:tbl>
              <a:tblPr/>
              <a:tblGrid>
                <a:gridCol w="4191000"/>
                <a:gridCol w="9525000"/>
              </a:tblGrid>
              <a:tr h="762000">
                <a:tc>
                  <a:txBody>
                    <a:bodyPr>
                      <a:noAutofit/>
                    </a:bodyPr>
                    <a:lstStyle/>
                    <a:p>
                      <a:r>
                        <a:rPr sz="2500" b="1">
                          <a:solidFill>
                            <a:srgbClr val="FFFFFF"/>
                          </a:solidFill>
                          <a:latin typeface="Arial"/>
                          <a:ea typeface="Arial"/>
                          <a:cs typeface="Arial"/>
                        </a:rPr>
                        <a:t>Game-theoretic idea</a:t>
                      </a:r>
                    </a:p>
                  </a:txBody>
                  <a:tcPr marL="91440" marR="91440" marT="45720" marB="45720">
                    <a:solidFill>
                      <a:srgbClr val="0B2033"/>
                    </a:solidFill>
                  </a:tcPr>
                </a:tc>
                <a:tc>
                  <a:txBody>
                    <a:bodyPr>
                      <a:noAutofit/>
                    </a:bodyPr>
                    <a:lstStyle/>
                    <a:p>
                      <a:r>
                        <a:rPr sz="2500" b="1">
                          <a:solidFill>
                            <a:srgbClr val="FFFFFF"/>
                          </a:solidFill>
                          <a:latin typeface="Arial"/>
                          <a:ea typeface="Arial"/>
                          <a:cs typeface="Arial"/>
                        </a:rPr>
                        <a:t>Meaning for a prediction model</a:t>
                      </a:r>
                    </a:p>
                  </a:txBody>
                  <a:tcPr marL="91440" marR="91440" marT="45720" marB="45720">
                    <a:solidFill>
                      <a:srgbClr val="0B2033"/>
                    </a:solidFill>
                  </a:tcPr>
                </a:tc>
              </a:tr>
              <a:tr h="762000">
                <a:tc>
                  <a:txBody>
                    <a:bodyPr>
                      <a:noAutofit/>
                    </a:bodyPr>
                    <a:lstStyle/>
                    <a:p>
                      <a:r>
                        <a:rPr sz="2500" b="0">
                          <a:solidFill>
                            <a:srgbClr val="0B2033"/>
                          </a:solidFill>
                          <a:latin typeface="Arial"/>
                          <a:ea typeface="Arial"/>
                          <a:cs typeface="Arial"/>
                        </a:rPr>
                        <a:t>Player</a:t>
                      </a:r>
                    </a:p>
                  </a:txBody>
                  <a:tcPr marL="91440" marR="91440" marT="45720" marB="45720">
                    <a:solidFill>
                      <a:srgbClr val="F6F3EB"/>
                    </a:solidFill>
                  </a:tcPr>
                </a:tc>
                <a:tc>
                  <a:txBody>
                    <a:bodyPr>
                      <a:noAutofit/>
                    </a:bodyPr>
                    <a:lstStyle/>
                    <a:p>
                      <a:r>
                        <a:rPr sz="2500" b="0">
                          <a:solidFill>
                            <a:srgbClr val="0B2033"/>
                          </a:solidFill>
                          <a:latin typeface="Arial"/>
                          <a:ea typeface="Arial"/>
                          <a:cs typeface="Arial"/>
                        </a:rPr>
                        <a:t>One input column</a:t>
                      </a:r>
                    </a:p>
                  </a:txBody>
                  <a:tcPr marL="91440" marR="91440" marT="45720" marB="45720">
                    <a:solidFill>
                      <a:srgbClr val="F6F3EB"/>
                    </a:solidFill>
                  </a:tcPr>
                </a:tc>
              </a:tr>
              <a:tr h="762000">
                <a:tc>
                  <a:txBody>
                    <a:bodyPr>
                      <a:noAutofit/>
                    </a:bodyPr>
                    <a:lstStyle/>
                    <a:p>
                      <a:r>
                        <a:rPr sz="2500" b="0">
                          <a:solidFill>
                            <a:srgbClr val="0B2033"/>
                          </a:solidFill>
                          <a:latin typeface="Arial"/>
                          <a:ea typeface="Arial"/>
                          <a:cs typeface="Arial"/>
                        </a:rPr>
                        <a:t>Coalition</a:t>
                      </a:r>
                    </a:p>
                  </a:txBody>
                  <a:tcPr marL="91440" marR="91440" marT="45720" marB="45720">
                    <a:solidFill>
                      <a:srgbClr val="EEEEE7"/>
                    </a:solidFill>
                  </a:tcPr>
                </a:tc>
                <a:tc>
                  <a:txBody>
                    <a:bodyPr>
                      <a:noAutofit/>
                    </a:bodyPr>
                    <a:lstStyle/>
                    <a:p>
                      <a:r>
                        <a:rPr sz="2500" b="0">
                          <a:solidFill>
                            <a:srgbClr val="0B2033"/>
                          </a:solidFill>
                          <a:latin typeface="Arial"/>
                          <a:ea typeface="Arial"/>
                          <a:cs typeface="Arial"/>
                        </a:rPr>
                        <a:t>A group of columns used to train a model</a:t>
                      </a:r>
                    </a:p>
                  </a:txBody>
                  <a:tcPr marL="91440" marR="91440" marT="45720" marB="45720">
                    <a:solidFill>
                      <a:srgbClr val="EEEEE7"/>
                    </a:solidFill>
                  </a:tcPr>
                </a:tc>
              </a:tr>
              <a:tr h="762000">
                <a:tc>
                  <a:txBody>
                    <a:bodyPr>
                      <a:noAutofit/>
                    </a:bodyPr>
                    <a:lstStyle/>
                    <a:p>
                      <a:r>
                        <a:rPr sz="2500" b="0">
                          <a:solidFill>
                            <a:srgbClr val="0B2033"/>
                          </a:solidFill>
                          <a:latin typeface="Arial"/>
                          <a:ea typeface="Arial"/>
                          <a:cs typeface="Arial"/>
                        </a:rPr>
                        <a:t>Marginal contribution</a:t>
                      </a:r>
                    </a:p>
                  </a:txBody>
                  <a:tcPr marL="91440" marR="91440" marT="45720" marB="45720">
                    <a:solidFill>
                      <a:srgbClr val="F6F3EB"/>
                    </a:solidFill>
                  </a:tcPr>
                </a:tc>
                <a:tc>
                  <a:txBody>
                    <a:bodyPr>
                      <a:noAutofit/>
                    </a:bodyPr>
                    <a:lstStyle/>
                    <a:p>
                      <a:r>
                        <a:rPr sz="2500" b="0">
                          <a:solidFill>
                            <a:srgbClr val="0B2033"/>
                          </a:solidFill>
                          <a:latin typeface="Arial"/>
                          <a:ea typeface="Arial"/>
                          <a:cs typeface="Arial"/>
                        </a:rPr>
                        <a:t>The change after adding one column to that group</a:t>
                      </a:r>
                    </a:p>
                  </a:txBody>
                  <a:tcPr marL="91440" marR="91440" marT="45720" marB="45720">
                    <a:solidFill>
                      <a:srgbClr val="F6F3EB"/>
                    </a:solidFill>
                  </a:tcPr>
                </a:tc>
              </a:tr>
            </a:tbl>
          </a:graphicData>
        </a:graphic>
      </p:graphicFrame>
      <p:sp>
        <p:nvSpPr>
          <p:cNvPr id="5" name="text-93">
            <a:extLst xmlns:a="http://schemas.openxmlformats.org/drawingml/2006/main">
              <a:ext uri="{FF2B5EF4-FFF2-40B4-BE49-F238E27FC236}">
                <a16:creationId xmlns:a16="http://schemas.microsoft.com/office/drawing/2014/main" id="{ECB349E3-F515-499C-8AA5-864E4F70CAD4}"/>
              </a:ext>
            </a:extLst>
          </p:cNvPr>
          <p:cNvSpPr>
            <a:spLocks xmlns:a="http://schemas.openxmlformats.org/drawingml/2006/main" noGrp="1"/>
          </p:cNvSpPr>
          <p:nvPr/>
        </p:nvSpPr>
        <p:spPr>
          <a:xfrm xmlns:a="http://schemas.openxmlformats.org/drawingml/2006/main">
            <a:off x="762000" y="5562600"/>
            <a:ext cx="1371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C7C78"/>
                </a:solidFill>
                <a:latin typeface="Arial"/>
                <a:ea typeface="Arial"/>
                <a:cs typeface="Arial"/>
              </a:defRPr>
            </a:pPr>
            <a:r>
              <a:rPr sz="3100" b="1">
                <a:solidFill>
                  <a:srgbClr val="0C7C78"/>
                </a:solidFill>
                <a:latin typeface="Arial"/>
                <a:ea typeface="Arial"/>
                <a:cs typeface="Arial"/>
              </a:rPr>
              <a:t>MinPPI checks the worst threshold change across feature groups.</a:t>
            </a:r>
          </a:p>
        </p:txBody>
      </p:sp>
      <p:sp>
        <p:nvSpPr>
          <p:cNvPr id="6" name="text-94">
            <a:extLst xmlns:a="http://schemas.openxmlformats.org/drawingml/2006/main">
              <a:ext uri="{FF2B5EF4-FFF2-40B4-BE49-F238E27FC236}">
                <a16:creationId xmlns:a16="http://schemas.microsoft.com/office/drawing/2014/main" id="{86AA322B-372A-4EC8-80EA-C6EDBF8E4831}"/>
              </a:ext>
            </a:extLst>
          </p:cNvPr>
          <p:cNvSpPr>
            <a:spLocks xmlns:a="http://schemas.openxmlformats.org/drawingml/2006/main" noGrp="1"/>
          </p:cNvSpPr>
          <p:nvPr/>
        </p:nvSpPr>
        <p:spPr>
          <a:xfrm xmlns:a="http://schemas.openxmlformats.org/drawingml/2006/main">
            <a:off x="762000" y="6578600"/>
            <a:ext cx="13716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If any group changes from pass to fail, that input has a negative witness.</a:t>
            </a:r>
          </a:p>
        </p:txBody>
      </p:sp>
      <p:sp>
        <p:nvSpPr>
          <p:cNvPr id="7" name="text-95">
            <a:extLst xmlns:a="http://schemas.openxmlformats.org/drawingml/2006/main">
              <a:ext uri="{FF2B5EF4-FFF2-40B4-BE49-F238E27FC236}">
                <a16:creationId xmlns:a16="http://schemas.microsoft.com/office/drawing/2014/main" id="{95A036F3-ACEE-4C7A-A5F4-F529591BEE56}"/>
              </a:ext>
            </a:extLst>
          </p:cNvPr>
          <p:cNvSpPr>
            <a:spLocks xmlns:a="http://schemas.openxmlformats.org/drawingml/2006/main" noGrp="1"/>
          </p:cNvSpPr>
          <p:nvPr/>
        </p:nvSpPr>
        <p:spPr>
          <a:xfrm xmlns:a="http://schemas.openxmlformats.org/drawingml/2006/main">
            <a:off x="762000" y="7721600"/>
            <a:ext cx="13716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26675"/>
                </a:solidFill>
                <a:latin typeface="Arial"/>
                <a:ea typeface="Arial"/>
                <a:cs typeface="Arial"/>
              </a:defRPr>
            </a:pPr>
            <a:r>
              <a:rPr sz="1800" b="0">
                <a:solidFill>
                  <a:srgbClr val="526675"/>
                </a:solidFill>
                <a:latin typeface="Arial"/>
                <a:ea typeface="Arial"/>
                <a:cs typeface="Arial"/>
              </a:rPr>
              <a:t>Minimum aggregation builds on prior work. Our focus is evidence at a fixed performance requirement.</a:t>
            </a:r>
          </a:p>
        </p:txBody>
      </p:sp>
    </p:spTree>
    <p:extLst>
      <p:ext uri="{BB962C8B-B14F-4D97-AF65-F5344CB8AC3E}">
        <p14:creationId xmlns:p14="http://schemas.microsoft.com/office/powerpoint/2010/main" val="1175714394"/>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text-96">
            <a:extLst xmlns:a="http://schemas.openxmlformats.org/drawingml/2006/main">
              <a:ext uri="{FF2B5EF4-FFF2-40B4-BE49-F238E27FC236}">
                <a16:creationId xmlns:a16="http://schemas.microsoft.com/office/drawing/2014/main" id="{D9B67359-EBD4-40E9-9CAF-76810C815FAB}"/>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Finding witnesses within a limited budget</a:t>
            </a:r>
          </a:p>
        </p:txBody>
      </p:sp>
      <p:sp>
        <p:nvSpPr>
          <p:cNvPr id="2" name="rule-97">
            <a:extLst xmlns:a="http://schemas.openxmlformats.org/drawingml/2006/main">
              <a:ext uri="{FF2B5EF4-FFF2-40B4-BE49-F238E27FC236}">
                <a16:creationId xmlns:a16="http://schemas.microsoft.com/office/drawing/2014/main" id="{0C72C39F-8E97-4BD0-89BD-6F75B7F602D6}"/>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98">
            <a:extLst xmlns:a="http://schemas.openxmlformats.org/drawingml/2006/main">
              <a:ext uri="{FF2B5EF4-FFF2-40B4-BE49-F238E27FC236}">
                <a16:creationId xmlns:a16="http://schemas.microsoft.com/office/drawing/2014/main" id="{64A58627-5EFF-4A4A-A53C-292F1673A10A}"/>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08</a:t>
            </a:r>
          </a:p>
        </p:txBody>
      </p:sp>
      <p:sp>
        <p:nvSpPr>
          <p:cNvPr id="4" name="text-99">
            <a:extLst xmlns:a="http://schemas.openxmlformats.org/drawingml/2006/main">
              <a:ext uri="{FF2B5EF4-FFF2-40B4-BE49-F238E27FC236}">
                <a16:creationId xmlns:a16="http://schemas.microsoft.com/office/drawing/2014/main" id="{4AAA9CC6-292D-441C-A45B-125671D86B3F}"/>
              </a:ext>
            </a:extLst>
          </p:cNvPr>
          <p:cNvSpPr>
            <a:spLocks xmlns:a="http://schemas.openxmlformats.org/drawingml/2006/main" noGrp="1"/>
          </p:cNvSpPr>
          <p:nvPr/>
        </p:nvSpPr>
        <p:spPr>
          <a:xfrm xmlns:a="http://schemas.openxmlformats.org/drawingml/2006/main">
            <a:off x="762000" y="2082800"/>
            <a:ext cx="13716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Checking every combination becomes expensive as inputs grow.</a:t>
            </a:r>
          </a:p>
        </p:txBody>
      </p:sp>
      <p:sp>
        <p:nvSpPr>
          <p:cNvPr id="5" name="text-100">
            <a:extLst xmlns:a="http://schemas.openxmlformats.org/drawingml/2006/main">
              <a:ext uri="{FF2B5EF4-FFF2-40B4-BE49-F238E27FC236}">
                <a16:creationId xmlns:a16="http://schemas.microsoft.com/office/drawing/2014/main" id="{F4913389-FE57-46DC-BD1A-54962047C44B}"/>
              </a:ext>
            </a:extLst>
          </p:cNvPr>
          <p:cNvSpPr>
            <a:spLocks xmlns:a="http://schemas.openxmlformats.org/drawingml/2006/main" noGrp="1"/>
          </p:cNvSpPr>
          <p:nvPr/>
        </p:nvSpPr>
        <p:spPr>
          <a:xfrm xmlns:a="http://schemas.openxmlformats.org/drawingml/2006/main">
            <a:off x="762000" y="3454400"/>
            <a:ext cx="6350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A: random exploration</a:t>
            </a:r>
          </a:p>
        </p:txBody>
      </p:sp>
      <p:sp>
        <p:nvSpPr>
          <p:cNvPr id="6" name="text-101">
            <a:extLst xmlns:a="http://schemas.openxmlformats.org/drawingml/2006/main">
              <a:ext uri="{FF2B5EF4-FFF2-40B4-BE49-F238E27FC236}">
                <a16:creationId xmlns:a16="http://schemas.microsoft.com/office/drawing/2014/main" id="{88E5DCDA-42A4-4915-9083-98A2F3860C74}"/>
              </a:ext>
            </a:extLst>
          </p:cNvPr>
          <p:cNvSpPr>
            <a:spLocks xmlns:a="http://schemas.openxmlformats.org/drawingml/2006/main" noGrp="1"/>
          </p:cNvSpPr>
          <p:nvPr/>
        </p:nvSpPr>
        <p:spPr>
          <a:xfrm xmlns:a="http://schemas.openxmlformats.org/drawingml/2006/main">
            <a:off x="762000" y="4152900"/>
            <a:ext cx="635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Try varied groups of inputs.</a:t>
            </a:r>
          </a:p>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This is the reference search strategy.</a:t>
            </a:r>
          </a:p>
        </p:txBody>
      </p:sp>
      <p:sp>
        <p:nvSpPr>
          <p:cNvPr id="7" name="text-102">
            <a:extLst xmlns:a="http://schemas.openxmlformats.org/drawingml/2006/main">
              <a:ext uri="{FF2B5EF4-FFF2-40B4-BE49-F238E27FC236}">
                <a16:creationId xmlns:a16="http://schemas.microsoft.com/office/drawing/2014/main" id="{9D65EE16-DCBC-4B65-8EC9-DD45B95906E5}"/>
              </a:ext>
            </a:extLst>
          </p:cNvPr>
          <p:cNvSpPr>
            <a:spLocks xmlns:a="http://schemas.openxmlformats.org/drawingml/2006/main" noGrp="1"/>
          </p:cNvSpPr>
          <p:nvPr/>
        </p:nvSpPr>
        <p:spPr>
          <a:xfrm xmlns:a="http://schemas.openxmlformats.org/drawingml/2006/main">
            <a:off x="8255000" y="3454400"/>
            <a:ext cx="6223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B: guided exploration</a:t>
            </a:r>
          </a:p>
        </p:txBody>
      </p:sp>
      <p:sp>
        <p:nvSpPr>
          <p:cNvPr id="8" name="text-103">
            <a:extLst xmlns:a="http://schemas.openxmlformats.org/drawingml/2006/main">
              <a:ext uri="{FF2B5EF4-FFF2-40B4-BE49-F238E27FC236}">
                <a16:creationId xmlns:a16="http://schemas.microsoft.com/office/drawing/2014/main" id="{9807AE01-E50E-4BC7-BED5-9D0BACB73D2F}"/>
              </a:ext>
            </a:extLst>
          </p:cNvPr>
          <p:cNvSpPr>
            <a:spLocks xmlns:a="http://schemas.openxmlformats.org/drawingml/2006/main" noGrp="1"/>
          </p:cNvSpPr>
          <p:nvPr/>
        </p:nvSpPr>
        <p:spPr>
          <a:xfrm xmlns:a="http://schemas.openxmlformats.org/drawingml/2006/main">
            <a:off x="8255000" y="4152900"/>
            <a:ext cx="622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Use training associations to propose groups worth testing.</a:t>
            </a:r>
          </a:p>
        </p:txBody>
      </p:sp>
      <p:sp>
        <p:nvSpPr>
          <p:cNvPr id="9" name="rule-104">
            <a:extLst xmlns:a="http://schemas.openxmlformats.org/drawingml/2006/main">
              <a:ext uri="{FF2B5EF4-FFF2-40B4-BE49-F238E27FC236}">
                <a16:creationId xmlns:a16="http://schemas.microsoft.com/office/drawing/2014/main" id="{D1ED536D-3862-4692-8117-4FBC0CD5F79D}"/>
              </a:ext>
            </a:extLst>
          </p:cNvPr>
          <p:cNvSpPr>
            <a:spLocks xmlns:a="http://schemas.openxmlformats.org/drawingml/2006/main" noGrp="1"/>
          </p:cNvSpPr>
          <p:nvPr/>
        </p:nvSpPr>
        <p:spPr>
          <a:xfrm xmlns:a="http://schemas.openxmlformats.org/drawingml/2006/main">
            <a:off x="762000" y="58039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10" name="text-105">
            <a:extLst xmlns:a="http://schemas.openxmlformats.org/drawingml/2006/main">
              <a:ext uri="{FF2B5EF4-FFF2-40B4-BE49-F238E27FC236}">
                <a16:creationId xmlns:a16="http://schemas.microsoft.com/office/drawing/2014/main" id="{86DB56EE-3B23-499A-BB36-84F705A50CE1}"/>
              </a:ext>
            </a:extLst>
          </p:cNvPr>
          <p:cNvSpPr>
            <a:spLocks xmlns:a="http://schemas.openxmlformats.org/drawingml/2006/main" noGrp="1"/>
          </p:cNvSpPr>
          <p:nvPr/>
        </p:nvSpPr>
        <p:spPr>
          <a:xfrm xmlns:a="http://schemas.openxmlformats.org/drawingml/2006/main">
            <a:off x="762000" y="6108700"/>
            <a:ext cx="1371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Both use the same two-model check and the same query budget.</a:t>
            </a:r>
          </a:p>
        </p:txBody>
      </p:sp>
      <p:sp>
        <p:nvSpPr>
          <p:cNvPr id="11" name="text-106">
            <a:extLst xmlns:a="http://schemas.openxmlformats.org/drawingml/2006/main">
              <a:ext uri="{FF2B5EF4-FFF2-40B4-BE49-F238E27FC236}">
                <a16:creationId xmlns:a16="http://schemas.microsoft.com/office/drawing/2014/main" id="{21453039-A94F-473F-B31B-762D92A620FB}"/>
              </a:ext>
            </a:extLst>
          </p:cNvPr>
          <p:cNvSpPr>
            <a:spLocks xmlns:a="http://schemas.openxmlformats.org/drawingml/2006/main" noGrp="1"/>
          </p:cNvSpPr>
          <p:nvPr/>
        </p:nvSpPr>
        <p:spPr>
          <a:xfrm xmlns:a="http://schemas.openxmlformats.org/drawingml/2006/main">
            <a:off x="762000" y="7162800"/>
            <a:ext cx="137160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A found witness is checkable. An unvisited group may still hide one.</a:t>
            </a:r>
          </a:p>
        </p:txBody>
      </p:sp>
    </p:spTree>
    <p:extLst>
      <p:ext uri="{BB962C8B-B14F-4D97-AF65-F5344CB8AC3E}">
        <p14:creationId xmlns:p14="http://schemas.microsoft.com/office/powerpoint/2010/main" val="993080391"/>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text-107">
            <a:extLst xmlns:a="http://schemas.openxmlformats.org/drawingml/2006/main">
              <a:ext uri="{FF2B5EF4-FFF2-40B4-BE49-F238E27FC236}">
                <a16:creationId xmlns:a16="http://schemas.microsoft.com/office/drawing/2014/main" id="{5C36FB8D-8D3C-479B-8780-102FF0CA2D15}"/>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Why these datasets fit the research</a:t>
            </a:r>
          </a:p>
        </p:txBody>
      </p:sp>
      <p:sp>
        <p:nvSpPr>
          <p:cNvPr id="2" name="rule-108">
            <a:extLst xmlns:a="http://schemas.openxmlformats.org/drawingml/2006/main">
              <a:ext uri="{FF2B5EF4-FFF2-40B4-BE49-F238E27FC236}">
                <a16:creationId xmlns:a16="http://schemas.microsoft.com/office/drawing/2014/main" id="{6804E176-9622-4A31-B79E-DDBD93B59B96}"/>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09">
            <a:extLst xmlns:a="http://schemas.openxmlformats.org/drawingml/2006/main">
              <a:ext uri="{FF2B5EF4-FFF2-40B4-BE49-F238E27FC236}">
                <a16:creationId xmlns:a16="http://schemas.microsoft.com/office/drawing/2014/main" id="{91D58715-44B3-4EC2-9127-D39C1D422F37}"/>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09</a:t>
            </a:r>
          </a:p>
        </p:txBody>
      </p:sp>
      <p:sp>
        <p:nvSpPr>
          <p:cNvPr id="4" name="text-110">
            <a:extLst xmlns:a="http://schemas.openxmlformats.org/drawingml/2006/main">
              <a:ext uri="{FF2B5EF4-FFF2-40B4-BE49-F238E27FC236}">
                <a16:creationId xmlns:a16="http://schemas.microsoft.com/office/drawing/2014/main" id="{AF3A3CB7-7378-4644-ABEB-850F38F81490}"/>
              </a:ext>
            </a:extLst>
          </p:cNvPr>
          <p:cNvSpPr>
            <a:spLocks xmlns:a="http://schemas.openxmlformats.org/drawingml/2006/main" noGrp="1"/>
          </p:cNvSpPr>
          <p:nvPr/>
        </p:nvSpPr>
        <p:spPr>
          <a:xfrm xmlns:a="http://schemas.openxmlformats.org/drawingml/2006/main">
            <a:off x="762000" y="2006600"/>
            <a:ext cx="13716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The core studies need checkable cases, known structure and real prediction tasks.</a:t>
            </a:r>
          </a:p>
        </p:txBody>
      </p:sp>
      <p:graphicFrame>
        <p:nvGraphicFramePr>
          <p:cNvPr id="12" name=""/>
          <p:cNvGraphicFramePr/>
          <p:nvPr/>
        </p:nvGraphicFramePr>
        <p:xfrm>
          <a:off xmlns:a="http://schemas.openxmlformats.org/drawingml/2006/main" x="762000" y="2946400"/>
          <a:ext xmlns:a="http://schemas.openxmlformats.org/drawingml/2006/main" cx="13716000" cy="4102100"/>
        </p:xfrm>
        <a:graphic xmlns:a="http://schemas.openxmlformats.org/drawingml/2006/main">
          <a:graphicData uri="http://schemas.openxmlformats.org/drawingml/2006/table">
            <a:tbl>
              <a:tblPr/>
              <a:tblGrid>
                <a:gridCol w="3048000"/>
                <a:gridCol w="5334000"/>
                <a:gridCol w="5334000"/>
              </a:tblGrid>
              <a:tr h="546100">
                <a:tc>
                  <a:txBody>
                    <a:bodyPr>
                      <a:noAutofit/>
                    </a:bodyPr>
                    <a:lstStyle/>
                    <a:p>
                      <a:r>
                        <a:rPr sz="2200" b="1">
                          <a:solidFill>
                            <a:srgbClr val="FFFFFF"/>
                          </a:solidFill>
                          <a:latin typeface="Arial"/>
                          <a:ea typeface="Arial"/>
                          <a:cs typeface="Arial"/>
                        </a:rPr>
                        <a:t>Dataset</a:t>
                      </a:r>
                    </a:p>
                  </a:txBody>
                  <a:tcPr marL="91440" marR="91440" marT="45720" marB="45720">
                    <a:solidFill>
                      <a:srgbClr val="0B2033"/>
                    </a:solidFill>
                  </a:tcPr>
                </a:tc>
                <a:tc>
                  <a:txBody>
                    <a:bodyPr>
                      <a:noAutofit/>
                    </a:bodyPr>
                    <a:lstStyle/>
                    <a:p>
                      <a:r>
                        <a:rPr sz="2200" b="1">
                          <a:solidFill>
                            <a:srgbClr val="FFFFFF"/>
                          </a:solidFill>
                          <a:latin typeface="Arial"/>
                          <a:ea typeface="Arial"/>
                          <a:cs typeface="Arial"/>
                        </a:rPr>
                        <a:t>Inputs and target</a:t>
                      </a:r>
                    </a:p>
                  </a:txBody>
                  <a:tcPr marL="91440" marR="91440" marT="45720" marB="45720">
                    <a:solidFill>
                      <a:srgbClr val="0B2033"/>
                    </a:solidFill>
                  </a:tcPr>
                </a:tc>
                <a:tc>
                  <a:txBody>
                    <a:bodyPr>
                      <a:noAutofit/>
                    </a:bodyPr>
                    <a:lstStyle/>
                    <a:p>
                      <a:r>
                        <a:rPr sz="2200" b="1">
                          <a:solidFill>
                            <a:srgbClr val="FFFFFF"/>
                          </a:solidFill>
                          <a:latin typeface="Arial"/>
                          <a:ea typeface="Arial"/>
                          <a:cs typeface="Arial"/>
                        </a:rPr>
                        <a:t>Reason for inclusion</a:t>
                      </a:r>
                    </a:p>
                  </a:txBody>
                  <a:tcPr marL="91440" marR="91440" marT="45720" marB="45720">
                    <a:solidFill>
                      <a:srgbClr val="0B2033"/>
                    </a:solidFill>
                  </a:tcPr>
                </a:tc>
              </a:tr>
              <a:tr h="889000">
                <a:tc>
                  <a:txBody>
                    <a:bodyPr>
                      <a:noAutofit/>
                    </a:bodyPr>
                    <a:lstStyle/>
                    <a:p>
                      <a:r>
                        <a:rPr sz="2200" b="0">
                          <a:solidFill>
                            <a:srgbClr val="0B2033"/>
                          </a:solidFill>
                          <a:latin typeface="Arial"/>
                          <a:ea typeface="Arial"/>
                          <a:cs typeface="Arial"/>
                        </a:rPr>
                        <a:t>Abalone</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Physical measurements predict ring count.</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Eight inputs allow every subset to be checked. Covers regression.</a:t>
                      </a:r>
                    </a:p>
                  </a:txBody>
                  <a:tcPr marL="91440" marR="91440" marT="45720" marB="45720">
                    <a:solidFill>
                      <a:srgbClr val="F6F3EB"/>
                    </a:solidFill>
                  </a:tcPr>
                </a:tc>
              </a:tr>
              <a:tr h="889000">
                <a:tc>
                  <a:txBody>
                    <a:bodyPr>
                      <a:noAutofit/>
                    </a:bodyPr>
                    <a:lstStyle/>
                    <a:p>
                      <a:r>
                        <a:rPr sz="2200" b="0">
                          <a:solidFill>
                            <a:srgbClr val="0B2033"/>
                          </a:solidFill>
                          <a:latin typeface="Arial"/>
                          <a:ea typeface="Arial"/>
                          <a:cs typeface="Arial"/>
                        </a:rPr>
                        <a:t>Madelon</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Signal, redundant and distractor columns predict a synthetic class.</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Known generating structure challenges feature search.</a:t>
                      </a:r>
                    </a:p>
                  </a:txBody>
                  <a:tcPr marL="91440" marR="91440" marT="45720" marB="45720">
                    <a:solidFill>
                      <a:srgbClr val="EEEEE7"/>
                    </a:solidFill>
                  </a:tcPr>
                </a:tc>
              </a:tr>
              <a:tr h="889000">
                <a:tc>
                  <a:txBody>
                    <a:bodyPr>
                      <a:noAutofit/>
                    </a:bodyPr>
                    <a:lstStyle/>
                    <a:p>
                      <a:r>
                        <a:rPr sz="2200" b="0">
                          <a:solidFill>
                            <a:srgbClr val="0B2033"/>
                          </a:solidFill>
                          <a:latin typeface="Arial"/>
                          <a:ea typeface="Arial"/>
                          <a:cs typeface="Arial"/>
                        </a:rPr>
                        <a:t>Spambase</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Word and character statistics predict spam.</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Real inputs give interpretable classification examples.</a:t>
                      </a:r>
                    </a:p>
                  </a:txBody>
                  <a:tcPr marL="91440" marR="91440" marT="45720" marB="45720">
                    <a:solidFill>
                      <a:srgbClr val="F6F3EB"/>
                    </a:solidFill>
                  </a:tcPr>
                </a:tc>
              </a:tr>
              <a:tr h="889000">
                <a:tc>
                  <a:txBody>
                    <a:bodyPr>
                      <a:noAutofit/>
                    </a:bodyPr>
                    <a:lstStyle/>
                    <a:p>
                      <a:r>
                        <a:rPr sz="2200" b="0">
                          <a:solidFill>
                            <a:srgbClr val="0B2033"/>
                          </a:solidFill>
                          <a:latin typeface="Arial"/>
                          <a:ea typeface="Arial"/>
                          <a:cs typeface="Arial"/>
                        </a:rPr>
                        <a:t>Credit-card fraud</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PCA components and amount predict fraud.</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Rare positive cases test a different classification setting.</a:t>
                      </a:r>
                    </a:p>
                  </a:txBody>
                  <a:tcPr marL="91440" marR="91440" marT="45720" marB="45720">
                    <a:solidFill>
                      <a:srgbClr val="EEEEE7"/>
                    </a:solidFill>
                  </a:tcPr>
                </a:tc>
              </a:tr>
            </a:tbl>
          </a:graphicData>
        </a:graphic>
      </p:graphicFrame>
      <p:sp>
        <p:nvSpPr>
          <p:cNvPr id="6" name="text-111">
            <a:extLst xmlns:a="http://schemas.openxmlformats.org/drawingml/2006/main">
              <a:ext uri="{FF2B5EF4-FFF2-40B4-BE49-F238E27FC236}">
                <a16:creationId xmlns:a16="http://schemas.microsoft.com/office/drawing/2014/main" id="{8DBD68DD-9596-4395-B174-0B522BFC62E5}"/>
              </a:ext>
            </a:extLst>
          </p:cNvPr>
          <p:cNvSpPr>
            <a:spLocks xmlns:a="http://schemas.openxmlformats.org/drawingml/2006/main" noGrp="1"/>
          </p:cNvSpPr>
          <p:nvPr/>
        </p:nvSpPr>
        <p:spPr>
          <a:xfrm xmlns:a="http://schemas.openxmlformats.org/drawingml/2006/main">
            <a:off x="762000" y="7277100"/>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1">
                <a:solidFill>
                  <a:srgbClr val="0C7C78"/>
                </a:solidFill>
                <a:latin typeface="Arial"/>
                <a:ea typeface="Arial"/>
                <a:cs typeface="Arial"/>
              </a:defRPr>
            </a:pPr>
            <a:r>
              <a:rPr sz="2300" b="1">
                <a:solidFill>
                  <a:srgbClr val="0C7C78"/>
                </a:solidFill>
                <a:latin typeface="Arial"/>
                <a:ea typeface="Arial"/>
                <a:cs typeface="Arial"/>
              </a:rPr>
              <a:t>All four are supervised tasks. PCA describes inputs, not a change of learning task.</a:t>
            </a:r>
          </a:p>
        </p:txBody>
      </p:sp>
      <p:sp>
        <p:nvSpPr>
          <p:cNvPr id="7" name="text-112">
            <a:extLst xmlns:a="http://schemas.openxmlformats.org/drawingml/2006/main">
              <a:ext uri="{FF2B5EF4-FFF2-40B4-BE49-F238E27FC236}">
                <a16:creationId xmlns:a16="http://schemas.microsoft.com/office/drawing/2014/main" id="{3E3BF9AC-14A6-4250-B077-19CEF7F64C4F}"/>
              </a:ext>
            </a:extLst>
          </p:cNvPr>
          <p:cNvSpPr>
            <a:spLocks xmlns:a="http://schemas.openxmlformats.org/drawingml/2006/main" noGrp="1"/>
          </p:cNvSpPr>
          <p:nvPr/>
        </p:nvSpPr>
        <p:spPr>
          <a:xfrm xmlns:a="http://schemas.openxmlformats.org/drawingml/2006/main">
            <a:off x="762000" y="7874000"/>
            <a:ext cx="1371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26675"/>
                </a:solidFill>
                <a:latin typeface="Arial"/>
                <a:ea typeface="Arial"/>
                <a:cs typeface="Arial"/>
              </a:defRPr>
            </a:pPr>
            <a:r>
              <a:rPr sz="1800" b="0">
                <a:solidFill>
                  <a:srgbClr val="526675"/>
                </a:solidFill>
                <a:latin typeface="Arial"/>
                <a:ea typeface="Arial"/>
                <a:cs typeface="Arial"/>
              </a:rPr>
              <a:t>The broader benchmark also includes Gisette and ISOLET.</a:t>
            </a:r>
          </a:p>
        </p:txBody>
      </p:sp>
    </p:spTree>
    <p:extLst>
      <p:ext uri="{BB962C8B-B14F-4D97-AF65-F5344CB8AC3E}">
        <p14:creationId xmlns:p14="http://schemas.microsoft.com/office/powerpoint/2010/main" val="763292832"/>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113">
            <a:extLst xmlns:a="http://schemas.openxmlformats.org/drawingml/2006/main">
              <a:ext uri="{FF2B5EF4-FFF2-40B4-BE49-F238E27FC236}">
                <a16:creationId xmlns:a16="http://schemas.microsoft.com/office/drawing/2014/main" id="{AB9C0019-3E45-4C40-ADE8-D599FA49C477}"/>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Three studies answer three different questions</a:t>
            </a:r>
          </a:p>
        </p:txBody>
      </p:sp>
      <p:sp>
        <p:nvSpPr>
          <p:cNvPr id="2" name="rule-114">
            <a:extLst xmlns:a="http://schemas.openxmlformats.org/drawingml/2006/main">
              <a:ext uri="{FF2B5EF4-FFF2-40B4-BE49-F238E27FC236}">
                <a16:creationId xmlns:a16="http://schemas.microsoft.com/office/drawing/2014/main" id="{763E905C-D02B-4140-B278-25EA3BD1B249}"/>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15">
            <a:extLst xmlns:a="http://schemas.openxmlformats.org/drawingml/2006/main">
              <a:ext uri="{FF2B5EF4-FFF2-40B4-BE49-F238E27FC236}">
                <a16:creationId xmlns:a16="http://schemas.microsoft.com/office/drawing/2014/main" id="{5C5880F0-E250-4A6A-9EA6-02B5DAB837A3}"/>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10</a:t>
            </a:r>
          </a:p>
        </p:txBody>
      </p:sp>
      <p:sp>
        <p:nvSpPr>
          <p:cNvPr id="4" name="text-116">
            <a:extLst xmlns:a="http://schemas.openxmlformats.org/drawingml/2006/main">
              <a:ext uri="{FF2B5EF4-FFF2-40B4-BE49-F238E27FC236}">
                <a16:creationId xmlns:a16="http://schemas.microsoft.com/office/drawing/2014/main" id="{0111A8B8-19F5-4BCB-A8AC-610F7572314E}"/>
              </a:ext>
            </a:extLst>
          </p:cNvPr>
          <p:cNvSpPr>
            <a:spLocks xmlns:a="http://schemas.openxmlformats.org/drawingml/2006/main" noGrp="1"/>
          </p:cNvSpPr>
          <p:nvPr/>
        </p:nvSpPr>
        <p:spPr>
          <a:xfrm xmlns:a="http://schemas.openxmlformats.org/drawingml/2006/main">
            <a:off x="762000" y="21463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01</a:t>
            </a:r>
          </a:p>
        </p:txBody>
      </p:sp>
      <p:sp>
        <p:nvSpPr>
          <p:cNvPr id="5" name="text-117">
            <a:extLst xmlns:a="http://schemas.openxmlformats.org/drawingml/2006/main">
              <a:ext uri="{FF2B5EF4-FFF2-40B4-BE49-F238E27FC236}">
                <a16:creationId xmlns:a16="http://schemas.microsoft.com/office/drawing/2014/main" id="{76BE9DC5-8A33-4867-B975-391468AD1B58}"/>
              </a:ext>
            </a:extLst>
          </p:cNvPr>
          <p:cNvSpPr>
            <a:spLocks xmlns:a="http://schemas.openxmlformats.org/drawingml/2006/main" noGrp="1"/>
          </p:cNvSpPr>
          <p:nvPr/>
        </p:nvSpPr>
        <p:spPr>
          <a:xfrm xmlns:a="http://schemas.openxmlformats.org/drawingml/2006/main">
            <a:off x="1841500" y="21463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Discovery: how much do we miss?</a:t>
            </a:r>
          </a:p>
        </p:txBody>
      </p:sp>
      <p:sp>
        <p:nvSpPr>
          <p:cNvPr id="6" name="text-118">
            <a:extLst xmlns:a="http://schemas.openxmlformats.org/drawingml/2006/main">
              <a:ext uri="{FF2B5EF4-FFF2-40B4-BE49-F238E27FC236}">
                <a16:creationId xmlns:a16="http://schemas.microsoft.com/office/drawing/2014/main" id="{BFDA2BE7-0080-4BF2-8DEA-8CF33AEBB478}"/>
              </a:ext>
            </a:extLst>
          </p:cNvPr>
          <p:cNvSpPr>
            <a:spLocks xmlns:a="http://schemas.openxmlformats.org/drawingml/2006/main" noGrp="1"/>
          </p:cNvSpPr>
          <p:nvPr/>
        </p:nvSpPr>
        <p:spPr>
          <a:xfrm xmlns:a="http://schemas.openxmlformats.org/drawingml/2006/main">
            <a:off x="1841500" y="27686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Compare the search with all possible subsets in small problems.</a:t>
            </a:r>
          </a:p>
        </p:txBody>
      </p:sp>
      <p:sp>
        <p:nvSpPr>
          <p:cNvPr id="7" name="text-119">
            <a:extLst xmlns:a="http://schemas.openxmlformats.org/drawingml/2006/main">
              <a:ext uri="{FF2B5EF4-FFF2-40B4-BE49-F238E27FC236}">
                <a16:creationId xmlns:a16="http://schemas.microsoft.com/office/drawing/2014/main" id="{B82AC5B6-6FFA-4484-BF83-96A1608B6E22}"/>
              </a:ext>
            </a:extLst>
          </p:cNvPr>
          <p:cNvSpPr>
            <a:spLocks xmlns:a="http://schemas.openxmlformats.org/drawingml/2006/main" noGrp="1"/>
          </p:cNvSpPr>
          <p:nvPr/>
        </p:nvSpPr>
        <p:spPr>
          <a:xfrm xmlns:a="http://schemas.openxmlformats.org/drawingml/2006/main">
            <a:off x="762000" y="39624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02</a:t>
            </a:r>
          </a:p>
        </p:txBody>
      </p:sp>
      <p:sp>
        <p:nvSpPr>
          <p:cNvPr id="8" name="text-120">
            <a:extLst xmlns:a="http://schemas.openxmlformats.org/drawingml/2006/main">
              <a:ext uri="{FF2B5EF4-FFF2-40B4-BE49-F238E27FC236}">
                <a16:creationId xmlns:a16="http://schemas.microsoft.com/office/drawing/2014/main" id="{B143406D-59D1-4BDB-83A8-C9D60F3B8A2E}"/>
              </a:ext>
            </a:extLst>
          </p:cNvPr>
          <p:cNvSpPr>
            <a:spLocks xmlns:a="http://schemas.openxmlformats.org/drawingml/2006/main" noGrp="1"/>
          </p:cNvSpPr>
          <p:nvPr/>
        </p:nvSpPr>
        <p:spPr>
          <a:xfrm xmlns:a="http://schemas.openxmlformats.org/drawingml/2006/main">
            <a:off x="1841500" y="39624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Mechanism: what makes discovery difficult?</a:t>
            </a:r>
          </a:p>
        </p:txBody>
      </p:sp>
      <p:sp>
        <p:nvSpPr>
          <p:cNvPr id="9" name="text-121">
            <a:extLst xmlns:a="http://schemas.openxmlformats.org/drawingml/2006/main">
              <a:ext uri="{FF2B5EF4-FFF2-40B4-BE49-F238E27FC236}">
                <a16:creationId xmlns:a16="http://schemas.microsoft.com/office/drawing/2014/main" id="{05FC5A37-DF71-4014-BE9A-F9D2E5BEB854}"/>
              </a:ext>
            </a:extLst>
          </p:cNvPr>
          <p:cNvSpPr>
            <a:spLocks xmlns:a="http://schemas.openxmlformats.org/drawingml/2006/main" noGrp="1"/>
          </p:cNvSpPr>
          <p:nvPr/>
        </p:nvSpPr>
        <p:spPr>
          <a:xfrm xmlns:a="http://schemas.openxmlformats.org/drawingml/2006/main">
            <a:off x="1841500" y="45847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Control signal, redundancy and interaction in synthetic data.</a:t>
            </a:r>
          </a:p>
        </p:txBody>
      </p:sp>
      <p:sp>
        <p:nvSpPr>
          <p:cNvPr id="10" name="text-122">
            <a:extLst xmlns:a="http://schemas.openxmlformats.org/drawingml/2006/main">
              <a:ext uri="{FF2B5EF4-FFF2-40B4-BE49-F238E27FC236}">
                <a16:creationId xmlns:a16="http://schemas.microsoft.com/office/drawing/2014/main" id="{8F552071-85E8-4AA1-A53D-D1769B107CD3}"/>
              </a:ext>
            </a:extLst>
          </p:cNvPr>
          <p:cNvSpPr>
            <a:spLocks xmlns:a="http://schemas.openxmlformats.org/drawingml/2006/main" noGrp="1"/>
          </p:cNvSpPr>
          <p:nvPr/>
        </p:nvSpPr>
        <p:spPr>
          <a:xfrm xmlns:a="http://schemas.openxmlformats.org/drawingml/2006/main">
            <a:off x="762000" y="57785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03</a:t>
            </a:r>
          </a:p>
        </p:txBody>
      </p:sp>
      <p:sp>
        <p:nvSpPr>
          <p:cNvPr id="11" name="text-123">
            <a:extLst xmlns:a="http://schemas.openxmlformats.org/drawingml/2006/main">
              <a:ext uri="{FF2B5EF4-FFF2-40B4-BE49-F238E27FC236}">
                <a16:creationId xmlns:a16="http://schemas.microsoft.com/office/drawing/2014/main" id="{BDE1B08E-BDB0-4896-ACC6-3A6DD8DB9D15}"/>
              </a:ext>
            </a:extLst>
          </p:cNvPr>
          <p:cNvSpPr>
            <a:spLocks xmlns:a="http://schemas.openxmlformats.org/drawingml/2006/main" noGrp="1"/>
          </p:cNvSpPr>
          <p:nvPr/>
        </p:nvSpPr>
        <p:spPr>
          <a:xfrm xmlns:a="http://schemas.openxmlformats.org/drawingml/2006/main">
            <a:off x="1841500" y="57785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Decision: is removal worth doing?</a:t>
            </a:r>
          </a:p>
        </p:txBody>
      </p:sp>
      <p:sp>
        <p:nvSpPr>
          <p:cNvPr id="12" name="text-124">
            <a:extLst xmlns:a="http://schemas.openxmlformats.org/drawingml/2006/main">
              <a:ext uri="{FF2B5EF4-FFF2-40B4-BE49-F238E27FC236}">
                <a16:creationId xmlns:a16="http://schemas.microsoft.com/office/drawing/2014/main" id="{2C773260-0EEF-4452-A3FD-1167E386D06F}"/>
              </a:ext>
            </a:extLst>
          </p:cNvPr>
          <p:cNvSpPr>
            <a:spLocks xmlns:a="http://schemas.openxmlformats.org/drawingml/2006/main" noGrp="1"/>
          </p:cNvSpPr>
          <p:nvPr/>
        </p:nvSpPr>
        <p:spPr>
          <a:xfrm xmlns:a="http://schemas.openxmlformats.org/drawingml/2006/main">
            <a:off x="1841500" y="64008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Test smaller models on independent data and include the full cost.</a:t>
            </a:r>
          </a:p>
        </p:txBody>
      </p:sp>
    </p:spTree>
    <p:extLst>
      <p:ext uri="{BB962C8B-B14F-4D97-AF65-F5344CB8AC3E}">
        <p14:creationId xmlns:p14="http://schemas.microsoft.com/office/powerpoint/2010/main" val="1490182044"/>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2" name="text-125">
            <a:extLst xmlns:a="http://schemas.openxmlformats.org/drawingml/2006/main">
              <a:ext uri="{FF2B5EF4-FFF2-40B4-BE49-F238E27FC236}">
                <a16:creationId xmlns:a16="http://schemas.microsoft.com/office/drawing/2014/main" id="{1CAD31F6-AB12-4BD8-B9C8-06F05A09B9B3}"/>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1: measure what the search misses</a:t>
            </a:r>
          </a:p>
        </p:txBody>
      </p:sp>
      <p:sp>
        <p:nvSpPr>
          <p:cNvPr id="2" name="rule-126">
            <a:extLst xmlns:a="http://schemas.openxmlformats.org/drawingml/2006/main">
              <a:ext uri="{FF2B5EF4-FFF2-40B4-BE49-F238E27FC236}">
                <a16:creationId xmlns:a16="http://schemas.microsoft.com/office/drawing/2014/main" id="{2600273E-7B04-4970-928A-CA1F370D15D2}"/>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27">
            <a:extLst xmlns:a="http://schemas.openxmlformats.org/drawingml/2006/main">
              <a:ext uri="{FF2B5EF4-FFF2-40B4-BE49-F238E27FC236}">
                <a16:creationId xmlns:a16="http://schemas.microsoft.com/office/drawing/2014/main" id="{25D0A947-A8FF-4E56-B3B9-059EFE0DE627}"/>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11</a:t>
            </a:r>
          </a:p>
        </p:txBody>
      </p:sp>
      <p:sp>
        <p:nvSpPr>
          <p:cNvPr id="4" name="text-128">
            <a:extLst xmlns:a="http://schemas.openxmlformats.org/drawingml/2006/main">
              <a:ext uri="{FF2B5EF4-FFF2-40B4-BE49-F238E27FC236}">
                <a16:creationId xmlns:a16="http://schemas.microsoft.com/office/drawing/2014/main" id="{EDF17959-6A80-458A-AD19-84DD02D2F00D}"/>
              </a:ext>
            </a:extLst>
          </p:cNvPr>
          <p:cNvSpPr>
            <a:spLocks xmlns:a="http://schemas.openxmlformats.org/drawingml/2006/main" noGrp="1"/>
          </p:cNvSpPr>
          <p:nvPr/>
        </p:nvSpPr>
        <p:spPr>
          <a:xfrm xmlns:a="http://schemas.openxmlformats.org/drawingml/2006/main">
            <a:off x="762000" y="20066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Small problems let us establish a complete reference.</a:t>
            </a:r>
          </a:p>
        </p:txBody>
      </p:sp>
      <p:sp>
        <p:nvSpPr>
          <p:cNvPr id="5" name="stage-129">
            <a:extLst xmlns:a="http://schemas.openxmlformats.org/drawingml/2006/main">
              <a:ext uri="{FF2B5EF4-FFF2-40B4-BE49-F238E27FC236}">
                <a16:creationId xmlns:a16="http://schemas.microsoft.com/office/drawing/2014/main" id="{4B4B88A8-CF96-4A32-9CD3-6A04160381CD}"/>
              </a:ext>
            </a:extLst>
          </p:cNvPr>
          <p:cNvSpPr>
            <a:spLocks xmlns:a="http://schemas.openxmlformats.org/drawingml/2006/main" noGrp="1"/>
          </p:cNvSpPr>
          <p:nvPr/>
        </p:nvSpPr>
        <p:spPr>
          <a:xfrm xmlns:a="http://schemas.openxmlformats.org/drawingml/2006/main">
            <a:off x="762000" y="3289300"/>
            <a:ext cx="3937000" cy="20574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30">
            <a:extLst xmlns:a="http://schemas.openxmlformats.org/drawingml/2006/main">
              <a:ext uri="{FF2B5EF4-FFF2-40B4-BE49-F238E27FC236}">
                <a16:creationId xmlns:a16="http://schemas.microsoft.com/office/drawing/2014/main" id="{A295B669-5AFF-458D-8892-F3FFF72E2463}"/>
              </a:ext>
            </a:extLst>
          </p:cNvPr>
          <p:cNvSpPr>
            <a:spLocks xmlns:a="http://schemas.openxmlformats.org/drawingml/2006/main" noGrp="1"/>
          </p:cNvSpPr>
          <p:nvPr/>
        </p:nvSpPr>
        <p:spPr>
          <a:xfrm xmlns:a="http://schemas.openxmlformats.org/drawingml/2006/main">
            <a:off x="965200" y="3441700"/>
            <a:ext cx="3530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Same 8-input problem</a:t>
            </a:r>
          </a:p>
        </p:txBody>
      </p:sp>
      <p:sp>
        <p:nvSpPr>
          <p:cNvPr id="7" name="text-131">
            <a:extLst xmlns:a="http://schemas.openxmlformats.org/drawingml/2006/main">
              <a:ext uri="{FF2B5EF4-FFF2-40B4-BE49-F238E27FC236}">
                <a16:creationId xmlns:a16="http://schemas.microsoft.com/office/drawing/2014/main" id="{A7107B3D-C899-4DD2-96DA-D9FE0B83D282}"/>
              </a:ext>
            </a:extLst>
          </p:cNvPr>
          <p:cNvSpPr>
            <a:spLocks xmlns:a="http://schemas.openxmlformats.org/drawingml/2006/main" noGrp="1"/>
          </p:cNvSpPr>
          <p:nvPr/>
        </p:nvSpPr>
        <p:spPr>
          <a:xfrm xmlns:a="http://schemas.openxmlformats.org/drawingml/2006/main">
            <a:off x="965200" y="4025900"/>
            <a:ext cx="3530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Same data split, model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and performance requirement</a:t>
            </a:r>
          </a:p>
        </p:txBody>
      </p:sp>
      <p:sp>
        <p:nvSpPr>
          <p:cNvPr id="8" name="stage-132">
            <a:extLst xmlns:a="http://schemas.openxmlformats.org/drawingml/2006/main">
              <a:ext uri="{FF2B5EF4-FFF2-40B4-BE49-F238E27FC236}">
                <a16:creationId xmlns:a16="http://schemas.microsoft.com/office/drawing/2014/main" id="{5A48F98C-F926-4398-83D0-E0E8465A5020}"/>
              </a:ext>
            </a:extLst>
          </p:cNvPr>
          <p:cNvSpPr>
            <a:spLocks xmlns:a="http://schemas.openxmlformats.org/drawingml/2006/main" noGrp="1"/>
          </p:cNvSpPr>
          <p:nvPr/>
        </p:nvSpPr>
        <p:spPr>
          <a:xfrm xmlns:a="http://schemas.openxmlformats.org/drawingml/2006/main">
            <a:off x="6070600" y="2870200"/>
            <a:ext cx="4089400" cy="15875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133">
            <a:extLst xmlns:a="http://schemas.openxmlformats.org/drawingml/2006/main">
              <a:ext uri="{FF2B5EF4-FFF2-40B4-BE49-F238E27FC236}">
                <a16:creationId xmlns:a16="http://schemas.microsoft.com/office/drawing/2014/main" id="{B56C0093-64E2-49A9-BB12-3A7D6F211066}"/>
              </a:ext>
            </a:extLst>
          </p:cNvPr>
          <p:cNvSpPr>
            <a:spLocks xmlns:a="http://schemas.openxmlformats.org/drawingml/2006/main" noGrp="1"/>
          </p:cNvSpPr>
          <p:nvPr/>
        </p:nvSpPr>
        <p:spPr>
          <a:xfrm xmlns:a="http://schemas.openxmlformats.org/drawingml/2006/main">
            <a:off x="6273800" y="3022600"/>
            <a:ext cx="3683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Complete enumeration</a:t>
            </a:r>
          </a:p>
        </p:txBody>
      </p:sp>
      <p:sp>
        <p:nvSpPr>
          <p:cNvPr id="10" name="text-134">
            <a:extLst xmlns:a="http://schemas.openxmlformats.org/drawingml/2006/main">
              <a:ext uri="{FF2B5EF4-FFF2-40B4-BE49-F238E27FC236}">
                <a16:creationId xmlns:a16="http://schemas.microsoft.com/office/drawing/2014/main" id="{C2372A1C-00B8-4F78-B54F-DC961135A15D}"/>
              </a:ext>
            </a:extLst>
          </p:cNvPr>
          <p:cNvSpPr>
            <a:spLocks xmlns:a="http://schemas.openxmlformats.org/drawingml/2006/main" noGrp="1"/>
          </p:cNvSpPr>
          <p:nvPr/>
        </p:nvSpPr>
        <p:spPr>
          <a:xfrm xmlns:a="http://schemas.openxmlformats.org/drawingml/2006/main">
            <a:off x="6273800" y="3606800"/>
            <a:ext cx="368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Check all 256 subsets.</a:t>
            </a:r>
          </a:p>
        </p:txBody>
      </p:sp>
      <p:sp>
        <p:nvSpPr>
          <p:cNvPr id="11" name="stage-135">
            <a:extLst xmlns:a="http://schemas.openxmlformats.org/drawingml/2006/main">
              <a:ext uri="{FF2B5EF4-FFF2-40B4-BE49-F238E27FC236}">
                <a16:creationId xmlns:a16="http://schemas.microsoft.com/office/drawing/2014/main" id="{F501980C-4B01-4837-A4D8-717BF669BECD}"/>
              </a:ext>
            </a:extLst>
          </p:cNvPr>
          <p:cNvSpPr>
            <a:spLocks xmlns:a="http://schemas.openxmlformats.org/drawingml/2006/main" noGrp="1"/>
          </p:cNvSpPr>
          <p:nvPr/>
        </p:nvSpPr>
        <p:spPr>
          <a:xfrm xmlns:a="http://schemas.openxmlformats.org/drawingml/2006/main">
            <a:off x="6070600" y="5092700"/>
            <a:ext cx="4089400" cy="1587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136">
            <a:extLst xmlns:a="http://schemas.openxmlformats.org/drawingml/2006/main">
              <a:ext uri="{FF2B5EF4-FFF2-40B4-BE49-F238E27FC236}">
                <a16:creationId xmlns:a16="http://schemas.microsoft.com/office/drawing/2014/main" id="{95150674-1488-4574-BD1B-4090D7877E16}"/>
              </a:ext>
            </a:extLst>
          </p:cNvPr>
          <p:cNvSpPr>
            <a:spLocks xmlns:a="http://schemas.openxmlformats.org/drawingml/2006/main" noGrp="1"/>
          </p:cNvSpPr>
          <p:nvPr/>
        </p:nvSpPr>
        <p:spPr>
          <a:xfrm xmlns:a="http://schemas.openxmlformats.org/drawingml/2006/main">
            <a:off x="6273800" y="5245100"/>
            <a:ext cx="3683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Limited-budget search</a:t>
            </a:r>
          </a:p>
        </p:txBody>
      </p:sp>
      <p:sp>
        <p:nvSpPr>
          <p:cNvPr id="13" name="text-137">
            <a:extLst xmlns:a="http://schemas.openxmlformats.org/drawingml/2006/main">
              <a:ext uri="{FF2B5EF4-FFF2-40B4-BE49-F238E27FC236}">
                <a16:creationId xmlns:a16="http://schemas.microsoft.com/office/drawing/2014/main" id="{274CA457-4F2F-42A5-A4C1-58571B572CDB}"/>
              </a:ext>
            </a:extLst>
          </p:cNvPr>
          <p:cNvSpPr>
            <a:spLocks xmlns:a="http://schemas.openxmlformats.org/drawingml/2006/main" noGrp="1"/>
          </p:cNvSpPr>
          <p:nvPr/>
        </p:nvSpPr>
        <p:spPr>
          <a:xfrm xmlns:a="http://schemas.openxmlformats.org/drawingml/2006/main">
            <a:off x="6273800" y="5829300"/>
            <a:ext cx="368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Let A or B request subsets.</a:t>
            </a:r>
          </a:p>
        </p:txBody>
      </p:sp>
      <p:sp>
        <p:nvSpPr>
          <p:cNvPr id="14" name="stage-138">
            <a:extLst xmlns:a="http://schemas.openxmlformats.org/drawingml/2006/main">
              <a:ext uri="{FF2B5EF4-FFF2-40B4-BE49-F238E27FC236}">
                <a16:creationId xmlns:a16="http://schemas.microsoft.com/office/drawing/2014/main" id="{99B9F7E4-F161-4225-B769-30D96308AE57}"/>
              </a:ext>
            </a:extLst>
          </p:cNvPr>
          <p:cNvSpPr>
            <a:spLocks xmlns:a="http://schemas.openxmlformats.org/drawingml/2006/main" noGrp="1"/>
          </p:cNvSpPr>
          <p:nvPr/>
        </p:nvSpPr>
        <p:spPr>
          <a:xfrm xmlns:a="http://schemas.openxmlformats.org/drawingml/2006/main">
            <a:off x="11366500" y="3937000"/>
            <a:ext cx="3111500" cy="20447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5" name="text-139">
            <a:extLst xmlns:a="http://schemas.openxmlformats.org/drawingml/2006/main">
              <a:ext uri="{FF2B5EF4-FFF2-40B4-BE49-F238E27FC236}">
                <a16:creationId xmlns:a16="http://schemas.microsoft.com/office/drawing/2014/main" id="{FF8D5327-1EB6-4D14-8F65-A68666439BBF}"/>
              </a:ext>
            </a:extLst>
          </p:cNvPr>
          <p:cNvSpPr>
            <a:spLocks xmlns:a="http://schemas.openxmlformats.org/drawingml/2006/main" noGrp="1"/>
          </p:cNvSpPr>
          <p:nvPr/>
        </p:nvSpPr>
        <p:spPr>
          <a:xfrm xmlns:a="http://schemas.openxmlformats.org/drawingml/2006/main">
            <a:off x="11569700" y="4089400"/>
            <a:ext cx="2705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Compare</a:t>
            </a:r>
          </a:p>
        </p:txBody>
      </p:sp>
      <p:sp>
        <p:nvSpPr>
          <p:cNvPr id="16" name="text-140">
            <a:extLst xmlns:a="http://schemas.openxmlformats.org/drawingml/2006/main">
              <a:ext uri="{FF2B5EF4-FFF2-40B4-BE49-F238E27FC236}">
                <a16:creationId xmlns:a16="http://schemas.microsoft.com/office/drawing/2014/main" id="{7E03342F-B8AD-416E-9D17-A8CE302742C2}"/>
              </a:ext>
            </a:extLst>
          </p:cNvPr>
          <p:cNvSpPr>
            <a:spLocks xmlns:a="http://schemas.openxmlformats.org/drawingml/2006/main" noGrp="1"/>
          </p:cNvSpPr>
          <p:nvPr/>
        </p:nvSpPr>
        <p:spPr>
          <a:xfrm xmlns:a="http://schemas.openxmlformats.org/drawingml/2006/main">
            <a:off x="11569700" y="4673600"/>
            <a:ext cx="27051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How many harmful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inputs were found?</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flipV="1">
            <a:off x="4699000" y="3663950"/>
            <a:ext cx="1371600" cy="65405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39" name=""/>
          <p:cNvCxnSpPr>
            <a:stCxn xmlns:a="http://schemas.openxmlformats.org/drawingml/2006/main" id="5" idx="3"/>
            <a:endCxn xmlns:a="http://schemas.openxmlformats.org/drawingml/2006/main" id="11" idx="1"/>
          </p:cNvCxnSpPr>
          <p:nvPr/>
        </p:nvCxnSpPr>
        <p:spPr>
          <a:xfrm xmlns:a="http://schemas.openxmlformats.org/drawingml/2006/main">
            <a:off x="4699000" y="4318000"/>
            <a:ext cx="1371600" cy="156845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40" name=""/>
          <p:cNvCxnSpPr>
            <a:stCxn xmlns:a="http://schemas.openxmlformats.org/drawingml/2006/main" id="8" idx="3"/>
            <a:endCxn xmlns:a="http://schemas.openxmlformats.org/drawingml/2006/main" id="14" idx="1"/>
          </p:cNvCxnSpPr>
          <p:nvPr/>
        </p:nvCxnSpPr>
        <p:spPr>
          <a:xfrm xmlns:a="http://schemas.openxmlformats.org/drawingml/2006/main">
            <a:off x="10160000" y="3663950"/>
            <a:ext cx="1206500" cy="129540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flipV="1">
            <a:off x="10160000" y="4959350"/>
            <a:ext cx="1206500" cy="92710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sp>
        <p:nvSpPr>
          <p:cNvPr id="21" name="text-141">
            <a:extLst xmlns:a="http://schemas.openxmlformats.org/drawingml/2006/main">
              <a:ext uri="{FF2B5EF4-FFF2-40B4-BE49-F238E27FC236}">
                <a16:creationId xmlns:a16="http://schemas.microsoft.com/office/drawing/2014/main" id="{15347C10-1005-4C4F-92EB-17939F4760F2}"/>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Success means finding more of the known harmful inputs at the same budget.</a:t>
            </a:r>
          </a:p>
        </p:txBody>
      </p:sp>
    </p:spTree>
    <p:extLst>
      <p:ext uri="{BB962C8B-B14F-4D97-AF65-F5344CB8AC3E}">
        <p14:creationId xmlns:p14="http://schemas.microsoft.com/office/powerpoint/2010/main" val="1991085317"/>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text-142">
            <a:extLst xmlns:a="http://schemas.openxmlformats.org/drawingml/2006/main">
              <a:ext uri="{FF2B5EF4-FFF2-40B4-BE49-F238E27FC236}">
                <a16:creationId xmlns:a16="http://schemas.microsoft.com/office/drawing/2014/main" id="{E85DBB39-1EFF-4C7B-ADD7-B593299A2F08}"/>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2: explain why some witnesses are harder to find</a:t>
            </a:r>
          </a:p>
        </p:txBody>
      </p:sp>
      <p:sp>
        <p:nvSpPr>
          <p:cNvPr id="2" name="rule-143">
            <a:extLst xmlns:a="http://schemas.openxmlformats.org/drawingml/2006/main">
              <a:ext uri="{FF2B5EF4-FFF2-40B4-BE49-F238E27FC236}">
                <a16:creationId xmlns:a16="http://schemas.microsoft.com/office/drawing/2014/main" id="{6C4CBB6B-B543-40B3-B590-122D84890D7A}"/>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44">
            <a:extLst xmlns:a="http://schemas.openxmlformats.org/drawingml/2006/main">
              <a:ext uri="{FF2B5EF4-FFF2-40B4-BE49-F238E27FC236}">
                <a16:creationId xmlns:a16="http://schemas.microsoft.com/office/drawing/2014/main" id="{236C8180-305B-4373-B74A-06AC93F27B29}"/>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12</a:t>
            </a:r>
          </a:p>
        </p:txBody>
      </p:sp>
      <p:sp>
        <p:nvSpPr>
          <p:cNvPr id="4" name="text-145">
            <a:extLst xmlns:a="http://schemas.openxmlformats.org/drawingml/2006/main">
              <a:ext uri="{FF2B5EF4-FFF2-40B4-BE49-F238E27FC236}">
                <a16:creationId xmlns:a16="http://schemas.microsoft.com/office/drawing/2014/main" id="{B8D8B037-15F7-4FFE-9551-EAE6231E09E5}"/>
              </a:ext>
            </a:extLst>
          </p:cNvPr>
          <p:cNvSpPr>
            <a:spLocks xmlns:a="http://schemas.openxmlformats.org/drawingml/2006/main" noGrp="1"/>
          </p:cNvSpPr>
          <p:nvPr/>
        </p:nvSpPr>
        <p:spPr>
          <a:xfrm xmlns:a="http://schemas.openxmlformats.org/drawingml/2006/main">
            <a:off x="762000" y="1968500"/>
            <a:ext cx="13716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526675"/>
                </a:solidFill>
                <a:latin typeface="Arial"/>
                <a:ea typeface="Arial"/>
                <a:cs typeface="Arial"/>
              </a:defRPr>
            </a:pPr>
            <a:r>
              <a:rPr sz="2200" b="0">
                <a:solidFill>
                  <a:srgbClr val="526675"/>
                </a:solidFill>
                <a:latin typeface="Arial"/>
                <a:ea typeface="Arial"/>
                <a:cs typeface="Arial"/>
              </a:rPr>
              <a:t>Planned controlled experiment</a:t>
            </a:r>
          </a:p>
        </p:txBody>
      </p:sp>
      <p:graphicFrame>
        <p:nvGraphicFramePr>
          <p:cNvPr id="11" name=""/>
          <p:cNvGraphicFramePr/>
          <p:nvPr/>
        </p:nvGraphicFramePr>
        <p:xfrm>
          <a:off xmlns:a="http://schemas.openxmlformats.org/drawingml/2006/main" x="762000" y="2844800"/>
          <a:ext xmlns:a="http://schemas.openxmlformats.org/drawingml/2006/main" cx="13716000" cy="3771900"/>
        </p:xfrm>
        <a:graphic xmlns:a="http://schemas.openxmlformats.org/drawingml/2006/main">
          <a:graphicData uri="http://schemas.openxmlformats.org/drawingml/2006/table">
            <a:tbl>
              <a:tblPr/>
              <a:tblGrid>
                <a:gridCol w="3683000"/>
                <a:gridCol w="5397500"/>
                <a:gridCol w="4635500"/>
              </a:tblGrid>
              <a:tr h="609600">
                <a:tc>
                  <a:txBody>
                    <a:bodyPr>
                      <a:noAutofit/>
                    </a:bodyPr>
                    <a:lstStyle/>
                    <a:p>
                      <a:r>
                        <a:rPr sz="2300" b="1">
                          <a:solidFill>
                            <a:srgbClr val="FFFFFF"/>
                          </a:solidFill>
                          <a:latin typeface="Arial"/>
                          <a:ea typeface="Arial"/>
                          <a:cs typeface="Arial"/>
                        </a:rPr>
                        <a:t>Controlled structure</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What changes in the inputs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What we learn</a:t>
                      </a:r>
                    </a:p>
                  </a:txBody>
                  <a:tcPr marL="91440" marR="91440" marT="45720" marB="45720">
                    <a:solidFill>
                      <a:srgbClr val="0B2033"/>
                    </a:solidFill>
                  </a:tcPr>
                </a:tc>
              </a:tr>
              <a:tr h="1054100">
                <a:tc>
                  <a:txBody>
                    <a:bodyPr>
                      <a:noAutofit/>
                    </a:bodyPr>
                    <a:lstStyle/>
                    <a:p>
                      <a:r>
                        <a:rPr sz="2300" b="0">
                          <a:solidFill>
                            <a:srgbClr val="0B2033"/>
                          </a:solidFill>
                          <a:latin typeface="Arial"/>
                          <a:ea typeface="Arial"/>
                          <a:cs typeface="Arial"/>
                        </a:rPr>
                        <a:t>Signal with distractors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Useful variables plus unrelated columns.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Whether extra noise creates difficult contexts.</a:t>
                      </a:r>
                    </a:p>
                  </a:txBody>
                  <a:tcPr marL="91440" marR="91440" marT="45720" marB="45720">
                    <a:solidFill>
                      <a:srgbClr val="F6F3EB"/>
                    </a:solidFill>
                  </a:tcPr>
                </a:tc>
              </a:tr>
              <a:tr h="1054100">
                <a:tc>
                  <a:txBody>
                    <a:bodyPr>
                      <a:noAutofit/>
                    </a:bodyPr>
                    <a:lstStyle/>
                    <a:p>
                      <a:r>
                        <a:rPr sz="2300" b="0">
                          <a:solidFill>
                            <a:srgbClr val="0B2033"/>
                          </a:solidFill>
                          <a:latin typeface="Arial"/>
                          <a:ea typeface="Arial"/>
                          <a:cs typeface="Arial"/>
                        </a:rPr>
                        <a:t>Correlated redundancy</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Add noisy copies of informative variables.</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How overlapping information affects discovery.</a:t>
                      </a:r>
                    </a:p>
                  </a:txBody>
                  <a:tcPr marL="91440" marR="91440" marT="45720" marB="45720">
                    <a:solidFill>
                      <a:srgbClr val="EEEEE7"/>
                    </a:solidFill>
                  </a:tcPr>
                </a:tc>
              </a:tr>
              <a:tr h="1054100">
                <a:tc>
                  <a:txBody>
                    <a:bodyPr>
                      <a:noAutofit/>
                    </a:bodyPr>
                    <a:lstStyle/>
                    <a:p>
                      <a:r>
                        <a:rPr sz="2300" b="0">
                          <a:solidFill>
                            <a:srgbClr val="0B2033"/>
                          </a:solidFill>
                          <a:latin typeface="Arial"/>
                          <a:ea typeface="Arial"/>
                          <a:cs typeface="Arial"/>
                        </a:rPr>
                        <a:t>Interaction</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The target depends on a combination of variables.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Whether the search reaches important combinations.</a:t>
                      </a:r>
                    </a:p>
                  </a:txBody>
                  <a:tcPr marL="91440" marR="91440" marT="45720" marB="45720">
                    <a:solidFill>
                      <a:srgbClr val="F6F3EB"/>
                    </a:solidFill>
                  </a:tcPr>
                </a:tc>
              </a:tr>
            </a:tbl>
          </a:graphicData>
        </a:graphic>
      </p:graphicFrame>
      <p:sp>
        <p:nvSpPr>
          <p:cNvPr id="6" name="text-146">
            <a:extLst xmlns:a="http://schemas.openxmlformats.org/drawingml/2006/main">
              <a:ext uri="{FF2B5EF4-FFF2-40B4-BE49-F238E27FC236}">
                <a16:creationId xmlns:a16="http://schemas.microsoft.com/office/drawing/2014/main" id="{5C6A844E-925E-4347-9A25-D2735688D495}"/>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Keep the model and evaluation fixed. Change the data structure deliberately.</a:t>
            </a:r>
          </a:p>
        </p:txBody>
      </p:sp>
    </p:spTree>
    <p:extLst>
      <p:ext uri="{BB962C8B-B14F-4D97-AF65-F5344CB8AC3E}">
        <p14:creationId xmlns:p14="http://schemas.microsoft.com/office/powerpoint/2010/main" val="1514066663"/>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8" name="text-147">
            <a:extLst xmlns:a="http://schemas.openxmlformats.org/drawingml/2006/main">
              <a:ext uri="{FF2B5EF4-FFF2-40B4-BE49-F238E27FC236}">
                <a16:creationId xmlns:a16="http://schemas.microsoft.com/office/drawing/2014/main" id="{B7C3CADC-3171-4CB6-B516-947059BE4A59}"/>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3: test whether removal is useful</a:t>
            </a:r>
          </a:p>
        </p:txBody>
      </p:sp>
      <p:sp>
        <p:nvSpPr>
          <p:cNvPr id="2" name="rule-148">
            <a:extLst xmlns:a="http://schemas.openxmlformats.org/drawingml/2006/main">
              <a:ext uri="{FF2B5EF4-FFF2-40B4-BE49-F238E27FC236}">
                <a16:creationId xmlns:a16="http://schemas.microsoft.com/office/drawing/2014/main" id="{BC7BB9C5-AEB1-4EA8-A8E8-1A616AB364E0}"/>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49">
            <a:extLst xmlns:a="http://schemas.openxmlformats.org/drawingml/2006/main">
              <a:ext uri="{FF2B5EF4-FFF2-40B4-BE49-F238E27FC236}">
                <a16:creationId xmlns:a16="http://schemas.microsoft.com/office/drawing/2014/main" id="{1494A596-EA42-42CD-BDEF-98E04988CEA8}"/>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13</a:t>
            </a:r>
          </a:p>
        </p:txBody>
      </p:sp>
      <p:sp>
        <p:nvSpPr>
          <p:cNvPr id="4" name="text-150">
            <a:extLst xmlns:a="http://schemas.openxmlformats.org/drawingml/2006/main">
              <a:ext uri="{FF2B5EF4-FFF2-40B4-BE49-F238E27FC236}">
                <a16:creationId xmlns:a16="http://schemas.microsoft.com/office/drawing/2014/main" id="{F18E1EF8-DB51-41F6-9A8D-D86E2DCEDCAC}"/>
              </a:ext>
            </a:extLst>
          </p:cNvPr>
          <p:cNvSpPr>
            <a:spLocks xmlns:a="http://schemas.openxmlformats.org/drawingml/2006/main" noGrp="1"/>
          </p:cNvSpPr>
          <p:nvPr/>
        </p:nvSpPr>
        <p:spPr>
          <a:xfrm xmlns:a="http://schemas.openxmlformats.org/drawingml/2006/main">
            <a:off x="762000" y="1993900"/>
            <a:ext cx="1371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526675"/>
                </a:solidFill>
                <a:latin typeface="Arial"/>
                <a:ea typeface="Arial"/>
                <a:cs typeface="Arial"/>
              </a:defRPr>
            </a:pPr>
            <a:r>
              <a:rPr sz="2600" b="0">
                <a:solidFill>
                  <a:srgbClr val="526675"/>
                </a:solidFill>
                <a:latin typeface="Arial"/>
                <a:ea typeface="Arial"/>
                <a:cs typeface="Arial"/>
              </a:rPr>
              <a:t>Planned decision experiment with separate data for each decision stage</a:t>
            </a:r>
          </a:p>
        </p:txBody>
      </p:sp>
      <p:sp>
        <p:nvSpPr>
          <p:cNvPr id="5" name="stage-151">
            <a:extLst xmlns:a="http://schemas.openxmlformats.org/drawingml/2006/main">
              <a:ext uri="{FF2B5EF4-FFF2-40B4-BE49-F238E27FC236}">
                <a16:creationId xmlns:a16="http://schemas.microsoft.com/office/drawing/2014/main" id="{CE7ABEC9-DA64-4646-A358-55741749C4A0}"/>
              </a:ext>
            </a:extLst>
          </p:cNvPr>
          <p:cNvSpPr>
            <a:spLocks xmlns:a="http://schemas.openxmlformats.org/drawingml/2006/main" noGrp="1"/>
          </p:cNvSpPr>
          <p:nvPr/>
        </p:nvSpPr>
        <p:spPr>
          <a:xfrm xmlns:a="http://schemas.openxmlformats.org/drawingml/2006/main">
            <a:off x="762000" y="3429000"/>
            <a:ext cx="3873500" cy="1968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52">
            <a:extLst xmlns:a="http://schemas.openxmlformats.org/drawingml/2006/main">
              <a:ext uri="{FF2B5EF4-FFF2-40B4-BE49-F238E27FC236}">
                <a16:creationId xmlns:a16="http://schemas.microsoft.com/office/drawing/2014/main" id="{ACA909BF-29B3-4CF1-A161-8DAB699D3E7E}"/>
              </a:ext>
            </a:extLst>
          </p:cNvPr>
          <p:cNvSpPr>
            <a:spLocks xmlns:a="http://schemas.openxmlformats.org/drawingml/2006/main" noGrp="1"/>
          </p:cNvSpPr>
          <p:nvPr/>
        </p:nvSpPr>
        <p:spPr>
          <a:xfrm xmlns:a="http://schemas.openxmlformats.org/drawingml/2006/main">
            <a:off x="9652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Choose a candidate</a:t>
            </a:r>
          </a:p>
        </p:txBody>
      </p:sp>
      <p:sp>
        <p:nvSpPr>
          <p:cNvPr id="7" name="text-153">
            <a:extLst xmlns:a="http://schemas.openxmlformats.org/drawingml/2006/main">
              <a:ext uri="{FF2B5EF4-FFF2-40B4-BE49-F238E27FC236}">
                <a16:creationId xmlns:a16="http://schemas.microsoft.com/office/drawing/2014/main" id="{C8AF08A8-8474-48E4-A017-3247DA216D02}"/>
              </a:ext>
            </a:extLst>
          </p:cNvPr>
          <p:cNvSpPr>
            <a:spLocks xmlns:a="http://schemas.openxmlformats.org/drawingml/2006/main" noGrp="1"/>
          </p:cNvSpPr>
          <p:nvPr/>
        </p:nvSpPr>
        <p:spPr>
          <a:xfrm xmlns:a="http://schemas.openxmlformats.org/drawingml/2006/main">
            <a:off x="9652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Use training and</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selection-validation data.</a:t>
            </a:r>
          </a:p>
        </p:txBody>
      </p:sp>
      <p:sp>
        <p:nvSpPr>
          <p:cNvPr id="8" name="stage-154">
            <a:extLst xmlns:a="http://schemas.openxmlformats.org/drawingml/2006/main">
              <a:ext uri="{FF2B5EF4-FFF2-40B4-BE49-F238E27FC236}">
                <a16:creationId xmlns:a16="http://schemas.microsoft.com/office/drawing/2014/main" id="{ABCF5105-DCAF-401C-BFD2-1B808BEE2E53}"/>
              </a:ext>
            </a:extLst>
          </p:cNvPr>
          <p:cNvSpPr>
            <a:spLocks xmlns:a="http://schemas.openxmlformats.org/drawingml/2006/main" noGrp="1"/>
          </p:cNvSpPr>
          <p:nvPr/>
        </p:nvSpPr>
        <p:spPr>
          <a:xfrm xmlns:a="http://schemas.openxmlformats.org/drawingml/2006/main">
            <a:off x="5676900" y="3429000"/>
            <a:ext cx="3873500" cy="19685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155">
            <a:extLst xmlns:a="http://schemas.openxmlformats.org/drawingml/2006/main">
              <a:ext uri="{FF2B5EF4-FFF2-40B4-BE49-F238E27FC236}">
                <a16:creationId xmlns:a16="http://schemas.microsoft.com/office/drawing/2014/main" id="{42EF180C-3189-4BFA-84E2-908D1F3E0F56}"/>
              </a:ext>
            </a:extLst>
          </p:cNvPr>
          <p:cNvSpPr>
            <a:spLocks xmlns:a="http://schemas.openxmlformats.org/drawingml/2006/main" noGrp="1"/>
          </p:cNvSpPr>
          <p:nvPr/>
        </p:nvSpPr>
        <p:spPr>
          <a:xfrm xmlns:a="http://schemas.openxmlformats.org/drawingml/2006/main">
            <a:off x="58801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Check independently</a:t>
            </a:r>
          </a:p>
        </p:txBody>
      </p:sp>
      <p:sp>
        <p:nvSpPr>
          <p:cNvPr id="10" name="text-156">
            <a:extLst xmlns:a="http://schemas.openxmlformats.org/drawingml/2006/main">
              <a:ext uri="{FF2B5EF4-FFF2-40B4-BE49-F238E27FC236}">
                <a16:creationId xmlns:a16="http://schemas.microsoft.com/office/drawing/2014/main" id="{14C6B4EA-166D-4129-8EA1-6DCAD4FD521E}"/>
              </a:ext>
            </a:extLst>
          </p:cNvPr>
          <p:cNvSpPr>
            <a:spLocks xmlns:a="http://schemas.openxmlformats.org/drawingml/2006/main" noGrp="1"/>
          </p:cNvSpPr>
          <p:nvPr/>
        </p:nvSpPr>
        <p:spPr>
          <a:xfrm xmlns:a="http://schemas.openxmlformats.org/drawingml/2006/main">
            <a:off x="58801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Accept within tolerance.</a:t>
            </a:r>
          </a:p>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Otherwise keep all inputs.</a:t>
            </a:r>
          </a:p>
        </p:txBody>
      </p:sp>
      <p:sp>
        <p:nvSpPr>
          <p:cNvPr id="11" name="stage-157">
            <a:extLst xmlns:a="http://schemas.openxmlformats.org/drawingml/2006/main">
              <a:ext uri="{FF2B5EF4-FFF2-40B4-BE49-F238E27FC236}">
                <a16:creationId xmlns:a16="http://schemas.microsoft.com/office/drawing/2014/main" id="{2B46B5A7-7740-4E92-B5AD-9402B2C24B5B}"/>
              </a:ext>
            </a:extLst>
          </p:cNvPr>
          <p:cNvSpPr>
            <a:spLocks xmlns:a="http://schemas.openxmlformats.org/drawingml/2006/main" noGrp="1"/>
          </p:cNvSpPr>
          <p:nvPr/>
        </p:nvSpPr>
        <p:spPr>
          <a:xfrm xmlns:a="http://schemas.openxmlformats.org/drawingml/2006/main">
            <a:off x="10604500" y="3429000"/>
            <a:ext cx="3873500" cy="1968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158">
            <a:extLst xmlns:a="http://schemas.openxmlformats.org/drawingml/2006/main">
              <a:ext uri="{FF2B5EF4-FFF2-40B4-BE49-F238E27FC236}">
                <a16:creationId xmlns:a16="http://schemas.microsoft.com/office/drawing/2014/main" id="{F83F38A3-D2EE-4840-B66F-C8DAFA4E4971}"/>
              </a:ext>
            </a:extLst>
          </p:cNvPr>
          <p:cNvSpPr>
            <a:spLocks xmlns:a="http://schemas.openxmlformats.org/drawingml/2006/main" noGrp="1"/>
          </p:cNvSpPr>
          <p:nvPr/>
        </p:nvSpPr>
        <p:spPr>
          <a:xfrm xmlns:a="http://schemas.openxmlformats.org/drawingml/2006/main">
            <a:off x="108077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Freeze and test</a:t>
            </a:r>
          </a:p>
        </p:txBody>
      </p:sp>
      <p:sp>
        <p:nvSpPr>
          <p:cNvPr id="13" name="text-159">
            <a:extLst xmlns:a="http://schemas.openxmlformats.org/drawingml/2006/main">
              <a:ext uri="{FF2B5EF4-FFF2-40B4-BE49-F238E27FC236}">
                <a16:creationId xmlns:a16="http://schemas.microsoft.com/office/drawing/2014/main" id="{583D1657-6A55-4797-B95A-69F4757FE314}"/>
              </a:ext>
            </a:extLst>
          </p:cNvPr>
          <p:cNvSpPr>
            <a:spLocks xmlns:a="http://schemas.openxmlformats.org/drawingml/2006/main" noGrp="1"/>
          </p:cNvSpPr>
          <p:nvPr/>
        </p:nvSpPr>
        <p:spPr>
          <a:xfrm xmlns:a="http://schemas.openxmlformats.org/drawingml/2006/main">
            <a:off x="108077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Refit the chosen model.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Evaluate on held-out data.</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4635500" y="4413250"/>
            <a:ext cx="1041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32" name=""/>
          <p:cNvCxnSpPr>
            <a:stCxn xmlns:a="http://schemas.openxmlformats.org/drawingml/2006/main" id="8" idx="3"/>
            <a:endCxn xmlns:a="http://schemas.openxmlformats.org/drawingml/2006/main" id="11" idx="1"/>
          </p:cNvCxnSpPr>
          <p:nvPr/>
        </p:nvCxnSpPr>
        <p:spPr>
          <a:xfrm xmlns:a="http://schemas.openxmlformats.org/drawingml/2006/main">
            <a:off x="9550400" y="4413250"/>
            <a:ext cx="1054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160">
            <a:extLst xmlns:a="http://schemas.openxmlformats.org/drawingml/2006/main">
              <a:ext uri="{FF2B5EF4-FFF2-40B4-BE49-F238E27FC236}">
                <a16:creationId xmlns:a16="http://schemas.microsoft.com/office/drawing/2014/main" id="{84EB87C3-747B-4299-9E11-5C6F504922A2}"/>
              </a:ext>
            </a:extLst>
          </p:cNvPr>
          <p:cNvSpPr>
            <a:spLocks xmlns:a="http://schemas.openxmlformats.org/drawingml/2006/main" noGrp="1"/>
          </p:cNvSpPr>
          <p:nvPr/>
        </p:nvSpPr>
        <p:spPr>
          <a:xfrm xmlns:a="http://schemas.openxmlformats.org/drawingml/2006/main">
            <a:off x="762000" y="5943600"/>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with established feature-ranking and elimination methods.</a:t>
            </a:r>
          </a:p>
        </p:txBody>
      </p:sp>
      <p:sp>
        <p:nvSpPr>
          <p:cNvPr id="17" name="text-161">
            <a:extLst xmlns:a="http://schemas.openxmlformats.org/drawingml/2006/main">
              <a:ext uri="{FF2B5EF4-FFF2-40B4-BE49-F238E27FC236}">
                <a16:creationId xmlns:a16="http://schemas.microsoft.com/office/drawing/2014/main" id="{A110503C-B72F-4143-87FA-82154BB93A53}"/>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Judge three outcomes together: fewer inputs, prediction loss and total cost.</a:t>
            </a:r>
          </a:p>
        </p:txBody>
      </p:sp>
    </p:spTree>
    <p:extLst>
      <p:ext uri="{BB962C8B-B14F-4D97-AF65-F5344CB8AC3E}">
        <p14:creationId xmlns:p14="http://schemas.microsoft.com/office/powerpoint/2010/main" val="983977003"/>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162">
            <a:extLst xmlns:a="http://schemas.openxmlformats.org/drawingml/2006/main">
              <a:ext uri="{FF2B5EF4-FFF2-40B4-BE49-F238E27FC236}">
                <a16:creationId xmlns:a16="http://schemas.microsoft.com/office/drawing/2014/main" id="{15BFC90B-4E9A-4572-B43C-121FC089AD6B}"/>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Current evidence and what it means</a:t>
            </a:r>
          </a:p>
        </p:txBody>
      </p:sp>
      <p:sp>
        <p:nvSpPr>
          <p:cNvPr id="2" name="rule-163">
            <a:extLst xmlns:a="http://schemas.openxmlformats.org/drawingml/2006/main">
              <a:ext uri="{FF2B5EF4-FFF2-40B4-BE49-F238E27FC236}">
                <a16:creationId xmlns:a16="http://schemas.microsoft.com/office/drawing/2014/main" id="{4FB0094B-B359-4A20-B815-D87A7C8D1113}"/>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64">
            <a:extLst xmlns:a="http://schemas.openxmlformats.org/drawingml/2006/main">
              <a:ext uri="{FF2B5EF4-FFF2-40B4-BE49-F238E27FC236}">
                <a16:creationId xmlns:a16="http://schemas.microsoft.com/office/drawing/2014/main" id="{EB231D61-445C-4AE6-B7B7-946B95CEDABA}"/>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14</a:t>
            </a:r>
          </a:p>
        </p:txBody>
      </p:sp>
      <p:sp>
        <p:nvSpPr>
          <p:cNvPr id="4" name="text-165">
            <a:extLst xmlns:a="http://schemas.openxmlformats.org/drawingml/2006/main">
              <a:ext uri="{FF2B5EF4-FFF2-40B4-BE49-F238E27FC236}">
                <a16:creationId xmlns:a16="http://schemas.microsoft.com/office/drawing/2014/main" id="{80CA4E53-0222-4D07-833E-D4CDDC1D7D4C}"/>
              </a:ext>
            </a:extLst>
          </p:cNvPr>
          <p:cNvSpPr>
            <a:spLocks xmlns:a="http://schemas.openxmlformats.org/drawingml/2006/main" noGrp="1"/>
          </p:cNvSpPr>
          <p:nvPr/>
        </p:nvSpPr>
        <p:spPr>
          <a:xfrm xmlns:a="http://schemas.openxmlformats.org/drawingml/2006/main">
            <a:off x="762000" y="21590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01</a:t>
            </a:r>
          </a:p>
        </p:txBody>
      </p:sp>
      <p:sp>
        <p:nvSpPr>
          <p:cNvPr id="5" name="text-166">
            <a:extLst xmlns:a="http://schemas.openxmlformats.org/drawingml/2006/main">
              <a:ext uri="{FF2B5EF4-FFF2-40B4-BE49-F238E27FC236}">
                <a16:creationId xmlns:a16="http://schemas.microsoft.com/office/drawing/2014/main" id="{7787CF16-A610-4531-920E-3B00DA5E7AAD}"/>
              </a:ext>
            </a:extLst>
          </p:cNvPr>
          <p:cNvSpPr>
            <a:spLocks xmlns:a="http://schemas.openxmlformats.org/drawingml/2006/main" noGrp="1"/>
          </p:cNvSpPr>
          <p:nvPr/>
        </p:nvSpPr>
        <p:spPr>
          <a:xfrm xmlns:a="http://schemas.openxmlformats.org/drawingml/2006/main">
            <a:off x="1841500" y="21590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The reference audit is complete</a:t>
            </a:r>
          </a:p>
        </p:txBody>
      </p:sp>
      <p:sp>
        <p:nvSpPr>
          <p:cNvPr id="6" name="text-167">
            <a:extLst xmlns:a="http://schemas.openxmlformats.org/drawingml/2006/main">
              <a:ext uri="{FF2B5EF4-FFF2-40B4-BE49-F238E27FC236}">
                <a16:creationId xmlns:a16="http://schemas.microsoft.com/office/drawing/2014/main" id="{3CB6041B-644D-43E1-8AF3-3A61FD884064}"/>
              </a:ext>
            </a:extLst>
          </p:cNvPr>
          <p:cNvSpPr>
            <a:spLocks xmlns:a="http://schemas.openxmlformats.org/drawingml/2006/main" noGrp="1"/>
          </p:cNvSpPr>
          <p:nvPr/>
        </p:nvSpPr>
        <p:spPr>
          <a:xfrm xmlns:a="http://schemas.openxmlformats.org/drawingml/2006/main">
            <a:off x="1841500" y="27813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Small problems provide checkable witnesses and reveal missed cases.</a:t>
            </a:r>
          </a:p>
        </p:txBody>
      </p:sp>
      <p:sp>
        <p:nvSpPr>
          <p:cNvPr id="7" name="text-168">
            <a:extLst xmlns:a="http://schemas.openxmlformats.org/drawingml/2006/main">
              <a:ext uri="{FF2B5EF4-FFF2-40B4-BE49-F238E27FC236}">
                <a16:creationId xmlns:a16="http://schemas.microsoft.com/office/drawing/2014/main" id="{D2BF26D8-E6D2-4A23-A9EE-BC3D0AFCDD19}"/>
              </a:ext>
            </a:extLst>
          </p:cNvPr>
          <p:cNvSpPr>
            <a:spLocks xmlns:a="http://schemas.openxmlformats.org/drawingml/2006/main" noGrp="1"/>
          </p:cNvSpPr>
          <p:nvPr/>
        </p:nvSpPr>
        <p:spPr>
          <a:xfrm xmlns:a="http://schemas.openxmlformats.org/drawingml/2006/main">
            <a:off x="762000" y="39751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02</a:t>
            </a:r>
          </a:p>
        </p:txBody>
      </p:sp>
      <p:sp>
        <p:nvSpPr>
          <p:cNvPr id="8" name="text-169">
            <a:extLst xmlns:a="http://schemas.openxmlformats.org/drawingml/2006/main">
              <a:ext uri="{FF2B5EF4-FFF2-40B4-BE49-F238E27FC236}">
                <a16:creationId xmlns:a16="http://schemas.microsoft.com/office/drawing/2014/main" id="{B9C80A70-D03B-420B-8DB3-2919DE4ADB16}"/>
              </a:ext>
            </a:extLst>
          </p:cNvPr>
          <p:cNvSpPr>
            <a:spLocks xmlns:a="http://schemas.openxmlformats.org/drawingml/2006/main" noGrp="1"/>
          </p:cNvSpPr>
          <p:nvPr/>
        </p:nvSpPr>
        <p:spPr>
          <a:xfrm xmlns:a="http://schemas.openxmlformats.org/drawingml/2006/main">
            <a:off x="1841500" y="39751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Guidance has no stable advantage yet</a:t>
            </a:r>
          </a:p>
        </p:txBody>
      </p:sp>
      <p:sp>
        <p:nvSpPr>
          <p:cNvPr id="9" name="text-170">
            <a:extLst xmlns:a="http://schemas.openxmlformats.org/drawingml/2006/main">
              <a:ext uri="{FF2B5EF4-FFF2-40B4-BE49-F238E27FC236}">
                <a16:creationId xmlns:a16="http://schemas.microsoft.com/office/drawing/2014/main" id="{4AFCB37C-571F-4A36-A1EE-177130E0DB64}"/>
              </a:ext>
            </a:extLst>
          </p:cNvPr>
          <p:cNvSpPr>
            <a:spLocks xmlns:a="http://schemas.openxmlformats.org/drawingml/2006/main" noGrp="1"/>
          </p:cNvSpPr>
          <p:nvPr/>
        </p:nvSpPr>
        <p:spPr>
          <a:xfrm xmlns:a="http://schemas.openxmlformats.org/drawingml/2006/main">
            <a:off x="1841500" y="45974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Training associations do not consistently point toward failure contexts.</a:t>
            </a:r>
          </a:p>
        </p:txBody>
      </p:sp>
      <p:sp>
        <p:nvSpPr>
          <p:cNvPr id="10" name="text-171">
            <a:extLst xmlns:a="http://schemas.openxmlformats.org/drawingml/2006/main">
              <a:ext uri="{FF2B5EF4-FFF2-40B4-BE49-F238E27FC236}">
                <a16:creationId xmlns:a16="http://schemas.microsoft.com/office/drawing/2014/main" id="{AAF0F94A-C750-4013-A4B6-9DB191842D89}"/>
              </a:ext>
            </a:extLst>
          </p:cNvPr>
          <p:cNvSpPr>
            <a:spLocks xmlns:a="http://schemas.openxmlformats.org/drawingml/2006/main" noGrp="1"/>
          </p:cNvSpPr>
          <p:nvPr/>
        </p:nvSpPr>
        <p:spPr>
          <a:xfrm xmlns:a="http://schemas.openxmlformats.org/drawingml/2006/main">
            <a:off x="762000" y="57912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03</a:t>
            </a:r>
          </a:p>
        </p:txBody>
      </p:sp>
      <p:sp>
        <p:nvSpPr>
          <p:cNvPr id="11" name="text-172">
            <a:extLst xmlns:a="http://schemas.openxmlformats.org/drawingml/2006/main">
              <a:ext uri="{FF2B5EF4-FFF2-40B4-BE49-F238E27FC236}">
                <a16:creationId xmlns:a16="http://schemas.microsoft.com/office/drawing/2014/main" id="{C53E6BE3-91C8-4851-A63F-D04B04B5DBF1}"/>
              </a:ext>
            </a:extLst>
          </p:cNvPr>
          <p:cNvSpPr>
            <a:spLocks xmlns:a="http://schemas.openxmlformats.org/drawingml/2006/main" noGrp="1"/>
          </p:cNvSpPr>
          <p:nvPr/>
        </p:nvSpPr>
        <p:spPr>
          <a:xfrm xmlns:a="http://schemas.openxmlformats.org/drawingml/2006/main">
            <a:off x="1841500" y="57912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Practical deletion value is still open</a:t>
            </a:r>
          </a:p>
        </p:txBody>
      </p:sp>
      <p:sp>
        <p:nvSpPr>
          <p:cNvPr id="12" name="text-173">
            <a:extLst xmlns:a="http://schemas.openxmlformats.org/drawingml/2006/main">
              <a:ext uri="{FF2B5EF4-FFF2-40B4-BE49-F238E27FC236}">
                <a16:creationId xmlns:a16="http://schemas.microsoft.com/office/drawing/2014/main" id="{F6C78026-88A8-4F7C-9EF9-5DDA2A0EDBF7}"/>
              </a:ext>
            </a:extLst>
          </p:cNvPr>
          <p:cNvSpPr>
            <a:spLocks xmlns:a="http://schemas.openxmlformats.org/drawingml/2006/main" noGrp="1"/>
          </p:cNvSpPr>
          <p:nvPr/>
        </p:nvSpPr>
        <p:spPr>
          <a:xfrm xmlns:a="http://schemas.openxmlformats.org/drawingml/2006/main">
            <a:off x="1841500" y="64135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Controlled mechanisms and independent removal tests are the next evidence.</a:t>
            </a:r>
          </a:p>
        </p:txBody>
      </p:sp>
    </p:spTree>
    <p:extLst>
      <p:ext uri="{BB962C8B-B14F-4D97-AF65-F5344CB8AC3E}">
        <p14:creationId xmlns:p14="http://schemas.microsoft.com/office/powerpoint/2010/main" val="1167209545"/>
      </p:ext>
    </p:extLst>
  </p:cSld>
</p:sld>
</file>

<file path=ppt/slides/slide15.xml><?xml version="1.0" encoding="utf-8"?>
<p:sld xmlns:p="http://schemas.openxmlformats.org/presentationml/2006/main">
  <p:cSld>
    <p:bg>
      <p:bgPr>
        <a:solidFill xmlns:a="http://schemas.openxmlformats.org/drawingml/2006/main">
          <a:srgbClr val="0B2033"/>
        </a:solidFill>
      </p:bgPr>
    </p:bg>
    <p:spTree>
      <p:nvGrpSpPr>
        <p:cNvPr id="1" name=""/>
        <p:cNvGrpSpPr/>
        <p:nvPr/>
      </p:nvGrpSpPr>
      <p:grpSpPr>
        <a:xfrm xmlns:a="http://schemas.openxmlformats.org/drawingml/2006/main"/>
      </p:grpSpPr>
      <p:sp>
        <p:nvSpPr>
          <p:cNvPr id="8" name="text-174">
            <a:extLst xmlns:a="http://schemas.openxmlformats.org/drawingml/2006/main">
              <a:ext uri="{FF2B5EF4-FFF2-40B4-BE49-F238E27FC236}">
                <a16:creationId xmlns:a16="http://schemas.microsoft.com/office/drawing/2014/main" id="{F14001F8-57D1-4F5C-B392-623FB80E4943}"/>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Expected contribution</a:t>
            </a:r>
          </a:p>
        </p:txBody>
      </p:sp>
      <p:sp>
        <p:nvSpPr>
          <p:cNvPr id="2" name="rule-175">
            <a:extLst xmlns:a="http://schemas.openxmlformats.org/drawingml/2006/main">
              <a:ext uri="{FF2B5EF4-FFF2-40B4-BE49-F238E27FC236}">
                <a16:creationId xmlns:a16="http://schemas.microsoft.com/office/drawing/2014/main" id="{43AAAAF9-2075-44DE-80D9-353F0A634069}"/>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75D0C9"/>
            </a:solidFill>
          </a:ln>
        </p:spPr>
      </p:sp>
      <p:sp>
        <p:nvSpPr>
          <p:cNvPr id="3" name="text-176">
            <a:extLst xmlns:a="http://schemas.openxmlformats.org/drawingml/2006/main">
              <a:ext uri="{FF2B5EF4-FFF2-40B4-BE49-F238E27FC236}">
                <a16:creationId xmlns:a16="http://schemas.microsoft.com/office/drawing/2014/main" id="{9327AD17-61D5-497D-89DC-8D354622F3A6}"/>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75D0C9"/>
                </a:solidFill>
                <a:latin typeface="Arial"/>
                <a:ea typeface="Arial"/>
                <a:cs typeface="Arial"/>
              </a:defRPr>
            </a:pPr>
            <a:r>
              <a:rPr sz="1600" b="0">
                <a:solidFill>
                  <a:srgbClr val="75D0C9"/>
                </a:solidFill>
                <a:latin typeface="Arial"/>
                <a:ea typeface="Arial"/>
                <a:cs typeface="Arial"/>
              </a:rPr>
              <a:t>15</a:t>
            </a:r>
          </a:p>
        </p:txBody>
      </p:sp>
      <p:sp>
        <p:nvSpPr>
          <p:cNvPr id="4" name="text-177">
            <a:extLst xmlns:a="http://schemas.openxmlformats.org/drawingml/2006/main">
              <a:ext uri="{FF2B5EF4-FFF2-40B4-BE49-F238E27FC236}">
                <a16:creationId xmlns:a16="http://schemas.microsoft.com/office/drawing/2014/main" id="{4B5D8911-9EB8-4306-A92B-CD95D4A26DD4}"/>
              </a:ext>
            </a:extLst>
          </p:cNvPr>
          <p:cNvSpPr>
            <a:spLocks xmlns:a="http://schemas.openxmlformats.org/drawingml/2006/main" noGrp="1"/>
          </p:cNvSpPr>
          <p:nvPr/>
        </p:nvSpPr>
        <p:spPr>
          <a:xfrm xmlns:a="http://schemas.openxmlformats.org/drawingml/2006/main">
            <a:off x="762000" y="2159000"/>
            <a:ext cx="13716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A feature-selection decision</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with evidence that can be inspected.</a:t>
            </a:r>
          </a:p>
        </p:txBody>
      </p:sp>
      <p:sp>
        <p:nvSpPr>
          <p:cNvPr id="5" name="text-178">
            <a:extLst xmlns:a="http://schemas.openxmlformats.org/drawingml/2006/main">
              <a:ext uri="{FF2B5EF4-FFF2-40B4-BE49-F238E27FC236}">
                <a16:creationId xmlns:a16="http://schemas.microsoft.com/office/drawing/2014/main" id="{6E62CF7E-0B1A-4BE9-BE4F-EB427904F926}"/>
              </a:ext>
            </a:extLst>
          </p:cNvPr>
          <p:cNvSpPr>
            <a:spLocks xmlns:a="http://schemas.openxmlformats.org/drawingml/2006/main" noGrp="1"/>
          </p:cNvSpPr>
          <p:nvPr/>
        </p:nvSpPr>
        <p:spPr>
          <a:xfrm xmlns:a="http://schemas.openxmlformats.org/drawingml/2006/main">
            <a:off x="762000" y="4356100"/>
            <a:ext cx="13716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 concrete failure context explains what happened.</a:t>
            </a:r>
          </a:p>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An exact reference shows what the search missed.</a:t>
            </a:r>
          </a:p>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An independent test shows whether removal is worthwhile.</a:t>
            </a:r>
          </a:p>
        </p:txBody>
      </p:sp>
      <p:sp>
        <p:nvSpPr>
          <p:cNvPr id="6" name="rule-179">
            <a:extLst xmlns:a="http://schemas.openxmlformats.org/drawingml/2006/main">
              <a:ext uri="{FF2B5EF4-FFF2-40B4-BE49-F238E27FC236}">
                <a16:creationId xmlns:a16="http://schemas.microsoft.com/office/drawing/2014/main" id="{B9C1454B-7A9B-47E2-9F93-F3A19593759D}"/>
              </a:ext>
            </a:extLst>
          </p:cNvPr>
          <p:cNvSpPr>
            <a:spLocks xmlns:a="http://schemas.openxmlformats.org/drawingml/2006/main" noGrp="1"/>
          </p:cNvSpPr>
          <p:nvPr/>
        </p:nvSpPr>
        <p:spPr>
          <a:xfrm xmlns:a="http://schemas.openxmlformats.org/drawingml/2006/main">
            <a:off x="762000" y="7023100"/>
            <a:ext cx="13716000" cy="0"/>
          </a:xfrm>
          <a:prstGeom xmlns:a="http://schemas.openxmlformats.org/drawingml/2006/main" prst="line">
            <a:avLst/>
          </a:prstGeom>
          <a:noFill xmlns:a="http://schemas.openxmlformats.org/drawingml/2006/main"/>
          <a:ln xmlns:a="http://schemas.openxmlformats.org/drawingml/2006/main" w="12700">
            <a:solidFill>
              <a:srgbClr val="496174"/>
            </a:solidFill>
          </a:ln>
        </p:spPr>
      </p:sp>
      <p:sp>
        <p:nvSpPr>
          <p:cNvPr id="7" name="text-180">
            <a:extLst xmlns:a="http://schemas.openxmlformats.org/drawingml/2006/main">
              <a:ext uri="{FF2B5EF4-FFF2-40B4-BE49-F238E27FC236}">
                <a16:creationId xmlns:a16="http://schemas.microsoft.com/office/drawing/2014/main" id="{B36CD701-498E-4F90-AC19-D3CD903B560F}"/>
              </a:ext>
            </a:extLst>
          </p:cNvPr>
          <p:cNvSpPr>
            <a:spLocks xmlns:a="http://schemas.openxmlformats.org/drawingml/2006/main" noGrp="1"/>
          </p:cNvSpPr>
          <p:nvPr/>
        </p:nvSpPr>
        <p:spPr>
          <a:xfrm xmlns:a="http://schemas.openxmlformats.org/drawingml/2006/main">
            <a:off x="762000" y="7340600"/>
            <a:ext cx="137160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0">
                <a:solidFill>
                  <a:srgbClr val="FFFFFF"/>
                </a:solidFill>
                <a:latin typeface="Arial"/>
                <a:ea typeface="Arial"/>
                <a:cs typeface="Arial"/>
              </a:defRPr>
            </a:pPr>
            <a:r>
              <a:rPr sz="2500" b="0">
                <a:solidFill>
                  <a:srgbClr val="FFFFFF"/>
                </a:solidFill>
                <a:latin typeface="Arial"/>
                <a:ea typeface="Arial"/>
                <a:cs typeface="Arial"/>
              </a:rPr>
              <a:t>Next: controlled mechanisms, then independent deletion evaluation.</a:t>
            </a:r>
          </a:p>
        </p:txBody>
      </p:sp>
    </p:spTree>
    <p:extLst>
      <p:ext uri="{BB962C8B-B14F-4D97-AF65-F5344CB8AC3E}">
        <p14:creationId xmlns:p14="http://schemas.microsoft.com/office/powerpoint/2010/main" val="1122026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2026-09-30T08:20:55.7890000Z</dcterms:created>
  <dcterms:modified xsi:type="dcterms:W3CDTF">2026-09-30T08:20:55.7900000Z</dcterms:modified>
</coreProperties>
</file>