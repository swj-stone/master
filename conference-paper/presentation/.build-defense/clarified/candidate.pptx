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80418a23134d08" /><Relationship Type="http://schemas.openxmlformats.org/officeDocument/2006/relationships/extended-properties" Target="/docProps/app.xml" Id="Rc92b07d5e5e649f4" /><Relationship Type="http://schemas.openxmlformats.org/officeDocument/2006/relationships/officeDocument" Target="/ppt/presentation.xml" Id="R0a8e2169193a48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1a4b4a56e34af7"/>
  </p:sldMasterIdLst>
  <p:notesMasterIdLst>
    <p:notesMasterId xmlns:r="http://schemas.openxmlformats.org/officeDocument/2006/relationships" r:id="Rd4077f0ead1747b3"/>
  </p:notesMasterIdLst>
  <p:sldIdLst>
    <p:sldId xmlns:r="http://schemas.openxmlformats.org/officeDocument/2006/relationships" id="256" r:id="R8c8518b19b314cb1"/>
    <p:sldId xmlns:r="http://schemas.openxmlformats.org/officeDocument/2006/relationships" id="257" r:id="R2e14fac5ee934cc2"/>
    <p:sldId xmlns:r="http://schemas.openxmlformats.org/officeDocument/2006/relationships" id="258" r:id="R04cb968534a84954"/>
    <p:sldId xmlns:r="http://schemas.openxmlformats.org/officeDocument/2006/relationships" id="259" r:id="Rb2c4e14740f3407f"/>
    <p:sldId xmlns:r="http://schemas.openxmlformats.org/officeDocument/2006/relationships" id="260" r:id="R628ccfd65eb34ddb"/>
    <p:sldId xmlns:r="http://schemas.openxmlformats.org/officeDocument/2006/relationships" id="261" r:id="R7ed397e52d3041e5"/>
    <p:sldId xmlns:r="http://schemas.openxmlformats.org/officeDocument/2006/relationships" id="262" r:id="R949534bd59c84ea1"/>
    <p:sldId xmlns:r="http://schemas.openxmlformats.org/officeDocument/2006/relationships" id="263" r:id="Rd7636ce6e9ff498e"/>
    <p:sldId xmlns:r="http://schemas.openxmlformats.org/officeDocument/2006/relationships" id="264" r:id="R115bdc9c582441b9"/>
    <p:sldId xmlns:r="http://schemas.openxmlformats.org/officeDocument/2006/relationships" id="265" r:id="R4ab833893ddf45bb"/>
    <p:sldId xmlns:r="http://schemas.openxmlformats.org/officeDocument/2006/relationships" id="266" r:id="R3b669cc373514c79"/>
    <p:sldId xmlns:r="http://schemas.openxmlformats.org/officeDocument/2006/relationships" id="267" r:id="Rf53abb23599c4c08"/>
    <p:sldId xmlns:r="http://schemas.openxmlformats.org/officeDocument/2006/relationships" id="268" r:id="Rb689955e8d9b444f"/>
    <p:sldId xmlns:r="http://schemas.openxmlformats.org/officeDocument/2006/relationships" id="269" r:id="R8e180b426f104499"/>
    <p:sldId xmlns:r="http://schemas.openxmlformats.org/officeDocument/2006/relationships" id="270" r:id="R7fd8df857e354069"/>
    <p:sldId xmlns:r="http://schemas.openxmlformats.org/officeDocument/2006/relationships" id="271" r:id="R868159092ed44426"/>
    <p:sldId xmlns:r="http://schemas.openxmlformats.org/officeDocument/2006/relationships" id="272" r:id="R86006d9e17ad4b3d"/>
    <p:sldId xmlns:r="http://schemas.openxmlformats.org/officeDocument/2006/relationships" id="273" r:id="R14f398c6e9dc4b3e"/>
    <p:sldId xmlns:r="http://schemas.openxmlformats.org/officeDocument/2006/relationships" id="274" r:id="R09be55e9da844e3c"/>
    <p:sldId xmlns:r="http://schemas.openxmlformats.org/officeDocument/2006/relationships" id="275" r:id="R8931875be235435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18d170125f426a" /><Relationship Type="http://schemas.openxmlformats.org/officeDocument/2006/relationships/slideMaster" Target="/ppt/slideMasters/slideMaster1.xml" Id="R221a4b4a56e34af7" /><Relationship Type="http://schemas.openxmlformats.org/officeDocument/2006/relationships/notesMaster" Target="/ppt/notesMasters/notesMaster1.xml" Id="Rd4077f0ead1747b3" /><Relationship Type="http://schemas.openxmlformats.org/officeDocument/2006/relationships/presProps" Target="/ppt/presProps.xml" Id="Rfec2a2f5b40647c0" /><Relationship Type="http://schemas.openxmlformats.org/officeDocument/2006/relationships/tableStyles" Target="/ppt/tableStyles.xml" Id="R279234ca95fc4bc0" /><Relationship Type="http://schemas.openxmlformats.org/officeDocument/2006/relationships/slide" Target="/ppt/slides/slide1.xml" Id="R8c8518b19b314cb1" /><Relationship Type="http://schemas.openxmlformats.org/officeDocument/2006/relationships/slide" Target="/ppt/slides/slide2.xml" Id="R2e14fac5ee934cc2" /><Relationship Type="http://schemas.openxmlformats.org/officeDocument/2006/relationships/slide" Target="/ppt/slides/slide3.xml" Id="R04cb968534a84954" /><Relationship Type="http://schemas.openxmlformats.org/officeDocument/2006/relationships/slide" Target="/ppt/slides/slide4.xml" Id="Rb2c4e14740f3407f" /><Relationship Type="http://schemas.openxmlformats.org/officeDocument/2006/relationships/slide" Target="/ppt/slides/slide5.xml" Id="R628ccfd65eb34ddb" /><Relationship Type="http://schemas.openxmlformats.org/officeDocument/2006/relationships/slide" Target="/ppt/slides/slide6.xml" Id="R7ed397e52d3041e5" /><Relationship Type="http://schemas.openxmlformats.org/officeDocument/2006/relationships/slide" Target="/ppt/slides/slide7.xml" Id="R949534bd59c84ea1" /><Relationship Type="http://schemas.openxmlformats.org/officeDocument/2006/relationships/slide" Target="/ppt/slides/slide8.xml" Id="Rd7636ce6e9ff498e" /><Relationship Type="http://schemas.openxmlformats.org/officeDocument/2006/relationships/slide" Target="/ppt/slides/slide9.xml" Id="R115bdc9c582441b9" /><Relationship Type="http://schemas.openxmlformats.org/officeDocument/2006/relationships/slide" Target="/ppt/slides/slide10.xml" Id="R4ab833893ddf45bb" /><Relationship Type="http://schemas.openxmlformats.org/officeDocument/2006/relationships/slide" Target="/ppt/slides/slide11.xml" Id="R3b669cc373514c79" /><Relationship Type="http://schemas.openxmlformats.org/officeDocument/2006/relationships/slide" Target="/ppt/slides/slide12.xml" Id="Rf53abb23599c4c08" /><Relationship Type="http://schemas.openxmlformats.org/officeDocument/2006/relationships/slide" Target="/ppt/slides/slide13.xml" Id="Rb689955e8d9b444f" /><Relationship Type="http://schemas.openxmlformats.org/officeDocument/2006/relationships/slide" Target="/ppt/slides/slide14.xml" Id="R8e180b426f104499" /><Relationship Type="http://schemas.openxmlformats.org/officeDocument/2006/relationships/slide" Target="/ppt/slides/slide15.xml" Id="R7fd8df857e354069" /><Relationship Type="http://schemas.openxmlformats.org/officeDocument/2006/relationships/slide" Target="/ppt/slides/slide16.xml" Id="R868159092ed44426" /><Relationship Type="http://schemas.openxmlformats.org/officeDocument/2006/relationships/slide" Target="/ppt/slides/slide17.xml" Id="R86006d9e17ad4b3d" /><Relationship Type="http://schemas.openxmlformats.org/officeDocument/2006/relationships/slide" Target="/ppt/slides/slide18.xml" Id="R14f398c6e9dc4b3e" /><Relationship Type="http://schemas.openxmlformats.org/officeDocument/2006/relationships/slide" Target="/ppt/slides/slide19.xml" Id="R09be55e9da844e3c" /><Relationship Type="http://schemas.openxmlformats.org/officeDocument/2006/relationships/slide" Target="/ppt/slides/slide20.xml" Id="R8931875be23543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1178e89a1f47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a821d481ef4a42" /><Relationship Type="http://schemas.openxmlformats.org/officeDocument/2006/relationships/notesMaster" Target="/ppt/notesMasters/notesMaster1.xml" Id="Rec1bd2916a7b4a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2a55b5ad13460d" /><Relationship Type="http://schemas.openxmlformats.org/officeDocument/2006/relationships/notesMaster" Target="/ppt/notesMasters/notesMaster1.xml" Id="R49070ce14c094d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a679bfc7354839" /><Relationship Type="http://schemas.openxmlformats.org/officeDocument/2006/relationships/notesMaster" Target="/ppt/notesMasters/notesMaster1.xml" Id="Rb96f824249534b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46a77c319c41e3" /><Relationship Type="http://schemas.openxmlformats.org/officeDocument/2006/relationships/notesMaster" Target="/ppt/notesMasters/notesMaster1.xml" Id="R6407943293c44b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5588fc80e14f44" /><Relationship Type="http://schemas.openxmlformats.org/officeDocument/2006/relationships/notesMaster" Target="/ppt/notesMasters/notesMaster1.xml" Id="Rca09ee232eef47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efefc2bbce45ef" /><Relationship Type="http://schemas.openxmlformats.org/officeDocument/2006/relationships/notesMaster" Target="/ppt/notesMasters/notesMaster1.xml" Id="Rc69d8de90a1c40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235be21dc14dfb" /><Relationship Type="http://schemas.openxmlformats.org/officeDocument/2006/relationships/notesMaster" Target="/ppt/notesMasters/notesMaster1.xml" Id="Rb443e4822e5d4f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196a6c2232414f" /><Relationship Type="http://schemas.openxmlformats.org/officeDocument/2006/relationships/notesMaster" Target="/ppt/notesMasters/notesMaster1.xml" Id="R132c66cab51346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386806eeba4ad2" /><Relationship Type="http://schemas.openxmlformats.org/officeDocument/2006/relationships/notesMaster" Target="/ppt/notesMasters/notesMaster1.xml" Id="R15951d3edf3b40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08484e3a984fd7" /><Relationship Type="http://schemas.openxmlformats.org/officeDocument/2006/relationships/notesMaster" Target="/ppt/notesMasters/notesMaster1.xml" Id="R83616995b60840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bb7dcf36a44d2b" /><Relationship Type="http://schemas.openxmlformats.org/officeDocument/2006/relationships/notesMaster" Target="/ppt/notesMasters/notesMaster1.xml" Id="Re8b014284a0547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8ee3d3fdd64c54" /><Relationship Type="http://schemas.openxmlformats.org/officeDocument/2006/relationships/notesMaster" Target="/ppt/notesMasters/notesMaster1.xml" Id="Rc8cb1fbff03b48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52e2c9865743d5" /><Relationship Type="http://schemas.openxmlformats.org/officeDocument/2006/relationships/notesMaster" Target="/ppt/notesMasters/notesMaster1.xml" Id="R5428cf251e9340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60dd40538e4652" /><Relationship Type="http://schemas.openxmlformats.org/officeDocument/2006/relationships/notesMaster" Target="/ppt/notesMasters/notesMaster1.xml" Id="R7a9d121a9ccb42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a9ceb8c0634493" /><Relationship Type="http://schemas.openxmlformats.org/officeDocument/2006/relationships/notesMaster" Target="/ppt/notesMasters/notesMaster1.xml" Id="Rbd1e760a4a924b4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3354bec2f7469a" /><Relationship Type="http://schemas.openxmlformats.org/officeDocument/2006/relationships/notesMaster" Target="/ppt/notesMasters/notesMaster1.xml" Id="R73ce739814ef42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3430612e2a4554" /><Relationship Type="http://schemas.openxmlformats.org/officeDocument/2006/relationships/notesMaster" Target="/ppt/notesMasters/notesMaster1.xml" Id="R960f3d2ffcbf42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89752003c148f1" /><Relationship Type="http://schemas.openxmlformats.org/officeDocument/2006/relationships/notesMaster" Target="/ppt/notesMasters/notesMaster1.xml" Id="R43e28ce3caad41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27ab85aa2894d5d" /><Relationship Type="http://schemas.openxmlformats.org/officeDocument/2006/relationships/notesMaster" Target="/ppt/notesMasters/notesMaster1.xml" Id="R38d62214a8f04be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4b11372a57a4386" /><Relationship Type="http://schemas.openxmlformats.org/officeDocument/2006/relationships/notesMaster" Target="/ppt/notesMasters/notesMaster1.xml" Id="Rbbc57c800e614f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25 秒。研究主题是 MinPPI：在给定模型、数据划分和效用门槛下寻找特征的上下文有害证据，并研究它能否支持特征选择。本次重点讲研究意义、理论和实验设计，实验结果仍在优化，不把阶段性观察当作最终优势。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</a:t>
            </a:r>
          </a:p>
          <a:p xmlns:a="http://schemas.openxmlformats.org/drawingml/2006/main">
            <a:r>
              <a:t>C:/work/学校/A.SPBU/paper/ZhaoCHI/Paper/Master-mr2/MAJOR_REVISION_WORKPLAN.md</a:t>
            </a:r>
          </a:p>
          <a:p xmlns:a="http://schemas.openxmlformats.org/drawingml/2006/main">
            <a:r>
              <a:t>Original presentation PDF, slide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40 秒。先解释为什么“多一个特征”不一定更好：我们讨论的是有限数据和固定学习算法下，重新拟合不同子集的实际表现。平均重要性会概括许多上下文，而研究希望保留一个可具体复查的失败上下文。实际意义是为压缩、后续模型维护提供证据，但是否降低成本或改善预测需要单独实验。这里并不声称相关变量都必须删除，也不把负 SHAP 当成有害标签。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§1–3</a:t>
            </a:r>
          </a:p>
          <a:p xmlns:a="http://schemas.openxmlformats.org/drawingml/2006/main">
            <a:r>
              <a:t>C:/work/学校/A.SPBU/paper/ZhaoCHI/Paper/Master/conference-paper/paper/icomp2026_conference.tex 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35 秒。项目的目标分为三个可检验的问题。第一，有限预算能找全多少有害见证；第二，删除策略在统一容忍度下是否值得；第三，给出的证据能否复查、代价是否透明。这三个问题互相联系，但第一个见证成立并不能直接推出联合删除安全。预期产出是配额条件下的审计方法、精确参照评价以及独立的删除决策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§1.1–1.3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这一页区分三个层次：预测任务、特征表示和子集搜索。六个数据集的当前任务始终属于监督学习，分类与回归都是其中的任务类型。PCA通常是不使用目标标签的变换，但这里是已提供的输入表示；NSGA-II和MinPPI的搜索也不是强化学习。同一个方法比较必须固定目标、划分、预处理规则、学习器配置、指标和配额，只按协议改变子集并重新训练。改变任务会改变效用与有害标签，必须重新开展实验，不能复用旧结果。我们手里有成对的输入 X 和标签 y，模型根据已知标签学习映射，所以六个任务都是监督学习。特征是作为预测输入的一列，不是一个样本，也不是目标标签。以邮件为例，每一行是一封邮件，free 的词频、感叹号频率是输入列，是否垃圾邮件是目标。MinPPI 中的参与者就是当前表示的一列，联盟是一组列。每选一个联盟，都用相同的监督学习模型重新训练，再通过验证标签计算效用。数据集可以被用于其他研究，但当前项目并未执行无监督聚类或强化学习。PCA 是部分数据的表示来源，也不会改变这里的监督分类任务。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C:/work/学校/A.SPBU/paper/ZhaoCHI/Paper/Master/configs/spambase.yaml</a:t>
            </a:r>
          </a:p>
          <a:p xmlns:a="http://schemas.openxmlformats.org/drawingml/2006/main">
            <a:r>
              <a:t>C:/work/学校/A.SPBU/paper/ZhaoCHI/Paper/Master/experiments/preprocess_data/preprocess_Spambase.py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40 秒。按用途介绍理论，不逐个念名词。合作博弈把特征看作参与者。Shapley 和 Banzhaf 的经典思想是平均边际贡献，而本研究问是否存在负向阈值翻转。最小聚合已有 MinShap 等直接前驱，因此不把 min 本身宣称为首创。本文将其特化为固定效用配额的二值博弈。概率论说明发现能力受见证概率限制；多目标优化用于后续的压缩与效用权衡。SHAP 对模型预测的归因与重新训练后的效用博弈需要区分。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§2–3</a:t>
            </a:r>
          </a:p>
          <a:p xmlns:a="http://schemas.openxmlformats.org/drawingml/2006/main">
            <a:r>
              <a:t>Shapley (1953), A Value for n-Person Games; Banzhaf (1965), Weighted Voting Doesn’t Work: A Mathematical Analysis.</a:t>
            </a:r>
          </a:p>
          <a:p xmlns:a="http://schemas.openxmlformats.org/drawingml/2006/main">
            <a:r>
              <a:t>Zheng &amp; Raskutti (2026), MinShap: https://arxiv.org/abs/2604.15107</a:t>
            </a:r>
          </a:p>
          <a:p xmlns:a="http://schemas.openxmlformats.org/drawingml/2006/main">
            <a:r>
              <a:t>Lundberg &amp; Lee (2017), SHAP: https://arxiv.org/abs/1705.07874</a:t>
            </a:r>
          </a:p>
          <a:p xmlns:a="http://schemas.openxmlformats.org/drawingml/2006/main">
            <a:r>
              <a:t>Deb et al. (2002), NSGA-II: https://doi.org/10.1109/4235.996017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秒。本页数字仅为教学示例。假设完整特征效用为 0.90，配额为它的 95%，即 0.855。集合 S 的效用 0.87 达标，加上 i 后效用 0.84 不达标，二元边际就是负一。保存特征集合、两侧模型效用和配额就能复查这次负翻转。注意，见证只说明在 S 这个上下文中出现过问题，并没有直接评价从完整集合删除 i 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All numerical utilities on this slide are explicitly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50 秒。固定数据划分、预处理、学习器、随机种子、效用和配额，才得到本研究讨论的一个固定博弈。这里 U 是验证集上的表现，训练仍只使用训练集。二元博弈可非单调，所以增加特征可能从达标变成不达标。三个值是精确枚举下的定义，0 并不意味着没有预测价值；+1 要求所有上下文都是正向决定，是非常强的条件。MinSS 与 MinBz 的最小值相同，因为各目标排除子集都能作为某种排列的前驱集合，这不意味着经典加权指数相同。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C:/work/学校/A.SPBU/paper/ZhaoCHI/Paper/Master/conference-paper/paper/icomp2026_conference.tex Method / Proposition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秒。算法 A 并不是对所有子集等概率，而是先等概率抽集合大小，再在该大小内等概率抽子集。算法 B 只使用训练侧的互信息和相关结构，不使用精确标签来指导寻找。采样最小值不低于真实最小值，所以负一一旦出现就有证据，但没有出现负一可能只是漏检。最新协议用总边际查询预算统一 A/B，找到了见证的特征会退出轮转。引导是否更好要看数据，不由理论公式自动保证。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§4.4–4.6</a:t>
            </a:r>
          </a:p>
          <a:p xmlns:a="http://schemas.openxmlformats.org/drawingml/2006/main">
            <a:r>
              <a:t>C:/work/学校/A.SPBU/paper/ZhaoCHI/Paper/Master-mr2/MR3_P3_FINDINGS.md §5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50 秒。数据集中有标签，使我们能够把模型预测与真实目标进行比较，从而定义每个子集的效用。四个二分类使用 ROC AUC，ISOLET 是 26 分类并使用宏平均 one-vs-rest AUC，Abalone 在项目中将 Rings 作为回归目标并用 R² 评价。Madelon 虽然是人工生成数据，仍有标签，因而是监督分类。Abalone 的 Rings 与年龄有关，但本项目直接预测环数，不把年龄另加为输入。行数是项目使用的有标签样本量，列数不含目标。较高维池还会进行训练侧 MI 预筛选到最多100列；Communities &amp; Crime 已因泄漏审计排除。AUC与R²定义不同，原始数值不能直接比较或混合平均。先在每个固定任务内比较方法，再按预定规则汇总可比较的指标。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Table: Datasets</a:t>
            </a:r>
          </a:p>
          <a:p xmlns:a="http://schemas.openxmlformats.org/drawingml/2006/main">
            <a:r>
              <a:t>C:/work/学校/A.SPBU/paper/ZhaoCHI/Paper/Master/configs/credit_card_fraud.yaml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https://archive.ics.uci.edu/dataset/170/gisette</a:t>
            </a:r>
          </a:p>
          <a:p xmlns:a="http://schemas.openxmlformats.org/drawingml/2006/main">
            <a:r>
              <a:t>https://archive.ics.uci.edu/dataset/54/isolet</a:t>
            </a:r>
          </a:p>
          <a:p xmlns:a="http://schemas.openxmlformats.org/drawingml/2006/main">
            <a:r>
              <a:t>https://archive.ics.uci.edu/dataset/1/abalone</a:t>
            </a:r>
          </a:p>
          <a:p xmlns:a="http://schemas.openxmlformats.org/drawingml/2006/main">
            <a:r>
              <a:t>https://www.kaggle.com/datasets/mlg-ulb/creditcardfraud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85 秒。详细说明三类变量。Spambase 的48维词频指某词占邮件单词数的百分比，6维字符频率和3维连续大写统计共同构成57列。目标 is_spam 不属于特征。Madelon 的5个信息维度加15个线性组合构成20个相关信息变量，另480个干扰列，总计500列。Gisette 把手写4和9图像转成数值描述，含像素及高阶乘积等衍生变量，再加入2500个干扰变量。这里的特征既可能是可解释的原始统计量，也可能是变换后的数值坐标。Madelon、Gisette 的原始变量身份并未按语义逐列公开，不能给 f_i 编造实际含义。已知生成角色也不能替代固定模型下的精确有害标签。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https://archive.ics.uci.edu/dataset/170/gisette</a:t>
            </a:r>
          </a:p>
          <a:p xmlns:a="http://schemas.openxmlformats.org/drawingml/2006/main">
            <a:r>
              <a:t>C:/work/学校/A.SPBU/paper/ZhaoCHI/Paper/Master/experiments/preprocess_data/preprocess_Spambase.py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85 秒。ISOLET 的617个数值是已经提取好的声学描述，不是原始音频波形；原始资料没有给出每列的具体语义顺序，所以只说明可核实的特征族。Fraud 是监督二分类，V1到V28是匿名PCA主成分，加上金额构成项目的29列，Time不进入本项目输入。PCA作为表示处理不意味着当前任务是无监督学习，标签 Class 仍用于训练和效用评价。PCA成分的负见证也不能直接解释成某个原始金融行为有害。Abalone 的八列全部列出，其中Sex是原始类别变量在现有数据中的数值表示，其余七列是尺寸和重量。Rings是目标，不是第九个输入。完整八维枚举提供精确参照。这些数据能用于项目的共同原因是标签、可选择的有限列集合，以及可计算的监督预测效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https://archive.ics.uci.edu/dataset/54/isolet</a:t>
            </a:r>
          </a:p>
          <a:p xmlns:a="http://schemas.openxmlformats.org/drawingml/2006/main">
            <a:r>
              <a:t>https://www.openml.org/api/v1/json/data/1597</a:t>
            </a:r>
          </a:p>
          <a:p xmlns:a="http://schemas.openxmlformats.org/drawingml/2006/main">
            <a:r>
              <a:t>https://archive-beta.ics.uci.edu/dataset/1/abalone</a:t>
            </a:r>
          </a:p>
          <a:p xmlns:a="http://schemas.openxmlformats.org/drawingml/2006/main">
            <a:r>
              <a:t>C:/work/学校/A.SPBU/paper/ZhaoCHI/Paper/Master/data/raw/abalone.csv</a:t>
            </a:r>
          </a:p>
          <a:p xmlns:a="http://schemas.openxmlformats.org/drawingml/2006/main">
            <a:r>
              <a:t>C:/work/学校/A.SPBU/paper/ZhaoCHI/Paper/Master/data/raw/credit_card_fraud.csv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秒。E1 的 35 个游戏已经完成，这是当前最直接的发现能力评价。组成是 Abalone 1 面板、其余三个数据集各 2 面板，再乘 5 个划分。每个八维游戏完整计算 256 个效用，之后 A/B 通过盲查询接口采样，不能访问完整表或精确标签。每个游戏 30 次日程重复，总上限 800 个边际查询。主终点为每次查询后的召回率平均值，也就是归一化召回面积。没有 harmful 的游戏不是失败，召回应记 NA，并保留分母。30 次日程重复也不是 30 个独立数据集。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50 秒。E2 尚未实施。真实数据很难解释哪些结构导致漏检，所以补三个受控机制。S1 是 logistic(x1+x2) 的二元任务；S2 额外加入 x3=x1+0.1e3、x4=x2+0.1e4；S3 是两变量符号的 XOR，再独立翻转 10% 的标签。每种五个固定实例，各 2,000 行八列。仍用同一模型和完整枚举，避免把生成角色当成审计真值：生成上无关不等于固定样本、模型、配额下有害。所有 15 个槽位都保留，不根据效果更换 seed。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§22.3 and §23</a:t>
            </a:r>
          </a:p>
          <a:p xmlns:a="http://schemas.openxmlformats.org/drawingml/2006/main">
            <a:r>
              <a:t>C:/work/学校/A.SPBU/paper/ZhaoCHI/Paper/Master-mr2/MR3_E2_PLAN.md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65 秒。这是应用层面最关键的改进，而且尚未完成。旧方案反复用同一验证集寻找见证和做 gate，新 E4 把验证部分分成独立的选择集与 gate。每种策略只能提交一个候选，gate 不通过就回 full，不能继续尝试直到通过。子集冻结后，统一在非测试 80% 上重新拟合模型，预处理参数仍来自原 64% train。分类允许损失 0.005 AUC，回归 0.01 raw R²。这只是预先固定的有限样本点估计规则，不等于统计上的无损或非劣保证。首批为四数据集各五划分，共 20 个八维决策游戏。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50 秒。不能只赢过随机删除就认为有实用价值，因此引入简单、可解释的强对照。MI 按互信息，TreeSHAP 按平均绝对归因，静态 LOFO 逐一去掉特征后只计算一次得分，RFE 是同一 XGBoost 上的递归特征消除。portfolio 在选择验证集上合并三种排名的可行前缀，取最大压缩，并计入三个排名的全成本。主比较预先固定为 A 对 portfolio，不能看到 B 的效果后换主比较。逐数据集报告测试效用差，不将 AUC 和 R² 的原始差值直接平均成总体结论。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§7.3–7.4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40 秒。这里NSGA-II是特征子集的进化搜索器，候选子集仍通过有标签的监督训练和验证来评价，没有引入强化学习。题目中的多目标特征选择由两个目标构成：保留特征比例和预测损失。一个解只有在至少一项更好、另一项不更差时才支配另一个解，所以最终得到多个折中解。NSGA-II 通过非支配排序和拥挤距离保持这些解的多样性。MinPPI 可在搜索前给出候选过滤，但这是次要应用。p0 必须使用过滤前相同的维数分母。旧实验的种群是 40、每个变体 800 evaluations，超体积参照点 (1.1,1.1)。相同搜索评价次数不代表同端到端耗时，重新比较前要把审计成本纳入。最新路线先完成发现和独立删除实验，再决定是否扩展搜索。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Experimental design</a:t>
            </a:r>
          </a:p>
          <a:p xmlns:a="http://schemas.openxmlformats.org/drawingml/2006/main">
            <a:r>
              <a:t>C:/work/学校/A.SPBU/paper/ZhaoCHI/Paper/Master-mr2/MAJOR_REVISION_PROTOCOL.md §7</a:t>
            </a:r>
          </a:p>
          <a:p xmlns:a="http://schemas.openxmlformats.org/drawingml/2006/main">
            <a:r>
              <a:t>Deb et al. (2002), https://doi.org/10.1109/4235.996017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40 秒。按用户要求结果简要带过。以 9 月 26 日最新台账为准：35 个游戏完整完成，其中 22 个有 harmful，13 个为空；A/B 宏平均召回面积为 0.4012/0.3718，不能宣称 B 更优。该宏平均先在同游戏平均 30 日程，再到面板、数据集，最后四数据集等权，仅有定义游戏进入召回，空游戏仍保留覆盖分母。冷缓存六次检查只表明已访问的效用及轨迹可重现，不证明稳定加速。旧六数据集结果也不建立普遍选择优势。下一步的 E2 和独立 gate/test 决策实验仍未完成。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C:/work/学校/A.SPBU/paper/ZhaoCHI/Paper/Master-mr2/MR3_P3_FINDINGS.md §1–6</a:t>
            </a:r>
          </a:p>
          <a:p xmlns:a="http://schemas.openxmlformats.org/drawingml/2006/main">
            <a:r>
              <a:t>C:/work/学校/A.SPBU/paper/ZhaoCHI/Paper/Master-mr2/MAJOR_REVISION_WORKPLAN.md Latest recovery entry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30 秒。结尾回到意义：提供一个可以复查的负向阈值翻转上下文，让特征选择的理由更具体；用精确参照衡量遗漏；再独立评价删除收益与成本。预期贡献不依赖必须证明 B 胜过 A，也不承诺通用选择优势。接下来按固定计划完成合成机制和独立决策实验。主讲至此结束，附录只在提问时使用。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 and §22</a:t>
            </a:r>
          </a:p>
          <a:p xmlns:a="http://schemas.openxmlformats.org/drawingml/2006/main">
            <a:r>
              <a:t>C:/work/学校/A.SPBU/paper/ZhaoCHI/Paper/Master-mr2/MR3_P3_FINDINGS.md Next steps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备用页。第一个结论只针对 support-level minimum，不针对经典带权平均 Shapley–Shubik 与 Banzhaf 指数。对于第二个结论，有限采样子集上的最小值大于等于全域最小值。若固定指导条件下，某个负见证每次被抽到的概率是 rho，独立 K 次至少命中它的概率为 1-(1-rho)^K，因此发现任意负见证的概率至少是这个值。若 rho=0 就没有正的发现保证。条件概率公式不保证引导 B 的 rho 高于随机 A，也不能把自适应全局轮转预算 Q 直接替代局部 IID 次数 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C:/work/学校/A.SPBU/paper/ZhaoCHI/Paper/Master-mr2/MR3_P3_FINDINGS.md §5</a:t>
            </a:r>
          </a:p>
          <a:p xmlns:a="http://schemas.openxmlformats.org/drawingml/2006/main">
            <a:r>
              <a:t>C:/work/学校/A.SPBU/paper/ZhaoCHI/Paper/Master/conference-paper/paper/icomp2026_conference.tex Proposition 1 and finite-budget estimation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备用页。正文数据集属性参考原始发布方；实验数字和状态参考当前项目文件。精确参照游戏使用 64/16/20 划分但不访问 test；计划中的决策实验为 64/8/8/20，两者不是同一个效用博弈。新审计中回归效用为 max(raw R²,0)，同时保存 raw R²，删除 gate 和测试评价使用 raw R²。全部引用和每页中文提示在备注中。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</a:t>
            </a:r>
          </a:p>
          <a:p xmlns:a="http://schemas.openxmlformats.org/drawingml/2006/main">
            <a:r>
              <a:t>C:/work/学校/A.SPBU/paper/ZhaoCHI/Paper/Master-mr2/MAJOR_REVISION_WORKPLAN.md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  <a:p xmlns:a="http://schemas.openxmlformats.org/drawingml/2006/main">
            <a:r>
              <a:t>C:/work/学校/A.SPBU/paper/ZhaoCHI/Paper/Master/conference-paper/paper/icomp2026_conference.tex</a:t>
            </a:r>
          </a:p>
          <a:p xmlns:a="http://schemas.openxmlformats.org/drawingml/2006/main">
            <a:r>
              <a:t>https://arxiv.org/abs/1705.07874</a:t>
            </a:r>
          </a:p>
          <a:p xmlns:a="http://schemas.openxmlformats.org/drawingml/2006/main">
            <a:r>
              <a:t>https://arxiv.org/abs/2604.15107</a:t>
            </a:r>
          </a:p>
          <a:p xmlns:a="http://schemas.openxmlformats.org/drawingml/2006/main">
            <a:r>
              <a:t>https://doi.org/10.1109/4235.996017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https://archive.ics.uci.edu/dataset/170/gisette</a:t>
            </a:r>
          </a:p>
          <a:p xmlns:a="http://schemas.openxmlformats.org/drawingml/2006/main">
            <a:r>
              <a:t>https://archive.ics.uci.edu/dataset/54/isolet</a:t>
            </a:r>
          </a:p>
          <a:p xmlns:a="http://schemas.openxmlformats.org/drawingml/2006/main">
            <a:r>
              <a:t>https://archive.ics.uci.edu/dataset/1/abalone</a:t>
            </a:r>
          </a:p>
          <a:p xmlns:a="http://schemas.openxmlformats.org/drawingml/2006/main">
            <a:r>
              <a:t>https://www.kaggle.com/datasets/mlg-ulb/creditcardfraud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a2ff2590a45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dd5e8ec727460e" /><Relationship Type="http://schemas.openxmlformats.org/officeDocument/2006/relationships/slideLayout" Target="/ppt/slideLayouts/slideLayout1.xml" Id="R241647b9b0544d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1647b9b0544d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f5a962eba4c04" /><Relationship Type="http://schemas.openxmlformats.org/officeDocument/2006/relationships/notesSlide" Target="/ppt/notesSlides/notesSlide1.xml" Id="Rac88903d2b3f4f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3efa818864fa8" /><Relationship Type="http://schemas.openxmlformats.org/officeDocument/2006/relationships/notesSlide" Target="/ppt/notesSlides/notesSlide2.xml" Id="Rb5f3adb5c4be40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2f5853a574fea" /><Relationship Type="http://schemas.openxmlformats.org/officeDocument/2006/relationships/notesSlide" Target="/ppt/notesSlides/notesSlide3.xml" Id="Rf634f3736a7143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a3cda12104514" /><Relationship Type="http://schemas.openxmlformats.org/officeDocument/2006/relationships/notesSlide" Target="/ppt/notesSlides/notesSlide4.xml" Id="Re7c0898877924f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204b52553454f" /><Relationship Type="http://schemas.openxmlformats.org/officeDocument/2006/relationships/notesSlide" Target="/ppt/notesSlides/notesSlide5.xml" Id="R2c61669e8b4349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3d258a71e489f" /><Relationship Type="http://schemas.openxmlformats.org/officeDocument/2006/relationships/notesSlide" Target="/ppt/notesSlides/notesSlide6.xml" Id="R355a4b177c174c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8ec99e1ab4822" /><Relationship Type="http://schemas.openxmlformats.org/officeDocument/2006/relationships/notesSlide" Target="/ppt/notesSlides/notesSlide7.xml" Id="R76e1242ea63740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90e3acd1a4348" /><Relationship Type="http://schemas.openxmlformats.org/officeDocument/2006/relationships/notesSlide" Target="/ppt/notesSlides/notesSlide8.xml" Id="R9fb8f6eb7cbc48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c4ce704e24d57" /><Relationship Type="http://schemas.openxmlformats.org/officeDocument/2006/relationships/notesSlide" Target="/ppt/notesSlides/notesSlide9.xml" Id="Rdb4b7e77373f49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6cf36a8f64121" /><Relationship Type="http://schemas.openxmlformats.org/officeDocument/2006/relationships/notesSlide" Target="/ppt/notesSlides/notesSlide10.xml" Id="R9d1db971eab04c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1a635156f4631" /><Relationship Type="http://schemas.openxmlformats.org/officeDocument/2006/relationships/notesSlide" Target="/ppt/notesSlides/notesSlide11.xml" Id="Rb990c3898af94f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823c27b0047b1" /><Relationship Type="http://schemas.openxmlformats.org/officeDocument/2006/relationships/notesSlide" Target="/ppt/notesSlides/notesSlide12.xml" Id="Re91019f8e7594a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660245c3344be" /><Relationship Type="http://schemas.openxmlformats.org/officeDocument/2006/relationships/notesSlide" Target="/ppt/notesSlides/notesSlide13.xml" Id="R4f7cf5590c2f4b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77c14705d4e64" /><Relationship Type="http://schemas.openxmlformats.org/officeDocument/2006/relationships/notesSlide" Target="/ppt/notesSlides/notesSlide14.xml" Id="Re1be7b56b70544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242d8487d4e51" /><Relationship Type="http://schemas.openxmlformats.org/officeDocument/2006/relationships/notesSlide" Target="/ppt/notesSlides/notesSlide15.xml" Id="R0b5ae5db6b404b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0838fa1474f24" /><Relationship Type="http://schemas.openxmlformats.org/officeDocument/2006/relationships/notesSlide" Target="/ppt/notesSlides/notesSlide16.xml" Id="R2ed672a8ce5443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c6879acf94808" /><Relationship Type="http://schemas.openxmlformats.org/officeDocument/2006/relationships/notesSlide" Target="/ppt/notesSlides/notesSlide17.xml" Id="R4f8533e2b2f14e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b9e7381844def" /><Relationship Type="http://schemas.openxmlformats.org/officeDocument/2006/relationships/notesSlide" Target="/ppt/notesSlides/notesSlide18.xml" Id="Re59798116a9b46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a0e06357d4d77" /><Relationship Type="http://schemas.openxmlformats.org/officeDocument/2006/relationships/notesSlide" Target="/ppt/notesSlides/notesSlide19.xml" Id="R2e89f099368446e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b0c1cf8f94097" /><Relationship Type="http://schemas.openxmlformats.org/officeDocument/2006/relationships/notesSlide" Target="/ppt/notesSlides/notesSlide20.xml" Id="Raf2dd966070941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38550A7E-FA58-44DF-809C-6A1F46AA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704CC2A-AC8E-45E4-A58C-71A6DB60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3462000" cy="123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00" b="1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7600" b="1">
                <a:solidFill>
                  <a:srgbClr val="75D0C9"/>
                </a:solidFill>
                <a:latin typeface="Arial"/>
                <a:ea typeface="Arial"/>
                <a:cs typeface="Arial"/>
              </a:rPr>
              <a:t>MinPPI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A3B5C9D-25E3-4601-A608-6BA950C4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3716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Min-Marginal Power Indices for</a:t>
            </a:r>
          </a:p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Multi-Objective Feature Selection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B151A03-CAB8-4BA8-B8B0-E6EDA1FF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38430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D2DEE4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D2DEE4"/>
                </a:solidFill>
                <a:latin typeface="Arial"/>
                <a:ea typeface="Arial"/>
                <a:cs typeface="Arial"/>
              </a:rPr>
              <a:t>Research motivation, theoretical basis and experimental design</a:t>
            </a:r>
          </a:p>
        </p:txBody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21B7F842-8BE3-4FFE-958D-94196A57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EE236FC-CD5A-43AE-8BE4-C2331BA1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6300"/>
            <a:ext cx="6731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Wenjie SHI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68D2C087-0DEF-41F3-A871-3B05D1F2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54800"/>
            <a:ext cx="91440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Saint Petersburg State University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576D135D-48CE-4229-B29F-6A596DD2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7400"/>
            <a:ext cx="11557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Applied Mathematics and Control Processes (AMCP)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C42DE2A7-17EC-4057-876A-E79C2DA1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057900"/>
            <a:ext cx="520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Supervisor: Chi ZHAO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628307FD-9537-470F-9E5D-F02FECCB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500" y="6616700"/>
            <a:ext cx="41275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Research in progress</a:t>
            </a:r>
          </a:p>
        </p:txBody>
      </p:sp>
    </p:spTree>
    <p:extLst>
      <p:ext uri="{BB962C8B-B14F-4D97-AF65-F5344CB8AC3E}">
        <p14:creationId xmlns:p14="http://schemas.microsoft.com/office/powerpoint/2010/main" val="7077499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8135C9C5-7662-477F-BD01-020CA5C4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study contextual harm?</a:t>
            </a:r>
          </a:p>
        </p:txBody>
      </p:sp>
      <p:sp>
        <p:nvSpPr>
          <p:cNvPr id="2" name="rule-12">
            <a:extLst xmlns:a="http://schemas.openxmlformats.org/drawingml/2006/main">
              <a:ext uri="{FF2B5EF4-FFF2-40B4-BE49-F238E27FC236}">
                <a16:creationId xmlns:a16="http://schemas.microsoft.com/office/drawing/2014/main" id="{814ABCC3-6F36-4624-98EE-A5808350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3">
            <a:extLst xmlns:a="http://schemas.openxmlformats.org/drawingml/2006/main">
              <a:ext uri="{FF2B5EF4-FFF2-40B4-BE49-F238E27FC236}">
                <a16:creationId xmlns:a16="http://schemas.microsoft.com/office/drawing/2014/main" id="{CBD4E3C5-3514-4D67-89F3-08B1FA74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14">
            <a:extLst xmlns:a="http://schemas.openxmlformats.org/drawingml/2006/main">
              <a:ext uri="{FF2B5EF4-FFF2-40B4-BE49-F238E27FC236}">
                <a16:creationId xmlns:a16="http://schemas.microsoft.com/office/drawing/2014/main" id="{940AFD41-844D-420B-B9E2-600D4092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13716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feature can help on average and still break</a:t>
            </a:r>
          </a:p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an acceptable model in a particular subset.</a:t>
            </a:r>
          </a:p>
        </p:txBody>
      </p:sp>
      <p:sp>
        <p:nvSpPr>
          <p:cNvPr id="5" name="rule-15">
            <a:extLst xmlns:a="http://schemas.openxmlformats.org/drawingml/2006/main">
              <a:ext uri="{FF2B5EF4-FFF2-40B4-BE49-F238E27FC236}">
                <a16:creationId xmlns:a16="http://schemas.microsoft.com/office/drawing/2014/main" id="{BF1AFA9B-4233-4BA6-A140-BB9A811D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1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6" name="text-16">
            <a:extLst xmlns:a="http://schemas.openxmlformats.org/drawingml/2006/main">
              <a:ext uri="{FF2B5EF4-FFF2-40B4-BE49-F238E27FC236}">
                <a16:creationId xmlns:a16="http://schemas.microsoft.com/office/drawing/2014/main" id="{0E831759-F716-4ABA-ACD1-FBCDB279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4200"/>
            <a:ext cx="6413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Scientific motivation</a:t>
            </a:r>
          </a:p>
        </p:txBody>
      </p:sp>
      <p:sp>
        <p:nvSpPr>
          <p:cNvPr id="7" name="text-17">
            <a:extLst xmlns:a="http://schemas.openxmlformats.org/drawingml/2006/main">
              <a:ext uri="{FF2B5EF4-FFF2-40B4-BE49-F238E27FC236}">
                <a16:creationId xmlns:a16="http://schemas.microsoft.com/office/drawing/2014/main" id="{9600A31E-D660-4F8C-9B44-25030BFB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2700"/>
            <a:ext cx="641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Redundancy, interactions and finite-sample fitting can make a variable useful in one subset and harmful in another.</a:t>
            </a:r>
          </a:p>
        </p:txBody>
      </p:sp>
      <p:sp>
        <p:nvSpPr>
          <p:cNvPr id="8" name="text-18">
            <a:extLst xmlns:a="http://schemas.openxmlformats.org/drawingml/2006/main">
              <a:ext uri="{FF2B5EF4-FFF2-40B4-BE49-F238E27FC236}">
                <a16:creationId xmlns:a16="http://schemas.microsoft.com/office/drawing/2014/main" id="{736474EC-1E08-4C8D-9434-27EEC131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94200"/>
            <a:ext cx="6286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Practical motivation</a:t>
            </a:r>
          </a:p>
        </p:txBody>
      </p:sp>
      <p:sp>
        <p:nvSpPr>
          <p:cNvPr id="9" name="text-19">
            <a:extLst xmlns:a="http://schemas.openxmlformats.org/drawingml/2006/main">
              <a:ext uri="{FF2B5EF4-FFF2-40B4-BE49-F238E27FC236}">
                <a16:creationId xmlns:a16="http://schemas.microsoft.com/office/drawing/2014/main" id="{CB35CE22-92CD-4B95-B812-36354D7A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27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Fewer input variables may reduce measurement and model cost. A checked failure context gives a concrete reason to test removal.</a:t>
            </a:r>
          </a:p>
        </p:txBody>
      </p:sp>
      <p:sp>
        <p:nvSpPr>
          <p:cNvPr id="10" name="text-20">
            <a:extLst xmlns:a="http://schemas.openxmlformats.org/drawingml/2006/main">
              <a:ext uri="{FF2B5EF4-FFF2-40B4-BE49-F238E27FC236}">
                <a16:creationId xmlns:a16="http://schemas.microsoft.com/office/drawing/2014/main" id="{0056A8DB-FD51-4D77-BB30-89659320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24700"/>
            <a:ext cx="135255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Potential value: traceable evidence for a selection decision, with utility loss checked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415168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1">
            <a:extLst xmlns:a="http://schemas.openxmlformats.org/drawingml/2006/main">
              <a:ext uri="{FF2B5EF4-FFF2-40B4-BE49-F238E27FC236}">
                <a16:creationId xmlns:a16="http://schemas.microsoft.com/office/drawing/2014/main" id="{C2A73D44-722A-4FDA-AE21-582E5E28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Research objective and questions</a:t>
            </a:r>
          </a:p>
        </p:txBody>
      </p:sp>
      <p:sp>
        <p:nvSpPr>
          <p:cNvPr id="2" name="rule-22">
            <a:extLst xmlns:a="http://schemas.openxmlformats.org/drawingml/2006/main">
              <a:ext uri="{FF2B5EF4-FFF2-40B4-BE49-F238E27FC236}">
                <a16:creationId xmlns:a16="http://schemas.microsoft.com/office/drawing/2014/main" id="{FA793F7C-C2C1-46CD-AE15-9D99A8B0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23">
            <a:extLst xmlns:a="http://schemas.openxmlformats.org/drawingml/2006/main">
              <a:ext uri="{FF2B5EF4-FFF2-40B4-BE49-F238E27FC236}">
                <a16:creationId xmlns:a16="http://schemas.microsoft.com/office/drawing/2014/main" id="{0C4A730B-F2AF-4AB8-8E60-5CA4C10A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-24">
            <a:extLst xmlns:a="http://schemas.openxmlformats.org/drawingml/2006/main">
              <a:ext uri="{FF2B5EF4-FFF2-40B4-BE49-F238E27FC236}">
                <a16:creationId xmlns:a16="http://schemas.microsoft.com/office/drawing/2014/main" id="{464B29EC-4069-450E-AC61-813B8669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8200"/>
            <a:ext cx="13716000" cy="1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Find verifiable harmful contexts under a limited budget,</a:t>
            </a:r>
          </a:p>
          <a:p xmlns:a="http://schemas.openxmlformats.org/drawingml/2006/main">
            <a:pPr algn="l">
              <a:defRPr sz="33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then test whether they support useful removal decisions.</a:t>
            </a:r>
          </a:p>
        </p:txBody>
      </p:sp>
      <p:sp>
        <p:nvSpPr>
          <p:cNvPr id="5" name="text-25">
            <a:extLst xmlns:a="http://schemas.openxmlformats.org/drawingml/2006/main">
              <a:ext uri="{FF2B5EF4-FFF2-40B4-BE49-F238E27FC236}">
                <a16:creationId xmlns:a16="http://schemas.microsoft.com/office/drawing/2014/main" id="{0944C07A-6D5E-4EF0-8DC5-4D3BEEBD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03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26">
            <a:extLst xmlns:a="http://schemas.openxmlformats.org/drawingml/2006/main">
              <a:ext uri="{FF2B5EF4-FFF2-40B4-BE49-F238E27FC236}">
                <a16:creationId xmlns:a16="http://schemas.microsoft.com/office/drawing/2014/main" id="{1E83E29D-283D-4548-AAB2-83A39761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6703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Discovery completeness</a:t>
            </a: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1B47F59D-293B-4093-B382-42460CF4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2926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Exact small-game labels measure recall and missed witnesses at a fixed query budget.</a:t>
            </a: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920D33B6-F400-4512-A0DE-80D2982A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9">
            <a:extLst xmlns:a="http://schemas.openxmlformats.org/drawingml/2006/main">
              <a:ext uri="{FF2B5EF4-FFF2-40B4-BE49-F238E27FC236}">
                <a16:creationId xmlns:a16="http://schemas.microsoft.com/office/drawing/2014/main" id="{73AD6272-ED1A-4C84-BBF1-E9A1534D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0800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Decision value</a:t>
            </a:r>
          </a:p>
        </p:txBody>
      </p:sp>
      <p:sp>
        <p:nvSpPr>
          <p:cNvPr id="10" name="text-30">
            <a:extLst xmlns:a="http://schemas.openxmlformats.org/drawingml/2006/main">
              <a:ext uri="{FF2B5EF4-FFF2-40B4-BE49-F238E27FC236}">
                <a16:creationId xmlns:a16="http://schemas.microsoft.com/office/drawing/2014/main" id="{B8707165-8EDA-4176-B865-C8867E53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023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Compare compression and test loss with MI, SHAP, LOFO, RFE and a portfolio.</a:t>
            </a:r>
          </a:p>
        </p:txBody>
      </p:sp>
      <p:sp>
        <p:nvSpPr>
          <p:cNvPr id="11" name="text-31">
            <a:extLst xmlns:a="http://schemas.openxmlformats.org/drawingml/2006/main">
              <a:ext uri="{FF2B5EF4-FFF2-40B4-BE49-F238E27FC236}">
                <a16:creationId xmlns:a16="http://schemas.microsoft.com/office/drawing/2014/main" id="{EF59CFEB-EAE7-4FA3-B246-E48362CC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97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32">
            <a:extLst xmlns:a="http://schemas.openxmlformats.org/drawingml/2006/main">
              <a:ext uri="{FF2B5EF4-FFF2-40B4-BE49-F238E27FC236}">
                <a16:creationId xmlns:a16="http://schemas.microsoft.com/office/drawing/2014/main" id="{2D9BBC7D-1261-4A78-B0A1-E6C3580E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897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Explanation and cost</a:t>
            </a:r>
          </a:p>
        </p:txBody>
      </p:sp>
      <p:sp>
        <p:nvSpPr>
          <p:cNvPr id="13" name="text-33">
            <a:extLst xmlns:a="http://schemas.openxmlformats.org/drawingml/2006/main">
              <a:ext uri="{FF2B5EF4-FFF2-40B4-BE49-F238E27FC236}">
                <a16:creationId xmlns:a16="http://schemas.microsoft.com/office/drawing/2014/main" id="{98DD5E4F-F0CF-469D-82EA-CDADE470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71120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Record the subset, both utilities and quota. Count queries, fits and total time.</a:t>
            </a:r>
          </a:p>
        </p:txBody>
      </p:sp>
    </p:spTree>
    <p:extLst>
      <p:ext uri="{BB962C8B-B14F-4D97-AF65-F5344CB8AC3E}">
        <p14:creationId xmlns:p14="http://schemas.microsoft.com/office/powerpoint/2010/main" val="1666146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34">
            <a:extLst xmlns:a="http://schemas.openxmlformats.org/drawingml/2006/main">
              <a:ext uri="{FF2B5EF4-FFF2-40B4-BE49-F238E27FC236}">
                <a16:creationId xmlns:a16="http://schemas.microsoft.com/office/drawing/2014/main" id="{8D790180-CE69-4583-A9EA-0E1024ED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One learning setting: supervised prediction</a:t>
            </a:r>
          </a:p>
        </p:txBody>
      </p:sp>
      <p:sp>
        <p:nvSpPr>
          <p:cNvPr id="2" name="rule-35">
            <a:extLst xmlns:a="http://schemas.openxmlformats.org/drawingml/2006/main">
              <a:ext uri="{FF2B5EF4-FFF2-40B4-BE49-F238E27FC236}">
                <a16:creationId xmlns:a16="http://schemas.microsoft.com/office/drawing/2014/main" id="{C0FA6A82-6A68-4E5E-807D-D12EBE29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36">
            <a:extLst xmlns:a="http://schemas.openxmlformats.org/drawingml/2006/main">
              <a:ext uri="{FF2B5EF4-FFF2-40B4-BE49-F238E27FC236}">
                <a16:creationId xmlns:a16="http://schemas.microsoft.com/office/drawing/2014/main" id="{6CB5FDFC-B4C2-48EA-9BE4-D86F9D78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-37">
            <a:extLst xmlns:a="http://schemas.openxmlformats.org/drawingml/2006/main">
              <a:ext uri="{FF2B5EF4-FFF2-40B4-BE49-F238E27FC236}">
                <a16:creationId xmlns:a16="http://schemas.microsoft.com/office/drawing/2014/main" id="{F8FE695E-D3B5-42E0-87CD-2DDFC5FF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All six datasets use labeled pairs (X, y): classification or regression.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895600"/>
          <a:ext xmlns:a="http://schemas.openxmlformats.org/drawingml/2006/main" cx="137160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715000"/>
                <a:gridCol w="5334000"/>
              </a:tblGrid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does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Learning interpretation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041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Prediction task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Fit XGBoost to known targets y; evaluate on labeled validation rows.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Classification and regression are both supervised learning.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041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Feature representation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Fraud inputs include PCA components supplied with the dataset.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An unsupervised transform can provide inputs to a supervised classifier.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041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Subset search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MinPPI samples feature subsets; NSGA-II optimizes size and utility.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Search and optimization, without a reinforcement-learning training loop.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6" name="text-38">
            <a:extLst xmlns:a="http://schemas.openxmlformats.org/drawingml/2006/main">
              <a:ext uri="{FF2B5EF4-FFF2-40B4-BE49-F238E27FC236}">
                <a16:creationId xmlns:a16="http://schemas.microsoft.com/office/drawing/2014/main" id="{CE19FF73-34A3-41F6-A303-23CD8367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56400"/>
            <a:ext cx="137160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X: input columns; y: target, excluded from X; S: a subset of input columns.</a:t>
            </a:r>
          </a:p>
        </p:txBody>
      </p:sp>
      <p:sp>
        <p:nvSpPr>
          <p:cNvPr id="7" name="text-39">
            <a:extLst xmlns:a="http://schemas.openxmlformats.org/drawingml/2006/main">
              <a:ext uri="{FF2B5EF4-FFF2-40B4-BE49-F238E27FC236}">
                <a16:creationId xmlns:a16="http://schemas.microsoft.com/office/drawing/2014/main" id="{F057EB5B-E8D1-4584-A096-32B8C290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Within each comparison, fix the target, split, preprocessing rules, learner and metric.</a:t>
            </a:r>
          </a:p>
          <a:p xmlns:a="http://schemas.openxmlformats.org/drawingml/2006/main">
            <a:pPr algn="l">
              <a:defRPr sz="2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Changing the learning task requires a new experiment and new MinPPI results.</a:t>
            </a:r>
          </a:p>
        </p:txBody>
      </p:sp>
    </p:spTree>
    <p:extLst>
      <p:ext uri="{BB962C8B-B14F-4D97-AF65-F5344CB8AC3E}">
        <p14:creationId xmlns:p14="http://schemas.microsoft.com/office/powerpoint/2010/main" val="1984291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629057CD-3B8E-46D2-B561-7A5A7F22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Theoretical foundations</a:t>
            </a:r>
          </a:p>
        </p:txBody>
      </p:sp>
      <p:sp>
        <p:nvSpPr>
          <p:cNvPr id="2" name="rule-41">
            <a:extLst xmlns:a="http://schemas.openxmlformats.org/drawingml/2006/main">
              <a:ext uri="{FF2B5EF4-FFF2-40B4-BE49-F238E27FC236}">
                <a16:creationId xmlns:a16="http://schemas.microsoft.com/office/drawing/2014/main" id="{38E69DCF-0D47-4B0C-B00C-C173EF75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42">
            <a:extLst xmlns:a="http://schemas.openxmlformats.org/drawingml/2006/main">
              <a:ext uri="{FF2B5EF4-FFF2-40B4-BE49-F238E27FC236}">
                <a16:creationId xmlns:a16="http://schemas.microsoft.com/office/drawing/2014/main" id="{AF6CF38D-1272-48F8-A882-87B41DB9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247900"/>
          <a:ext xmlns:a="http://schemas.openxmlformats.org/drawingml/2006/main" cx="13716000" cy="4533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54500"/>
                <a:gridCol w="9461500"/>
              </a:tblGrid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Foundation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 in this project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Cooperative games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Features are players. A coalition is a feature subset.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Shapley / Banzhaf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Average marginal effects with different subset weights.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Minimum aggregation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MinShap is a direct predecessor. MinPPI uses a binary quota game.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Probability and sampling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Witness probability controls finite-budget discovery.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55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Pareto optimization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NSGA-II studies the trade-off between subset size and utility.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43">
            <a:extLst xmlns:a="http://schemas.openxmlformats.org/drawingml/2006/main">
              <a:ext uri="{FF2B5EF4-FFF2-40B4-BE49-F238E27FC236}">
                <a16:creationId xmlns:a16="http://schemas.microsoft.com/office/drawing/2014/main" id="{1A301E24-0FE0-4515-BDB2-BFFBEAC3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86600"/>
            <a:ext cx="134620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Contribution focus: quota-conditioned witness semantics and an auditable evaluation procedure.</a:t>
            </a:r>
          </a:p>
        </p:txBody>
      </p:sp>
    </p:spTree>
    <p:extLst>
      <p:ext uri="{BB962C8B-B14F-4D97-AF65-F5344CB8AC3E}">
        <p14:creationId xmlns:p14="http://schemas.microsoft.com/office/powerpoint/2010/main" val="3191152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4">
            <a:extLst xmlns:a="http://schemas.openxmlformats.org/drawingml/2006/main">
              <a:ext uri="{FF2B5EF4-FFF2-40B4-BE49-F238E27FC236}">
                <a16:creationId xmlns:a16="http://schemas.microsoft.com/office/drawing/2014/main" id="{701C484C-A97D-4815-8A99-F82745DF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concrete witness of harm</a:t>
            </a:r>
          </a:p>
        </p:txBody>
      </p:sp>
      <p:sp>
        <p:nvSpPr>
          <p:cNvPr id="2" name="rule-45">
            <a:extLst xmlns:a="http://schemas.openxmlformats.org/drawingml/2006/main">
              <a:ext uri="{FF2B5EF4-FFF2-40B4-BE49-F238E27FC236}">
                <a16:creationId xmlns:a16="http://schemas.microsoft.com/office/drawing/2014/main" id="{581967B2-1060-4A2B-957B-CB90E2C5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46">
            <a:extLst xmlns:a="http://schemas.openxmlformats.org/drawingml/2006/main">
              <a:ext uri="{FF2B5EF4-FFF2-40B4-BE49-F238E27FC236}">
                <a16:creationId xmlns:a16="http://schemas.microsoft.com/office/drawing/2014/main" id="{EE25B44D-018E-475C-9A30-695BB73C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-47">
            <a:extLst xmlns:a="http://schemas.openxmlformats.org/drawingml/2006/main">
              <a:ext uri="{FF2B5EF4-FFF2-40B4-BE49-F238E27FC236}">
                <a16:creationId xmlns:a16="http://schemas.microsoft.com/office/drawing/2014/main" id="{380DA068-035D-48E0-A873-897DB43A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0100"/>
            <a:ext cx="137160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Illustrative values, not an experimental result</a:t>
            </a:r>
          </a:p>
        </p:txBody>
      </p:sp>
      <p:sp>
        <p:nvSpPr>
          <p:cNvPr id="5" name="text-48">
            <a:extLst xmlns:a="http://schemas.openxmlformats.org/drawingml/2006/main">
              <a:ext uri="{FF2B5EF4-FFF2-40B4-BE49-F238E27FC236}">
                <a16:creationId xmlns:a16="http://schemas.microsoft.com/office/drawing/2014/main" id="{18D29895-3993-4C8A-9A73-0C951D3D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5900"/>
            <a:ext cx="138430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Full-set utility = 0.90       α = 0.95       Quota q = 0.855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3911600"/>
          <a:ext xmlns:a="http://schemas.openxmlformats.org/drawingml/2006/main" cx="13716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302500"/>
                <a:gridCol w="2222500"/>
                <a:gridCol w="419100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Evaluated subset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Utility U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Quota outcome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S, before adding feature i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0.87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Pass: v(S) = 1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 ∪ {i}, after adding i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0.84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Fail: v(S ∪ {i}) = 0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7" name="text-49">
            <a:extLst xmlns:a="http://schemas.openxmlformats.org/drawingml/2006/main">
              <a:ext uri="{FF2B5EF4-FFF2-40B4-BE49-F238E27FC236}">
                <a16:creationId xmlns:a16="http://schemas.microsoft.com/office/drawing/2014/main" id="{D21E523B-5E0F-4C04-B201-3EB075A9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659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C63E40"/>
                </a:solidFill>
                <a:latin typeface="Arial"/>
                <a:ea typeface="Arial"/>
                <a:cs typeface="Arial"/>
              </a:defRPr>
            </a:pPr>
            <a:r>
              <a:rPr sz="3500" b="1">
                <a:solidFill>
                  <a:srgbClr val="C63E40"/>
                </a:solidFill>
                <a:latin typeface="Arial"/>
                <a:ea typeface="Arial"/>
                <a:cs typeface="Arial"/>
              </a:rPr>
              <a:t>Marginal change: 0 − 1 = −1</a:t>
            </a:r>
          </a:p>
        </p:txBody>
      </p:sp>
      <p:sp>
        <p:nvSpPr>
          <p:cNvPr id="8" name="text-50">
            <a:extLst xmlns:a="http://schemas.openxmlformats.org/drawingml/2006/main">
              <a:ext uri="{FF2B5EF4-FFF2-40B4-BE49-F238E27FC236}">
                <a16:creationId xmlns:a16="http://schemas.microsoft.com/office/drawing/2014/main" id="{895107FE-F905-4099-84F5-BE695C8C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66000"/>
            <a:ext cx="137160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two evaluated subsets form a witness that can be checked again.</a:t>
            </a:r>
          </a:p>
        </p:txBody>
      </p:sp>
    </p:spTree>
    <p:extLst>
      <p:ext uri="{BB962C8B-B14F-4D97-AF65-F5344CB8AC3E}">
        <p14:creationId xmlns:p14="http://schemas.microsoft.com/office/powerpoint/2010/main" val="1737696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51">
            <a:extLst xmlns:a="http://schemas.openxmlformats.org/drawingml/2006/main">
              <a:ext uri="{FF2B5EF4-FFF2-40B4-BE49-F238E27FC236}">
                <a16:creationId xmlns:a16="http://schemas.microsoft.com/office/drawing/2014/main" id="{03260066-BFC4-4BA5-A361-894B94DE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MinPPI in a fixed utility game</a:t>
            </a:r>
          </a:p>
        </p:txBody>
      </p:sp>
      <p:sp>
        <p:nvSpPr>
          <p:cNvPr id="2" name="rule-52">
            <a:extLst xmlns:a="http://schemas.openxmlformats.org/drawingml/2006/main">
              <a:ext uri="{FF2B5EF4-FFF2-40B4-BE49-F238E27FC236}">
                <a16:creationId xmlns:a16="http://schemas.microsoft.com/office/drawing/2014/main" id="{AC30997F-E1E7-4EE1-89CC-B6C9BF8D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01C1E315-A7C1-40BD-ABCA-E58AFF9C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547FD8EA-18AC-4DF1-A086-FE64BFF9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09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q = α U(D)       vα(S) = 1[U(S) ≥ q]</a:t>
            </a:r>
          </a:p>
        </p:txBody>
      </p:sp>
      <p:sp>
        <p:nvSpPr>
          <p:cNvPr id="5" name="text-55">
            <a:extLst xmlns:a="http://schemas.openxmlformats.org/drawingml/2006/main">
              <a:ext uri="{FF2B5EF4-FFF2-40B4-BE49-F238E27FC236}">
                <a16:creationId xmlns:a16="http://schemas.microsoft.com/office/drawing/2014/main" id="{B570EFFE-0509-4D1E-B3DE-7D6C2BE8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Mi = min { vα(S ∪ {i}) − vα(S) : S ⊆ D \ {i} }</a:t>
            </a:r>
          </a:p>
        </p:txBody>
      </p:sp>
      <p:sp>
        <p:nvSpPr>
          <p:cNvPr id="6" name="text-56">
            <a:extLst xmlns:a="http://schemas.openxmlformats.org/drawingml/2006/main">
              <a:ext uri="{FF2B5EF4-FFF2-40B4-BE49-F238E27FC236}">
                <a16:creationId xmlns:a16="http://schemas.microsoft.com/office/drawing/2014/main" id="{8E6387D4-AD61-4B8F-BA23-4F23CEA1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1300"/>
            <a:ext cx="137160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D is the analyzed feature set. U(D) &gt; 0. The default quota is α = 0.95.</a:t>
            </a:r>
          </a:p>
        </p:txBody>
      </p:sp>
      <p:sp>
        <p:nvSpPr>
          <p:cNvPr id="7" name="text-57">
            <a:extLst xmlns:a="http://schemas.openxmlformats.org/drawingml/2006/main">
              <a:ext uri="{FF2B5EF4-FFF2-40B4-BE49-F238E27FC236}">
                <a16:creationId xmlns:a16="http://schemas.microsoft.com/office/drawing/2014/main" id="{FDDA6678-3951-4023-9FDA-527437A9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4700"/>
            <a:ext cx="1371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U: ROC AUC (binary), macro OVR AUC (multiclass), max(R², 0) (regression).</a:t>
            </a:r>
          </a:p>
        </p:txBody>
      </p:sp>
      <p:sp>
        <p:nvSpPr>
          <p:cNvPr id="8" name="text-58">
            <a:extLst xmlns:a="http://schemas.openxmlformats.org/drawingml/2006/main">
              <a:ext uri="{FF2B5EF4-FFF2-40B4-BE49-F238E27FC236}">
                <a16:creationId xmlns:a16="http://schemas.microsoft.com/office/drawing/2014/main" id="{CF5E9305-37F7-4513-B989-BBA222D8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1900"/>
            <a:ext cx="4064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00" b="1">
                <a:solidFill>
                  <a:srgbClr val="C63E40"/>
                </a:solidFill>
                <a:latin typeface="Arial"/>
                <a:ea typeface="Arial"/>
                <a:cs typeface="Arial"/>
              </a:defRPr>
            </a:pPr>
            <a:r>
              <a:rPr sz="4900" b="1">
                <a:solidFill>
                  <a:srgbClr val="C63E40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9" name="text-59">
            <a:extLst xmlns:a="http://schemas.openxmlformats.org/drawingml/2006/main">
              <a:ext uri="{FF2B5EF4-FFF2-40B4-BE49-F238E27FC236}">
                <a16:creationId xmlns:a16="http://schemas.microsoft.com/office/drawing/2014/main" id="{BF79EE90-4A47-4790-8B46-ADAC0711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2800"/>
            <a:ext cx="412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Harmful</a:t>
            </a:r>
          </a:p>
        </p:txBody>
      </p:sp>
      <p:sp>
        <p:nvSpPr>
          <p:cNvPr id="10" name="text-60">
            <a:extLst xmlns:a="http://schemas.openxmlformats.org/drawingml/2006/main">
              <a:ext uri="{FF2B5EF4-FFF2-40B4-BE49-F238E27FC236}">
                <a16:creationId xmlns:a16="http://schemas.microsoft.com/office/drawing/2014/main" id="{E5BC9D78-C621-4B79-A22F-E3B52C23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53200"/>
            <a:ext cx="412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At least one context changes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from pass to fail.</a:t>
            </a:r>
          </a:p>
        </p:txBody>
      </p:sp>
      <p:sp>
        <p:nvSpPr>
          <p:cNvPr id="11" name="text-61">
            <a:extLst xmlns:a="http://schemas.openxmlformats.org/drawingml/2006/main">
              <a:ext uri="{FF2B5EF4-FFF2-40B4-BE49-F238E27FC236}">
                <a16:creationId xmlns:a16="http://schemas.microsoft.com/office/drawing/2014/main" id="{1B99530C-C2CC-4245-9216-48EA622B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5041900"/>
            <a:ext cx="4064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00" b="1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4900" b="1">
                <a:solidFill>
                  <a:srgbClr val="52667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text-62">
            <a:extLst xmlns:a="http://schemas.openxmlformats.org/drawingml/2006/main">
              <a:ext uri="{FF2B5EF4-FFF2-40B4-BE49-F238E27FC236}">
                <a16:creationId xmlns:a16="http://schemas.microsoft.com/office/drawing/2014/main" id="{05739198-9FB2-4647-83AC-4AA2477A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5892800"/>
            <a:ext cx="412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Neutral at the minimum</a:t>
            </a:r>
          </a:p>
        </p:txBody>
      </p:sp>
      <p:sp>
        <p:nvSpPr>
          <p:cNvPr id="13" name="text-63">
            <a:extLst xmlns:a="http://schemas.openxmlformats.org/drawingml/2006/main">
              <a:ext uri="{FF2B5EF4-FFF2-40B4-BE49-F238E27FC236}">
                <a16:creationId xmlns:a16="http://schemas.microsoft.com/office/drawing/2014/main" id="{C1ABA4C2-5DB5-4211-B4D8-80214212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6553200"/>
            <a:ext cx="412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No negative context exists,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but not every context is positive.</a:t>
            </a:r>
          </a:p>
        </p:txBody>
      </p:sp>
      <p:sp>
        <p:nvSpPr>
          <p:cNvPr id="14" name="text-64">
            <a:extLst xmlns:a="http://schemas.openxmlformats.org/drawingml/2006/main">
              <a:ext uri="{FF2B5EF4-FFF2-40B4-BE49-F238E27FC236}">
                <a16:creationId xmlns:a16="http://schemas.microsoft.com/office/drawing/2014/main" id="{C6C9A7B1-EB1A-4716-91FC-FA683551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5041900"/>
            <a:ext cx="4064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4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+1</a:t>
            </a:r>
          </a:p>
        </p:txBody>
      </p:sp>
      <p:sp>
        <p:nvSpPr>
          <p:cNvPr id="15" name="text-65">
            <a:extLst xmlns:a="http://schemas.openxmlformats.org/drawingml/2006/main">
              <a:ext uri="{FF2B5EF4-FFF2-40B4-BE49-F238E27FC236}">
                <a16:creationId xmlns:a16="http://schemas.microsoft.com/office/drawing/2014/main" id="{D169D008-CA85-4876-B7DD-30994585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5892800"/>
            <a:ext cx="412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Universally decisive</a:t>
            </a:r>
          </a:p>
        </p:txBody>
      </p:sp>
      <p:sp>
        <p:nvSpPr>
          <p:cNvPr id="16" name="text-66">
            <a:extLst xmlns:a="http://schemas.openxmlformats.org/drawingml/2006/main">
              <a:ext uri="{FF2B5EF4-FFF2-40B4-BE49-F238E27FC236}">
                <a16:creationId xmlns:a16="http://schemas.microsoft.com/office/drawing/2014/main" id="{9FF72CEF-6C9D-4716-A8EC-5EBCAF04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53200"/>
            <a:ext cx="412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Every context changes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from fail to pass.</a:t>
            </a:r>
          </a:p>
        </p:txBody>
      </p:sp>
    </p:spTree>
    <p:extLst>
      <p:ext uri="{BB962C8B-B14F-4D97-AF65-F5344CB8AC3E}">
        <p14:creationId xmlns:p14="http://schemas.microsoft.com/office/powerpoint/2010/main" val="222308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67">
            <a:extLst xmlns:a="http://schemas.openxmlformats.org/drawingml/2006/main">
              <a:ext uri="{FF2B5EF4-FFF2-40B4-BE49-F238E27FC236}">
                <a16:creationId xmlns:a16="http://schemas.microsoft.com/office/drawing/2014/main" id="{57F3FBAC-0DF2-45D0-ADF8-CEEDF0AE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Finite-budget witness search</a:t>
            </a:r>
          </a:p>
        </p:txBody>
      </p:sp>
      <p:sp>
        <p:nvSpPr>
          <p:cNvPr id="2" name="rule-68">
            <a:extLst xmlns:a="http://schemas.openxmlformats.org/drawingml/2006/main">
              <a:ext uri="{FF2B5EF4-FFF2-40B4-BE49-F238E27FC236}">
                <a16:creationId xmlns:a16="http://schemas.microsoft.com/office/drawing/2014/main" id="{946DEB4B-D454-4774-AA03-735D38DF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69">
            <a:extLst xmlns:a="http://schemas.openxmlformats.org/drawingml/2006/main">
              <a:ext uri="{FF2B5EF4-FFF2-40B4-BE49-F238E27FC236}">
                <a16:creationId xmlns:a16="http://schemas.microsoft.com/office/drawing/2014/main" id="{FEEAB04F-FA6F-43AF-8D56-F83E58B7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-70">
            <a:extLst xmlns:a="http://schemas.openxmlformats.org/drawingml/2006/main">
              <a:ext uri="{FF2B5EF4-FFF2-40B4-BE49-F238E27FC236}">
                <a16:creationId xmlns:a16="http://schemas.microsoft.com/office/drawing/2014/main" id="{08CD06E6-9BCB-4E22-A1C5-86EA07A5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635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Algorithm A: random contexts</a:t>
            </a:r>
          </a:p>
        </p:txBody>
      </p:sp>
      <p:sp>
        <p:nvSpPr>
          <p:cNvPr id="5" name="text-71">
            <a:extLst xmlns:a="http://schemas.openxmlformats.org/drawingml/2006/main">
              <a:ext uri="{FF2B5EF4-FFF2-40B4-BE49-F238E27FC236}">
                <a16:creationId xmlns:a16="http://schemas.microsoft.com/office/drawing/2014/main" id="{532A808D-55A3-46A6-BDFB-315ED246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0200"/>
            <a:ext cx="635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Sample a subset size uniformly, then sample a subset of that size.</a:t>
            </a:r>
          </a:p>
        </p:txBody>
      </p:sp>
      <p:sp>
        <p:nvSpPr>
          <p:cNvPr id="6" name="text-72">
            <a:extLst xmlns:a="http://schemas.openxmlformats.org/drawingml/2006/main">
              <a:ext uri="{FF2B5EF4-FFF2-40B4-BE49-F238E27FC236}">
                <a16:creationId xmlns:a16="http://schemas.microsoft.com/office/drawing/2014/main" id="{B61A3B90-A950-45A8-8D76-C44718FE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6286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Algorithm B: guided contexts</a:t>
            </a:r>
          </a:p>
        </p:txBody>
      </p:sp>
      <p:sp>
        <p:nvSpPr>
          <p:cNvPr id="7" name="text-73">
            <a:extLst xmlns:a="http://schemas.openxmlformats.org/drawingml/2006/main">
              <a:ext uri="{FF2B5EF4-FFF2-40B4-BE49-F238E27FC236}">
                <a16:creationId xmlns:a16="http://schemas.microsoft.com/office/drawing/2014/main" id="{468FC602-A25C-4B6E-8EB2-732D9C8D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02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Build a seed using training mutual information (MI) and correlations, then perturb it.</a:t>
            </a:r>
          </a:p>
        </p:txBody>
      </p:sp>
      <p:sp>
        <p:nvSpPr>
          <p:cNvPr id="8" name="rule-74">
            <a:extLst xmlns:a="http://schemas.openxmlformats.org/drawingml/2006/main">
              <a:ext uri="{FF2B5EF4-FFF2-40B4-BE49-F238E27FC236}">
                <a16:creationId xmlns:a16="http://schemas.microsoft.com/office/drawing/2014/main" id="{CED26812-7C9F-4B23-A698-57933305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9" name="text-75">
            <a:extLst xmlns:a="http://schemas.openxmlformats.org/drawingml/2006/main">
              <a:ext uri="{FF2B5EF4-FFF2-40B4-BE49-F238E27FC236}">
                <a16:creationId xmlns:a16="http://schemas.microsoft.com/office/drawing/2014/main" id="{761A2771-0DC9-4D7C-AA6C-5552CAA7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2700"/>
            <a:ext cx="41910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63E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C63E40"/>
                </a:solidFill>
                <a:latin typeface="Arial"/>
                <a:ea typeface="Arial"/>
                <a:cs typeface="Arial"/>
              </a:rPr>
              <a:t>Observed −1</a:t>
            </a:r>
          </a:p>
        </p:txBody>
      </p:sp>
      <p:sp>
        <p:nvSpPr>
          <p:cNvPr id="10" name="text-76">
            <a:extLst xmlns:a="http://schemas.openxmlformats.org/drawingml/2006/main">
              <a:ext uri="{FF2B5EF4-FFF2-40B4-BE49-F238E27FC236}">
                <a16:creationId xmlns:a16="http://schemas.microsoft.com/office/drawing/2014/main" id="{A29D24EB-C3FA-4C1B-9D65-C6F79A52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5105400"/>
            <a:ext cx="9017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checked negative crossing certifies this fixed game.</a:t>
            </a:r>
          </a:p>
        </p:txBody>
      </p:sp>
      <p:sp>
        <p:nvSpPr>
          <p:cNvPr id="11" name="text-77">
            <a:extLst xmlns:a="http://schemas.openxmlformats.org/drawingml/2006/main">
              <a:ext uri="{FF2B5EF4-FFF2-40B4-BE49-F238E27FC236}">
                <a16:creationId xmlns:a16="http://schemas.microsoft.com/office/drawing/2014/main" id="{AFA18CF6-D3A9-4092-A238-F5B993A4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1900"/>
            <a:ext cx="41910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No observed −1</a:t>
            </a:r>
          </a:p>
        </p:txBody>
      </p:sp>
      <p:sp>
        <p:nvSpPr>
          <p:cNvPr id="12" name="text-78">
            <a:extLst xmlns:a="http://schemas.openxmlformats.org/drawingml/2006/main">
              <a:ext uri="{FF2B5EF4-FFF2-40B4-BE49-F238E27FC236}">
                <a16:creationId xmlns:a16="http://schemas.microsoft.com/office/drawing/2014/main" id="{232D4078-D1B6-4B44-AE8C-6FCB5DB4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6324600"/>
            <a:ext cx="9017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An unvisited context may still contain a harmful witness.</a:t>
            </a:r>
          </a:p>
        </p:txBody>
      </p:sp>
      <p:sp>
        <p:nvSpPr>
          <p:cNvPr id="13" name="text-79">
            <a:extLst xmlns:a="http://schemas.openxmlformats.org/drawingml/2006/main">
              <a:ext uri="{FF2B5EF4-FFF2-40B4-BE49-F238E27FC236}">
                <a16:creationId xmlns:a16="http://schemas.microsoft.com/office/drawing/2014/main" id="{32303DED-AF3E-40B0-97D5-D80CC271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4100"/>
            <a:ext cx="1352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Compare A and B at the same total query cap. Guidance is a hypothesis to test.</a:t>
            </a:r>
          </a:p>
        </p:txBody>
      </p:sp>
    </p:spTree>
    <p:extLst>
      <p:ext uri="{BB962C8B-B14F-4D97-AF65-F5344CB8AC3E}">
        <p14:creationId xmlns:p14="http://schemas.microsoft.com/office/powerpoint/2010/main" val="17745691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80">
            <a:extLst xmlns:a="http://schemas.openxmlformats.org/drawingml/2006/main">
              <a:ext uri="{FF2B5EF4-FFF2-40B4-BE49-F238E27FC236}">
                <a16:creationId xmlns:a16="http://schemas.microsoft.com/office/drawing/2014/main" id="{2BD07E2A-5703-41E9-8B18-3BA900B2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Dataset tasks, targets and evaluation metrics</a:t>
            </a:r>
          </a:p>
        </p:txBody>
      </p:sp>
      <p:sp>
        <p:nvSpPr>
          <p:cNvPr id="2" name="rule-81">
            <a:extLst xmlns:a="http://schemas.openxmlformats.org/drawingml/2006/main">
              <a:ext uri="{FF2B5EF4-FFF2-40B4-BE49-F238E27FC236}">
                <a16:creationId xmlns:a16="http://schemas.microsoft.com/office/drawing/2014/main" id="{AA3D3A9F-57D5-4425-9EAA-1E632E24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82">
            <a:extLst xmlns:a="http://schemas.openxmlformats.org/drawingml/2006/main">
              <a:ext uri="{FF2B5EF4-FFF2-40B4-BE49-F238E27FC236}">
                <a16:creationId xmlns:a16="http://schemas.microsoft.com/office/drawing/2014/main" id="{48506E90-0307-455D-9E5D-0DCB233F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ext-83">
            <a:extLst xmlns:a="http://schemas.openxmlformats.org/drawingml/2006/main">
              <a:ext uri="{FF2B5EF4-FFF2-40B4-BE49-F238E27FC236}">
                <a16:creationId xmlns:a16="http://schemas.microsoft.com/office/drawing/2014/main" id="{5533B86C-FEAF-46C0-8510-DA32AC38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37160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All six datasets serve supervised learning in this project.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781300"/>
          <a:ext xmlns:a="http://schemas.openxmlformats.org/drawingml/2006/main" cx="13716000" cy="436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30500"/>
                <a:gridCol w="2476500"/>
                <a:gridCol w="3810000"/>
                <a:gridCol w="2349500"/>
                <a:gridCol w="2349500"/>
              </a:tblGrid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 / inputs¹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 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4,601 / 57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 / non-spam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Binary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ROC AUC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2,600 / 500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Synthetic class ±1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Binary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ROC AUC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Gisette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7,000 / 5,000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Digit 4 / 9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Binary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ROC AUC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ISOLET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7,797 / 617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Spoken letter A–Z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26 classes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OVR AUC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284,807 / 29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Fraud: 1 / 0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Binary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ROC AUC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6241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4,177 / 8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Rings count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Regression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6" name="text-84">
            <a:extLst xmlns:a="http://schemas.openxmlformats.org/drawingml/2006/main">
              <a:ext uri="{FF2B5EF4-FFF2-40B4-BE49-F238E27FC236}">
                <a16:creationId xmlns:a16="http://schemas.microsoft.com/office/drawing/2014/main" id="{73F05D06-05FE-413D-B712-3A1905EF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40600"/>
            <a:ext cx="1371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¹ Project input pools. Madelon/Gisette use labeled train + validation rows. Fraud excludes Time.</a:t>
            </a:r>
          </a:p>
        </p:txBody>
      </p:sp>
      <p:sp>
        <p:nvSpPr>
          <p:cNvPr id="7" name="text-85">
            <a:extLst xmlns:a="http://schemas.openxmlformats.org/drawingml/2006/main">
              <a:ext uri="{FF2B5EF4-FFF2-40B4-BE49-F238E27FC236}">
                <a16:creationId xmlns:a16="http://schemas.microsoft.com/office/drawing/2014/main" id="{207BF6E3-EF0C-4EAC-972A-2C8262BA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5100"/>
            <a:ext cx="134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Compare methods within each task. AUC and R² are not directly comparable across tasks.</a:t>
            </a:r>
          </a:p>
        </p:txBody>
      </p:sp>
    </p:spTree>
    <p:extLst>
      <p:ext uri="{BB962C8B-B14F-4D97-AF65-F5344CB8AC3E}">
        <p14:creationId xmlns:p14="http://schemas.microsoft.com/office/powerpoint/2010/main" val="910028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86">
            <a:extLst xmlns:a="http://schemas.openxmlformats.org/drawingml/2006/main">
              <a:ext uri="{FF2B5EF4-FFF2-40B4-BE49-F238E27FC236}">
                <a16:creationId xmlns:a16="http://schemas.microsoft.com/office/drawing/2014/main" id="{E0E05CA7-3C7E-421F-882B-8CF9130B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 features and their role in MinPPI (1/2)</a:t>
            </a:r>
          </a:p>
        </p:txBody>
      </p:sp>
      <p:sp>
        <p:nvSpPr>
          <p:cNvPr id="2" name="rule-87">
            <a:extLst xmlns:a="http://schemas.openxmlformats.org/drawingml/2006/main">
              <a:ext uri="{FF2B5EF4-FFF2-40B4-BE49-F238E27FC236}">
                <a16:creationId xmlns:a16="http://schemas.microsoft.com/office/drawing/2014/main" id="{74935202-7C62-4BA2-B3F8-17DB046C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88">
            <a:extLst xmlns:a="http://schemas.openxmlformats.org/drawingml/2006/main">
              <a:ext uri="{FF2B5EF4-FFF2-40B4-BE49-F238E27FC236}">
                <a16:creationId xmlns:a16="http://schemas.microsoft.com/office/drawing/2014/main" id="{92E10596-AC7F-42B5-B8E3-D2B6988F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 word frequencies, e.g. free, money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 character frequencies, e.g. !, $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 capital-run statistics: mean, max, total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Observable text statistics make subset witnesses easier to interpret. Real binary data complements synthetic structure.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500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 informative coordinates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15 linear combinations of them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480 irrelevant probe variables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Known redundancy and distractors test discovery under nonlinear interactions. Generating roles are not MinPPI labels.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Gisette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5,000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image-derived variables, including pixel products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distractor probes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Numeric columns encode digit images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High dimensional, nonlinear visual features stress screening and search cost. The project analyzes a train-selected pool.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89">
            <a:extLst xmlns:a="http://schemas.openxmlformats.org/drawingml/2006/main">
              <a:ext uri="{FF2B5EF4-FFF2-40B4-BE49-F238E27FC236}">
                <a16:creationId xmlns:a16="http://schemas.microsoft.com/office/drawing/2014/main" id="{AC02570A-393A-4F95-BBC4-6BE2F426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 MinPPI player is an analyzed column. A coalition selects columns while retaining the same target.</a:t>
            </a:r>
          </a:p>
        </p:txBody>
      </p:sp>
    </p:spTree>
    <p:extLst>
      <p:ext uri="{BB962C8B-B14F-4D97-AF65-F5344CB8AC3E}">
        <p14:creationId xmlns:p14="http://schemas.microsoft.com/office/powerpoint/2010/main" val="5443099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0">
            <a:extLst xmlns:a="http://schemas.openxmlformats.org/drawingml/2006/main">
              <a:ext uri="{FF2B5EF4-FFF2-40B4-BE49-F238E27FC236}">
                <a16:creationId xmlns:a16="http://schemas.microsoft.com/office/drawing/2014/main" id="{AA9E06B2-055B-4B07-9BF9-1036E96E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 features and their role in MinPPI (2/2)</a:t>
            </a:r>
          </a:p>
        </p:txBody>
      </p:sp>
      <p:sp>
        <p:nvSpPr>
          <p:cNvPr id="2" name="rule-91">
            <a:extLst xmlns:a="http://schemas.openxmlformats.org/drawingml/2006/main">
              <a:ext uri="{FF2B5EF4-FFF2-40B4-BE49-F238E27FC236}">
                <a16:creationId xmlns:a16="http://schemas.microsoft.com/office/drawing/2014/main" id="{1117F4E1-92CB-4CD0-BAA7-A2BD9989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2">
            <a:extLst xmlns:a="http://schemas.openxmlformats.org/drawingml/2006/main">
              <a:ext uri="{FF2B5EF4-FFF2-40B4-BE49-F238E27FC236}">
                <a16:creationId xmlns:a16="http://schemas.microsoft.com/office/drawing/2014/main" id="{6831C329-0286-4083-B462-B7EA57B7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ISOLET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617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Acoustic descriptors: spectral coefficients, contours, sonorant and surrounding-segment features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the spoken letter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Tests whether witness auditing extends to multiclass utility. Individual column order has no published semantic map.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29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 anonymized PCA components V1–V28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Amount: transaction value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Time is excluded from project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Large labeled data with rare fraud cases tests AUC-based decisions and cost. Witnesses concern components, not raw financial attributes.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8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Sex; Length; Diameter; Height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Whole weight; Shucked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Viscera weight; Shell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Rings, excluded from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Physical measurements provide a regression task. Eight variables permit all 256 subsets and exact harmful labels.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93">
            <a:extLst xmlns:a="http://schemas.openxmlformats.org/drawingml/2006/main">
              <a:ext uri="{FF2B5EF4-FFF2-40B4-BE49-F238E27FC236}">
                <a16:creationId xmlns:a16="http://schemas.microsoft.com/office/drawing/2014/main" id="{36731803-815E-4D11-949B-BCB00B23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PCA describes the input representation. Fraud labels still define a supervised classification task.</a:t>
            </a:r>
          </a:p>
        </p:txBody>
      </p:sp>
    </p:spTree>
    <p:extLst>
      <p:ext uri="{BB962C8B-B14F-4D97-AF65-F5344CB8AC3E}">
        <p14:creationId xmlns:p14="http://schemas.microsoft.com/office/powerpoint/2010/main" val="5892871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94">
            <a:extLst xmlns:a="http://schemas.openxmlformats.org/drawingml/2006/main">
              <a:ext uri="{FF2B5EF4-FFF2-40B4-BE49-F238E27FC236}">
                <a16:creationId xmlns:a16="http://schemas.microsoft.com/office/drawing/2014/main" id="{375EA637-DB35-46AF-9D31-628EFE62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Experiment 1: discovery against exact references</a:t>
            </a:r>
          </a:p>
        </p:txBody>
      </p:sp>
      <p:sp>
        <p:nvSpPr>
          <p:cNvPr id="2" name="rule-95">
            <a:extLst xmlns:a="http://schemas.openxmlformats.org/drawingml/2006/main">
              <a:ext uri="{FF2B5EF4-FFF2-40B4-BE49-F238E27FC236}">
                <a16:creationId xmlns:a16="http://schemas.microsoft.com/office/drawing/2014/main" id="{834705D1-9DF9-4D56-988E-0D07D780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6">
            <a:extLst xmlns:a="http://schemas.openxmlformats.org/drawingml/2006/main">
              <a:ext uri="{FF2B5EF4-FFF2-40B4-BE49-F238E27FC236}">
                <a16:creationId xmlns:a16="http://schemas.microsoft.com/office/drawing/2014/main" id="{FE69DF07-46DD-42FF-9C84-22C7C423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ext-97">
            <a:extLst xmlns:a="http://schemas.openxmlformats.org/drawingml/2006/main">
              <a:ext uri="{FF2B5EF4-FFF2-40B4-BE49-F238E27FC236}">
                <a16:creationId xmlns:a16="http://schemas.microsoft.com/office/drawing/2014/main" id="{E04DD704-F949-46D7-8AA6-5D6B3930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66675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35 fixed games</a:t>
            </a:r>
          </a:p>
        </p:txBody>
      </p:sp>
      <p:sp>
        <p:nvSpPr>
          <p:cNvPr id="5" name="text-98">
            <a:extLst xmlns:a="http://schemas.openxmlformats.org/drawingml/2006/main">
              <a:ext uri="{FF2B5EF4-FFF2-40B4-BE49-F238E27FC236}">
                <a16:creationId xmlns:a16="http://schemas.microsoft.com/office/drawing/2014/main" id="{16FF7EA3-A704-4B89-BDEA-87C2B5B2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6400"/>
            <a:ext cx="6985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Abalone, Spambase, Madelon, credit-card fraud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7 panels × 5 fixed data splits</a:t>
            </a:r>
          </a:p>
        </p:txBody>
      </p:sp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7B1A1C94-8A96-4F70-B2F0-D0390F74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6500"/>
            <a:ext cx="717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256 subset utilities per game</a:t>
            </a:r>
          </a:p>
        </p:txBody>
      </p:sp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CFD0C687-D717-42DE-BE9E-14CC158D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69850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Abalone: all 8 inputs. Other datasets: MI top8 and MI top4 + random4 panels.</a:t>
            </a:r>
          </a:p>
        </p:txBody>
      </p:sp>
      <p:sp>
        <p:nvSpPr>
          <p:cNvPr id="8" name="text-101">
            <a:extLst xmlns:a="http://schemas.openxmlformats.org/drawingml/2006/main">
              <a:ext uri="{FF2B5EF4-FFF2-40B4-BE49-F238E27FC236}">
                <a16:creationId xmlns:a16="http://schemas.microsoft.com/office/drawing/2014/main" id="{ECF4B178-BBC4-4D35-89B8-A32DF86F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59055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Fair A/B comparison</a:t>
            </a:r>
          </a:p>
        </p:txBody>
      </p:sp>
      <p:sp>
        <p:nvSpPr>
          <p:cNvPr id="9" name="text-102">
            <a:extLst xmlns:a="http://schemas.openxmlformats.org/drawingml/2006/main">
              <a:ext uri="{FF2B5EF4-FFF2-40B4-BE49-F238E27FC236}">
                <a16:creationId xmlns:a16="http://schemas.microsoft.com/office/drawing/2014/main" id="{71A5DF37-6097-46B2-88D6-9C0BA227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5778500" cy="191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30 paired sampling schedules per game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Total marginal-query cap Q = 800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Sampler sees only its requested utilities</a:t>
            </a:r>
          </a:p>
        </p:txBody>
      </p:sp>
      <p:sp>
        <p:nvSpPr>
          <p:cNvPr id="10" name="rule-103">
            <a:extLst xmlns:a="http://schemas.openxmlformats.org/drawingml/2006/main">
              <a:ext uri="{FF2B5EF4-FFF2-40B4-BE49-F238E27FC236}">
                <a16:creationId xmlns:a16="http://schemas.microsoft.com/office/drawing/2014/main" id="{B326B976-CC1F-42F9-8DB3-39770C34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82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1" name="text-104">
            <a:extLst xmlns:a="http://schemas.openxmlformats.org/drawingml/2006/main">
              <a:ext uri="{FF2B5EF4-FFF2-40B4-BE49-F238E27FC236}">
                <a16:creationId xmlns:a16="http://schemas.microsoft.com/office/drawing/2014/main" id="{3C3276A6-DB89-4F03-95D7-9D74EBA2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7600"/>
            <a:ext cx="48895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Primary endpoint</a:t>
            </a:r>
          </a:p>
        </p:txBody>
      </p:sp>
      <p:sp>
        <p:nvSpPr>
          <p:cNvPr id="12" name="text-105">
            <a:extLst xmlns:a="http://schemas.openxmlformats.org/drawingml/2006/main">
              <a:ext uri="{FF2B5EF4-FFF2-40B4-BE49-F238E27FC236}">
                <a16:creationId xmlns:a16="http://schemas.microsoft.com/office/drawing/2014/main" id="{F0D8B982-AE43-4956-8613-8F2F3703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6197600"/>
            <a:ext cx="8636000" cy="93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Recall across the full query budget, summarized by recall area.</a:t>
            </a:r>
          </a:p>
        </p:txBody>
      </p:sp>
      <p:sp>
        <p:nvSpPr>
          <p:cNvPr id="13" name="text-106">
            <a:extLst xmlns:a="http://schemas.openxmlformats.org/drawingml/2006/main">
              <a:ext uri="{FF2B5EF4-FFF2-40B4-BE49-F238E27FC236}">
                <a16:creationId xmlns:a16="http://schemas.microsoft.com/office/drawing/2014/main" id="{F9865800-E188-44CC-9D9B-605E5053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4100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Exact labels belong to each 8-feature panel. Empty harmful sets have undefined recall.</a:t>
            </a:r>
          </a:p>
        </p:txBody>
      </p:sp>
    </p:spTree>
    <p:extLst>
      <p:ext uri="{BB962C8B-B14F-4D97-AF65-F5344CB8AC3E}">
        <p14:creationId xmlns:p14="http://schemas.microsoft.com/office/powerpoint/2010/main" val="7605090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07">
            <a:extLst xmlns:a="http://schemas.openxmlformats.org/drawingml/2006/main">
              <a:ext uri="{FF2B5EF4-FFF2-40B4-BE49-F238E27FC236}">
                <a16:creationId xmlns:a16="http://schemas.microsoft.com/office/drawing/2014/main" id="{7349F78F-A564-4D3D-8F03-FFC1FBB4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Planned experiment 2: controlled mechanisms</a:t>
            </a:r>
          </a:p>
        </p:txBody>
      </p:sp>
      <p:sp>
        <p:nvSpPr>
          <p:cNvPr id="2" name="rule-108">
            <a:extLst xmlns:a="http://schemas.openxmlformats.org/drawingml/2006/main">
              <a:ext uri="{FF2B5EF4-FFF2-40B4-BE49-F238E27FC236}">
                <a16:creationId xmlns:a16="http://schemas.microsoft.com/office/drawing/2014/main" id="{2B2E98B1-74E9-44E3-BD78-0A544913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84E86635-FFB7-4A3E-9C87-3EB4144B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4FCC9A17-EBD6-4A19-819F-3B9BBA3E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137160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15 prespecified instances: 3 mechanisms × 5 instances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3098800"/>
          <a:ext xmlns:a="http://schemas.openxmlformats.org/drawingml/2006/main" cx="13716000" cy="359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75000"/>
                <a:gridCol w="5397500"/>
                <a:gridCol w="5143500"/>
              </a:tblGrid>
              <a:tr h="898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Construction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it isolates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898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Additive signal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Two signal variables + six irrelevant variables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Does irrelevant input produce harmful contexts?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98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Correlated redundancy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Two signal variables + two noisy proxies + four irrelevant variables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How does redundancy change witness discovery?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898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Interaction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Noisy XOR of two variables + six irrelevant variables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Can sampling recover contexts driven by interactions?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6" name="text-111">
            <a:extLst xmlns:a="http://schemas.openxmlformats.org/drawingml/2006/main">
              <a:ext uri="{FF2B5EF4-FFF2-40B4-BE49-F238E27FC236}">
                <a16:creationId xmlns:a16="http://schemas.microsoft.com/office/drawing/2014/main" id="{4AC978C6-01FC-4E23-AD86-56E5221A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72300"/>
            <a:ext cx="13716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Each instance: 2,000 rows, 8 features, full enumeration and the same A/B budget.</a:t>
            </a:r>
          </a:p>
        </p:txBody>
      </p:sp>
      <p:sp>
        <p:nvSpPr>
          <p:cNvPr id="7" name="text-112">
            <a:extLst xmlns:a="http://schemas.openxmlformats.org/drawingml/2006/main">
              <a:ext uri="{FF2B5EF4-FFF2-40B4-BE49-F238E27FC236}">
                <a16:creationId xmlns:a16="http://schemas.microsoft.com/office/drawing/2014/main" id="{970D3585-C354-4B96-AC5B-6930BC2C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58100"/>
            <a:ext cx="13716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A variable’s generating role does not determine its MinPPI label.</a:t>
            </a:r>
          </a:p>
        </p:txBody>
      </p:sp>
    </p:spTree>
    <p:extLst>
      <p:ext uri="{BB962C8B-B14F-4D97-AF65-F5344CB8AC3E}">
        <p14:creationId xmlns:p14="http://schemas.microsoft.com/office/powerpoint/2010/main" val="4135068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13">
            <a:extLst xmlns:a="http://schemas.openxmlformats.org/drawingml/2006/main">
              <a:ext uri="{FF2B5EF4-FFF2-40B4-BE49-F238E27FC236}">
                <a16:creationId xmlns:a16="http://schemas.microsoft.com/office/drawing/2014/main" id="{275627D7-67CD-4D5F-922C-35DA3462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Planned experiment 3: removal decisions</a:t>
            </a:r>
          </a:p>
        </p:txBody>
      </p:sp>
      <p:sp>
        <p:nvSpPr>
          <p:cNvPr id="2" name="rule-114">
            <a:extLst xmlns:a="http://schemas.openxmlformats.org/drawingml/2006/main">
              <a:ext uri="{FF2B5EF4-FFF2-40B4-BE49-F238E27FC236}">
                <a16:creationId xmlns:a16="http://schemas.microsoft.com/office/drawing/2014/main" id="{0A84F612-DA3D-4010-B0FD-560401D2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5">
            <a:extLst xmlns:a="http://schemas.openxmlformats.org/drawingml/2006/main">
              <a:ext uri="{FF2B5EF4-FFF2-40B4-BE49-F238E27FC236}">
                <a16:creationId xmlns:a16="http://schemas.microsoft.com/office/drawing/2014/main" id="{B7E1D3F8-14CC-405C-AFA2-A937DF00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2159000"/>
          <a:ext xmlns:a="http://schemas.openxmlformats.org/drawingml/2006/main" cx="13716000" cy="393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37000"/>
                <a:gridCol w="1778000"/>
                <a:gridCol w="8001000"/>
              </a:tblGrid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 role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Permitted use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64%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Fit preprocessing, models and feature rankings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Selection validation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8%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Audit contexts and choose one candidate per strategy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Independent gate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8%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Accept the candidate or revert to the full set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87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Held-out test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Evaluate the frozen decision after refitting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5" name="text-116">
            <a:extLst xmlns:a="http://schemas.openxmlformats.org/drawingml/2006/main">
              <a:ext uri="{FF2B5EF4-FFF2-40B4-BE49-F238E27FC236}">
                <a16:creationId xmlns:a16="http://schemas.microsoft.com/office/drawing/2014/main" id="{22A8E622-6CAF-48A4-A5A3-6694962A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6200"/>
            <a:ext cx="13716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Gate rule: candidate loss ≤ 0.005 AUC or ≤ 0.01 raw R²</a:t>
            </a:r>
          </a:p>
        </p:txBody>
      </p:sp>
      <p:sp>
        <p:nvSpPr>
          <p:cNvPr id="6" name="text-117">
            <a:extLst xmlns:a="http://schemas.openxmlformats.org/drawingml/2006/main">
              <a:ext uri="{FF2B5EF4-FFF2-40B4-BE49-F238E27FC236}">
                <a16:creationId xmlns:a16="http://schemas.microsoft.com/office/drawing/2014/main" id="{02803055-3DE5-4257-BD88-6CFA1C6B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53300"/>
            <a:ext cx="137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verified local witness alone does not establish that joint removal is useful.</a:t>
            </a:r>
          </a:p>
        </p:txBody>
      </p:sp>
    </p:spTree>
    <p:extLst>
      <p:ext uri="{BB962C8B-B14F-4D97-AF65-F5344CB8AC3E}">
        <p14:creationId xmlns:p14="http://schemas.microsoft.com/office/powerpoint/2010/main" val="15666782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18">
            <a:extLst xmlns:a="http://schemas.openxmlformats.org/drawingml/2006/main">
              <a:ext uri="{FF2B5EF4-FFF2-40B4-BE49-F238E27FC236}">
                <a16:creationId xmlns:a16="http://schemas.microsoft.com/office/drawing/2014/main" id="{E1D88321-6FF7-4BBB-A675-65F750F4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Practical baselines and success criteria</a:t>
            </a:r>
          </a:p>
        </p:txBody>
      </p:sp>
      <p:sp>
        <p:nvSpPr>
          <p:cNvPr id="2" name="rule-119">
            <a:extLst xmlns:a="http://schemas.openxmlformats.org/drawingml/2006/main">
              <a:ext uri="{FF2B5EF4-FFF2-40B4-BE49-F238E27FC236}">
                <a16:creationId xmlns:a16="http://schemas.microsoft.com/office/drawing/2014/main" id="{97CCF1CC-C9ED-47B5-816E-78EF7E4C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20">
            <a:extLst xmlns:a="http://schemas.openxmlformats.org/drawingml/2006/main">
              <a:ext uri="{FF2B5EF4-FFF2-40B4-BE49-F238E27FC236}">
                <a16:creationId xmlns:a16="http://schemas.microsoft.com/office/drawing/2014/main" id="{5724D58E-F13B-4F2E-81F8-B32088EE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text-121">
            <a:extLst xmlns:a="http://schemas.openxmlformats.org/drawingml/2006/main">
              <a:ext uri="{FF2B5EF4-FFF2-40B4-BE49-F238E27FC236}">
                <a16:creationId xmlns:a16="http://schemas.microsoft.com/office/drawing/2014/main" id="{6CFBCEEC-7FC2-4C6D-BD46-92CFE218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371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Primary comparison: MinPPI-A versus a validation-only portfolio</a:t>
            </a:r>
          </a:p>
        </p:txBody>
      </p:sp>
      <p:sp>
        <p:nvSpPr>
          <p:cNvPr id="5" name="text-122">
            <a:extLst xmlns:a="http://schemas.openxmlformats.org/drawingml/2006/main">
              <a:ext uri="{FF2B5EF4-FFF2-40B4-BE49-F238E27FC236}">
                <a16:creationId xmlns:a16="http://schemas.microsoft.com/office/drawing/2014/main" id="{110790B9-A740-4C39-8AF6-4FDFCD35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6413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Eight strategies</a:t>
            </a:r>
          </a:p>
        </p:txBody>
      </p:sp>
      <p:sp>
        <p:nvSpPr>
          <p:cNvPr id="6" name="text-123">
            <a:extLst xmlns:a="http://schemas.openxmlformats.org/drawingml/2006/main">
              <a:ext uri="{FF2B5EF4-FFF2-40B4-BE49-F238E27FC236}">
                <a16:creationId xmlns:a16="http://schemas.microsoft.com/office/drawing/2014/main" id="{EE39E800-4B1E-4FB7-A547-032334F5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641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Full, MinPPI-A, MinPPI-B, MI, TreeSHAP, static LOFO, RFE and the portfolio.</a:t>
            </a:r>
          </a:p>
        </p:txBody>
      </p:sp>
      <p:sp>
        <p:nvSpPr>
          <p:cNvPr id="7" name="text-124">
            <a:extLst xmlns:a="http://schemas.openxmlformats.org/drawingml/2006/main">
              <a:ext uri="{FF2B5EF4-FFF2-40B4-BE49-F238E27FC236}">
                <a16:creationId xmlns:a16="http://schemas.microsoft.com/office/drawing/2014/main" id="{A05DC360-BD4E-4A39-ABE8-9BBC053D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6286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 demanding practical control</a:t>
            </a:r>
          </a:p>
        </p:txBody>
      </p:sp>
      <p:sp>
        <p:nvSpPr>
          <p:cNvPr id="8" name="text-125">
            <a:extLst xmlns:a="http://schemas.openxmlformats.org/drawingml/2006/main">
              <a:ext uri="{FF2B5EF4-FFF2-40B4-BE49-F238E27FC236}">
                <a16:creationId xmlns:a16="http://schemas.microsoft.com/office/drawing/2014/main" id="{71AA2B81-263F-4A28-941D-C67B1B19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75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portfolio selects among MI, TreeSHAP and LOFO candidates using selection validation only.</a:t>
            </a:r>
          </a:p>
        </p:txBody>
      </p:sp>
      <p:sp>
        <p:nvSpPr>
          <p:cNvPr id="9" name="rule-126">
            <a:extLst xmlns:a="http://schemas.openxmlformats.org/drawingml/2006/main">
              <a:ext uri="{FF2B5EF4-FFF2-40B4-BE49-F238E27FC236}">
                <a16:creationId xmlns:a16="http://schemas.microsoft.com/office/drawing/2014/main" id="{5CABEE6C-E1FF-4017-A768-C9975173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42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0" name="text-127">
            <a:extLst xmlns:a="http://schemas.openxmlformats.org/drawingml/2006/main">
              <a:ext uri="{FF2B5EF4-FFF2-40B4-BE49-F238E27FC236}">
                <a16:creationId xmlns:a16="http://schemas.microsoft.com/office/drawing/2014/main" id="{C6FFB4CF-3552-4879-93DC-7C689C23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9000"/>
            <a:ext cx="5270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Measure decision value</a:t>
            </a:r>
          </a:p>
        </p:txBody>
      </p:sp>
      <p:sp>
        <p:nvSpPr>
          <p:cNvPr id="11" name="text-128">
            <a:extLst xmlns:a="http://schemas.openxmlformats.org/drawingml/2006/main">
              <a:ext uri="{FF2B5EF4-FFF2-40B4-BE49-F238E27FC236}">
                <a16:creationId xmlns:a16="http://schemas.microsoft.com/office/drawing/2014/main" id="{11794E93-2A0E-4408-90D2-F4712733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69000"/>
            <a:ext cx="83820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Compression, test utility loss, tolerance violations and gate rejection.</a:t>
            </a:r>
          </a:p>
        </p:txBody>
      </p:sp>
      <p:sp>
        <p:nvSpPr>
          <p:cNvPr id="12" name="text-129">
            <a:extLst xmlns:a="http://schemas.openxmlformats.org/drawingml/2006/main">
              <a:ext uri="{FF2B5EF4-FFF2-40B4-BE49-F238E27FC236}">
                <a16:creationId xmlns:a16="http://schemas.microsoft.com/office/drawing/2014/main" id="{14BD43D2-79EC-445F-9D57-36BDC8CB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75500"/>
            <a:ext cx="5270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Measure actual cost</a:t>
            </a:r>
          </a:p>
        </p:txBody>
      </p:sp>
      <p:sp>
        <p:nvSpPr>
          <p:cNvPr id="13" name="text-130">
            <a:extLst xmlns:a="http://schemas.openxmlformats.org/drawingml/2006/main">
              <a:ext uri="{FF2B5EF4-FFF2-40B4-BE49-F238E27FC236}">
                <a16:creationId xmlns:a16="http://schemas.microsoft.com/office/drawing/2014/main" id="{D587ABA6-C943-4AFB-BF5B-5952E9AF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137400"/>
            <a:ext cx="8382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Count queries and model fits. Include guidance, selection, gate and refit time.</a:t>
            </a:r>
          </a:p>
        </p:txBody>
      </p:sp>
    </p:spTree>
    <p:extLst>
      <p:ext uri="{BB962C8B-B14F-4D97-AF65-F5344CB8AC3E}">
        <p14:creationId xmlns:p14="http://schemas.microsoft.com/office/powerpoint/2010/main" val="10084753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31">
            <a:extLst xmlns:a="http://schemas.openxmlformats.org/drawingml/2006/main">
              <a:ext uri="{FF2B5EF4-FFF2-40B4-BE49-F238E27FC236}">
                <a16:creationId xmlns:a16="http://schemas.microsoft.com/office/drawing/2014/main" id="{4482CF84-FEE4-4FF7-BAC7-AD58F35A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Multi-objective search for supervised prediction</a:t>
            </a:r>
          </a:p>
        </p:txBody>
      </p:sp>
      <p:sp>
        <p:nvSpPr>
          <p:cNvPr id="2" name="rule-132">
            <a:extLst xmlns:a="http://schemas.openxmlformats.org/drawingml/2006/main">
              <a:ext uri="{FF2B5EF4-FFF2-40B4-BE49-F238E27FC236}">
                <a16:creationId xmlns:a16="http://schemas.microsoft.com/office/drawing/2014/main" id="{1368E1B4-3819-4D7A-95A4-34B06265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33">
            <a:extLst xmlns:a="http://schemas.openxmlformats.org/drawingml/2006/main">
              <a:ext uri="{FF2B5EF4-FFF2-40B4-BE49-F238E27FC236}">
                <a16:creationId xmlns:a16="http://schemas.microsoft.com/office/drawing/2014/main" id="{5638C263-47B5-4491-96D7-EE0835A5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text-134">
            <a:extLst xmlns:a="http://schemas.openxmlformats.org/drawingml/2006/main">
              <a:ext uri="{FF2B5EF4-FFF2-40B4-BE49-F238E27FC236}">
                <a16:creationId xmlns:a16="http://schemas.microsoft.com/office/drawing/2014/main" id="{F60EFF62-B0E0-418B-9E96-59424343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4400"/>
            <a:ext cx="1371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Two competing objectives</a:t>
            </a:r>
          </a:p>
        </p:txBody>
      </p:sp>
      <p:sp>
        <p:nvSpPr>
          <p:cNvPr id="5" name="text-135">
            <a:extLst xmlns:a="http://schemas.openxmlformats.org/drawingml/2006/main">
              <a:ext uri="{FF2B5EF4-FFF2-40B4-BE49-F238E27FC236}">
                <a16:creationId xmlns:a16="http://schemas.microsoft.com/office/drawing/2014/main" id="{A517F893-6A70-4643-882B-BDC6B013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88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Minimize the retained feature fraction:  |S| / p₀</a:t>
            </a:r>
          </a:p>
        </p:txBody>
      </p:sp>
      <p:sp>
        <p:nvSpPr>
          <p:cNvPr id="6" name="text-136">
            <a:extLst xmlns:a="http://schemas.openxmlformats.org/drawingml/2006/main">
              <a:ext uri="{FF2B5EF4-FFF2-40B4-BE49-F238E27FC236}">
                <a16:creationId xmlns:a16="http://schemas.microsoft.com/office/drawing/2014/main" id="{72AF54B7-E908-4668-BB3F-F2323401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13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Minimize predictive loss:  1 − clip(U(S), 0, 1)</a:t>
            </a:r>
          </a:p>
        </p:txBody>
      </p:sp>
      <p:sp>
        <p:nvSpPr>
          <p:cNvPr id="7" name="rule-137">
            <a:extLst xmlns:a="http://schemas.openxmlformats.org/drawingml/2006/main">
              <a:ext uri="{FF2B5EF4-FFF2-40B4-BE49-F238E27FC236}">
                <a16:creationId xmlns:a16="http://schemas.microsoft.com/office/drawing/2014/main" id="{FDC32A95-4BAD-49E0-ACC1-A7F1FC73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4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8" name="text-138">
            <a:extLst xmlns:a="http://schemas.openxmlformats.org/drawingml/2006/main">
              <a:ext uri="{FF2B5EF4-FFF2-40B4-BE49-F238E27FC236}">
                <a16:creationId xmlns:a16="http://schemas.microsoft.com/office/drawing/2014/main" id="{81820137-DC89-4EC2-AD22-73216C81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0"/>
            <a:ext cx="6477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NSGA-II search</a:t>
            </a:r>
          </a:p>
        </p:txBody>
      </p:sp>
      <p:sp>
        <p:nvSpPr>
          <p:cNvPr id="9" name="text-139">
            <a:extLst xmlns:a="http://schemas.openxmlformats.org/drawingml/2006/main">
              <a:ext uri="{FF2B5EF4-FFF2-40B4-BE49-F238E27FC236}">
                <a16:creationId xmlns:a16="http://schemas.microsoft.com/office/drawing/2014/main" id="{A14FF6F8-87A5-460B-840B-96753CCB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647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nondominated set offers different compression–utility trade-offs.</a:t>
            </a:r>
          </a:p>
        </p:txBody>
      </p:sp>
      <p:sp>
        <p:nvSpPr>
          <p:cNvPr id="10" name="text-140">
            <a:extLst xmlns:a="http://schemas.openxmlformats.org/drawingml/2006/main">
              <a:ext uri="{FF2B5EF4-FFF2-40B4-BE49-F238E27FC236}">
                <a16:creationId xmlns:a16="http://schemas.microsoft.com/office/drawing/2014/main" id="{B7021398-FD27-4716-BDDF-DCB25281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88000"/>
            <a:ext cx="6286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MinPPI as a possible prefilter</a:t>
            </a:r>
          </a:p>
        </p:txBody>
      </p:sp>
      <p:sp>
        <p:nvSpPr>
          <p:cNvPr id="11" name="text-141">
            <a:extLst xmlns:a="http://schemas.openxmlformats.org/drawingml/2006/main">
              <a:ext uri="{FF2B5EF4-FFF2-40B4-BE49-F238E27FC236}">
                <a16:creationId xmlns:a16="http://schemas.microsoft.com/office/drawing/2014/main" id="{CD77C4FA-46F8-4503-BDF0-DA78C268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2865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search quality and full cost, including the preceding audit.</a:t>
            </a:r>
          </a:p>
        </p:txBody>
      </p:sp>
    </p:spTree>
    <p:extLst>
      <p:ext uri="{BB962C8B-B14F-4D97-AF65-F5344CB8AC3E}">
        <p14:creationId xmlns:p14="http://schemas.microsoft.com/office/powerpoint/2010/main" val="12735523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42">
            <a:extLst xmlns:a="http://schemas.openxmlformats.org/drawingml/2006/main">
              <a:ext uri="{FF2B5EF4-FFF2-40B4-BE49-F238E27FC236}">
                <a16:creationId xmlns:a16="http://schemas.microsoft.com/office/drawing/2014/main" id="{B48BA7F1-27F1-4C3D-82A8-6BFDAD41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Current evidence and remaining experiments</a:t>
            </a:r>
          </a:p>
        </p:txBody>
      </p:sp>
      <p:sp>
        <p:nvSpPr>
          <p:cNvPr id="2" name="rule-143">
            <a:extLst xmlns:a="http://schemas.openxmlformats.org/drawingml/2006/main">
              <a:ext uri="{FF2B5EF4-FFF2-40B4-BE49-F238E27FC236}">
                <a16:creationId xmlns:a16="http://schemas.microsoft.com/office/drawing/2014/main" id="{04C4DD2A-6ADA-476F-8937-506BB6C4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44">
            <a:extLst xmlns:a="http://schemas.openxmlformats.org/drawingml/2006/main">
              <a:ext uri="{FF2B5EF4-FFF2-40B4-BE49-F238E27FC236}">
                <a16:creationId xmlns:a16="http://schemas.microsoft.com/office/drawing/2014/main" id="{FF973CBA-BB19-4011-9B14-AEF23A8D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text-145">
            <a:extLst xmlns:a="http://schemas.openxmlformats.org/drawingml/2006/main">
              <a:ext uri="{FF2B5EF4-FFF2-40B4-BE49-F238E27FC236}">
                <a16:creationId xmlns:a16="http://schemas.microsoft.com/office/drawing/2014/main" id="{E1F9BE57-933A-4CB6-B9E7-70A22A16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75600"/>
            <a:ext cx="12700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Project evidence status: 26 September 2026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444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37000"/>
                <a:gridCol w="3111500"/>
                <a:gridCol w="6667500"/>
              </a:tblGrid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layer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currently supports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Exact reference audit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35 games complete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Harmful set: 22 nonempty, 13 empty.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A/B discovery comparison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Recall area A/B: 0.4012 / 0.3718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Cold-cache checks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Six checks complete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Queried utilities and traces reproduced.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Controlled mechanisms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15 instances to examine mechanisms.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4083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Deletion decisions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20 games to test deletion value and cost.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6" name="text-146">
            <a:extLst xmlns:a="http://schemas.openxmlformats.org/drawingml/2006/main">
              <a:ext uri="{FF2B5EF4-FFF2-40B4-BE49-F238E27FC236}">
                <a16:creationId xmlns:a16="http://schemas.microsoft.com/office/drawing/2014/main" id="{5680DEC6-7F0A-47C6-987B-1FA91B80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5000"/>
            <a:ext cx="13462000" cy="77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 has no stable advantage. Practical removal value remains under evaluation.</a:t>
            </a:r>
          </a:p>
        </p:txBody>
      </p:sp>
    </p:spTree>
    <p:extLst>
      <p:ext uri="{BB962C8B-B14F-4D97-AF65-F5344CB8AC3E}">
        <p14:creationId xmlns:p14="http://schemas.microsoft.com/office/powerpoint/2010/main" val="1337621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47">
            <a:extLst xmlns:a="http://schemas.openxmlformats.org/drawingml/2006/main">
              <a:ext uri="{FF2B5EF4-FFF2-40B4-BE49-F238E27FC236}">
                <a16:creationId xmlns:a16="http://schemas.microsoft.com/office/drawing/2014/main" id="{D4AA3F1F-E7B1-4B5D-9934-7402C2FC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contribution and next steps</a:t>
            </a:r>
          </a:p>
        </p:txBody>
      </p:sp>
      <p:sp>
        <p:nvSpPr>
          <p:cNvPr id="2" name="rule-148">
            <a:extLst xmlns:a="http://schemas.openxmlformats.org/drawingml/2006/main">
              <a:ext uri="{FF2B5EF4-FFF2-40B4-BE49-F238E27FC236}">
                <a16:creationId xmlns:a16="http://schemas.microsoft.com/office/drawing/2014/main" id="{4A8FBED6-2EDC-4000-8DDE-98981083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5D0C9"/>
            </a:solidFill>
          </a:ln>
        </p:spPr>
      </p:sp>
      <p:sp>
        <p:nvSpPr>
          <p:cNvPr id="3" name="text-149">
            <a:extLst xmlns:a="http://schemas.openxmlformats.org/drawingml/2006/main">
              <a:ext uri="{FF2B5EF4-FFF2-40B4-BE49-F238E27FC236}">
                <a16:creationId xmlns:a16="http://schemas.microsoft.com/office/drawing/2014/main" id="{7236BD27-EB53-4D80-A05A-2FBB2FF4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text-150">
            <a:extLst xmlns:a="http://schemas.openxmlformats.org/drawingml/2006/main">
              <a:ext uri="{FF2B5EF4-FFF2-40B4-BE49-F238E27FC236}">
                <a16:creationId xmlns:a16="http://schemas.microsoft.com/office/drawing/2014/main" id="{BC6F5DA2-5DF1-4A66-ACBC-FC7123B2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1400"/>
            <a:ext cx="1358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feature audit that explains where a variable</a:t>
            </a:r>
          </a:p>
          <a:p xmlns:a="http://schemas.openxmlformats.org/drawingml/2006/main">
            <a:pPr algn="l">
              <a:defRPr sz="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breaks a defined utility requirement.</a:t>
            </a:r>
          </a:p>
        </p:txBody>
      </p:sp>
      <p:sp>
        <p:nvSpPr>
          <p:cNvPr id="5" name="text-151">
            <a:extLst xmlns:a="http://schemas.openxmlformats.org/drawingml/2006/main">
              <a:ext uri="{FF2B5EF4-FFF2-40B4-BE49-F238E27FC236}">
                <a16:creationId xmlns:a16="http://schemas.microsoft.com/office/drawing/2014/main" id="{73FFBB4D-0D27-457B-9FF6-4D088635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0700"/>
            <a:ext cx="13716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Exact references quantify what the audit misses.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Independent decisions test whether removal is worth the cost.</a:t>
            </a:r>
          </a:p>
        </p:txBody>
      </p:sp>
      <p:sp>
        <p:nvSpPr>
          <p:cNvPr id="6" name="rule-152">
            <a:extLst xmlns:a="http://schemas.openxmlformats.org/drawingml/2006/main">
              <a:ext uri="{FF2B5EF4-FFF2-40B4-BE49-F238E27FC236}">
                <a16:creationId xmlns:a16="http://schemas.microsoft.com/office/drawing/2014/main" id="{178BCBB3-931B-41CC-8656-0D87C0CB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7" name="text-153">
            <a:extLst xmlns:a="http://schemas.openxmlformats.org/drawingml/2006/main">
              <a:ext uri="{FF2B5EF4-FFF2-40B4-BE49-F238E27FC236}">
                <a16:creationId xmlns:a16="http://schemas.microsoft.com/office/drawing/2014/main" id="{7862C9FB-A311-44BE-BA61-F05F85CD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8300"/>
            <a:ext cx="431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75D0C9"/>
                </a:solidFill>
                <a:latin typeface="Arial"/>
                <a:ea typeface="Arial"/>
                <a:cs typeface="Arial"/>
              </a:rPr>
              <a:t>Next evidence</a:t>
            </a:r>
          </a:p>
        </p:txBody>
      </p:sp>
      <p:sp>
        <p:nvSpPr>
          <p:cNvPr id="8" name="text-154">
            <a:extLst xmlns:a="http://schemas.openxmlformats.org/drawingml/2006/main">
              <a:ext uri="{FF2B5EF4-FFF2-40B4-BE49-F238E27FC236}">
                <a16:creationId xmlns:a16="http://schemas.microsoft.com/office/drawing/2014/main" id="{587CB22D-A66C-4B20-9797-4AB7C115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6705600"/>
            <a:ext cx="9017000" cy="10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Controlled mechanisms, followed by independent gate and test evaluation.</a:t>
            </a:r>
          </a:p>
        </p:txBody>
      </p:sp>
    </p:spTree>
    <p:extLst>
      <p:ext uri="{BB962C8B-B14F-4D97-AF65-F5344CB8AC3E}">
        <p14:creationId xmlns:p14="http://schemas.microsoft.com/office/powerpoint/2010/main" val="5072142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55">
            <a:extLst xmlns:a="http://schemas.openxmlformats.org/drawingml/2006/main">
              <a:ext uri="{FF2B5EF4-FFF2-40B4-BE49-F238E27FC236}">
                <a16:creationId xmlns:a16="http://schemas.microsoft.com/office/drawing/2014/main" id="{C44ADE83-7C6B-441D-A055-E80839C4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exact and sampled guarantees</a:t>
            </a:r>
          </a:p>
        </p:txBody>
      </p:sp>
      <p:sp>
        <p:nvSpPr>
          <p:cNvPr id="2" name="rule-156">
            <a:extLst xmlns:a="http://schemas.openxmlformats.org/drawingml/2006/main">
              <a:ext uri="{FF2B5EF4-FFF2-40B4-BE49-F238E27FC236}">
                <a16:creationId xmlns:a16="http://schemas.microsoft.com/office/drawing/2014/main" id="{4060A9F7-A18B-4AB6-9A1A-21B72232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57">
            <a:extLst xmlns:a="http://schemas.openxmlformats.org/drawingml/2006/main">
              <a:ext uri="{FF2B5EF4-FFF2-40B4-BE49-F238E27FC236}">
                <a16:creationId xmlns:a16="http://schemas.microsoft.com/office/drawing/2014/main" id="{C3C07ED4-A2D1-4140-A627-B8B18C8D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text-158">
            <a:extLst xmlns:a="http://schemas.openxmlformats.org/drawingml/2006/main">
              <a:ext uri="{FF2B5EF4-FFF2-40B4-BE49-F238E27FC236}">
                <a16:creationId xmlns:a16="http://schemas.microsoft.com/office/drawing/2014/main" id="{0A2D7414-F1A1-43E5-ACCA-19D33F7C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09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59">
            <a:extLst xmlns:a="http://schemas.openxmlformats.org/drawingml/2006/main">
              <a:ext uri="{FF2B5EF4-FFF2-40B4-BE49-F238E27FC236}">
                <a16:creationId xmlns:a16="http://schemas.microsoft.com/office/drawing/2014/main" id="{A19A16BF-C180-420F-AE72-BCD595D6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209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Support-level equality</a:t>
            </a:r>
          </a:p>
        </p:txBody>
      </p:sp>
      <p:sp>
        <p:nvSpPr>
          <p:cNvPr id="6" name="text-160">
            <a:extLst xmlns:a="http://schemas.openxmlformats.org/drawingml/2006/main">
              <a:ext uri="{FF2B5EF4-FFF2-40B4-BE49-F238E27FC236}">
                <a16:creationId xmlns:a16="http://schemas.microsoft.com/office/drawing/2014/main" id="{29FAB806-AB30-400F-9993-DB8A1FB4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432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Every target-excluding subset can precede that feature in a permutation.</a:t>
            </a:r>
          </a:p>
        </p:txBody>
      </p:sp>
      <p:sp>
        <p:nvSpPr>
          <p:cNvPr id="7" name="text-161">
            <a:extLst xmlns:a="http://schemas.openxmlformats.org/drawingml/2006/main">
              <a:ext uri="{FF2B5EF4-FFF2-40B4-BE49-F238E27FC236}">
                <a16:creationId xmlns:a16="http://schemas.microsoft.com/office/drawing/2014/main" id="{75046004-0050-429F-956F-FE832FC4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429000"/>
            <a:ext cx="1257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MinSSᵢ = MinBzᵢ = Mᵢ</a:t>
            </a:r>
          </a:p>
        </p:txBody>
      </p:sp>
      <p:sp>
        <p:nvSpPr>
          <p:cNvPr id="8" name="text-162">
            <a:extLst xmlns:a="http://schemas.openxmlformats.org/drawingml/2006/main">
              <a:ext uri="{FF2B5EF4-FFF2-40B4-BE49-F238E27FC236}">
                <a16:creationId xmlns:a16="http://schemas.microsoft.com/office/drawing/2014/main" id="{0AFE9B9C-6526-4F49-B23A-3A15B10A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163">
            <a:extLst xmlns:a="http://schemas.openxmlformats.org/drawingml/2006/main">
              <a:ext uri="{FF2B5EF4-FFF2-40B4-BE49-F238E27FC236}">
                <a16:creationId xmlns:a16="http://schemas.microsoft.com/office/drawing/2014/main" id="{A2A96CEA-AF20-4F3E-84B2-3FC4C764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3815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Sample minimum is an upper bound</a:t>
            </a:r>
          </a:p>
        </p:txBody>
      </p:sp>
      <p:sp>
        <p:nvSpPr>
          <p:cNvPr id="10" name="text-164">
            <a:extLst xmlns:a="http://schemas.openxmlformats.org/drawingml/2006/main">
              <a:ext uri="{FF2B5EF4-FFF2-40B4-BE49-F238E27FC236}">
                <a16:creationId xmlns:a16="http://schemas.microsoft.com/office/drawing/2014/main" id="{301C5D5C-494A-46DF-81B2-3C2522FF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0038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A sample visits only part of the domain. An observed −1 is conclusive.</a:t>
            </a:r>
          </a:p>
        </p:txBody>
      </p:sp>
      <p:sp>
        <p:nvSpPr>
          <p:cNvPr id="11" name="text-165">
            <a:extLst xmlns:a="http://schemas.openxmlformats.org/drawingml/2006/main">
              <a:ext uri="{FF2B5EF4-FFF2-40B4-BE49-F238E27FC236}">
                <a16:creationId xmlns:a16="http://schemas.microsoft.com/office/drawing/2014/main" id="{77E0592C-81A7-4C2D-897E-3E06AF1C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7300"/>
            <a:ext cx="137160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If a fixed witness has probability ρ &gt; 0 in K independent draws:</a:t>
            </a:r>
          </a:p>
        </p:txBody>
      </p:sp>
      <p:sp>
        <p:nvSpPr>
          <p:cNvPr id="12" name="text-166">
            <a:extLst xmlns:a="http://schemas.openxmlformats.org/drawingml/2006/main">
              <a:ext uri="{FF2B5EF4-FFF2-40B4-BE49-F238E27FC236}">
                <a16:creationId xmlns:a16="http://schemas.microsoft.com/office/drawing/2014/main" id="{FB565BCE-A05D-4229-B0D3-A3AD548F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50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P(detect a harmful witness) ≥ 1 − (1 − ρ)ᴷ</a:t>
            </a:r>
          </a:p>
        </p:txBody>
      </p:sp>
    </p:spTree>
    <p:extLst>
      <p:ext uri="{BB962C8B-B14F-4D97-AF65-F5344CB8AC3E}">
        <p14:creationId xmlns:p14="http://schemas.microsoft.com/office/powerpoint/2010/main" val="9230621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67">
            <a:extLst xmlns:a="http://schemas.openxmlformats.org/drawingml/2006/main">
              <a:ext uri="{FF2B5EF4-FFF2-40B4-BE49-F238E27FC236}">
                <a16:creationId xmlns:a16="http://schemas.microsoft.com/office/drawing/2014/main" id="{23FA7D54-4D24-4D9F-A21E-7EE0A130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sources and protocol details</a:t>
            </a:r>
          </a:p>
        </p:txBody>
      </p:sp>
      <p:sp>
        <p:nvSpPr>
          <p:cNvPr id="2" name="rule-168">
            <a:extLst xmlns:a="http://schemas.openxmlformats.org/drawingml/2006/main">
              <a:ext uri="{FF2B5EF4-FFF2-40B4-BE49-F238E27FC236}">
                <a16:creationId xmlns:a16="http://schemas.microsoft.com/office/drawing/2014/main" id="{6E269D54-1A19-4884-ADBC-05DA3659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69">
            <a:extLst xmlns:a="http://schemas.openxmlformats.org/drawingml/2006/main">
              <a:ext uri="{FF2B5EF4-FFF2-40B4-BE49-F238E27FC236}">
                <a16:creationId xmlns:a16="http://schemas.microsoft.com/office/drawing/2014/main" id="{1B9FD73A-230C-48C3-A3DB-FC48A670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text-170">
            <a:extLst xmlns:a="http://schemas.openxmlformats.org/drawingml/2006/main">
              <a:ext uri="{FF2B5EF4-FFF2-40B4-BE49-F238E27FC236}">
                <a16:creationId xmlns:a16="http://schemas.microsoft.com/office/drawing/2014/main" id="{551703C5-C85C-4464-BE01-BCF43B9A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3048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Theory</a:t>
            </a:r>
          </a:p>
        </p:txBody>
      </p:sp>
      <p:sp>
        <p:nvSpPr>
          <p:cNvPr id="5" name="text-171">
            <a:extLst xmlns:a="http://schemas.openxmlformats.org/drawingml/2006/main">
              <a:ext uri="{FF2B5EF4-FFF2-40B4-BE49-F238E27FC236}">
                <a16:creationId xmlns:a16="http://schemas.microsoft.com/office/drawing/2014/main" id="{B5EA2A1F-5EE0-4F86-90B5-F332A98E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2159000"/>
            <a:ext cx="10541000" cy="298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Shapley (1953), A Value for n-Person Games</a:t>
            </a:r>
          </a:p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Banzhaf (1965), Weighted Voting Doesn’t Work</a:t>
            </a:r>
          </a:p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Lundberg &amp; Lee (2017), A Unified Approach to Interpreting Model Predictions</a:t>
            </a:r>
          </a:p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Zheng &amp; Raskutti (2026), MinShap: A Shapley-Based Framework for Feature Redundancy</a:t>
            </a:r>
          </a:p>
          <a:p xmlns:a="http://schemas.openxmlformats.org/drawingml/2006/main">
            <a:pPr algn="l">
              <a:defRPr sz="21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Deb et al. (2002), A Fast and Elitist Multiobjective Genetic Algorithm: NSGA-II</a:t>
            </a:r>
          </a:p>
        </p:txBody>
      </p:sp>
      <p:sp>
        <p:nvSpPr>
          <p:cNvPr id="6" name="rule-172">
            <a:extLst xmlns:a="http://schemas.openxmlformats.org/drawingml/2006/main">
              <a:ext uri="{FF2B5EF4-FFF2-40B4-BE49-F238E27FC236}">
                <a16:creationId xmlns:a16="http://schemas.microsoft.com/office/drawing/2014/main" id="{EE5D4DDA-2B97-4E25-9422-A470FF59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7" name="text-173">
            <a:extLst xmlns:a="http://schemas.openxmlformats.org/drawingml/2006/main">
              <a:ext uri="{FF2B5EF4-FFF2-40B4-BE49-F238E27FC236}">
                <a16:creationId xmlns:a16="http://schemas.microsoft.com/office/drawing/2014/main" id="{AD623EC2-38CF-48E3-BDC9-3C963E65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3048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Data and protocol</a:t>
            </a:r>
          </a:p>
        </p:txBody>
      </p:sp>
      <p:sp>
        <p:nvSpPr>
          <p:cNvPr id="8" name="text-174">
            <a:extLst xmlns:a="http://schemas.openxmlformats.org/drawingml/2006/main">
              <a:ext uri="{FF2B5EF4-FFF2-40B4-BE49-F238E27FC236}">
                <a16:creationId xmlns:a16="http://schemas.microsoft.com/office/drawing/2014/main" id="{D4CABA3C-4A40-4DC2-ACA2-8408F048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5778500"/>
            <a:ext cx="10541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UCI dataset documentation and the ULB credit-card dataset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Local revision protocol and the 35-game P3 findings, 26 September 2026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XGBoost: 100 rounds, depth 4, learning rate 0.1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Five split identifiers: 42, 123, 456, 789, 1024</a:t>
            </a:r>
          </a:p>
        </p:txBody>
      </p:sp>
    </p:spTree>
    <p:extLst>
      <p:ext uri="{BB962C8B-B14F-4D97-AF65-F5344CB8AC3E}">
        <p14:creationId xmlns:p14="http://schemas.microsoft.com/office/powerpoint/2010/main" val="280435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2026-09-29T07:14:55.1020000Z</dcterms:created>
  <dcterms:modified xsi:type="dcterms:W3CDTF">2026-09-29T07:14:55.1020000Z</dcterms:modified>
</coreProperties>
</file>