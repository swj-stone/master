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e46f1edd6154e57" /><Relationship Type="http://schemas.openxmlformats.org/officeDocument/2006/relationships/extended-properties" Target="/docProps/app.xml" Id="R93fa49819659488c" /><Relationship Type="http://schemas.openxmlformats.org/officeDocument/2006/relationships/officeDocument" Target="/ppt/presentation.xml" Id="Re92829bfe6004585" /></Relationships>
</file>

<file path=ppt/presentation.xml><?xml version="1.0" encoding="utf-8"?>
<p:presentation xmlns:p="http://schemas.openxmlformats.org/presentationml/2006/main">
  <p:sldMasterIdLst>
    <p:sldMasterId xmlns:r="http://schemas.openxmlformats.org/officeDocument/2006/relationships" id="2147483648" r:id="R847ed860c6214f27"/>
  </p:sldMasterIdLst>
  <p:notesMasterIdLst>
    <p:notesMasterId xmlns:r="http://schemas.openxmlformats.org/officeDocument/2006/relationships" r:id="Rb5618e3681f84ab4"/>
  </p:notesMasterIdLst>
  <p:sldIdLst>
    <p:sldId xmlns:r="http://schemas.openxmlformats.org/officeDocument/2006/relationships" id="256" r:id="R366affaa37184d8c"/>
    <p:sldId xmlns:r="http://schemas.openxmlformats.org/officeDocument/2006/relationships" id="257" r:id="Ra5502dcdf64b4fa6"/>
    <p:sldId xmlns:r="http://schemas.openxmlformats.org/officeDocument/2006/relationships" id="258" r:id="Rf1ba7d6617d0405c"/>
    <p:sldId xmlns:r="http://schemas.openxmlformats.org/officeDocument/2006/relationships" id="259" r:id="Rbf9a258716bd4dd5"/>
    <p:sldId xmlns:r="http://schemas.openxmlformats.org/officeDocument/2006/relationships" id="260" r:id="R09410bdd1c7b4007"/>
    <p:sldId xmlns:r="http://schemas.openxmlformats.org/officeDocument/2006/relationships" id="261" r:id="Rd1c02e6f891d4cbd"/>
    <p:sldId xmlns:r="http://schemas.openxmlformats.org/officeDocument/2006/relationships" id="262" r:id="Rfc4d93ca25ff4bea"/>
    <p:sldId xmlns:r="http://schemas.openxmlformats.org/officeDocument/2006/relationships" id="263" r:id="Rf25728aaf7144864"/>
    <p:sldId xmlns:r="http://schemas.openxmlformats.org/officeDocument/2006/relationships" id="264" r:id="R156c64a1561844e8"/>
    <p:sldId xmlns:r="http://schemas.openxmlformats.org/officeDocument/2006/relationships" id="265" r:id="Ra497f730f53841d4"/>
    <p:sldId xmlns:r="http://schemas.openxmlformats.org/officeDocument/2006/relationships" id="266" r:id="R2f8800b6b4ca4c15"/>
    <p:sldId xmlns:r="http://schemas.openxmlformats.org/officeDocument/2006/relationships" id="267" r:id="Rcc317da07cfe4b5e"/>
    <p:sldId xmlns:r="http://schemas.openxmlformats.org/officeDocument/2006/relationships" id="268" r:id="Rf72d09e01e004c93"/>
    <p:sldId xmlns:r="http://schemas.openxmlformats.org/officeDocument/2006/relationships" id="269" r:id="R954e7f70c969477e"/>
    <p:sldId xmlns:r="http://schemas.openxmlformats.org/officeDocument/2006/relationships" id="270" r:id="Rf9236d930c464d53"/>
    <p:sldId xmlns:r="http://schemas.openxmlformats.org/officeDocument/2006/relationships" id="271" r:id="R249ff5522a0d4203"/>
    <p:sldId xmlns:r="http://schemas.openxmlformats.org/officeDocument/2006/relationships" id="272" r:id="R2e25bd68ba2841fa"/>
    <p:sldId xmlns:r="http://schemas.openxmlformats.org/officeDocument/2006/relationships" id="273" r:id="R34f623dfa6df4e83"/>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c1c28f5b9fd48eb" /><Relationship Type="http://schemas.openxmlformats.org/officeDocument/2006/relationships/slideMaster" Target="/ppt/slideMasters/slideMaster1.xml" Id="R847ed860c6214f27" /><Relationship Type="http://schemas.openxmlformats.org/officeDocument/2006/relationships/notesMaster" Target="/ppt/notesMasters/notesMaster1.xml" Id="Rb5618e3681f84ab4" /><Relationship Type="http://schemas.openxmlformats.org/officeDocument/2006/relationships/presProps" Target="/ppt/presProps.xml" Id="R6607d18d06a34e86" /><Relationship Type="http://schemas.openxmlformats.org/officeDocument/2006/relationships/tableStyles" Target="/ppt/tableStyles.xml" Id="Rf286aaf083c745b7" /><Relationship Type="http://schemas.openxmlformats.org/officeDocument/2006/relationships/slide" Target="/ppt/slides/slide1.xml" Id="R366affaa37184d8c" /><Relationship Type="http://schemas.openxmlformats.org/officeDocument/2006/relationships/slide" Target="/ppt/slides/slide2.xml" Id="Ra5502dcdf64b4fa6" /><Relationship Type="http://schemas.openxmlformats.org/officeDocument/2006/relationships/slide" Target="/ppt/slides/slide3.xml" Id="Rf1ba7d6617d0405c" /><Relationship Type="http://schemas.openxmlformats.org/officeDocument/2006/relationships/slide" Target="/ppt/slides/slide4.xml" Id="Rbf9a258716bd4dd5" /><Relationship Type="http://schemas.openxmlformats.org/officeDocument/2006/relationships/slide" Target="/ppt/slides/slide5.xml" Id="R09410bdd1c7b4007" /><Relationship Type="http://schemas.openxmlformats.org/officeDocument/2006/relationships/slide" Target="/ppt/slides/slide6.xml" Id="Rd1c02e6f891d4cbd" /><Relationship Type="http://schemas.openxmlformats.org/officeDocument/2006/relationships/slide" Target="/ppt/slides/slide7.xml" Id="Rfc4d93ca25ff4bea" /><Relationship Type="http://schemas.openxmlformats.org/officeDocument/2006/relationships/slide" Target="/ppt/slides/slide8.xml" Id="Rf25728aaf7144864" /><Relationship Type="http://schemas.openxmlformats.org/officeDocument/2006/relationships/slide" Target="/ppt/slides/slide9.xml" Id="R156c64a1561844e8" /><Relationship Type="http://schemas.openxmlformats.org/officeDocument/2006/relationships/slide" Target="/ppt/slides/slide10.xml" Id="Ra497f730f53841d4" /><Relationship Type="http://schemas.openxmlformats.org/officeDocument/2006/relationships/slide" Target="/ppt/slides/slide11.xml" Id="R2f8800b6b4ca4c15" /><Relationship Type="http://schemas.openxmlformats.org/officeDocument/2006/relationships/slide" Target="/ppt/slides/slide12.xml" Id="Rcc317da07cfe4b5e" /><Relationship Type="http://schemas.openxmlformats.org/officeDocument/2006/relationships/slide" Target="/ppt/slides/slide13.xml" Id="Rf72d09e01e004c93" /><Relationship Type="http://schemas.openxmlformats.org/officeDocument/2006/relationships/slide" Target="/ppt/slides/slide14.xml" Id="R954e7f70c969477e" /><Relationship Type="http://schemas.openxmlformats.org/officeDocument/2006/relationships/slide" Target="/ppt/slides/slide15.xml" Id="Rf9236d930c464d53" /><Relationship Type="http://schemas.openxmlformats.org/officeDocument/2006/relationships/slide" Target="/ppt/slides/slide16.xml" Id="R249ff5522a0d4203" /><Relationship Type="http://schemas.openxmlformats.org/officeDocument/2006/relationships/slide" Target="/ppt/slides/slide17.xml" Id="R2e25bd68ba2841fa" /><Relationship Type="http://schemas.openxmlformats.org/officeDocument/2006/relationships/slide" Target="/ppt/slides/slide18.xml" Id="R34f623dfa6df4e8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3d880a3ce5848a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ce4d6ea301149e7" /><Relationship Type="http://schemas.openxmlformats.org/officeDocument/2006/relationships/notesMaster" Target="/ppt/notesMasters/notesMaster1.xml" Id="Rfb917578c82a488d" /></Relationships>
</file>

<file path=ppt/notesSlides/_rels/notesSlide2.xml.rels>&#65279;<?xml version="1.0" encoding="utf-8"?><Relationships xmlns="http://schemas.openxmlformats.org/package/2006/relationships"><Relationship Type="http://schemas.openxmlformats.org/officeDocument/2006/relationships/slide" Target="/ppt/slides/slide2.xml" Id="Rc18722d7f3084dab" /><Relationship Type="http://schemas.openxmlformats.org/officeDocument/2006/relationships/notesMaster" Target="/ppt/notesMasters/notesMaster1.xml" Id="R2f14f8fcf2c940fe" /></Relationships>
</file>

<file path=ppt/notesSlides/_rels/notesSlide3.xml.rels>&#65279;<?xml version="1.0" encoding="utf-8"?><Relationships xmlns="http://schemas.openxmlformats.org/package/2006/relationships"><Relationship Type="http://schemas.openxmlformats.org/officeDocument/2006/relationships/slide" Target="/ppt/slides/slide3.xml" Id="R93cc6c80b5064214" /><Relationship Type="http://schemas.openxmlformats.org/officeDocument/2006/relationships/notesMaster" Target="/ppt/notesMasters/notesMaster1.xml" Id="Re827f32432ed4436" /></Relationships>
</file>

<file path=ppt/notesSlides/_rels/notesSlide4.xml.rels>&#65279;<?xml version="1.0" encoding="utf-8"?><Relationships xmlns="http://schemas.openxmlformats.org/package/2006/relationships"><Relationship Type="http://schemas.openxmlformats.org/officeDocument/2006/relationships/slide" Target="/ppt/slides/slide4.xml" Id="Rdf95c6030e234926" /><Relationship Type="http://schemas.openxmlformats.org/officeDocument/2006/relationships/notesMaster" Target="/ppt/notesMasters/notesMaster1.xml" Id="R824e5c9b03cc40ea" /></Relationships>
</file>

<file path=ppt/notesSlides/_rels/notesSlide5.xml.rels>&#65279;<?xml version="1.0" encoding="utf-8"?><Relationships xmlns="http://schemas.openxmlformats.org/package/2006/relationships"><Relationship Type="http://schemas.openxmlformats.org/officeDocument/2006/relationships/slide" Target="/ppt/slides/slide5.xml" Id="R689b3863c4e34bf5" /><Relationship Type="http://schemas.openxmlformats.org/officeDocument/2006/relationships/notesMaster" Target="/ppt/notesMasters/notesMaster1.xml" Id="R4d8233dcdb8346a2" /></Relationships>
</file>

<file path=ppt/notesSlides/_rels/notesSlide6.xml.rels>&#65279;<?xml version="1.0" encoding="utf-8"?><Relationships xmlns="http://schemas.openxmlformats.org/package/2006/relationships"><Relationship Type="http://schemas.openxmlformats.org/officeDocument/2006/relationships/slide" Target="/ppt/slides/slide6.xml" Id="R749ef0c049cd41ed" /><Relationship Type="http://schemas.openxmlformats.org/officeDocument/2006/relationships/notesMaster" Target="/ppt/notesMasters/notesMaster1.xml" Id="R5f91ea2337a349b5" /></Relationships>
</file>

<file path=ppt/notesSlides/_rels/notesSlide7.xml.rels>&#65279;<?xml version="1.0" encoding="utf-8"?><Relationships xmlns="http://schemas.openxmlformats.org/package/2006/relationships"><Relationship Type="http://schemas.openxmlformats.org/officeDocument/2006/relationships/slide" Target="/ppt/slides/slide7.xml" Id="Rdc128828185f43b7" /><Relationship Type="http://schemas.openxmlformats.org/officeDocument/2006/relationships/notesMaster" Target="/ppt/notesMasters/notesMaster1.xml" Id="R4beaf7f776bf46d5" /></Relationships>
</file>

<file path=ppt/notesSlides/_rels/notesSlide8.xml.rels>&#65279;<?xml version="1.0" encoding="utf-8"?><Relationships xmlns="http://schemas.openxmlformats.org/package/2006/relationships"><Relationship Type="http://schemas.openxmlformats.org/officeDocument/2006/relationships/slide" Target="/ppt/slides/slide8.xml" Id="Rb515883ea1ff4320" /><Relationship Type="http://schemas.openxmlformats.org/officeDocument/2006/relationships/notesMaster" Target="/ppt/notesMasters/notesMaster1.xml" Id="Rb14c0e92c4e34ded" /></Relationships>
</file>

<file path=ppt/notesSlides/_rels/notesSlide9.xml.rels>&#65279;<?xml version="1.0" encoding="utf-8"?><Relationships xmlns="http://schemas.openxmlformats.org/package/2006/relationships"><Relationship Type="http://schemas.openxmlformats.org/officeDocument/2006/relationships/slide" Target="/ppt/slides/slide9.xml" Id="R3e4931a4be904c7c" /><Relationship Type="http://schemas.openxmlformats.org/officeDocument/2006/relationships/notesMaster" Target="/ppt/notesMasters/notesMaster1.xml" Id="R18567c0e76454f2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3a4483872564132" /><Relationship Type="http://schemas.openxmlformats.org/officeDocument/2006/relationships/notesMaster" Target="/ppt/notesMasters/notesMaster1.xml" Id="R42697911eac54a2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1b64a5e8c6f4f23" /><Relationship Type="http://schemas.openxmlformats.org/officeDocument/2006/relationships/notesMaster" Target="/ppt/notesMasters/notesMaster1.xml" Id="Rfdecfbbb7ada499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d601b37d3374cbc" /><Relationship Type="http://schemas.openxmlformats.org/officeDocument/2006/relationships/notesMaster" Target="/ppt/notesMasters/notesMaster1.xml" Id="R945792937d154a1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9bc51c607184a4b" /><Relationship Type="http://schemas.openxmlformats.org/officeDocument/2006/relationships/notesMaster" Target="/ppt/notesMasters/notesMaster1.xml" Id="Re89f4d3eaa78401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94b1f6c22fd4d12" /><Relationship Type="http://schemas.openxmlformats.org/officeDocument/2006/relationships/notesMaster" Target="/ppt/notesMasters/notesMaster1.xml" Id="R6dc724cf66d9453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287be0c9d8c402e" /><Relationship Type="http://schemas.openxmlformats.org/officeDocument/2006/relationships/notesMaster" Target="/ppt/notesMasters/notesMaster1.xml" Id="R097a5239e3dc454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f1d2dec9b204193" /><Relationship Type="http://schemas.openxmlformats.org/officeDocument/2006/relationships/notesMaster" Target="/ppt/notesMasters/notesMaster1.xml" Id="R53bb2a60466c48e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657cdf5019a4077" /><Relationship Type="http://schemas.openxmlformats.org/officeDocument/2006/relationships/notesMaster" Target="/ppt/notesMasters/notesMaster1.xml" Id="R96e2acc2e4c9497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fb3a342cf3043c2" /><Relationship Type="http://schemas.openxmlformats.org/officeDocument/2006/relationships/notesMaster" Target="/ppt/notesMasters/notesMaster1.xml" Id="R7d2eb8f1fca041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afternoon. My name is Wenjie Shi, and my supervisor is Chi Zhao. My research is Min-Marginal Power Indices for Multi-Objective Feature Selection. The central question is when an extra feature can make a model worse. I will explain the core idea through a complete example, then discuss how the experiments will test its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a spam classifier. Each email has input features, such as word frequencies and punctuation, and a known label indicating spam or legitimate email. The model learns from these labeled examples.</a:t>
            </a:r>
          </a:p>
          <a:p xmlns:a="http://schemas.openxmlformats.org/drawingml/2006/main">
            <a:r>
              <a:t/>
            </a:r>
          </a:p>
          <a:p xmlns:a="http://schemas.openxmlformats.org/drawingml/2006/main">
            <a:r>
              <a:t>We may want fewer inputs to reduce measurement and model costs. However, adding or removing a feature can change prediction performance, and its effect can depend on the other inputs already present. My research therefore seeks a concrete reason to consider a feature for removal, followed by a separate test of whether removal is worthwhile.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research separates two checks. In the addition check, we compare a model using feature group S with a model trained after adding input i. We ask whether that addition makes the score fall below the requirement.</a:t>
            </a:r>
          </a:p>
          <a:p xmlns:a="http://schemas.openxmlformats.org/drawingml/2006/main">
            <a:r>
              <a:t/>
            </a:r>
          </a:p>
          <a:p xmlns:a="http://schemas.openxmlformats.org/drawingml/2006/main">
            <a:r>
              <a:t>In the removal check, we compare the full input set with a proposed smaller set on independent data. We examine prediction loss, model size, and cost. A harmful addition in one group does not automatically imply useful removal from the full set, so these two questions require separate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are the definitions. D is the full input set being analyzed. S is a group without input i. U of S is the validation score after training with S.</a:t>
            </a:r>
          </a:p>
          <a:p xmlns:a="http://schemas.openxmlformats.org/drawingml/2006/main">
            <a:r>
              <a:t/>
            </a:r>
          </a:p>
          <a:p xmlns:a="http://schemas.openxmlformats.org/drawingml/2006/main">
            <a:r>
              <a:t>The required score, q, equals alpha times the full-set score. With alpha at zero point nine five, we require ninety-five percent of that reference score, not ninety-five percent accuracy.</a:t>
            </a:r>
          </a:p>
          <a:p xmlns:a="http://schemas.openxmlformats.org/drawingml/2006/main">
            <a:r>
              <a:t/>
            </a:r>
          </a:p>
          <a:p xmlns:a="http://schemas.openxmlformats.org/drawingml/2006/main">
            <a:r>
              <a:t>The game value v equals one when the requirement is met and zero otherwise. Delta is the value after adding i minus the value before adding it. A pass becoming a fail gives minus one.</a:t>
            </a:r>
          </a:p>
          <a:p xmlns:a="http://schemas.openxmlformats.org/drawingml/2006/main">
            <a:r>
              <a:t/>
            </a:r>
          </a:p>
          <a:p xmlns:a="http://schemas.openxmlformats.org/drawingml/2006/main">
            <a:r>
              <a:t>MinPPI takes the minimum delta across all groups without i. Let us now expand these definitions for three inputs and compare them with Shapley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define one complete game with three inputs, x one, x two, and x three. These scores are an illustration, not experimental results. The full-set score is zero point nine zero, giving a threshold of zero point eight five five.</a:t>
            </a:r>
          </a:p>
          <a:p xmlns:a="http://schemas.openxmlformats.org/drawingml/2006/main">
            <a:r>
              <a:t/>
            </a:r>
          </a:p>
          <a:p xmlns:a="http://schemas.openxmlformats.org/drawingml/2006/main">
            <a:r>
              <a:t>The table lists all eight groups, including the empty group, which uses a constant predictor. Each score becomes either one for passing or zero for failing. This is the Voting Game representation used here. It defines the outcome of each group; it is not a competing feature-ranking method.</a:t>
            </a:r>
          </a:p>
          <a:p xmlns:a="http://schemas.openxmlformats.org/drawingml/2006/main">
            <a:r>
              <a:t/>
            </a:r>
          </a:p>
          <a:p xmlns:a="http://schemas.openxmlformats.org/drawingml/2006/main">
            <a:r>
              <a:t>This game can be nonmonotone. For example, x one alone passes, but adding x two makes their pair fail. We will use exactly these outcomes for both Shapley and MinPPI.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Shapley averages a feature's marginal effects over all possible joining orders. The weights in the formula account for how often each group precedes the feature. With three inputs, the empty and two-input groups each receive weight one third. Each one-input group receives weight one sixth.</a:t>
            </a:r>
          </a:p>
          <a:p xmlns:a="http://schemas.openxmlformats.org/drawingml/2006/main">
            <a:r>
              <a:t/>
            </a:r>
          </a:p>
          <a:p xmlns:a="http://schemas.openxmlformats.org/drawingml/2006/main">
            <a:r>
              <a:t>Consider x one. Its four marginal effects are plus one, minus one, plus one, and zero. Multiplying by the four weights and adding gives one third. The negative effect is present, but positive effects offset it in the average.</a:t>
            </a:r>
          </a:p>
          <a:p xmlns:a="http://schemas.openxmlformats.org/drawingml/2006/main">
            <a:r>
              <a:t/>
            </a:r>
          </a:p>
          <a:p xmlns:a="http://schemas.openxmlformats.org/drawingml/2006/main">
            <a:r>
              <a:t>The same calculation gives one third for x two. For x three, only the last context contributes positively, also giving one third. All three inputs therefore have identical positive Shapley values in this game. These are Shapley values of the threshold game, not SHAP explanations of an individual prediction.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MinPPI uses the same marginal effects but changes how we combine them. For x one, the minimum of plus one, minus one, plus one, and zero is minus one. The result is also minus one for x two. For x three, the minimum of zero, zero, zero, and plus one is zero.</a:t>
            </a:r>
          </a:p>
          <a:p xmlns:a="http://schemas.openxmlformats.org/drawingml/2006/main">
            <a:r>
              <a:t/>
            </a:r>
          </a:p>
          <a:p xmlns:a="http://schemas.openxmlformats.org/drawingml/2006/main">
            <a:r>
              <a:t>The comparison shows the distinction. All three inputs have a Shapley value of one third, but only x one and x two have negative threshold crossings. The two summaries answer different questions: average contribution and the existence of a harmful context.</a:t>
            </a:r>
          </a:p>
          <a:p xmlns:a="http://schemas.openxmlformats.org/drawingml/2006/main">
            <a:r>
              <a:t/>
            </a:r>
          </a:p>
          <a:p xmlns:a="http://schemas.openxmlformats.org/drawingml/2006/main">
            <a:r>
              <a:t>A zero MinPPI does not mean that x three is useless. Adding it to the failing pair of x one and x two makes that group pass. Let us now look more closely at one of the negative crossings.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one witness from the same three-input game. The model using x one scores zero point eight seven and passes the threshold. Adding x two and retraining lowers the score to zero point eight four, so it fails. The change is zero minus one, or minus one.</a:t>
            </a:r>
          </a:p>
          <a:p xmlns:a="http://schemas.openxmlformats.org/drawingml/2006/main">
            <a:r>
              <a:t/>
            </a:r>
          </a:p>
          <a:p xmlns:a="http://schemas.openxmlformats.org/drawingml/2006/main">
            <a:r>
              <a:t>This also shows why removal needs another check. Although both x one and x two have harmful contexts, deleting both leaves only x three. Its score is zero point eight zero, below the requirement. Joint deletion would therefore fail in this illustrative game.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diagram brings the research together. The upper row shows the feature audit. We first choose an input i and a group of other inputs, S. We then train and evaluate the models using S and S plus i. If adding i changes a pass into a fail, we record the feature, the group, both scores, and the threshold. We repeat this process within a fixed query budget.</a:t>
            </a:r>
          </a:p>
          <a:p xmlns:a="http://schemas.openxmlformats.org/drawingml/2006/main">
            <a:r>
              <a:t/>
            </a:r>
          </a:p>
          <a:p xmlns:a="http://schemas.openxmlformats.org/drawingml/2006/main">
            <a:r>
              <a:t>The lower row shows the planned deletion evaluation. Following the arrows from right to left, we use the audit evidence to propose one removal candidate. An independent validation check decides whether to accept it or keep the full input set.</a:t>
            </a:r>
          </a:p>
          <a:p xmlns:a="http://schemas.openxmlformats.org/drawingml/2006/main">
            <a:r>
              <a:t/>
            </a:r>
          </a:p>
          <a:p xmlns:a="http://schemas.openxmlformats.org/drawingml/2006/main">
            <a:r>
              <a:t>After freezing that decision, we evaluate the chosen model on held-out test data. We measure how many inputs remain, how much prediction performance changes, and the total computational cost. This keeps the discovery of a harmful context separate from the evaluation of a removal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calculations use the language of cooperative game theory. Each input is a player, and each feature group is a coalition. Adding an input creates a marginal contribution.</a:t>
            </a:r>
          </a:p>
          <a:p xmlns:a="http://schemas.openxmlformats.org/drawingml/2006/main">
            <a:r>
              <a:t/>
            </a:r>
          </a:p>
          <a:p xmlns:a="http://schemas.openxmlformats.org/drawingml/2006/main">
            <a:r>
              <a:t>Shapley summarizes those contributions using a weighted average. MinPPI checks their minimum in the threshold game. Minimum aggregation has predecessors, including MinShap. This project focuses on the fixed performance requirement, the record of an evaluated failure, and the independent evaluation of removal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previous slides explain how we check whether adding a feature causes harm. The next question is how to find such cases efficiently.</a:t>
            </a:r>
          </a:p>
          <a:p xmlns:a="http://schemas.openxmlformats.org/drawingml/2006/main">
            <a:r>
              <a:t/>
            </a:r>
          </a:p>
          <a:p xmlns:a="http://schemas.openxmlformats.org/drawingml/2006/main">
            <a:r>
              <a:t>As the number of features grows, checking every combination becomes expensive. We therefore compare two search strategies. Method A selects feature groups randomly. Method B uses information from the training data, including associations with the target and relationships between features, to guide this selection.</a:t>
            </a:r>
          </a:p>
          <a:p xmlns:a="http://schemas.openxmlformats.org/drawingml/2006/main">
            <a:r>
              <a:t/>
            </a:r>
          </a:p>
          <a:p xmlns:a="http://schemas.openxmlformats.org/drawingml/2006/main">
            <a:r>
              <a:t>Both methods use the same addition check and the same query budget. We then compare how many harmful cases they discover. Guidance is a hypothesis to test, rather than a guaranteed improvement.</a:t>
            </a:r>
          </a:p>
          <a:p xmlns:a="http://schemas.openxmlformats.org/drawingml/2006/main">
            <a:r>
              <a:t/>
            </a:r>
          </a:p>
          <a:p xmlns:a="http://schemas.openxmlformats.org/drawingml/2006/main">
            <a:r>
              <a:t>A discovered witness provides evidence of harm in that specific context. However, finding no witness does not prove safety, because some combinations remain unchecked. We also measure computational cost separately, since equal query budgets do not necessarily mean equal running times.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datasets were chosen to serve different parts of the research.</a:t>
            </a:r>
          </a:p>
          <a:p xmlns:a="http://schemas.openxmlformats.org/drawingml/2006/main">
            <a:r>
              <a:t/>
            </a:r>
          </a:p>
          <a:p xmlns:a="http://schemas.openxmlformats.org/drawingml/2006/main">
            <a:r>
              <a:t>Abalone uses physical measurements to predict ring count. It provides a regression task, and its eight inputs allow us to check every possible subset.</a:t>
            </a:r>
          </a:p>
          <a:p xmlns:a="http://schemas.openxmlformats.org/drawingml/2006/main">
            <a:r>
              <a:t/>
            </a:r>
          </a:p>
          <a:p xmlns:a="http://schemas.openxmlformats.org/drawingml/2006/main">
            <a:r>
              <a:t>Madelon is a labeled synthetic classification dataset. It contains informative variables, redundant combinations, and distractor variables. This structure helps us investigate difficult feature combinations, although a variable's generating role does not automatically determine whether MinPPI finds it harmful.</a:t>
            </a:r>
          </a:p>
          <a:p xmlns:a="http://schemas.openxmlformats.org/drawingml/2006/main">
            <a:r>
              <a:t/>
            </a:r>
          </a:p>
          <a:p xmlns:a="http://schemas.openxmlformats.org/drawingml/2006/main">
            <a:r>
              <a:t>Spambase uses word and character statistics to predict whether an email is spam. Its inputs make the feature combinations easier to explain.</a:t>
            </a:r>
          </a:p>
          <a:p xmlns:a="http://schemas.openxmlformats.org/drawingml/2006/main">
            <a:r>
              <a:t/>
            </a:r>
          </a:p>
          <a:p xmlns:a="http://schemas.openxmlformats.org/drawingml/2006/main">
            <a:r>
              <a:t>Credit-card fraud provides a classification task with rare positive cases. Its inputs include anonymized PCA components and transaction amount. PCA describes the input representation. The prediction task still uses known fraud labels and remains supervised.</a:t>
            </a:r>
          </a:p>
          <a:p xmlns:a="http://schemas.openxmlformats.org/drawingml/2006/main">
            <a:r>
              <a:t/>
            </a:r>
          </a:p>
          <a:p xmlns:a="http://schemas.openxmlformats.org/drawingml/2006/main">
            <a:r>
              <a:t>The current exact-reference study uses these four datasets. Gisette and ISOLET belong to the broader benchmark, but they are not part of the current thirty-five small reference problems.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experiments answer three questions. First, how much does the search miss? We compare it with complete references on small problems. This study is complete.</a:t>
            </a:r>
          </a:p>
          <a:p xmlns:a="http://schemas.openxmlformats.org/drawingml/2006/main">
            <a:r>
              <a:t/>
            </a:r>
          </a:p>
          <a:p xmlns:a="http://schemas.openxmlformats.org/drawingml/2006/main">
            <a:r>
              <a:t>Second, what makes discovery difficult? Planned synthetic experiments separate signal, redundancy, and interaction.</a:t>
            </a:r>
          </a:p>
          <a:p xmlns:a="http://schemas.openxmlformats.org/drawingml/2006/main">
            <a:r>
              <a:t/>
            </a:r>
          </a:p>
          <a:p xmlns:a="http://schemas.openxmlformats.org/drawingml/2006/main">
            <a:r>
              <a:t>Third, is removal worthwhile? Planned independent evaluation measures smaller models, prediction loss, and total cost. Evidence of a harmful context cannot replace evidence that deleting features is useful.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study uses small problems because we need a complete reference. With eight inputs, there are two hundred and fifty-six possible subsets. We can evaluate all of them and determine which inputs have at least one harmful context.</a:t>
            </a:r>
          </a:p>
          <a:p xmlns:a="http://schemas.openxmlformats.org/drawingml/2006/main">
            <a:r>
              <a:t/>
            </a:r>
          </a:p>
          <a:p xmlns:a="http://schemas.openxmlformats.org/drawingml/2006/main">
            <a:r>
              <a:t>We then let methods A and B search under the same query budget. They cannot see the complete reference or its harmful-feature labels. They can only request the subset evaluations selected by their own search strategy.</a:t>
            </a:r>
          </a:p>
          <a:p xmlns:a="http://schemas.openxmlformats.org/drawingml/2006/main">
            <a:r>
              <a:t/>
            </a:r>
          </a:p>
          <a:p xmlns:a="http://schemas.openxmlformats.org/drawingml/2006/main">
            <a:r>
              <a:t>After the search, we compare the discovered harmful inputs with the reference. This allows us to measure what was found and what was missed across the query budget.</a:t>
            </a:r>
          </a:p>
          <a:p xmlns:a="http://schemas.openxmlformats.org/drawingml/2006/main">
            <a:r>
              <a:t/>
            </a:r>
          </a:p>
          <a:p xmlns:a="http://schemas.openxmlformats.org/drawingml/2006/main">
            <a:r>
              <a:t>The completed study contains thirty-five fixed problems across four datasets. Each reference applies to its own eight-input problem, model, split, and threshold. It does not provide a complete answer for the original high-dimensional 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study is planned to help explain the discovery results. Real datasets contain many overlapping influences, which makes it difficult to identify why a search succeeds or fails.</a:t>
            </a:r>
          </a:p>
          <a:p xmlns:a="http://schemas.openxmlformats.org/drawingml/2006/main">
            <a:r>
              <a:t/>
            </a:r>
          </a:p>
          <a:p xmlns:a="http://schemas.openxmlformats.org/drawingml/2006/main">
            <a:r>
              <a:t>We therefore use three controlled structures. The first combines useful variables with unrelated distractors. The second adds noisy copies of informative variables, creating correlated redundancy. The third uses an interaction in which the target depends on a combination of variables.</a:t>
            </a:r>
          </a:p>
          <a:p xmlns:a="http://schemas.openxmlformats.org/drawingml/2006/main">
            <a:r>
              <a:t/>
            </a:r>
          </a:p>
          <a:p xmlns:a="http://schemas.openxmlformats.org/drawingml/2006/main">
            <a:r>
              <a:t>For each structure, we keep the learning and evaluation procedure fixed, construct a complete reference, and compare A and B under the same budget.</a:t>
            </a:r>
          </a:p>
          <a:p xmlns:a="http://schemas.openxmlformats.org/drawingml/2006/main">
            <a:r>
              <a:t/>
            </a:r>
          </a:p>
          <a:p xmlns:a="http://schemas.openxmlformats.org/drawingml/2006/main">
            <a:r>
              <a:t>The aim is to understand how data structure affects harmful contexts and their discovery. We do not assume that an irrelevant or redundant variable must be harmful. Its MinPPI status still depends on the evaluated model and threshold.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third study addresses practical value. It is planned, because a harmful witness alone does not establish that removal is useful.</a:t>
            </a:r>
          </a:p>
          <a:p xmlns:a="http://schemas.openxmlformats.org/drawingml/2006/main">
            <a:r>
              <a:t/>
            </a:r>
          </a:p>
          <a:p xmlns:a="http://schemas.openxmlformats.org/drawingml/2006/main">
            <a:r>
              <a:t>First, each strategy proposes one candidate input set using training and selection-validation data. A separate validation set then checks whether the candidate stays within a predefined tolerance for prediction loss. If it fails this check, the strategy keeps the full input set. We do not repeatedly try candidates until one passes.</a:t>
            </a:r>
          </a:p>
          <a:p xmlns:a="http://schemas.openxmlformats.org/drawingml/2006/main">
            <a:r>
              <a:t/>
            </a:r>
          </a:p>
          <a:p xmlns:a="http://schemas.openxmlformats.org/drawingml/2006/main">
            <a:r>
              <a:t>After fixing the decision, we refit the chosen model and evaluate it on held-out test data. We compare the result with established feature-ranking and elimination methods, using consistent learning and evaluation conditions.</a:t>
            </a:r>
          </a:p>
          <a:p xmlns:a="http://schemas.openxmlformats.org/drawingml/2006/main">
            <a:r>
              <a:t/>
            </a:r>
          </a:p>
          <a:p xmlns:a="http://schemas.openxmlformats.org/drawingml/2006/main">
            <a:r>
              <a:t>We judge three outcomes together: the number of retained inputs, prediction loss, and total computational cost, including the audit. Classification and regression results are evaluated with their appropriate metrics. A smaller model is valuable only when the reduction justifies its performance trade-off and cost.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small reference audit is complete. It provides checkable witnesses and shows that limited searches can miss harmful cases.</a:t>
            </a:r>
          </a:p>
          <a:p xmlns:a="http://schemas.openxmlformats.org/drawingml/2006/main">
            <a:r>
              <a:t/>
            </a:r>
          </a:p>
          <a:p xmlns:a="http://schemas.openxmlformats.org/drawingml/2006/main">
            <a:r>
              <a:t>The current guided strategy has no stable advantage over random exploration. Training associations do not consistently lead to failure contexts.</a:t>
            </a:r>
          </a:p>
          <a:p xmlns:a="http://schemas.openxmlformats.org/drawingml/2006/main">
            <a:r>
              <a:t/>
            </a:r>
          </a:p>
          <a:p xmlns:a="http://schemas.openxmlformats.org/drawingml/2006/main">
            <a:r>
              <a:t>Practical deletion value remains open. The next steps are the controlled mechanism study and independent removal evaluation, which will help establish the method's useful conditions and limitations.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expected contribution is a feature-selection decision supported by inspectable evidence. A failure context shows what happened. An exact reference measures what the search missed. An independent evaluation tests whether removal is worthwhile.</a:t>
            </a:r>
          </a:p>
          <a:p xmlns:a="http://schemas.openxmlformats.org/drawingml/2006/main">
            <a:r>
              <a:t/>
            </a:r>
          </a:p>
          <a:p xmlns:a="http://schemas.openxmlformats.org/drawingml/2006/main">
            <a:r>
              <a:t>The next work is to complete the mechanism experiments and deletion evaluation. Thank you for your attention. I welcome your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162050ccd2d46f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8383a3fee76444d" /><Relationship Type="http://schemas.openxmlformats.org/officeDocument/2006/relationships/slideLayout" Target="/ppt/slideLayouts/slideLayout1.xml" Id="Ra3205eb92b6542b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3205eb92b6542b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f1f898c0e314ad8" /><Relationship Type="http://schemas.openxmlformats.org/officeDocument/2006/relationships/notesSlide" Target="/ppt/notesSlides/notesSlide1.xml" Id="Rc9fa6908f83e441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73bfc7e10b84e16" /><Relationship Type="http://schemas.openxmlformats.org/officeDocument/2006/relationships/notesSlide" Target="/ppt/notesSlides/notesSlide2.xml" Id="R438e46771a65411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ae3c8f76b014e3b" /><Relationship Type="http://schemas.openxmlformats.org/officeDocument/2006/relationships/notesSlide" Target="/ppt/notesSlides/notesSlide3.xml" Id="R785322528043404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503679f92ba4387" /><Relationship Type="http://schemas.openxmlformats.org/officeDocument/2006/relationships/notesSlide" Target="/ppt/notesSlides/notesSlide4.xml" Id="R1c67e5d67836459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82ba2dc50eb4d9d" /><Relationship Type="http://schemas.openxmlformats.org/officeDocument/2006/relationships/notesSlide" Target="/ppt/notesSlides/notesSlide5.xml" Id="Rb85ea70573bb4b0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94949bae95d45c2" /><Relationship Type="http://schemas.openxmlformats.org/officeDocument/2006/relationships/notesSlide" Target="/ppt/notesSlides/notesSlide6.xml" Id="R5fda7c2cd58d470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7ed33acc2ce4bfd" /><Relationship Type="http://schemas.openxmlformats.org/officeDocument/2006/relationships/notesSlide" Target="/ppt/notesSlides/notesSlide7.xml" Id="R5de3f524dfea4aa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1b21d6f6b514495" /><Relationship Type="http://schemas.openxmlformats.org/officeDocument/2006/relationships/notesSlide" Target="/ppt/notesSlides/notesSlide8.xml" Id="R271caf7c63824a8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b1cc9abffa044b4" /><Relationship Type="http://schemas.openxmlformats.org/officeDocument/2006/relationships/notesSlide" Target="/ppt/notesSlides/notesSlide9.xml" Id="Reb476438436c46d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5d34448978246e9" /><Relationship Type="http://schemas.openxmlformats.org/officeDocument/2006/relationships/notesSlide" Target="/ppt/notesSlides/notesSlide10.xml" Id="Re228cd5ae08546d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9b07172d8ab4377" /><Relationship Type="http://schemas.openxmlformats.org/officeDocument/2006/relationships/notesSlide" Target="/ppt/notesSlides/notesSlide11.xml" Id="Ref224f46fca9445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319ac4382ce409e" /><Relationship Type="http://schemas.openxmlformats.org/officeDocument/2006/relationships/notesSlide" Target="/ppt/notesSlides/notesSlide12.xml" Id="R1a56267d7a2b41e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df849aab90f4d7d" /><Relationship Type="http://schemas.openxmlformats.org/officeDocument/2006/relationships/notesSlide" Target="/ppt/notesSlides/notesSlide13.xml" Id="R4594b5390d84463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763f8e7995f47b4" /><Relationship Type="http://schemas.openxmlformats.org/officeDocument/2006/relationships/notesSlide" Target="/ppt/notesSlides/notesSlide14.xml" Id="R77e150838e194f5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124778527e54e7f" /><Relationship Type="http://schemas.openxmlformats.org/officeDocument/2006/relationships/notesSlide" Target="/ppt/notesSlides/notesSlide15.xml" Id="R2f484d13bf6045a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d0ecb968d3448cb" /><Relationship Type="http://schemas.openxmlformats.org/officeDocument/2006/relationships/notesSlide" Target="/ppt/notesSlides/notesSlide16.xml" Id="R97b9ff61068349a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b72ed635f344645" /><Relationship Type="http://schemas.openxmlformats.org/officeDocument/2006/relationships/notesSlide" Target="/ppt/notesSlides/notesSlide17.xml" Id="R872d65bf04d6421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4acc74495674b24" /><Relationship Type="http://schemas.openxmlformats.org/officeDocument/2006/relationships/notesSlide" Target="/ppt/notesSlides/notesSlide18.xml" Id="R1d18a448eac34fd6" /></Relationships>
</file>

<file path=ppt/slides/slide1.xml><?xml version="1.0" encoding="utf-8"?>
<p:sld xmlns:p="http://schemas.openxmlformats.org/presentationml/2006/main">
  <p:cSld>
    <p:bg>
      <p:bgPr>
        <a:solidFill xmlns:a="http://schemas.openxmlformats.org/drawingml/2006/main">
          <a:srgbClr val="0B2033"/>
        </a:solidFill>
      </p:bgPr>
    </p:bg>
    <p:spTree>
      <p:nvGrpSpPr>
        <p:cNvPr id="1" name=""/>
        <p:cNvGrpSpPr/>
        <p:nvPr/>
      </p:nvGrpSpPr>
      <p:grpSpPr>
        <a:xfrm xmlns:a="http://schemas.openxmlformats.org/drawingml/2006/main"/>
      </p:grpSpPr>
      <p:sp>
        <p:nvSpPr>
          <p:cNvPr id="9" name="text-1">
            <a:extLst xmlns:a="http://schemas.openxmlformats.org/drawingml/2006/main">
              <a:ext uri="{FF2B5EF4-FFF2-40B4-BE49-F238E27FC236}">
                <a16:creationId xmlns:a16="http://schemas.microsoft.com/office/drawing/2014/main" id="{B588F3D8-9DC6-47FD-A1E7-02871B67106B}"/>
              </a:ext>
            </a:extLst>
          </p:cNvPr>
          <p:cNvSpPr>
            <a:spLocks xmlns:a="http://schemas.openxmlformats.org/drawingml/2006/main" noGrp="1"/>
          </p:cNvSpPr>
          <p:nvPr/>
        </p:nvSpPr>
        <p:spPr>
          <a:xfrm xmlns:a="http://schemas.openxmlformats.org/drawingml/2006/main">
            <a:off x="14122400" y="80772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600" b="0">
                <a:solidFill>
                  <a:srgbClr val="75D0C9"/>
                </a:solidFill>
                <a:latin typeface="Arial"/>
                <a:ea typeface="Arial"/>
                <a:cs typeface="Arial"/>
              </a:defRPr>
            </a:pPr>
            <a:r>
              <a:rPr sz="1600" b="0">
                <a:solidFill>
                  <a:srgbClr val="75D0C9"/>
                </a:solidFill>
                <a:latin typeface="Arial"/>
                <a:ea typeface="Arial"/>
                <a:cs typeface="Arial"/>
              </a:rPr>
              <a:t>01</a:t>
            </a:r>
          </a:p>
        </p:txBody>
      </p:sp>
      <p:sp>
        <p:nvSpPr>
          <p:cNvPr id="2" name="text-2">
            <a:extLst xmlns:a="http://schemas.openxmlformats.org/drawingml/2006/main">
              <a:ext uri="{FF2B5EF4-FFF2-40B4-BE49-F238E27FC236}">
                <a16:creationId xmlns:a16="http://schemas.microsoft.com/office/drawing/2014/main" id="{275D9B28-FF19-4E66-9021-16DBA497D31E}"/>
              </a:ext>
            </a:extLst>
          </p:cNvPr>
          <p:cNvSpPr>
            <a:spLocks xmlns:a="http://schemas.openxmlformats.org/drawingml/2006/main" noGrp="1"/>
          </p:cNvSpPr>
          <p:nvPr/>
        </p:nvSpPr>
        <p:spPr>
          <a:xfrm xmlns:a="http://schemas.openxmlformats.org/drawingml/2006/main">
            <a:off x="762000" y="74930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800" b="1">
                <a:solidFill>
                  <a:srgbClr val="75D0C9"/>
                </a:solidFill>
                <a:latin typeface="Arial"/>
                <a:ea typeface="Arial"/>
                <a:cs typeface="Arial"/>
              </a:defRPr>
            </a:pPr>
            <a:r>
              <a:rPr sz="4800" b="1">
                <a:solidFill>
                  <a:srgbClr val="75D0C9"/>
                </a:solidFill>
                <a:latin typeface="Arial"/>
                <a:ea typeface="Arial"/>
                <a:cs typeface="Arial"/>
              </a:rPr>
              <a:t>MinPPI</a:t>
            </a:r>
          </a:p>
        </p:txBody>
      </p:sp>
      <p:sp>
        <p:nvSpPr>
          <p:cNvPr id="3" name="text-3">
            <a:extLst xmlns:a="http://schemas.openxmlformats.org/drawingml/2006/main">
              <a:ext uri="{FF2B5EF4-FFF2-40B4-BE49-F238E27FC236}">
                <a16:creationId xmlns:a16="http://schemas.microsoft.com/office/drawing/2014/main" id="{AA97D3E1-84AF-4535-9E1A-00C907DB4EB3}"/>
              </a:ext>
            </a:extLst>
          </p:cNvPr>
          <p:cNvSpPr>
            <a:spLocks xmlns:a="http://schemas.openxmlformats.org/drawingml/2006/main" noGrp="1"/>
          </p:cNvSpPr>
          <p:nvPr/>
        </p:nvSpPr>
        <p:spPr>
          <a:xfrm xmlns:a="http://schemas.openxmlformats.org/drawingml/2006/main">
            <a:off x="762000" y="2197100"/>
            <a:ext cx="13716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400" b="1">
                <a:solidFill>
                  <a:srgbClr val="FFFFFF"/>
                </a:solidFill>
                <a:latin typeface="Arial"/>
                <a:ea typeface="Arial"/>
                <a:cs typeface="Arial"/>
              </a:defRPr>
            </a:pPr>
            <a:r>
              <a:rPr sz="4400" b="1">
                <a:solidFill>
                  <a:srgbClr val="FFFFFF"/>
                </a:solidFill>
                <a:latin typeface="Arial"/>
                <a:ea typeface="Arial"/>
                <a:cs typeface="Arial"/>
              </a:rPr>
              <a:t>Min-Marginal Power Indices for</a:t>
            </a:r>
          </a:p>
          <a:p xmlns:a="http://schemas.openxmlformats.org/drawingml/2006/main">
            <a:pPr algn="l">
              <a:defRPr sz="4400" b="1">
                <a:solidFill>
                  <a:srgbClr val="FFFFFF"/>
                </a:solidFill>
                <a:latin typeface="Arial"/>
                <a:ea typeface="Arial"/>
                <a:cs typeface="Arial"/>
              </a:defRPr>
            </a:pPr>
            <a:r>
              <a:rPr sz="4400" b="1">
                <a:solidFill>
                  <a:srgbClr val="FFFFFF"/>
                </a:solidFill>
                <a:latin typeface="Arial"/>
                <a:ea typeface="Arial"/>
                <a:cs typeface="Arial"/>
              </a:rPr>
              <a:t>Multi-Objective Feature Selection</a:t>
            </a:r>
          </a:p>
        </p:txBody>
      </p:sp>
      <p:sp>
        <p:nvSpPr>
          <p:cNvPr id="4" name="text-4">
            <a:extLst xmlns:a="http://schemas.openxmlformats.org/drawingml/2006/main">
              <a:ext uri="{FF2B5EF4-FFF2-40B4-BE49-F238E27FC236}">
                <a16:creationId xmlns:a16="http://schemas.microsoft.com/office/drawing/2014/main" id="{FB4BD586-D70C-41A2-B5F5-41240130D478}"/>
              </a:ext>
            </a:extLst>
          </p:cNvPr>
          <p:cNvSpPr>
            <a:spLocks xmlns:a="http://schemas.openxmlformats.org/drawingml/2006/main" noGrp="1"/>
          </p:cNvSpPr>
          <p:nvPr/>
        </p:nvSpPr>
        <p:spPr>
          <a:xfrm xmlns:a="http://schemas.openxmlformats.org/drawingml/2006/main">
            <a:off x="762000" y="4457700"/>
            <a:ext cx="13716000" cy="82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0">
                <a:solidFill>
                  <a:srgbClr val="75D0C9"/>
                </a:solidFill>
                <a:latin typeface="Arial"/>
                <a:ea typeface="Arial"/>
                <a:cs typeface="Arial"/>
              </a:defRPr>
            </a:pPr>
            <a:r>
              <a:rPr sz="2700" b="0">
                <a:solidFill>
                  <a:srgbClr val="75D0C9"/>
                </a:solidFill>
                <a:latin typeface="Arial"/>
                <a:ea typeface="Arial"/>
                <a:cs typeface="Arial"/>
              </a:rPr>
              <a:t>When can an extra feature make a model worse?</a:t>
            </a:r>
          </a:p>
        </p:txBody>
      </p:sp>
      <p:sp>
        <p:nvSpPr>
          <p:cNvPr id="5" name="rule-5">
            <a:extLst xmlns:a="http://schemas.openxmlformats.org/drawingml/2006/main">
              <a:ext uri="{FF2B5EF4-FFF2-40B4-BE49-F238E27FC236}">
                <a16:creationId xmlns:a16="http://schemas.microsoft.com/office/drawing/2014/main" id="{DE1272C5-9974-4386-AD23-F128BD71BC59}"/>
              </a:ext>
            </a:extLst>
          </p:cNvPr>
          <p:cNvSpPr>
            <a:spLocks xmlns:a="http://schemas.openxmlformats.org/drawingml/2006/main" noGrp="1"/>
          </p:cNvSpPr>
          <p:nvPr/>
        </p:nvSpPr>
        <p:spPr>
          <a:xfrm xmlns:a="http://schemas.openxmlformats.org/drawingml/2006/main">
            <a:off x="762000" y="5727700"/>
            <a:ext cx="13716000" cy="0"/>
          </a:xfrm>
          <a:prstGeom xmlns:a="http://schemas.openxmlformats.org/drawingml/2006/main" prst="line">
            <a:avLst/>
          </a:prstGeom>
          <a:noFill xmlns:a="http://schemas.openxmlformats.org/drawingml/2006/main"/>
          <a:ln xmlns:a="http://schemas.openxmlformats.org/drawingml/2006/main" w="12700">
            <a:solidFill>
              <a:srgbClr val="496174"/>
            </a:solidFill>
          </a:ln>
        </p:spPr>
      </p:sp>
      <p:sp>
        <p:nvSpPr>
          <p:cNvPr id="6" name="text-6">
            <a:extLst xmlns:a="http://schemas.openxmlformats.org/drawingml/2006/main">
              <a:ext uri="{FF2B5EF4-FFF2-40B4-BE49-F238E27FC236}">
                <a16:creationId xmlns:a16="http://schemas.microsoft.com/office/drawing/2014/main" id="{F57FF10E-D8F8-467D-8E84-5523BBA30009}"/>
              </a:ext>
            </a:extLst>
          </p:cNvPr>
          <p:cNvSpPr>
            <a:spLocks xmlns:a="http://schemas.openxmlformats.org/drawingml/2006/main" noGrp="1"/>
          </p:cNvSpPr>
          <p:nvPr/>
        </p:nvSpPr>
        <p:spPr>
          <a:xfrm xmlns:a="http://schemas.openxmlformats.org/drawingml/2006/main">
            <a:off x="762000" y="6032500"/>
            <a:ext cx="6096000" cy="59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900" b="1">
                <a:solidFill>
                  <a:srgbClr val="FFFFFF"/>
                </a:solidFill>
                <a:latin typeface="Arial"/>
                <a:ea typeface="Arial"/>
                <a:cs typeface="Arial"/>
              </a:defRPr>
            </a:pPr>
            <a:r>
              <a:rPr sz="2900" b="1">
                <a:solidFill>
                  <a:srgbClr val="FFFFFF"/>
                </a:solidFill>
                <a:latin typeface="Arial"/>
                <a:ea typeface="Arial"/>
                <a:cs typeface="Arial"/>
              </a:rPr>
              <a:t>Wenjie SHI</a:t>
            </a:r>
          </a:p>
        </p:txBody>
      </p:sp>
      <p:sp>
        <p:nvSpPr>
          <p:cNvPr id="7" name="text-7">
            <a:extLst xmlns:a="http://schemas.openxmlformats.org/drawingml/2006/main">
              <a:ext uri="{FF2B5EF4-FFF2-40B4-BE49-F238E27FC236}">
                <a16:creationId xmlns:a16="http://schemas.microsoft.com/office/drawing/2014/main" id="{4815DF21-9288-46D3-A5B7-26ED180E77A7}"/>
              </a:ext>
            </a:extLst>
          </p:cNvPr>
          <p:cNvSpPr>
            <a:spLocks xmlns:a="http://schemas.openxmlformats.org/drawingml/2006/main" noGrp="1"/>
          </p:cNvSpPr>
          <p:nvPr/>
        </p:nvSpPr>
        <p:spPr>
          <a:xfrm xmlns:a="http://schemas.openxmlformats.org/drawingml/2006/main">
            <a:off x="8509000" y="6032500"/>
            <a:ext cx="5969000" cy="59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2600" b="1">
                <a:solidFill>
                  <a:srgbClr val="FFFFFF"/>
                </a:solidFill>
                <a:latin typeface="Arial"/>
                <a:ea typeface="Arial"/>
                <a:cs typeface="Arial"/>
              </a:defRPr>
            </a:pPr>
            <a:r>
              <a:rPr sz="2600" b="1">
                <a:solidFill>
                  <a:srgbClr val="FFFFFF"/>
                </a:solidFill>
                <a:latin typeface="Arial"/>
                <a:ea typeface="Arial"/>
                <a:cs typeface="Arial"/>
              </a:rPr>
              <a:t>Supervisor: Chi ZHAO</a:t>
            </a:r>
          </a:p>
        </p:txBody>
      </p:sp>
      <p:sp>
        <p:nvSpPr>
          <p:cNvPr id="8" name="text-8">
            <a:extLst xmlns:a="http://schemas.openxmlformats.org/drawingml/2006/main">
              <a:ext uri="{FF2B5EF4-FFF2-40B4-BE49-F238E27FC236}">
                <a16:creationId xmlns:a16="http://schemas.microsoft.com/office/drawing/2014/main" id="{40D3758D-2736-4BC8-B180-095AE6544348}"/>
              </a:ext>
            </a:extLst>
          </p:cNvPr>
          <p:cNvSpPr>
            <a:spLocks xmlns:a="http://schemas.openxmlformats.org/drawingml/2006/main" noGrp="1"/>
          </p:cNvSpPr>
          <p:nvPr/>
        </p:nvSpPr>
        <p:spPr>
          <a:xfrm xmlns:a="http://schemas.openxmlformats.org/drawingml/2006/main">
            <a:off x="762000" y="6845300"/>
            <a:ext cx="10160000" cy="939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00" b="0">
                <a:solidFill>
                  <a:srgbClr val="75D0C9"/>
                </a:solidFill>
                <a:latin typeface="Arial"/>
                <a:ea typeface="Arial"/>
                <a:cs typeface="Arial"/>
              </a:defRPr>
            </a:pPr>
            <a:r>
              <a:rPr sz="2200" b="0">
                <a:solidFill>
                  <a:srgbClr val="75D0C9"/>
                </a:solidFill>
                <a:latin typeface="Arial"/>
                <a:ea typeface="Arial"/>
                <a:cs typeface="Arial"/>
              </a:rPr>
              <a:t>Saint Petersburg State University</a:t>
            </a:r>
          </a:p>
          <a:p xmlns:a="http://schemas.openxmlformats.org/drawingml/2006/main">
            <a:pPr algn="l">
              <a:defRPr sz="2200" b="0">
                <a:solidFill>
                  <a:srgbClr val="75D0C9"/>
                </a:solidFill>
                <a:latin typeface="Arial"/>
                <a:ea typeface="Arial"/>
                <a:cs typeface="Arial"/>
              </a:defRPr>
            </a:pPr>
            <a:r>
              <a:rPr sz="2200" b="0">
                <a:solidFill>
                  <a:srgbClr val="75D0C9"/>
                </a:solidFill>
                <a:latin typeface="Arial"/>
                <a:ea typeface="Arial"/>
                <a:cs typeface="Arial"/>
              </a:rPr>
              <a:t>Applied Mathematics and Control Processes</a:t>
            </a:r>
          </a:p>
        </p:txBody>
      </p:sp>
    </p:spTree>
    <p:extLst>
      <p:ext uri="{BB962C8B-B14F-4D97-AF65-F5344CB8AC3E}">
        <p14:creationId xmlns:p14="http://schemas.microsoft.com/office/powerpoint/2010/main" val="784092554"/>
      </p:ext>
    </p:extLst>
  </p:cSld>
</p:sld>
</file>

<file path=ppt/slides/slide2.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9" name="text-9">
            <a:extLst xmlns:a="http://schemas.openxmlformats.org/drawingml/2006/main">
              <a:ext uri="{FF2B5EF4-FFF2-40B4-BE49-F238E27FC236}">
                <a16:creationId xmlns:a16="http://schemas.microsoft.com/office/drawing/2014/main" id="{8C181268-7125-4A65-9E8A-CB78AAC6CB95}"/>
              </a:ext>
            </a:extLst>
          </p:cNvPr>
          <p:cNvSpPr>
            <a:spLocks xmlns:a="http://schemas.openxmlformats.org/drawingml/2006/main" noGrp="1"/>
          </p:cNvSpPr>
          <p:nvPr/>
        </p:nvSpPr>
        <p:spPr>
          <a:xfrm xmlns:a="http://schemas.openxmlformats.org/drawingml/2006/main">
            <a:off x="762000" y="558800"/>
            <a:ext cx="13843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900" b="1">
                <a:solidFill>
                  <a:srgbClr val="0B2033"/>
                </a:solidFill>
                <a:latin typeface="Arial"/>
                <a:ea typeface="Arial"/>
                <a:cs typeface="Arial"/>
              </a:defRPr>
            </a:pPr>
            <a:r>
              <a:rPr sz="3900" b="1">
                <a:solidFill>
                  <a:srgbClr val="0B2033"/>
                </a:solidFill>
                <a:latin typeface="Arial"/>
                <a:ea typeface="Arial"/>
                <a:cs typeface="Arial"/>
              </a:rPr>
              <a:t>Why feature selection needs evidence</a:t>
            </a:r>
          </a:p>
        </p:txBody>
      </p:sp>
      <p:sp>
        <p:nvSpPr>
          <p:cNvPr id="2" name="rule-10">
            <a:extLst xmlns:a="http://schemas.openxmlformats.org/drawingml/2006/main">
              <a:ext uri="{FF2B5EF4-FFF2-40B4-BE49-F238E27FC236}">
                <a16:creationId xmlns:a16="http://schemas.microsoft.com/office/drawing/2014/main" id="{203451E6-0925-4287-8978-88CD5A21EF7B}"/>
              </a:ext>
            </a:extLst>
          </p:cNvPr>
          <p:cNvSpPr>
            <a:spLocks xmlns:a="http://schemas.openxmlformats.org/drawingml/2006/main" noGrp="1"/>
          </p:cNvSpPr>
          <p:nvPr/>
        </p:nvSpPr>
        <p:spPr>
          <a:xfrm xmlns:a="http://schemas.openxmlformats.org/drawingml/2006/main">
            <a:off x="762000" y="1701800"/>
            <a:ext cx="13716000" cy="0"/>
          </a:xfrm>
          <a:prstGeom xmlns:a="http://schemas.openxmlformats.org/drawingml/2006/main" prst="line">
            <a:avLst/>
          </a:prstGeom>
          <a:noFill xmlns:a="http://schemas.openxmlformats.org/drawingml/2006/main"/>
          <a:ln xmlns:a="http://schemas.openxmlformats.org/drawingml/2006/main" w="19050">
            <a:solidFill>
              <a:srgbClr val="0C7C78"/>
            </a:solidFill>
          </a:ln>
        </p:spPr>
      </p:sp>
      <p:sp>
        <p:nvSpPr>
          <p:cNvPr id="3" name="text-11">
            <a:extLst xmlns:a="http://schemas.openxmlformats.org/drawingml/2006/main">
              <a:ext uri="{FF2B5EF4-FFF2-40B4-BE49-F238E27FC236}">
                <a16:creationId xmlns:a16="http://schemas.microsoft.com/office/drawing/2014/main" id="{C68A9D95-378F-4D8C-8EDD-90D13336FA5E}"/>
              </a:ext>
            </a:extLst>
          </p:cNvPr>
          <p:cNvSpPr>
            <a:spLocks xmlns:a="http://schemas.openxmlformats.org/drawingml/2006/main" noGrp="1"/>
          </p:cNvSpPr>
          <p:nvPr/>
        </p:nvSpPr>
        <p:spPr>
          <a:xfrm xmlns:a="http://schemas.openxmlformats.org/drawingml/2006/main">
            <a:off x="14122400" y="80772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600" b="0">
                <a:solidFill>
                  <a:srgbClr val="526675"/>
                </a:solidFill>
                <a:latin typeface="Arial"/>
                <a:ea typeface="Arial"/>
                <a:cs typeface="Arial"/>
              </a:defRPr>
            </a:pPr>
            <a:r>
              <a:rPr sz="1600" b="0">
                <a:solidFill>
                  <a:srgbClr val="526675"/>
                </a:solidFill>
                <a:latin typeface="Arial"/>
                <a:ea typeface="Arial"/>
                <a:cs typeface="Arial"/>
              </a:rPr>
              <a:t>02</a:t>
            </a:r>
          </a:p>
        </p:txBody>
      </p:sp>
      <p:sp>
        <p:nvSpPr>
          <p:cNvPr id="4" name="text-12">
            <a:extLst xmlns:a="http://schemas.openxmlformats.org/drawingml/2006/main">
              <a:ext uri="{FF2B5EF4-FFF2-40B4-BE49-F238E27FC236}">
                <a16:creationId xmlns:a16="http://schemas.microsoft.com/office/drawing/2014/main" id="{D3613D60-C24F-4B31-9049-361D2796C80F}"/>
              </a:ext>
            </a:extLst>
          </p:cNvPr>
          <p:cNvSpPr>
            <a:spLocks xmlns:a="http://schemas.openxmlformats.org/drawingml/2006/main" noGrp="1"/>
          </p:cNvSpPr>
          <p:nvPr/>
        </p:nvSpPr>
        <p:spPr>
          <a:xfrm xmlns:a="http://schemas.openxmlformats.org/drawingml/2006/main">
            <a:off x="762000" y="2044700"/>
            <a:ext cx="137160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0B2033"/>
                </a:solidFill>
                <a:latin typeface="Arial"/>
                <a:ea typeface="Arial"/>
                <a:cs typeface="Arial"/>
              </a:defRPr>
            </a:pPr>
            <a:r>
              <a:rPr sz="3000" b="1">
                <a:solidFill>
                  <a:srgbClr val="0B2033"/>
                </a:solidFill>
                <a:latin typeface="Arial"/>
                <a:ea typeface="Arial"/>
                <a:cs typeface="Arial"/>
              </a:rPr>
              <a:t>Example: a spam classifier uses many measurements of an email.</a:t>
            </a:r>
          </a:p>
        </p:txBody>
      </p:sp>
      <p:sp>
        <p:nvSpPr>
          <p:cNvPr id="5" name="stage-13">
            <a:extLst xmlns:a="http://schemas.openxmlformats.org/drawingml/2006/main">
              <a:ext uri="{FF2B5EF4-FFF2-40B4-BE49-F238E27FC236}">
                <a16:creationId xmlns:a16="http://schemas.microsoft.com/office/drawing/2014/main" id="{D5D5312E-3DA6-47C3-AF2C-808C25FE6D16}"/>
              </a:ext>
            </a:extLst>
          </p:cNvPr>
          <p:cNvSpPr>
            <a:spLocks xmlns:a="http://schemas.openxmlformats.org/drawingml/2006/main" noGrp="1"/>
          </p:cNvSpPr>
          <p:nvPr/>
        </p:nvSpPr>
        <p:spPr>
          <a:xfrm xmlns:a="http://schemas.openxmlformats.org/drawingml/2006/main">
            <a:off x="762000" y="3213100"/>
            <a:ext cx="3937000" cy="1739900"/>
          </a:xfrm>
          <a:prstGeom xmlns:a="http://schemas.openxmlformats.org/drawingml/2006/main" prst="rect">
            <a:avLst/>
          </a:prstGeom>
          <a:solidFill xmlns:a="http://schemas.openxmlformats.org/drawingml/2006/main">
            <a:srgbClr val="F6F3EB"/>
          </a:solidFill>
          <a:ln xmlns:a="http://schemas.openxmlformats.org/drawingml/2006/main" w="16510">
            <a:solidFill>
              <a:srgbClr val="526675"/>
            </a:solidFill>
          </a:ln>
        </p:spPr>
      </p:sp>
      <p:sp>
        <p:nvSpPr>
          <p:cNvPr id="6" name="text-14">
            <a:extLst xmlns:a="http://schemas.openxmlformats.org/drawingml/2006/main">
              <a:ext uri="{FF2B5EF4-FFF2-40B4-BE49-F238E27FC236}">
                <a16:creationId xmlns:a16="http://schemas.microsoft.com/office/drawing/2014/main" id="{AEDCF5C1-60BF-4E6B-B677-0B63A3764034}"/>
              </a:ext>
            </a:extLst>
          </p:cNvPr>
          <p:cNvSpPr>
            <a:spLocks xmlns:a="http://schemas.openxmlformats.org/drawingml/2006/main" noGrp="1"/>
          </p:cNvSpPr>
          <p:nvPr/>
        </p:nvSpPr>
        <p:spPr>
          <a:xfrm xmlns:a="http://schemas.openxmlformats.org/drawingml/2006/main">
            <a:off x="965200" y="3365500"/>
            <a:ext cx="35306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00" b="1">
                <a:solidFill>
                  <a:srgbClr val="0B2033"/>
                </a:solidFill>
                <a:latin typeface="Arial"/>
                <a:ea typeface="Arial"/>
                <a:cs typeface="Arial"/>
              </a:defRPr>
            </a:pPr>
            <a:r>
              <a:rPr sz="2500" b="1">
                <a:solidFill>
                  <a:srgbClr val="0B2033"/>
                </a:solidFill>
                <a:latin typeface="Arial"/>
                <a:ea typeface="Arial"/>
                <a:cs typeface="Arial"/>
              </a:rPr>
              <a:t>Input measurements</a:t>
            </a:r>
          </a:p>
        </p:txBody>
      </p:sp>
      <p:sp>
        <p:nvSpPr>
          <p:cNvPr id="7" name="text-15">
            <a:extLst xmlns:a="http://schemas.openxmlformats.org/drawingml/2006/main">
              <a:ext uri="{FF2B5EF4-FFF2-40B4-BE49-F238E27FC236}">
                <a16:creationId xmlns:a16="http://schemas.microsoft.com/office/drawing/2014/main" id="{7F9B75A1-382D-41A8-AED1-2355D0E19F2B}"/>
              </a:ext>
            </a:extLst>
          </p:cNvPr>
          <p:cNvSpPr>
            <a:spLocks xmlns:a="http://schemas.openxmlformats.org/drawingml/2006/main" noGrp="1"/>
          </p:cNvSpPr>
          <p:nvPr/>
        </p:nvSpPr>
        <p:spPr>
          <a:xfrm xmlns:a="http://schemas.openxmlformats.org/drawingml/2006/main">
            <a:off x="965200" y="3949700"/>
            <a:ext cx="3530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00" b="0">
                <a:solidFill>
                  <a:srgbClr val="0B2033"/>
                </a:solidFill>
                <a:latin typeface="Arial"/>
                <a:ea typeface="Arial"/>
                <a:cs typeface="Arial"/>
              </a:defRPr>
            </a:pPr>
            <a:r>
              <a:rPr sz="2300" b="0">
                <a:solidFill>
                  <a:srgbClr val="0B2033"/>
                </a:solidFill>
                <a:latin typeface="Arial"/>
                <a:ea typeface="Arial"/>
                <a:cs typeface="Arial"/>
              </a:rPr>
              <a:t>Word frequencies</a:t>
            </a:r>
          </a:p>
          <a:p xmlns:a="http://schemas.openxmlformats.org/drawingml/2006/main">
            <a:pPr algn="l">
              <a:defRPr sz="2300" b="0">
                <a:solidFill>
                  <a:srgbClr val="0B2033"/>
                </a:solidFill>
                <a:latin typeface="Arial"/>
                <a:ea typeface="Arial"/>
                <a:cs typeface="Arial"/>
              </a:defRPr>
            </a:pPr>
            <a:r>
              <a:rPr sz="2300" b="0">
                <a:solidFill>
                  <a:srgbClr val="0B2033"/>
                </a:solidFill>
                <a:latin typeface="Arial"/>
                <a:ea typeface="Arial"/>
                <a:cs typeface="Arial"/>
              </a:rPr>
              <a:t>Punctuation and capitals</a:t>
            </a:r>
          </a:p>
        </p:txBody>
      </p:sp>
      <p:sp>
        <p:nvSpPr>
          <p:cNvPr id="8" name="stage-16">
            <a:extLst xmlns:a="http://schemas.openxmlformats.org/drawingml/2006/main">
              <a:ext uri="{FF2B5EF4-FFF2-40B4-BE49-F238E27FC236}">
                <a16:creationId xmlns:a16="http://schemas.microsoft.com/office/drawing/2014/main" id="{74EBD6FF-CFFD-426E-A942-0F40048F793B}"/>
              </a:ext>
            </a:extLst>
          </p:cNvPr>
          <p:cNvSpPr>
            <a:spLocks xmlns:a="http://schemas.openxmlformats.org/drawingml/2006/main" noGrp="1"/>
          </p:cNvSpPr>
          <p:nvPr/>
        </p:nvSpPr>
        <p:spPr>
          <a:xfrm xmlns:a="http://schemas.openxmlformats.org/drawingml/2006/main">
            <a:off x="5740400" y="3213100"/>
            <a:ext cx="3683000" cy="1739900"/>
          </a:xfrm>
          <a:prstGeom xmlns:a="http://schemas.openxmlformats.org/drawingml/2006/main" prst="rect">
            <a:avLst/>
          </a:prstGeom>
          <a:solidFill xmlns:a="http://schemas.openxmlformats.org/drawingml/2006/main">
            <a:srgbClr val="F6F3EB"/>
          </a:solidFill>
          <a:ln xmlns:a="http://schemas.openxmlformats.org/drawingml/2006/main" w="16510">
            <a:solidFill>
              <a:srgbClr val="526675"/>
            </a:solidFill>
          </a:ln>
        </p:spPr>
      </p:sp>
      <p:sp>
        <p:nvSpPr>
          <p:cNvPr id="9" name="text-17">
            <a:extLst xmlns:a="http://schemas.openxmlformats.org/drawingml/2006/main">
              <a:ext uri="{FF2B5EF4-FFF2-40B4-BE49-F238E27FC236}">
                <a16:creationId xmlns:a16="http://schemas.microsoft.com/office/drawing/2014/main" id="{16487481-B54F-4809-AC26-60CF2D485E38}"/>
              </a:ext>
            </a:extLst>
          </p:cNvPr>
          <p:cNvSpPr>
            <a:spLocks xmlns:a="http://schemas.openxmlformats.org/drawingml/2006/main" noGrp="1"/>
          </p:cNvSpPr>
          <p:nvPr/>
        </p:nvSpPr>
        <p:spPr>
          <a:xfrm xmlns:a="http://schemas.openxmlformats.org/drawingml/2006/main">
            <a:off x="5943600" y="3365500"/>
            <a:ext cx="32766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00" b="1">
                <a:solidFill>
                  <a:srgbClr val="0B2033"/>
                </a:solidFill>
                <a:latin typeface="Arial"/>
                <a:ea typeface="Arial"/>
                <a:cs typeface="Arial"/>
              </a:defRPr>
            </a:pPr>
            <a:r>
              <a:rPr sz="2500" b="1">
                <a:solidFill>
                  <a:srgbClr val="0B2033"/>
                </a:solidFill>
                <a:latin typeface="Arial"/>
                <a:ea typeface="Arial"/>
                <a:cs typeface="Arial"/>
              </a:rPr>
              <a:t>Train a model</a:t>
            </a:r>
          </a:p>
        </p:txBody>
      </p:sp>
      <p:sp>
        <p:nvSpPr>
          <p:cNvPr id="10" name="text-18">
            <a:extLst xmlns:a="http://schemas.openxmlformats.org/drawingml/2006/main">
              <a:ext uri="{FF2B5EF4-FFF2-40B4-BE49-F238E27FC236}">
                <a16:creationId xmlns:a16="http://schemas.microsoft.com/office/drawing/2014/main" id="{7EE9AC0D-2A00-443D-9D65-838E94203A55}"/>
              </a:ext>
            </a:extLst>
          </p:cNvPr>
          <p:cNvSpPr>
            <a:spLocks xmlns:a="http://schemas.openxmlformats.org/drawingml/2006/main" noGrp="1"/>
          </p:cNvSpPr>
          <p:nvPr/>
        </p:nvSpPr>
        <p:spPr>
          <a:xfrm xmlns:a="http://schemas.openxmlformats.org/drawingml/2006/main">
            <a:off x="5943600" y="3949700"/>
            <a:ext cx="3276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00" b="0">
                <a:solidFill>
                  <a:srgbClr val="0B2033"/>
                </a:solidFill>
                <a:latin typeface="Arial"/>
                <a:ea typeface="Arial"/>
                <a:cs typeface="Arial"/>
              </a:defRPr>
            </a:pPr>
            <a:r>
              <a:rPr sz="2300" b="0">
                <a:solidFill>
                  <a:srgbClr val="0B2033"/>
                </a:solidFill>
                <a:latin typeface="Arial"/>
                <a:ea typeface="Arial"/>
                <a:cs typeface="Arial"/>
              </a:rPr>
              <a:t>Learn from emails</a:t>
            </a:r>
          </a:p>
          <a:p xmlns:a="http://schemas.openxmlformats.org/drawingml/2006/main">
            <a:pPr algn="l">
              <a:defRPr sz="2300" b="0">
                <a:solidFill>
                  <a:srgbClr val="0B2033"/>
                </a:solidFill>
                <a:latin typeface="Arial"/>
                <a:ea typeface="Arial"/>
                <a:cs typeface="Arial"/>
              </a:defRPr>
            </a:pPr>
            <a:r>
              <a:rPr sz="2300" b="0">
                <a:solidFill>
                  <a:srgbClr val="0B2033"/>
                </a:solidFill>
                <a:latin typeface="Arial"/>
                <a:ea typeface="Arial"/>
                <a:cs typeface="Arial"/>
              </a:rPr>
              <a:t>with known labels</a:t>
            </a:r>
          </a:p>
        </p:txBody>
      </p:sp>
      <p:sp>
        <p:nvSpPr>
          <p:cNvPr id="11" name="stage-19">
            <a:extLst xmlns:a="http://schemas.openxmlformats.org/drawingml/2006/main">
              <a:ext uri="{FF2B5EF4-FFF2-40B4-BE49-F238E27FC236}">
                <a16:creationId xmlns:a16="http://schemas.microsoft.com/office/drawing/2014/main" id="{4630FD2E-50A1-4F37-8916-D2CC3A91EF40}"/>
              </a:ext>
            </a:extLst>
          </p:cNvPr>
          <p:cNvSpPr>
            <a:spLocks xmlns:a="http://schemas.openxmlformats.org/drawingml/2006/main" noGrp="1"/>
          </p:cNvSpPr>
          <p:nvPr/>
        </p:nvSpPr>
        <p:spPr>
          <a:xfrm xmlns:a="http://schemas.openxmlformats.org/drawingml/2006/main">
            <a:off x="10477500" y="3213100"/>
            <a:ext cx="4000500" cy="1739900"/>
          </a:xfrm>
          <a:prstGeom xmlns:a="http://schemas.openxmlformats.org/drawingml/2006/main" prst="rect">
            <a:avLst/>
          </a:prstGeom>
          <a:solidFill xmlns:a="http://schemas.openxmlformats.org/drawingml/2006/main">
            <a:srgbClr val="F6F3EB"/>
          </a:solidFill>
          <a:ln xmlns:a="http://schemas.openxmlformats.org/drawingml/2006/main" w="16510">
            <a:solidFill>
              <a:srgbClr val="526675"/>
            </a:solidFill>
          </a:ln>
        </p:spPr>
      </p:sp>
      <p:sp>
        <p:nvSpPr>
          <p:cNvPr id="12" name="text-20">
            <a:extLst xmlns:a="http://schemas.openxmlformats.org/drawingml/2006/main">
              <a:ext uri="{FF2B5EF4-FFF2-40B4-BE49-F238E27FC236}">
                <a16:creationId xmlns:a16="http://schemas.microsoft.com/office/drawing/2014/main" id="{EDB85CF0-9FE7-4F30-B996-298CA3FF8DBC}"/>
              </a:ext>
            </a:extLst>
          </p:cNvPr>
          <p:cNvSpPr>
            <a:spLocks xmlns:a="http://schemas.openxmlformats.org/drawingml/2006/main" noGrp="1"/>
          </p:cNvSpPr>
          <p:nvPr/>
        </p:nvSpPr>
        <p:spPr>
          <a:xfrm xmlns:a="http://schemas.openxmlformats.org/drawingml/2006/main">
            <a:off x="10680700" y="3365500"/>
            <a:ext cx="35941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00" b="1">
                <a:solidFill>
                  <a:srgbClr val="0B2033"/>
                </a:solidFill>
                <a:latin typeface="Arial"/>
                <a:ea typeface="Arial"/>
                <a:cs typeface="Arial"/>
              </a:defRPr>
            </a:pPr>
            <a:r>
              <a:rPr sz="2500" b="1">
                <a:solidFill>
                  <a:srgbClr val="0B2033"/>
                </a:solidFill>
                <a:latin typeface="Arial"/>
                <a:ea typeface="Arial"/>
                <a:cs typeface="Arial"/>
              </a:rPr>
              <a:t>Predict</a:t>
            </a:r>
          </a:p>
        </p:txBody>
      </p:sp>
      <p:sp>
        <p:nvSpPr>
          <p:cNvPr id="13" name="text-21">
            <a:extLst xmlns:a="http://schemas.openxmlformats.org/drawingml/2006/main">
              <a:ext uri="{FF2B5EF4-FFF2-40B4-BE49-F238E27FC236}">
                <a16:creationId xmlns:a16="http://schemas.microsoft.com/office/drawing/2014/main" id="{72CB9B6F-6AD7-45F8-86E8-BFC86E67779A}"/>
              </a:ext>
            </a:extLst>
          </p:cNvPr>
          <p:cNvSpPr>
            <a:spLocks xmlns:a="http://schemas.openxmlformats.org/drawingml/2006/main" noGrp="1"/>
          </p:cNvSpPr>
          <p:nvPr/>
        </p:nvSpPr>
        <p:spPr>
          <a:xfrm xmlns:a="http://schemas.openxmlformats.org/drawingml/2006/main">
            <a:off x="10680700" y="3949700"/>
            <a:ext cx="35941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00" b="0">
                <a:solidFill>
                  <a:srgbClr val="0B2033"/>
                </a:solidFill>
                <a:latin typeface="Arial"/>
                <a:ea typeface="Arial"/>
                <a:cs typeface="Arial"/>
              </a:defRPr>
            </a:pPr>
            <a:r>
              <a:rPr sz="2300" b="0">
                <a:solidFill>
                  <a:srgbClr val="0B2033"/>
                </a:solidFill>
                <a:latin typeface="Arial"/>
                <a:ea typeface="Arial"/>
                <a:cs typeface="Arial"/>
              </a:rPr>
              <a:t>Spam or non-spam</a:t>
            </a:r>
          </a:p>
        </p:txBody>
      </p:sp>
      <p:cxnSp>
        <p:nvCxnSpPr>
          <p:cNvPr id="32" name=""/>
          <p:cNvCxnSpPr>
            <a:stCxn xmlns:a="http://schemas.openxmlformats.org/drawingml/2006/main" id="5" idx="3"/>
            <a:endCxn xmlns:a="http://schemas.openxmlformats.org/drawingml/2006/main" id="8" idx="1"/>
          </p:cNvCxnSpPr>
          <p:nvPr/>
        </p:nvCxnSpPr>
        <p:spPr>
          <a:xfrm xmlns:a="http://schemas.openxmlformats.org/drawingml/2006/main">
            <a:off x="4699000" y="4083050"/>
            <a:ext cx="1041400" cy="0"/>
          </a:xfrm>
          <a:prstGeom xmlns:a="http://schemas.openxmlformats.org/drawingml/2006/main" prst="straightConnector1">
            <a:avLst/>
          </a:prstGeom>
          <a:ln xmlns:a="http://schemas.openxmlformats.org/drawingml/2006/main" w="25400">
            <a:solidFill>
              <a:srgbClr val="0C7C78"/>
            </a:solidFill>
            <a:tailEnd type="triangle" w="med" len="med"/>
          </a:ln>
        </p:spPr>
      </p:cxnSp>
      <p:cxnSp>
        <p:nvCxnSpPr>
          <p:cNvPr id="33" name=""/>
          <p:cNvCxnSpPr>
            <a:stCxn xmlns:a="http://schemas.openxmlformats.org/drawingml/2006/main" id="8" idx="3"/>
            <a:endCxn xmlns:a="http://schemas.openxmlformats.org/drawingml/2006/main" id="11" idx="1"/>
          </p:cNvCxnSpPr>
          <p:nvPr/>
        </p:nvCxnSpPr>
        <p:spPr>
          <a:xfrm xmlns:a="http://schemas.openxmlformats.org/drawingml/2006/main">
            <a:off x="9423400" y="4083050"/>
            <a:ext cx="1054100" cy="0"/>
          </a:xfrm>
          <a:prstGeom xmlns:a="http://schemas.openxmlformats.org/drawingml/2006/main" prst="straightConnector1">
            <a:avLst/>
          </a:prstGeom>
          <a:ln xmlns:a="http://schemas.openxmlformats.org/drawingml/2006/main" w="25400">
            <a:solidFill>
              <a:srgbClr val="0C7C78"/>
            </a:solidFill>
            <a:tailEnd type="triangle" w="med" len="med"/>
          </a:ln>
        </p:spPr>
      </p:cxnSp>
      <p:sp>
        <p:nvSpPr>
          <p:cNvPr id="16" name="text-22">
            <a:extLst xmlns:a="http://schemas.openxmlformats.org/drawingml/2006/main">
              <a:ext uri="{FF2B5EF4-FFF2-40B4-BE49-F238E27FC236}">
                <a16:creationId xmlns:a16="http://schemas.microsoft.com/office/drawing/2014/main" id="{199BDBC7-78D2-4D2E-A03F-635E887F9CFF}"/>
              </a:ext>
            </a:extLst>
          </p:cNvPr>
          <p:cNvSpPr>
            <a:spLocks xmlns:a="http://schemas.openxmlformats.org/drawingml/2006/main" noGrp="1"/>
          </p:cNvSpPr>
          <p:nvPr/>
        </p:nvSpPr>
        <p:spPr>
          <a:xfrm xmlns:a="http://schemas.openxmlformats.org/drawingml/2006/main">
            <a:off x="762000" y="5664200"/>
            <a:ext cx="469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00" b="1">
                <a:solidFill>
                  <a:srgbClr val="0C7C78"/>
                </a:solidFill>
                <a:latin typeface="Arial"/>
                <a:ea typeface="Arial"/>
                <a:cs typeface="Arial"/>
              </a:defRPr>
            </a:pPr>
            <a:r>
              <a:rPr sz="2800" b="1">
                <a:solidFill>
                  <a:srgbClr val="0C7C78"/>
                </a:solidFill>
                <a:latin typeface="Arial"/>
                <a:ea typeface="Arial"/>
                <a:cs typeface="Arial"/>
              </a:rPr>
              <a:t>Why reduce inputs?</a:t>
            </a:r>
          </a:p>
        </p:txBody>
      </p:sp>
      <p:sp>
        <p:nvSpPr>
          <p:cNvPr id="17" name="text-23">
            <a:extLst xmlns:a="http://schemas.openxmlformats.org/drawingml/2006/main">
              <a:ext uri="{FF2B5EF4-FFF2-40B4-BE49-F238E27FC236}">
                <a16:creationId xmlns:a16="http://schemas.microsoft.com/office/drawing/2014/main" id="{E83C39D7-0046-4EA7-93DA-6A94B64EB330}"/>
              </a:ext>
            </a:extLst>
          </p:cNvPr>
          <p:cNvSpPr>
            <a:spLocks xmlns:a="http://schemas.openxmlformats.org/drawingml/2006/main" noGrp="1"/>
          </p:cNvSpPr>
          <p:nvPr/>
        </p:nvSpPr>
        <p:spPr>
          <a:xfrm xmlns:a="http://schemas.openxmlformats.org/drawingml/2006/main">
            <a:off x="5588000" y="5549900"/>
            <a:ext cx="8890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00" b="0">
                <a:solidFill>
                  <a:srgbClr val="0B2033"/>
                </a:solidFill>
                <a:latin typeface="Arial"/>
                <a:ea typeface="Arial"/>
                <a:cs typeface="Arial"/>
              </a:defRPr>
            </a:pPr>
            <a:r>
              <a:rPr sz="2600" b="0">
                <a:solidFill>
                  <a:srgbClr val="0B2033"/>
                </a:solidFill>
                <a:latin typeface="Arial"/>
                <a:ea typeface="Arial"/>
                <a:cs typeface="Arial"/>
              </a:rPr>
              <a:t>Less measurement and model cost. Fewer redundant inputs.</a:t>
            </a:r>
          </a:p>
          <a:p xmlns:a="http://schemas.openxmlformats.org/drawingml/2006/main">
            <a:pPr algn="l">
              <a:defRPr sz="2600" b="0">
                <a:solidFill>
                  <a:srgbClr val="0B2033"/>
                </a:solidFill>
                <a:latin typeface="Arial"/>
                <a:ea typeface="Arial"/>
                <a:cs typeface="Arial"/>
              </a:defRPr>
            </a:pPr>
            <a:r>
              <a:rPr sz="2600" b="0">
                <a:solidFill>
                  <a:srgbClr val="0B2033"/>
                </a:solidFill>
                <a:latin typeface="Arial"/>
                <a:ea typeface="Arial"/>
                <a:cs typeface="Arial"/>
              </a:rPr>
              <a:t>But a smaller model must still meet the prediction requirement.</a:t>
            </a:r>
          </a:p>
        </p:txBody>
      </p:sp>
      <p:sp>
        <p:nvSpPr>
          <p:cNvPr id="18" name="text-24">
            <a:extLst xmlns:a="http://schemas.openxmlformats.org/drawingml/2006/main">
              <a:ext uri="{FF2B5EF4-FFF2-40B4-BE49-F238E27FC236}">
                <a16:creationId xmlns:a16="http://schemas.microsoft.com/office/drawing/2014/main" id="{184B6661-8C9F-4E8E-8D22-7202FE62A564}"/>
              </a:ext>
            </a:extLst>
          </p:cNvPr>
          <p:cNvSpPr>
            <a:spLocks xmlns:a="http://schemas.openxmlformats.org/drawingml/2006/main" noGrp="1"/>
          </p:cNvSpPr>
          <p:nvPr/>
        </p:nvSpPr>
        <p:spPr>
          <a:xfrm xmlns:a="http://schemas.openxmlformats.org/drawingml/2006/main">
            <a:off x="762000" y="7277100"/>
            <a:ext cx="1371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00" b="1">
                <a:solidFill>
                  <a:srgbClr val="0C7C78"/>
                </a:solidFill>
                <a:latin typeface="Arial"/>
                <a:ea typeface="Arial"/>
                <a:cs typeface="Arial"/>
              </a:defRPr>
            </a:pPr>
            <a:r>
              <a:rPr sz="2600" b="1">
                <a:solidFill>
                  <a:srgbClr val="0C7C78"/>
                </a:solidFill>
                <a:latin typeface="Arial"/>
                <a:ea typeface="Arial"/>
                <a:cs typeface="Arial"/>
              </a:rPr>
              <a:t>The research need: an inspectable reason to test a feature for removal.</a:t>
            </a:r>
          </a:p>
        </p:txBody>
      </p:sp>
    </p:spTree>
    <p:extLst>
      <p:ext uri="{BB962C8B-B14F-4D97-AF65-F5344CB8AC3E}">
        <p14:creationId xmlns:p14="http://schemas.microsoft.com/office/powerpoint/2010/main" val="1819503269"/>
      </p:ext>
    </p:extLst>
  </p:cSld>
</p:sld>
</file>

<file path=ppt/slides/slide3.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3" name="text-25">
            <a:extLst xmlns:a="http://schemas.openxmlformats.org/drawingml/2006/main">
              <a:ext uri="{FF2B5EF4-FFF2-40B4-BE49-F238E27FC236}">
                <a16:creationId xmlns:a16="http://schemas.microsoft.com/office/drawing/2014/main" id="{DF313620-1821-4871-833E-2DE2BD519EE7}"/>
              </a:ext>
            </a:extLst>
          </p:cNvPr>
          <p:cNvSpPr>
            <a:spLocks xmlns:a="http://schemas.openxmlformats.org/drawingml/2006/main" noGrp="1"/>
          </p:cNvSpPr>
          <p:nvPr/>
        </p:nvSpPr>
        <p:spPr>
          <a:xfrm xmlns:a="http://schemas.openxmlformats.org/drawingml/2006/main">
            <a:off x="762000" y="558800"/>
            <a:ext cx="13843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900" b="1">
                <a:solidFill>
                  <a:srgbClr val="0B2033"/>
                </a:solidFill>
                <a:latin typeface="Arial"/>
                <a:ea typeface="Arial"/>
                <a:cs typeface="Arial"/>
              </a:defRPr>
            </a:pPr>
            <a:r>
              <a:rPr sz="3900" b="1">
                <a:solidFill>
                  <a:srgbClr val="0B2033"/>
                </a:solidFill>
                <a:latin typeface="Arial"/>
                <a:ea typeface="Arial"/>
                <a:cs typeface="Arial"/>
              </a:rPr>
              <a:t>Two checks: addition and removal</a:t>
            </a:r>
          </a:p>
        </p:txBody>
      </p:sp>
      <p:sp>
        <p:nvSpPr>
          <p:cNvPr id="2" name="rule-26">
            <a:extLst xmlns:a="http://schemas.openxmlformats.org/drawingml/2006/main">
              <a:ext uri="{FF2B5EF4-FFF2-40B4-BE49-F238E27FC236}">
                <a16:creationId xmlns:a16="http://schemas.microsoft.com/office/drawing/2014/main" id="{B6783F59-7711-4B92-AFE4-35C7B0108C3C}"/>
              </a:ext>
            </a:extLst>
          </p:cNvPr>
          <p:cNvSpPr>
            <a:spLocks xmlns:a="http://schemas.openxmlformats.org/drawingml/2006/main" noGrp="1"/>
          </p:cNvSpPr>
          <p:nvPr/>
        </p:nvSpPr>
        <p:spPr>
          <a:xfrm xmlns:a="http://schemas.openxmlformats.org/drawingml/2006/main">
            <a:off x="762000" y="1701800"/>
            <a:ext cx="13716000" cy="0"/>
          </a:xfrm>
          <a:prstGeom xmlns:a="http://schemas.openxmlformats.org/drawingml/2006/main" prst="line">
            <a:avLst/>
          </a:prstGeom>
          <a:noFill xmlns:a="http://schemas.openxmlformats.org/drawingml/2006/main"/>
          <a:ln xmlns:a="http://schemas.openxmlformats.org/drawingml/2006/main" w="19050">
            <a:solidFill>
              <a:srgbClr val="0C7C78"/>
            </a:solidFill>
          </a:ln>
        </p:spPr>
      </p:sp>
      <p:sp>
        <p:nvSpPr>
          <p:cNvPr id="3" name="text-27">
            <a:extLst xmlns:a="http://schemas.openxmlformats.org/drawingml/2006/main">
              <a:ext uri="{FF2B5EF4-FFF2-40B4-BE49-F238E27FC236}">
                <a16:creationId xmlns:a16="http://schemas.microsoft.com/office/drawing/2014/main" id="{2639EDE4-4223-4D39-89F2-267826338DE1}"/>
              </a:ext>
            </a:extLst>
          </p:cNvPr>
          <p:cNvSpPr>
            <a:spLocks xmlns:a="http://schemas.openxmlformats.org/drawingml/2006/main" noGrp="1"/>
          </p:cNvSpPr>
          <p:nvPr/>
        </p:nvSpPr>
        <p:spPr>
          <a:xfrm xmlns:a="http://schemas.openxmlformats.org/drawingml/2006/main">
            <a:off x="14122400" y="80772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600" b="0">
                <a:solidFill>
                  <a:srgbClr val="526675"/>
                </a:solidFill>
                <a:latin typeface="Arial"/>
                <a:ea typeface="Arial"/>
                <a:cs typeface="Arial"/>
              </a:defRPr>
            </a:pPr>
            <a:r>
              <a:rPr sz="1600" b="0">
                <a:solidFill>
                  <a:srgbClr val="526675"/>
                </a:solidFill>
                <a:latin typeface="Arial"/>
                <a:ea typeface="Arial"/>
                <a:cs typeface="Arial"/>
              </a:rPr>
              <a:t>03</a:t>
            </a:r>
          </a:p>
        </p:txBody>
      </p:sp>
      <p:sp>
        <p:nvSpPr>
          <p:cNvPr id="4" name="text-28">
            <a:extLst xmlns:a="http://schemas.openxmlformats.org/drawingml/2006/main">
              <a:ext uri="{FF2B5EF4-FFF2-40B4-BE49-F238E27FC236}">
                <a16:creationId xmlns:a16="http://schemas.microsoft.com/office/drawing/2014/main" id="{E65ECB37-5B67-4665-855E-1E44073CF642}"/>
              </a:ext>
            </a:extLst>
          </p:cNvPr>
          <p:cNvSpPr>
            <a:spLocks xmlns:a="http://schemas.openxmlformats.org/drawingml/2006/main" noGrp="1"/>
          </p:cNvSpPr>
          <p:nvPr/>
        </p:nvSpPr>
        <p:spPr>
          <a:xfrm xmlns:a="http://schemas.openxmlformats.org/drawingml/2006/main">
            <a:off x="762000" y="2146300"/>
            <a:ext cx="137160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700" b="1">
                <a:solidFill>
                  <a:srgbClr val="0B2033"/>
                </a:solidFill>
                <a:latin typeface="Arial"/>
                <a:ea typeface="Arial"/>
                <a:cs typeface="Arial"/>
              </a:defRPr>
            </a:pPr>
            <a:r>
              <a:rPr sz="3700" b="1">
                <a:solidFill>
                  <a:srgbClr val="0B2033"/>
                </a:solidFill>
                <a:latin typeface="Arial"/>
                <a:ea typeface="Arial"/>
                <a:cs typeface="Arial"/>
              </a:rPr>
              <a:t>First find a harmful context.</a:t>
            </a:r>
          </a:p>
          <a:p xmlns:a="http://schemas.openxmlformats.org/drawingml/2006/main">
            <a:pPr algn="l">
              <a:defRPr sz="3700" b="1">
                <a:solidFill>
                  <a:srgbClr val="0B2033"/>
                </a:solidFill>
                <a:latin typeface="Arial"/>
                <a:ea typeface="Arial"/>
                <a:cs typeface="Arial"/>
              </a:defRPr>
            </a:pPr>
            <a:r>
              <a:rPr sz="3700" b="1">
                <a:solidFill>
                  <a:srgbClr val="0B2033"/>
                </a:solidFill>
                <a:latin typeface="Arial"/>
                <a:ea typeface="Arial"/>
                <a:cs typeface="Arial"/>
              </a:rPr>
              <a:t>Then test whether removal helps.</a:t>
            </a:r>
          </a:p>
        </p:txBody>
      </p:sp>
      <p:sp>
        <p:nvSpPr>
          <p:cNvPr id="5" name="text-29">
            <a:extLst xmlns:a="http://schemas.openxmlformats.org/drawingml/2006/main">
              <a:ext uri="{FF2B5EF4-FFF2-40B4-BE49-F238E27FC236}">
                <a16:creationId xmlns:a16="http://schemas.microsoft.com/office/drawing/2014/main" id="{E84C23E1-178E-4180-90E8-EBA3366A7191}"/>
              </a:ext>
            </a:extLst>
          </p:cNvPr>
          <p:cNvSpPr>
            <a:spLocks xmlns:a="http://schemas.openxmlformats.org/drawingml/2006/main" noGrp="1"/>
          </p:cNvSpPr>
          <p:nvPr/>
        </p:nvSpPr>
        <p:spPr>
          <a:xfrm xmlns:a="http://schemas.openxmlformats.org/drawingml/2006/main">
            <a:off x="762000" y="3898900"/>
            <a:ext cx="654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900" b="1">
                <a:solidFill>
                  <a:srgbClr val="0C7C78"/>
                </a:solidFill>
                <a:latin typeface="Arial"/>
                <a:ea typeface="Arial"/>
                <a:cs typeface="Arial"/>
              </a:defRPr>
            </a:pPr>
            <a:r>
              <a:rPr sz="2900" b="1">
                <a:solidFill>
                  <a:srgbClr val="0C7C78"/>
                </a:solidFill>
                <a:latin typeface="Arial"/>
                <a:ea typeface="Arial"/>
                <a:cs typeface="Arial"/>
              </a:rPr>
              <a:t>1. Addition check</a:t>
            </a:r>
          </a:p>
        </p:txBody>
      </p:sp>
      <p:sp>
        <p:nvSpPr>
          <p:cNvPr id="6" name="text-30">
            <a:extLst xmlns:a="http://schemas.openxmlformats.org/drawingml/2006/main">
              <a:ext uri="{FF2B5EF4-FFF2-40B4-BE49-F238E27FC236}">
                <a16:creationId xmlns:a16="http://schemas.microsoft.com/office/drawing/2014/main" id="{F59C2A36-31FD-43C5-AF47-775560C914B7}"/>
              </a:ext>
            </a:extLst>
          </p:cNvPr>
          <p:cNvSpPr>
            <a:spLocks xmlns:a="http://schemas.openxmlformats.org/drawingml/2006/main" noGrp="1"/>
          </p:cNvSpPr>
          <p:nvPr/>
        </p:nvSpPr>
        <p:spPr>
          <a:xfrm xmlns:a="http://schemas.openxmlformats.org/drawingml/2006/main">
            <a:off x="8255000" y="3898900"/>
            <a:ext cx="622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900" b="1">
                <a:solidFill>
                  <a:srgbClr val="0C7C78"/>
                </a:solidFill>
                <a:latin typeface="Arial"/>
                <a:ea typeface="Arial"/>
                <a:cs typeface="Arial"/>
              </a:defRPr>
            </a:pPr>
            <a:r>
              <a:rPr sz="2900" b="1">
                <a:solidFill>
                  <a:srgbClr val="0C7C78"/>
                </a:solidFill>
                <a:latin typeface="Arial"/>
                <a:ea typeface="Arial"/>
                <a:cs typeface="Arial"/>
              </a:rPr>
              <a:t>2. Removal check</a:t>
            </a:r>
          </a:p>
        </p:txBody>
      </p:sp>
      <p:sp>
        <p:nvSpPr>
          <p:cNvPr id="7" name="text-31">
            <a:extLst xmlns:a="http://schemas.openxmlformats.org/drawingml/2006/main">
              <a:ext uri="{FF2B5EF4-FFF2-40B4-BE49-F238E27FC236}">
                <a16:creationId xmlns:a16="http://schemas.microsoft.com/office/drawing/2014/main" id="{9C8F9F5D-2EEC-4697-88E2-5D6207F0BDC5}"/>
              </a:ext>
            </a:extLst>
          </p:cNvPr>
          <p:cNvSpPr>
            <a:spLocks xmlns:a="http://schemas.openxmlformats.org/drawingml/2006/main" noGrp="1"/>
          </p:cNvSpPr>
          <p:nvPr/>
        </p:nvSpPr>
        <p:spPr>
          <a:xfrm xmlns:a="http://schemas.openxmlformats.org/drawingml/2006/main">
            <a:off x="762000" y="4635500"/>
            <a:ext cx="65405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00" b="1">
                <a:solidFill>
                  <a:srgbClr val="0B2033"/>
                </a:solidFill>
                <a:latin typeface="Arial"/>
                <a:ea typeface="Arial"/>
                <a:cs typeface="Arial"/>
              </a:defRPr>
            </a:pPr>
            <a:r>
              <a:rPr sz="2600" b="1">
                <a:solidFill>
                  <a:srgbClr val="0B2033"/>
                </a:solidFill>
                <a:latin typeface="Arial"/>
                <a:ea typeface="Arial"/>
                <a:cs typeface="Arial"/>
              </a:rPr>
              <a:t>Compare S with S plus input i.</a:t>
            </a:r>
          </a:p>
        </p:txBody>
      </p:sp>
      <p:sp>
        <p:nvSpPr>
          <p:cNvPr id="8" name="text-32">
            <a:extLst xmlns:a="http://schemas.openxmlformats.org/drawingml/2006/main">
              <a:ext uri="{FF2B5EF4-FFF2-40B4-BE49-F238E27FC236}">
                <a16:creationId xmlns:a16="http://schemas.microsoft.com/office/drawing/2014/main" id="{942244CA-DB45-4C00-A44E-6EA621ECD2A3}"/>
              </a:ext>
            </a:extLst>
          </p:cNvPr>
          <p:cNvSpPr>
            <a:spLocks xmlns:a="http://schemas.openxmlformats.org/drawingml/2006/main" noGrp="1"/>
          </p:cNvSpPr>
          <p:nvPr/>
        </p:nvSpPr>
        <p:spPr>
          <a:xfrm xmlns:a="http://schemas.openxmlformats.org/drawingml/2006/main">
            <a:off x="8255000" y="4635500"/>
            <a:ext cx="62230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00" b="1">
                <a:solidFill>
                  <a:srgbClr val="0B2033"/>
                </a:solidFill>
                <a:latin typeface="Arial"/>
                <a:ea typeface="Arial"/>
                <a:cs typeface="Arial"/>
              </a:defRPr>
            </a:pPr>
            <a:r>
              <a:rPr sz="2600" b="1">
                <a:solidFill>
                  <a:srgbClr val="0B2033"/>
                </a:solidFill>
                <a:latin typeface="Arial"/>
                <a:ea typeface="Arial"/>
                <a:cs typeface="Arial"/>
              </a:rPr>
              <a:t>Compare full inputs with a reduced set.</a:t>
            </a:r>
          </a:p>
        </p:txBody>
      </p:sp>
      <p:sp>
        <p:nvSpPr>
          <p:cNvPr id="9" name="text-33">
            <a:extLst xmlns:a="http://schemas.openxmlformats.org/drawingml/2006/main">
              <a:ext uri="{FF2B5EF4-FFF2-40B4-BE49-F238E27FC236}">
                <a16:creationId xmlns:a16="http://schemas.microsoft.com/office/drawing/2014/main" id="{A4015291-3175-4D42-858D-D2C8F1FAD0C5}"/>
              </a:ext>
            </a:extLst>
          </p:cNvPr>
          <p:cNvSpPr>
            <a:spLocks xmlns:a="http://schemas.openxmlformats.org/drawingml/2006/main" noGrp="1"/>
          </p:cNvSpPr>
          <p:nvPr/>
        </p:nvSpPr>
        <p:spPr>
          <a:xfrm xmlns:a="http://schemas.openxmlformats.org/drawingml/2006/main">
            <a:off x="762000" y="5600700"/>
            <a:ext cx="6540500" cy="142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00" b="0">
                <a:solidFill>
                  <a:srgbClr val="0B2033"/>
                </a:solidFill>
                <a:latin typeface="Arial"/>
                <a:ea typeface="Arial"/>
                <a:cs typeface="Arial"/>
              </a:defRPr>
            </a:pPr>
            <a:r>
              <a:rPr sz="2600" b="0">
                <a:solidFill>
                  <a:srgbClr val="0B2033"/>
                </a:solidFill>
                <a:latin typeface="Arial"/>
                <a:ea typeface="Arial"/>
                <a:cs typeface="Arial"/>
              </a:rPr>
              <a:t>Does adding i make this feature group fall below the performance requirement?</a:t>
            </a:r>
          </a:p>
        </p:txBody>
      </p:sp>
      <p:sp>
        <p:nvSpPr>
          <p:cNvPr id="10" name="text-34">
            <a:extLst xmlns:a="http://schemas.openxmlformats.org/drawingml/2006/main">
              <a:ext uri="{FF2B5EF4-FFF2-40B4-BE49-F238E27FC236}">
                <a16:creationId xmlns:a16="http://schemas.microsoft.com/office/drawing/2014/main" id="{D90FB28C-0009-44DC-81A6-7BF97D3D5386}"/>
              </a:ext>
            </a:extLst>
          </p:cNvPr>
          <p:cNvSpPr>
            <a:spLocks xmlns:a="http://schemas.openxmlformats.org/drawingml/2006/main" noGrp="1"/>
          </p:cNvSpPr>
          <p:nvPr/>
        </p:nvSpPr>
        <p:spPr>
          <a:xfrm xmlns:a="http://schemas.openxmlformats.org/drawingml/2006/main">
            <a:off x="8255000" y="5600700"/>
            <a:ext cx="6223000" cy="142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00" b="0">
                <a:solidFill>
                  <a:srgbClr val="0B2033"/>
                </a:solidFill>
                <a:latin typeface="Arial"/>
                <a:ea typeface="Arial"/>
                <a:cs typeface="Arial"/>
              </a:defRPr>
            </a:pPr>
            <a:r>
              <a:rPr sz="2600" b="0">
                <a:solidFill>
                  <a:srgbClr val="0B2033"/>
                </a:solidFill>
                <a:latin typeface="Arial"/>
                <a:ea typeface="Arial"/>
                <a:cs typeface="Arial"/>
              </a:rPr>
              <a:t>On independent data, does removal give a useful smaller model? Check prediction loss and total cost.</a:t>
            </a:r>
          </a:p>
        </p:txBody>
      </p:sp>
      <p:sp>
        <p:nvSpPr>
          <p:cNvPr id="11" name="rule-35">
            <a:extLst xmlns:a="http://schemas.openxmlformats.org/drawingml/2006/main">
              <a:ext uri="{FF2B5EF4-FFF2-40B4-BE49-F238E27FC236}">
                <a16:creationId xmlns:a16="http://schemas.microsoft.com/office/drawing/2014/main" id="{41F73A94-043F-41BC-8278-3CC540AFE282}"/>
              </a:ext>
            </a:extLst>
          </p:cNvPr>
          <p:cNvSpPr>
            <a:spLocks xmlns:a="http://schemas.openxmlformats.org/drawingml/2006/main" noGrp="1"/>
          </p:cNvSpPr>
          <p:nvPr/>
        </p:nvSpPr>
        <p:spPr>
          <a:xfrm xmlns:a="http://schemas.openxmlformats.org/drawingml/2006/main">
            <a:off x="762000" y="7327900"/>
            <a:ext cx="13716000" cy="0"/>
          </a:xfrm>
          <a:prstGeom xmlns:a="http://schemas.openxmlformats.org/drawingml/2006/main" prst="line">
            <a:avLst/>
          </a:prstGeom>
          <a:noFill xmlns:a="http://schemas.openxmlformats.org/drawingml/2006/main"/>
          <a:ln xmlns:a="http://schemas.openxmlformats.org/drawingml/2006/main" w="12700">
            <a:solidFill>
              <a:srgbClr val="D7DEDF"/>
            </a:solidFill>
          </a:ln>
        </p:spPr>
      </p:sp>
      <p:sp>
        <p:nvSpPr>
          <p:cNvPr id="12" name="text-36">
            <a:extLst xmlns:a="http://schemas.openxmlformats.org/drawingml/2006/main">
              <a:ext uri="{FF2B5EF4-FFF2-40B4-BE49-F238E27FC236}">
                <a16:creationId xmlns:a16="http://schemas.microsoft.com/office/drawing/2014/main" id="{CAC3EDCE-03DB-4AD4-9828-EAA7A3158AE5}"/>
              </a:ext>
            </a:extLst>
          </p:cNvPr>
          <p:cNvSpPr>
            <a:spLocks xmlns:a="http://schemas.openxmlformats.org/drawingml/2006/main" noGrp="1"/>
          </p:cNvSpPr>
          <p:nvPr/>
        </p:nvSpPr>
        <p:spPr>
          <a:xfrm xmlns:a="http://schemas.openxmlformats.org/drawingml/2006/main">
            <a:off x="762000" y="7556500"/>
            <a:ext cx="137160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1">
                <a:solidFill>
                  <a:srgbClr val="0C7C78"/>
                </a:solidFill>
                <a:latin typeface="Arial"/>
                <a:ea typeface="Arial"/>
                <a:cs typeface="Arial"/>
              </a:defRPr>
            </a:pPr>
            <a:r>
              <a:rPr sz="2400" b="1">
                <a:solidFill>
                  <a:srgbClr val="0C7C78"/>
                </a:solidFill>
                <a:latin typeface="Arial"/>
                <a:ea typeface="Arial"/>
                <a:cs typeface="Arial"/>
              </a:rPr>
              <a:t>Local harm motivates a removal test. Deletion benefit needs separate evidence.</a:t>
            </a:r>
          </a:p>
        </p:txBody>
      </p:sp>
    </p:spTree>
    <p:extLst>
      <p:ext uri="{BB962C8B-B14F-4D97-AF65-F5344CB8AC3E}">
        <p14:creationId xmlns:p14="http://schemas.microsoft.com/office/powerpoint/2010/main" val="1761019219"/>
      </p:ext>
    </p:extLst>
  </p:cSld>
</p:sld>
</file>

<file path=ppt/slides/slide4.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5" name="text-37">
            <a:extLst xmlns:a="http://schemas.openxmlformats.org/drawingml/2006/main">
              <a:ext uri="{FF2B5EF4-FFF2-40B4-BE49-F238E27FC236}">
                <a16:creationId xmlns:a16="http://schemas.microsoft.com/office/drawing/2014/main" id="{F64ED1A3-F1F1-49FE-A991-FACE04179F21}"/>
              </a:ext>
            </a:extLst>
          </p:cNvPr>
          <p:cNvSpPr>
            <a:spLocks xmlns:a="http://schemas.openxmlformats.org/drawingml/2006/main" noGrp="1"/>
          </p:cNvSpPr>
          <p:nvPr/>
        </p:nvSpPr>
        <p:spPr>
          <a:xfrm xmlns:a="http://schemas.openxmlformats.org/drawingml/2006/main">
            <a:off x="762000" y="558800"/>
            <a:ext cx="13843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900" b="1">
                <a:solidFill>
                  <a:srgbClr val="0B2033"/>
                </a:solidFill>
                <a:latin typeface="Arial"/>
                <a:ea typeface="Arial"/>
                <a:cs typeface="Arial"/>
              </a:defRPr>
            </a:pPr>
            <a:r>
              <a:rPr sz="3900" b="1">
                <a:solidFill>
                  <a:srgbClr val="0B2033"/>
                </a:solidFill>
                <a:latin typeface="Arial"/>
                <a:ea typeface="Arial"/>
                <a:cs typeface="Arial"/>
              </a:rPr>
              <a:t>The formulas behind the addition check</a:t>
            </a:r>
          </a:p>
        </p:txBody>
      </p:sp>
      <p:sp>
        <p:nvSpPr>
          <p:cNvPr id="2" name="rule-38">
            <a:extLst xmlns:a="http://schemas.openxmlformats.org/drawingml/2006/main">
              <a:ext uri="{FF2B5EF4-FFF2-40B4-BE49-F238E27FC236}">
                <a16:creationId xmlns:a16="http://schemas.microsoft.com/office/drawing/2014/main" id="{A12AAA67-8F0E-40EE-A9E6-E0F32A26C446}"/>
              </a:ext>
            </a:extLst>
          </p:cNvPr>
          <p:cNvSpPr>
            <a:spLocks xmlns:a="http://schemas.openxmlformats.org/drawingml/2006/main" noGrp="1"/>
          </p:cNvSpPr>
          <p:nvPr/>
        </p:nvSpPr>
        <p:spPr>
          <a:xfrm xmlns:a="http://schemas.openxmlformats.org/drawingml/2006/main">
            <a:off x="762000" y="1701800"/>
            <a:ext cx="13716000" cy="0"/>
          </a:xfrm>
          <a:prstGeom xmlns:a="http://schemas.openxmlformats.org/drawingml/2006/main" prst="line">
            <a:avLst/>
          </a:prstGeom>
          <a:noFill xmlns:a="http://schemas.openxmlformats.org/drawingml/2006/main"/>
          <a:ln xmlns:a="http://schemas.openxmlformats.org/drawingml/2006/main" w="19050">
            <a:solidFill>
              <a:srgbClr val="0C7C78"/>
            </a:solidFill>
          </a:ln>
        </p:spPr>
      </p:sp>
      <p:sp>
        <p:nvSpPr>
          <p:cNvPr id="3" name="text-39">
            <a:extLst xmlns:a="http://schemas.openxmlformats.org/drawingml/2006/main">
              <a:ext uri="{FF2B5EF4-FFF2-40B4-BE49-F238E27FC236}">
                <a16:creationId xmlns:a16="http://schemas.microsoft.com/office/drawing/2014/main" id="{BA2AC001-E8DB-4644-A8A4-C65DC8CDD391}"/>
              </a:ext>
            </a:extLst>
          </p:cNvPr>
          <p:cNvSpPr>
            <a:spLocks xmlns:a="http://schemas.openxmlformats.org/drawingml/2006/main" noGrp="1"/>
          </p:cNvSpPr>
          <p:nvPr/>
        </p:nvSpPr>
        <p:spPr>
          <a:xfrm xmlns:a="http://schemas.openxmlformats.org/drawingml/2006/main">
            <a:off x="14122400" y="80772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600" b="0">
                <a:solidFill>
                  <a:srgbClr val="526675"/>
                </a:solidFill>
                <a:latin typeface="Arial"/>
                <a:ea typeface="Arial"/>
                <a:cs typeface="Arial"/>
              </a:defRPr>
            </a:pPr>
            <a:r>
              <a:rPr sz="1600" b="0">
                <a:solidFill>
                  <a:srgbClr val="526675"/>
                </a:solidFill>
                <a:latin typeface="Arial"/>
                <a:ea typeface="Arial"/>
                <a:cs typeface="Arial"/>
              </a:rPr>
              <a:t>04</a:t>
            </a:r>
          </a:p>
        </p:txBody>
      </p:sp>
      <p:sp>
        <p:nvSpPr>
          <p:cNvPr id="4" name="text-40">
            <a:extLst xmlns:a="http://schemas.openxmlformats.org/drawingml/2006/main">
              <a:ext uri="{FF2B5EF4-FFF2-40B4-BE49-F238E27FC236}">
                <a16:creationId xmlns:a16="http://schemas.microsoft.com/office/drawing/2014/main" id="{DC84CADE-4A32-4767-A22B-9DD893B6EA34}"/>
              </a:ext>
            </a:extLst>
          </p:cNvPr>
          <p:cNvSpPr>
            <a:spLocks xmlns:a="http://schemas.openxmlformats.org/drawingml/2006/main" noGrp="1"/>
          </p:cNvSpPr>
          <p:nvPr/>
        </p:nvSpPr>
        <p:spPr>
          <a:xfrm xmlns:a="http://schemas.openxmlformats.org/drawingml/2006/main">
            <a:off x="762000" y="1993900"/>
            <a:ext cx="13716000" cy="85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00" b="0">
                <a:solidFill>
                  <a:srgbClr val="526675"/>
                </a:solidFill>
                <a:latin typeface="Arial"/>
                <a:ea typeface="Arial"/>
                <a:cs typeface="Arial"/>
              </a:defRPr>
            </a:pPr>
            <a:r>
              <a:rPr sz="2300" b="0">
                <a:solidFill>
                  <a:srgbClr val="526675"/>
                </a:solidFill>
                <a:latin typeface="Arial"/>
                <a:ea typeface="Arial"/>
                <a:cs typeface="Arial"/>
              </a:rPr>
              <a:t>D: full analyzed input set. S: selected inputs without i. i: the input to add.</a:t>
            </a:r>
          </a:p>
          <a:p xmlns:a="http://schemas.openxmlformats.org/drawingml/2006/main">
            <a:pPr algn="l">
              <a:defRPr sz="2300" b="0">
                <a:solidFill>
                  <a:srgbClr val="526675"/>
                </a:solidFill>
                <a:latin typeface="Arial"/>
                <a:ea typeface="Arial"/>
                <a:cs typeface="Arial"/>
              </a:defRPr>
            </a:pPr>
            <a:r>
              <a:rPr sz="2300" b="0">
                <a:solidFill>
                  <a:srgbClr val="526675"/>
                </a:solidFill>
                <a:latin typeface="Arial"/>
                <a:ea typeface="Arial"/>
                <a:cs typeface="Arial"/>
              </a:rPr>
              <a:t>U(S): validation score after training on S. Higher is better.</a:t>
            </a:r>
          </a:p>
        </p:txBody>
      </p:sp>
      <p:sp>
        <p:nvSpPr>
          <p:cNvPr id="5" name="text-41">
            <a:extLst xmlns:a="http://schemas.openxmlformats.org/drawingml/2006/main">
              <a:ext uri="{FF2B5EF4-FFF2-40B4-BE49-F238E27FC236}">
                <a16:creationId xmlns:a16="http://schemas.microsoft.com/office/drawing/2014/main" id="{E5574D01-4995-46AC-BC91-FA73BE5AD649}"/>
              </a:ext>
            </a:extLst>
          </p:cNvPr>
          <p:cNvSpPr>
            <a:spLocks xmlns:a="http://schemas.openxmlformats.org/drawingml/2006/main" noGrp="1"/>
          </p:cNvSpPr>
          <p:nvPr/>
        </p:nvSpPr>
        <p:spPr>
          <a:xfrm xmlns:a="http://schemas.openxmlformats.org/drawingml/2006/main">
            <a:off x="762000" y="3086100"/>
            <a:ext cx="62230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400" b="1">
                <a:solidFill>
                  <a:srgbClr val="0C7C78"/>
                </a:solidFill>
                <a:latin typeface="Arial"/>
                <a:ea typeface="Arial"/>
                <a:cs typeface="Arial"/>
              </a:defRPr>
            </a:pPr>
            <a:r>
              <a:rPr sz="3400" b="1">
                <a:solidFill>
                  <a:srgbClr val="0C7C78"/>
                </a:solidFill>
                <a:latin typeface="Arial"/>
                <a:ea typeface="Arial"/>
                <a:cs typeface="Arial"/>
              </a:rPr>
              <a:t>q = α U(D)</a:t>
            </a:r>
          </a:p>
        </p:txBody>
      </p:sp>
      <p:sp>
        <p:nvSpPr>
          <p:cNvPr id="6" name="text-42">
            <a:extLst xmlns:a="http://schemas.openxmlformats.org/drawingml/2006/main">
              <a:ext uri="{FF2B5EF4-FFF2-40B4-BE49-F238E27FC236}">
                <a16:creationId xmlns:a16="http://schemas.microsoft.com/office/drawing/2014/main" id="{71067363-9E71-4FF0-8A30-EF0A37D88F36}"/>
              </a:ext>
            </a:extLst>
          </p:cNvPr>
          <p:cNvSpPr>
            <a:spLocks xmlns:a="http://schemas.openxmlformats.org/drawingml/2006/main" noGrp="1"/>
          </p:cNvSpPr>
          <p:nvPr/>
        </p:nvSpPr>
        <p:spPr>
          <a:xfrm xmlns:a="http://schemas.openxmlformats.org/drawingml/2006/main">
            <a:off x="7683500" y="3048000"/>
            <a:ext cx="6794500" cy="82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0">
                <a:solidFill>
                  <a:srgbClr val="0B2033"/>
                </a:solidFill>
                <a:latin typeface="Arial"/>
                <a:ea typeface="Arial"/>
                <a:cs typeface="Arial"/>
              </a:defRPr>
            </a:pPr>
            <a:r>
              <a:rPr sz="2400" b="0">
                <a:solidFill>
                  <a:srgbClr val="0B2033"/>
                </a:solidFill>
                <a:latin typeface="Arial"/>
                <a:ea typeface="Arial"/>
                <a:cs typeface="Arial"/>
              </a:rPr>
              <a:t>q is the required score. By default,</a:t>
            </a:r>
          </a:p>
          <a:p xmlns:a="http://schemas.openxmlformats.org/drawingml/2006/main">
            <a:pPr algn="l">
              <a:defRPr sz="2400" b="0">
                <a:solidFill>
                  <a:srgbClr val="0B2033"/>
                </a:solidFill>
                <a:latin typeface="Arial"/>
                <a:ea typeface="Arial"/>
                <a:cs typeface="Arial"/>
              </a:defRPr>
            </a:pPr>
            <a:r>
              <a:rPr sz="2400" b="0">
                <a:solidFill>
                  <a:srgbClr val="0B2033"/>
                </a:solidFill>
                <a:latin typeface="Arial"/>
                <a:ea typeface="Arial"/>
                <a:cs typeface="Arial"/>
              </a:rPr>
              <a:t>α = 0.95, so q is 95% of U(D).</a:t>
            </a:r>
          </a:p>
        </p:txBody>
      </p:sp>
      <p:sp>
        <p:nvSpPr>
          <p:cNvPr id="7" name="rule-43">
            <a:extLst xmlns:a="http://schemas.openxmlformats.org/drawingml/2006/main">
              <a:ext uri="{FF2B5EF4-FFF2-40B4-BE49-F238E27FC236}">
                <a16:creationId xmlns:a16="http://schemas.microsoft.com/office/drawing/2014/main" id="{7F1CA6A8-6A10-4689-B675-02D3C1D8C6F1}"/>
              </a:ext>
            </a:extLst>
          </p:cNvPr>
          <p:cNvSpPr>
            <a:spLocks xmlns:a="http://schemas.openxmlformats.org/drawingml/2006/main" noGrp="1"/>
          </p:cNvSpPr>
          <p:nvPr/>
        </p:nvSpPr>
        <p:spPr>
          <a:xfrm xmlns:a="http://schemas.openxmlformats.org/drawingml/2006/main">
            <a:off x="762000" y="4013200"/>
            <a:ext cx="13716000" cy="0"/>
          </a:xfrm>
          <a:prstGeom xmlns:a="http://schemas.openxmlformats.org/drawingml/2006/main" prst="line">
            <a:avLst/>
          </a:prstGeom>
          <a:noFill xmlns:a="http://schemas.openxmlformats.org/drawingml/2006/main"/>
          <a:ln xmlns:a="http://schemas.openxmlformats.org/drawingml/2006/main" w="12700">
            <a:solidFill>
              <a:srgbClr val="D7DEDF"/>
            </a:solidFill>
          </a:ln>
        </p:spPr>
      </p:sp>
      <p:sp>
        <p:nvSpPr>
          <p:cNvPr id="8" name="text-44">
            <a:extLst xmlns:a="http://schemas.openxmlformats.org/drawingml/2006/main">
              <a:ext uri="{FF2B5EF4-FFF2-40B4-BE49-F238E27FC236}">
                <a16:creationId xmlns:a16="http://schemas.microsoft.com/office/drawing/2014/main" id="{BC37FE7F-D69D-4659-9BBB-CF58B11869D6}"/>
              </a:ext>
            </a:extLst>
          </p:cNvPr>
          <p:cNvSpPr>
            <a:spLocks xmlns:a="http://schemas.openxmlformats.org/drawingml/2006/main" noGrp="1"/>
          </p:cNvSpPr>
          <p:nvPr/>
        </p:nvSpPr>
        <p:spPr>
          <a:xfrm xmlns:a="http://schemas.openxmlformats.org/drawingml/2006/main">
            <a:off x="762000" y="4203700"/>
            <a:ext cx="65405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00" b="1">
                <a:solidFill>
                  <a:srgbClr val="0B2033"/>
                </a:solidFill>
                <a:latin typeface="Arial"/>
                <a:ea typeface="Arial"/>
                <a:cs typeface="Arial"/>
              </a:defRPr>
            </a:pPr>
            <a:r>
              <a:rPr sz="3100" b="1">
                <a:solidFill>
                  <a:srgbClr val="0B2033"/>
                </a:solidFill>
                <a:latin typeface="Arial"/>
                <a:ea typeface="Arial"/>
                <a:cs typeface="Arial"/>
              </a:rPr>
              <a:t>vα(S) = 1[U(S) ≥ q]</a:t>
            </a:r>
          </a:p>
        </p:txBody>
      </p:sp>
      <p:sp>
        <p:nvSpPr>
          <p:cNvPr id="9" name="text-45">
            <a:extLst xmlns:a="http://schemas.openxmlformats.org/drawingml/2006/main">
              <a:ext uri="{FF2B5EF4-FFF2-40B4-BE49-F238E27FC236}">
                <a16:creationId xmlns:a16="http://schemas.microsoft.com/office/drawing/2014/main" id="{DF277E0C-BEF4-4BB8-963D-F5985DE1D256}"/>
              </a:ext>
            </a:extLst>
          </p:cNvPr>
          <p:cNvSpPr>
            <a:spLocks xmlns:a="http://schemas.openxmlformats.org/drawingml/2006/main" noGrp="1"/>
          </p:cNvSpPr>
          <p:nvPr/>
        </p:nvSpPr>
        <p:spPr>
          <a:xfrm xmlns:a="http://schemas.openxmlformats.org/drawingml/2006/main">
            <a:off x="7683500" y="4127500"/>
            <a:ext cx="6794500" cy="82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0">
                <a:solidFill>
                  <a:srgbClr val="0B2033"/>
                </a:solidFill>
                <a:latin typeface="Arial"/>
                <a:ea typeface="Arial"/>
                <a:cs typeface="Arial"/>
              </a:defRPr>
            </a:pPr>
            <a:r>
              <a:rPr sz="2400" b="0">
                <a:solidFill>
                  <a:srgbClr val="0B2033"/>
                </a:solidFill>
                <a:latin typeface="Arial"/>
                <a:ea typeface="Arial"/>
                <a:cs typeface="Arial"/>
              </a:rPr>
              <a:t>1 means the score meets the requirement.</a:t>
            </a:r>
          </a:p>
          <a:p xmlns:a="http://schemas.openxmlformats.org/drawingml/2006/main">
            <a:pPr algn="l">
              <a:defRPr sz="2400" b="0">
                <a:solidFill>
                  <a:srgbClr val="0B2033"/>
                </a:solidFill>
                <a:latin typeface="Arial"/>
                <a:ea typeface="Arial"/>
                <a:cs typeface="Arial"/>
              </a:defRPr>
            </a:pPr>
            <a:r>
              <a:rPr sz="2400" b="0">
                <a:solidFill>
                  <a:srgbClr val="0B2033"/>
                </a:solidFill>
                <a:latin typeface="Arial"/>
                <a:ea typeface="Arial"/>
                <a:cs typeface="Arial"/>
              </a:rPr>
              <a:t>0 means it falls below the requirement.</a:t>
            </a:r>
          </a:p>
        </p:txBody>
      </p:sp>
      <p:sp>
        <p:nvSpPr>
          <p:cNvPr id="10" name="text-46">
            <a:extLst xmlns:a="http://schemas.openxmlformats.org/drawingml/2006/main">
              <a:ext uri="{FF2B5EF4-FFF2-40B4-BE49-F238E27FC236}">
                <a16:creationId xmlns:a16="http://schemas.microsoft.com/office/drawing/2014/main" id="{5FCD3BCE-F792-457D-B4B9-1A561E9CEA40}"/>
              </a:ext>
            </a:extLst>
          </p:cNvPr>
          <p:cNvSpPr>
            <a:spLocks xmlns:a="http://schemas.openxmlformats.org/drawingml/2006/main" noGrp="1"/>
          </p:cNvSpPr>
          <p:nvPr/>
        </p:nvSpPr>
        <p:spPr>
          <a:xfrm xmlns:a="http://schemas.openxmlformats.org/drawingml/2006/main">
            <a:off x="762000" y="5295900"/>
            <a:ext cx="6604000" cy="66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0B2033"/>
                </a:solidFill>
                <a:latin typeface="Arial"/>
                <a:ea typeface="Arial"/>
                <a:cs typeface="Arial"/>
              </a:defRPr>
            </a:pPr>
            <a:r>
              <a:rPr sz="2700" b="1">
                <a:solidFill>
                  <a:srgbClr val="0B2033"/>
                </a:solidFill>
                <a:latin typeface="Arial"/>
                <a:ea typeface="Arial"/>
                <a:cs typeface="Arial"/>
              </a:rPr>
              <a:t>Δᵢ(S) = vα(S ∪ {i}) − vα(S)</a:t>
            </a:r>
          </a:p>
        </p:txBody>
      </p:sp>
      <p:sp>
        <p:nvSpPr>
          <p:cNvPr id="11" name="text-47">
            <a:extLst xmlns:a="http://schemas.openxmlformats.org/drawingml/2006/main">
              <a:ext uri="{FF2B5EF4-FFF2-40B4-BE49-F238E27FC236}">
                <a16:creationId xmlns:a16="http://schemas.microsoft.com/office/drawing/2014/main" id="{11261EE4-9C4F-4347-A36A-195209168092}"/>
              </a:ext>
            </a:extLst>
          </p:cNvPr>
          <p:cNvSpPr>
            <a:spLocks xmlns:a="http://schemas.openxmlformats.org/drawingml/2006/main" noGrp="1"/>
          </p:cNvSpPr>
          <p:nvPr/>
        </p:nvSpPr>
        <p:spPr>
          <a:xfrm xmlns:a="http://schemas.openxmlformats.org/drawingml/2006/main">
            <a:off x="7683500" y="5143500"/>
            <a:ext cx="6794500" cy="85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0">
                <a:solidFill>
                  <a:srgbClr val="0B2033"/>
                </a:solidFill>
                <a:latin typeface="Arial"/>
                <a:ea typeface="Arial"/>
                <a:cs typeface="Arial"/>
              </a:defRPr>
            </a:pPr>
            <a:r>
              <a:rPr sz="2400" b="0">
                <a:solidFill>
                  <a:srgbClr val="0B2033"/>
                </a:solidFill>
                <a:latin typeface="Arial"/>
                <a:ea typeface="Arial"/>
                <a:cs typeface="Arial"/>
              </a:rPr>
              <a:t>Measure the change after adding i.</a:t>
            </a:r>
          </a:p>
          <a:p xmlns:a="http://schemas.openxmlformats.org/drawingml/2006/main">
            <a:pPr algn="l">
              <a:defRPr sz="2400" b="0">
                <a:solidFill>
                  <a:srgbClr val="0B2033"/>
                </a:solidFill>
                <a:latin typeface="Arial"/>
                <a:ea typeface="Arial"/>
                <a:cs typeface="Arial"/>
              </a:defRPr>
            </a:pPr>
            <a:r>
              <a:rPr sz="2400" b="0">
                <a:solidFill>
                  <a:srgbClr val="0B2033"/>
                </a:solidFill>
                <a:latin typeface="Arial"/>
                <a:ea typeface="Arial"/>
                <a:cs typeface="Arial"/>
              </a:rPr>
              <a:t>−1 means a change from pass to fail.</a:t>
            </a:r>
          </a:p>
        </p:txBody>
      </p:sp>
      <p:sp>
        <p:nvSpPr>
          <p:cNvPr id="12" name="text-48">
            <a:extLst xmlns:a="http://schemas.openxmlformats.org/drawingml/2006/main">
              <a:ext uri="{FF2B5EF4-FFF2-40B4-BE49-F238E27FC236}">
                <a16:creationId xmlns:a16="http://schemas.microsoft.com/office/drawing/2014/main" id="{7DF55CD0-8D56-4807-B5EF-EEBE3F4AC348}"/>
              </a:ext>
            </a:extLst>
          </p:cNvPr>
          <p:cNvSpPr>
            <a:spLocks xmlns:a="http://schemas.openxmlformats.org/drawingml/2006/main" noGrp="1"/>
          </p:cNvSpPr>
          <p:nvPr/>
        </p:nvSpPr>
        <p:spPr>
          <a:xfrm xmlns:a="http://schemas.openxmlformats.org/drawingml/2006/main">
            <a:off x="762000" y="6337300"/>
            <a:ext cx="66040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00" b="1">
                <a:solidFill>
                  <a:srgbClr val="0C7C78"/>
                </a:solidFill>
                <a:latin typeface="Arial"/>
                <a:ea typeface="Arial"/>
                <a:cs typeface="Arial"/>
              </a:defRPr>
            </a:pPr>
            <a:r>
              <a:rPr sz="3200" b="1">
                <a:solidFill>
                  <a:srgbClr val="0C7C78"/>
                </a:solidFill>
                <a:latin typeface="Arial"/>
                <a:ea typeface="Arial"/>
                <a:cs typeface="Arial"/>
              </a:rPr>
              <a:t>Mᵢ = min { Δᵢ(S) }</a:t>
            </a:r>
          </a:p>
        </p:txBody>
      </p:sp>
      <p:sp>
        <p:nvSpPr>
          <p:cNvPr id="13" name="text-49">
            <a:extLst xmlns:a="http://schemas.openxmlformats.org/drawingml/2006/main">
              <a:ext uri="{FF2B5EF4-FFF2-40B4-BE49-F238E27FC236}">
                <a16:creationId xmlns:a16="http://schemas.microsoft.com/office/drawing/2014/main" id="{EF78FD19-5454-449A-8E50-6FE7C0A7D27C}"/>
              </a:ext>
            </a:extLst>
          </p:cNvPr>
          <p:cNvSpPr>
            <a:spLocks xmlns:a="http://schemas.openxmlformats.org/drawingml/2006/main" noGrp="1"/>
          </p:cNvSpPr>
          <p:nvPr/>
        </p:nvSpPr>
        <p:spPr>
          <a:xfrm xmlns:a="http://schemas.openxmlformats.org/drawingml/2006/main">
            <a:off x="7683500" y="6235700"/>
            <a:ext cx="6794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0">
                <a:solidFill>
                  <a:srgbClr val="0B2033"/>
                </a:solidFill>
                <a:latin typeface="Arial"/>
                <a:ea typeface="Arial"/>
                <a:cs typeface="Arial"/>
              </a:defRPr>
            </a:pPr>
            <a:r>
              <a:rPr sz="2400" b="0">
                <a:solidFill>
                  <a:srgbClr val="0B2033"/>
                </a:solidFill>
                <a:latin typeface="Arial"/>
                <a:ea typeface="Arial"/>
                <a:cs typeface="Arial"/>
              </a:rPr>
              <a:t>MinPPI takes the minimum over</a:t>
            </a:r>
          </a:p>
          <a:p xmlns:a="http://schemas.openxmlformats.org/drawingml/2006/main">
            <a:pPr algn="l">
              <a:defRPr sz="2400" b="0">
                <a:solidFill>
                  <a:srgbClr val="0B2033"/>
                </a:solidFill>
                <a:latin typeface="Arial"/>
                <a:ea typeface="Arial"/>
                <a:cs typeface="Arial"/>
              </a:defRPr>
            </a:pPr>
            <a:r>
              <a:rPr sz="2400" b="0">
                <a:solidFill>
                  <a:srgbClr val="0B2033"/>
                </a:solidFill>
                <a:latin typeface="Arial"/>
                <a:ea typeface="Arial"/>
                <a:cs typeface="Arial"/>
              </a:rPr>
              <a:t>all input groups S without i.</a:t>
            </a:r>
          </a:p>
        </p:txBody>
      </p:sp>
      <p:sp>
        <p:nvSpPr>
          <p:cNvPr id="14" name="text-50">
            <a:extLst xmlns:a="http://schemas.openxmlformats.org/drawingml/2006/main">
              <a:ext uri="{FF2B5EF4-FFF2-40B4-BE49-F238E27FC236}">
                <a16:creationId xmlns:a16="http://schemas.microsoft.com/office/drawing/2014/main" id="{60F70BCB-87D4-4D9A-AA2F-89276D8ADB14}"/>
              </a:ext>
            </a:extLst>
          </p:cNvPr>
          <p:cNvSpPr>
            <a:spLocks xmlns:a="http://schemas.openxmlformats.org/drawingml/2006/main" noGrp="1"/>
          </p:cNvSpPr>
          <p:nvPr/>
        </p:nvSpPr>
        <p:spPr>
          <a:xfrm xmlns:a="http://schemas.openxmlformats.org/drawingml/2006/main">
            <a:off x="762000" y="7543800"/>
            <a:ext cx="137160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00" b="1">
                <a:solidFill>
                  <a:srgbClr val="0C7C78"/>
                </a:solidFill>
                <a:latin typeface="Arial"/>
                <a:ea typeface="Arial"/>
                <a:cs typeface="Arial"/>
              </a:defRPr>
            </a:pPr>
            <a:r>
              <a:rPr sz="2300" b="1">
                <a:solidFill>
                  <a:srgbClr val="0C7C78"/>
                </a:solidFill>
                <a:latin typeface="Arial"/>
                <a:ea typeface="Arial"/>
                <a:cs typeface="Arial"/>
              </a:rPr>
              <a:t>Mᵢ = −1 means at least one harmful context exists under the fixed task conditions.</a:t>
            </a:r>
          </a:p>
        </p:txBody>
      </p:sp>
    </p:spTree>
    <p:extLst>
      <p:ext uri="{BB962C8B-B14F-4D97-AF65-F5344CB8AC3E}">
        <p14:creationId xmlns:p14="http://schemas.microsoft.com/office/powerpoint/2010/main" val="2018374648"/>
      </p:ext>
    </p:extLst>
  </p:cSld>
</p:sld>
</file>

<file path=ppt/slides/slide5.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9" name="text-51">
            <a:extLst xmlns:a="http://schemas.openxmlformats.org/drawingml/2006/main">
              <a:ext uri="{FF2B5EF4-FFF2-40B4-BE49-F238E27FC236}">
                <a16:creationId xmlns:a16="http://schemas.microsoft.com/office/drawing/2014/main" id="{4F057B4D-68C7-47E9-A971-198FF02BC594}"/>
              </a:ext>
            </a:extLst>
          </p:cNvPr>
          <p:cNvSpPr>
            <a:spLocks xmlns:a="http://schemas.openxmlformats.org/drawingml/2006/main" noGrp="1"/>
          </p:cNvSpPr>
          <p:nvPr/>
        </p:nvSpPr>
        <p:spPr>
          <a:xfrm xmlns:a="http://schemas.openxmlformats.org/drawingml/2006/main">
            <a:off x="762000" y="558800"/>
            <a:ext cx="13843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900" b="1">
                <a:solidFill>
                  <a:srgbClr val="0B2033"/>
                </a:solidFill>
                <a:latin typeface="Arial"/>
                <a:ea typeface="Arial"/>
                <a:cs typeface="Arial"/>
              </a:defRPr>
            </a:pPr>
            <a:r>
              <a:rPr sz="3900" b="1">
                <a:solidFill>
                  <a:srgbClr val="0B2033"/>
                </a:solidFill>
                <a:latin typeface="Arial"/>
                <a:ea typeface="Arial"/>
                <a:cs typeface="Arial"/>
              </a:rPr>
              <a:t>Voting Game: score each feature group</a:t>
            </a:r>
          </a:p>
        </p:txBody>
      </p:sp>
      <p:sp>
        <p:nvSpPr>
          <p:cNvPr id="2" name="rule-52">
            <a:extLst xmlns:a="http://schemas.openxmlformats.org/drawingml/2006/main">
              <a:ext uri="{FF2B5EF4-FFF2-40B4-BE49-F238E27FC236}">
                <a16:creationId xmlns:a16="http://schemas.microsoft.com/office/drawing/2014/main" id="{92326461-A9EC-4564-AB81-F36A50DC11B3}"/>
              </a:ext>
            </a:extLst>
          </p:cNvPr>
          <p:cNvSpPr>
            <a:spLocks xmlns:a="http://schemas.openxmlformats.org/drawingml/2006/main" noGrp="1"/>
          </p:cNvSpPr>
          <p:nvPr/>
        </p:nvSpPr>
        <p:spPr>
          <a:xfrm xmlns:a="http://schemas.openxmlformats.org/drawingml/2006/main">
            <a:off x="762000" y="1701800"/>
            <a:ext cx="13716000" cy="0"/>
          </a:xfrm>
          <a:prstGeom xmlns:a="http://schemas.openxmlformats.org/drawingml/2006/main" prst="line">
            <a:avLst/>
          </a:prstGeom>
          <a:noFill xmlns:a="http://schemas.openxmlformats.org/drawingml/2006/main"/>
          <a:ln xmlns:a="http://schemas.openxmlformats.org/drawingml/2006/main" w="19050">
            <a:solidFill>
              <a:srgbClr val="0C7C78"/>
            </a:solidFill>
          </a:ln>
        </p:spPr>
      </p:sp>
      <p:sp>
        <p:nvSpPr>
          <p:cNvPr id="3" name="text-53">
            <a:extLst xmlns:a="http://schemas.openxmlformats.org/drawingml/2006/main">
              <a:ext uri="{FF2B5EF4-FFF2-40B4-BE49-F238E27FC236}">
                <a16:creationId xmlns:a16="http://schemas.microsoft.com/office/drawing/2014/main" id="{F6CBDBCF-3D57-4A04-9C65-C48F67596BD5}"/>
              </a:ext>
            </a:extLst>
          </p:cNvPr>
          <p:cNvSpPr>
            <a:spLocks xmlns:a="http://schemas.openxmlformats.org/drawingml/2006/main" noGrp="1"/>
          </p:cNvSpPr>
          <p:nvPr/>
        </p:nvSpPr>
        <p:spPr>
          <a:xfrm xmlns:a="http://schemas.openxmlformats.org/drawingml/2006/main">
            <a:off x="14122400" y="80772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600" b="0">
                <a:solidFill>
                  <a:srgbClr val="526675"/>
                </a:solidFill>
                <a:latin typeface="Arial"/>
                <a:ea typeface="Arial"/>
                <a:cs typeface="Arial"/>
              </a:defRPr>
            </a:pPr>
            <a:r>
              <a:rPr sz="1600" b="0">
                <a:solidFill>
                  <a:srgbClr val="526675"/>
                </a:solidFill>
                <a:latin typeface="Arial"/>
                <a:ea typeface="Arial"/>
                <a:cs typeface="Arial"/>
              </a:rPr>
              <a:t>05</a:t>
            </a:r>
          </a:p>
        </p:txBody>
      </p:sp>
      <p:sp>
        <p:nvSpPr>
          <p:cNvPr id="4" name="text-54">
            <a:extLst xmlns:a="http://schemas.openxmlformats.org/drawingml/2006/main">
              <a:ext uri="{FF2B5EF4-FFF2-40B4-BE49-F238E27FC236}">
                <a16:creationId xmlns:a16="http://schemas.microsoft.com/office/drawing/2014/main" id="{63E8DDB5-23E8-4050-AF48-FCF5967E2F96}"/>
              </a:ext>
            </a:extLst>
          </p:cNvPr>
          <p:cNvSpPr>
            <a:spLocks xmlns:a="http://schemas.openxmlformats.org/drawingml/2006/main" noGrp="1"/>
          </p:cNvSpPr>
          <p:nvPr/>
        </p:nvSpPr>
        <p:spPr>
          <a:xfrm xmlns:a="http://schemas.openxmlformats.org/drawingml/2006/main">
            <a:off x="762000" y="1981200"/>
            <a:ext cx="13716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00" b="0">
                <a:solidFill>
                  <a:srgbClr val="526675"/>
                </a:solidFill>
                <a:latin typeface="Arial"/>
                <a:ea typeface="Arial"/>
                <a:cs typeface="Arial"/>
              </a:defRPr>
            </a:pPr>
            <a:r>
              <a:rPr sz="2600" b="0">
                <a:solidFill>
                  <a:srgbClr val="526675"/>
                </a:solidFill>
                <a:latin typeface="Arial"/>
                <a:ea typeface="Arial"/>
                <a:cs typeface="Arial"/>
              </a:rPr>
              <a:t>Illustrative example: D = {x₁, x₂, x₃}, U(D) = 0.90, α = 0.95</a:t>
            </a:r>
          </a:p>
        </p:txBody>
      </p:sp>
      <p:sp>
        <p:nvSpPr>
          <p:cNvPr id="5" name="text-55">
            <a:extLst xmlns:a="http://schemas.openxmlformats.org/drawingml/2006/main">
              <a:ext uri="{FF2B5EF4-FFF2-40B4-BE49-F238E27FC236}">
                <a16:creationId xmlns:a16="http://schemas.microsoft.com/office/drawing/2014/main" id="{C09E5955-EF22-4310-B387-FDBB07A31247}"/>
              </a:ext>
            </a:extLst>
          </p:cNvPr>
          <p:cNvSpPr>
            <a:spLocks xmlns:a="http://schemas.openxmlformats.org/drawingml/2006/main" noGrp="1"/>
          </p:cNvSpPr>
          <p:nvPr/>
        </p:nvSpPr>
        <p:spPr>
          <a:xfrm xmlns:a="http://schemas.openxmlformats.org/drawingml/2006/main">
            <a:off x="762000" y="2781300"/>
            <a:ext cx="13716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0C7C78"/>
                </a:solidFill>
                <a:latin typeface="Arial"/>
                <a:ea typeface="Arial"/>
                <a:cs typeface="Arial"/>
              </a:defRPr>
            </a:pPr>
            <a:r>
              <a:rPr sz="3000" b="1">
                <a:solidFill>
                  <a:srgbClr val="0C7C78"/>
                </a:solidFill>
                <a:latin typeface="Arial"/>
                <a:ea typeface="Arial"/>
                <a:cs typeface="Arial"/>
              </a:rPr>
              <a:t>q = 0.855       v(S) = 1 if U(S) ≥ q, and 0 otherwise</a:t>
            </a:r>
          </a:p>
        </p:txBody>
      </p:sp>
      <p:graphicFrame>
        <p:nvGraphicFramePr>
          <p:cNvPr id="14" name=""/>
          <p:cNvGraphicFramePr/>
          <p:nvPr/>
        </p:nvGraphicFramePr>
        <p:xfrm>
          <a:off xmlns:a="http://schemas.openxmlformats.org/drawingml/2006/main" x="762000" y="3771900"/>
          <a:ext xmlns:a="http://schemas.openxmlformats.org/drawingml/2006/main" cx="13716000" cy="2921000"/>
        </p:xfrm>
        <a:graphic xmlns:a="http://schemas.openxmlformats.org/drawingml/2006/main">
          <a:graphicData uri="http://schemas.openxmlformats.org/drawingml/2006/table">
            <a:tbl>
              <a:tblPr/>
              <a:tblGrid>
                <a:gridCol w="2476500"/>
                <a:gridCol w="1905000"/>
                <a:gridCol w="2476500"/>
                <a:gridCol w="2476500"/>
                <a:gridCol w="1905000"/>
                <a:gridCol w="2476500"/>
              </a:tblGrid>
              <a:tr h="584200">
                <a:tc>
                  <a:txBody>
                    <a:bodyPr>
                      <a:noAutofit/>
                    </a:bodyPr>
                    <a:lstStyle/>
                    <a:p>
                      <a:r>
                        <a:rPr sz="2300" b="1">
                          <a:solidFill>
                            <a:srgbClr val="FFFFFF"/>
                          </a:solidFill>
                          <a:latin typeface="Arial"/>
                          <a:ea typeface="Arial"/>
                          <a:cs typeface="Arial"/>
                        </a:rPr>
                        <a:t>Group S</a:t>
                      </a:r>
                    </a:p>
                  </a:txBody>
                  <a:tcPr marL="91440" marR="91440" marT="45720" marB="45720">
                    <a:solidFill>
                      <a:srgbClr val="0B2033"/>
                    </a:solidFill>
                  </a:tcPr>
                </a:tc>
                <a:tc>
                  <a:txBody>
                    <a:bodyPr>
                      <a:noAutofit/>
                    </a:bodyPr>
                    <a:lstStyle/>
                    <a:p>
                      <a:r>
                        <a:rPr sz="2300" b="1">
                          <a:solidFill>
                            <a:srgbClr val="FFFFFF"/>
                          </a:solidFill>
                          <a:latin typeface="Arial"/>
                          <a:ea typeface="Arial"/>
                          <a:cs typeface="Arial"/>
                        </a:rPr>
                        <a:t>Score U(S)</a:t>
                      </a:r>
                    </a:p>
                  </a:txBody>
                  <a:tcPr marL="91440" marR="91440" marT="45720" marB="45720">
                    <a:solidFill>
                      <a:srgbClr val="0B2033"/>
                    </a:solidFill>
                  </a:tcPr>
                </a:tc>
                <a:tc>
                  <a:txBody>
                    <a:bodyPr>
                      <a:noAutofit/>
                    </a:bodyPr>
                    <a:lstStyle/>
                    <a:p>
                      <a:r>
                        <a:rPr sz="2300" b="1">
                          <a:solidFill>
                            <a:srgbClr val="FFFFFF"/>
                          </a:solidFill>
                          <a:latin typeface="Arial"/>
                          <a:ea typeface="Arial"/>
                          <a:cs typeface="Arial"/>
                        </a:rPr>
                        <a:t>Outcome v(S)</a:t>
                      </a:r>
                    </a:p>
                  </a:txBody>
                  <a:tcPr marL="91440" marR="91440" marT="45720" marB="45720">
                    <a:solidFill>
                      <a:srgbClr val="0B2033"/>
                    </a:solidFill>
                  </a:tcPr>
                </a:tc>
                <a:tc>
                  <a:txBody>
                    <a:bodyPr>
                      <a:noAutofit/>
                    </a:bodyPr>
                    <a:lstStyle/>
                    <a:p>
                      <a:r>
                        <a:rPr sz="2300" b="1">
                          <a:solidFill>
                            <a:srgbClr val="FFFFFF"/>
                          </a:solidFill>
                          <a:latin typeface="Arial"/>
                          <a:ea typeface="Arial"/>
                          <a:cs typeface="Arial"/>
                        </a:rPr>
                        <a:t>Group S</a:t>
                      </a:r>
                    </a:p>
                  </a:txBody>
                  <a:tcPr marL="91440" marR="91440" marT="45720" marB="45720">
                    <a:solidFill>
                      <a:srgbClr val="0B2033"/>
                    </a:solidFill>
                  </a:tcPr>
                </a:tc>
                <a:tc>
                  <a:txBody>
                    <a:bodyPr>
                      <a:noAutofit/>
                    </a:bodyPr>
                    <a:lstStyle/>
                    <a:p>
                      <a:r>
                        <a:rPr sz="2300" b="1">
                          <a:solidFill>
                            <a:srgbClr val="FFFFFF"/>
                          </a:solidFill>
                          <a:latin typeface="Arial"/>
                          <a:ea typeface="Arial"/>
                          <a:cs typeface="Arial"/>
                        </a:rPr>
                        <a:t>Score U(S)</a:t>
                      </a:r>
                    </a:p>
                  </a:txBody>
                  <a:tcPr marL="91440" marR="91440" marT="45720" marB="45720">
                    <a:solidFill>
                      <a:srgbClr val="0B2033"/>
                    </a:solidFill>
                  </a:tcPr>
                </a:tc>
                <a:tc>
                  <a:txBody>
                    <a:bodyPr>
                      <a:noAutofit/>
                    </a:bodyPr>
                    <a:lstStyle/>
                    <a:p>
                      <a:r>
                        <a:rPr sz="2300" b="1">
                          <a:solidFill>
                            <a:srgbClr val="FFFFFF"/>
                          </a:solidFill>
                          <a:latin typeface="Arial"/>
                          <a:ea typeface="Arial"/>
                          <a:cs typeface="Arial"/>
                        </a:rPr>
                        <a:t>Outcome v(S)</a:t>
                      </a:r>
                    </a:p>
                  </a:txBody>
                  <a:tcPr marL="91440" marR="91440" marT="45720" marB="45720">
                    <a:solidFill>
                      <a:srgbClr val="0B2033"/>
                    </a:solidFill>
                  </a:tcPr>
                </a:tc>
              </a:tr>
              <a:tr h="584200">
                <a:tc>
                  <a:txBody>
                    <a:bodyPr>
                      <a:noAutofit/>
                    </a:bodyPr>
                    <a:lstStyle/>
                    <a:p>
                      <a:r>
                        <a:rPr sz="2300" b="0">
                          <a:solidFill>
                            <a:srgbClr val="0B2033"/>
                          </a:solidFill>
                          <a:latin typeface="Arial"/>
                          <a:ea typeface="Arial"/>
                          <a:cs typeface="Arial"/>
                        </a:rPr>
                        <a:t>∅</a:t>
                      </a:r>
                    </a:p>
                  </a:txBody>
                  <a:tcPr marL="91440" marR="91440" marT="45720" marB="45720">
                    <a:solidFill>
                      <a:srgbClr val="F6F3EB"/>
                    </a:solidFill>
                  </a:tcPr>
                </a:tc>
                <a:tc>
                  <a:txBody>
                    <a:bodyPr>
                      <a:noAutofit/>
                    </a:bodyPr>
                    <a:lstStyle/>
                    <a:p>
                      <a:r>
                        <a:rPr sz="2300" b="0">
                          <a:solidFill>
                            <a:srgbClr val="0B2033"/>
                          </a:solidFill>
                          <a:latin typeface="Arial"/>
                          <a:ea typeface="Arial"/>
                          <a:cs typeface="Arial"/>
                        </a:rPr>
                        <a:t>0.50</a:t>
                      </a:r>
                    </a:p>
                  </a:txBody>
                  <a:tcPr marL="91440" marR="91440" marT="45720" marB="45720">
                    <a:solidFill>
                      <a:srgbClr val="F6F3EB"/>
                    </a:solidFill>
                  </a:tcPr>
                </a:tc>
                <a:tc>
                  <a:txBody>
                    <a:bodyPr>
                      <a:noAutofit/>
                    </a:bodyPr>
                    <a:lstStyle/>
                    <a:p>
                      <a:r>
                        <a:rPr sz="2300" b="0">
                          <a:solidFill>
                            <a:srgbClr val="0B2033"/>
                          </a:solidFill>
                          <a:latin typeface="Arial"/>
                          <a:ea typeface="Arial"/>
                          <a:cs typeface="Arial"/>
                        </a:rPr>
                        <a:t>0</a:t>
                      </a:r>
                    </a:p>
                  </a:txBody>
                  <a:tcPr marL="91440" marR="91440" marT="45720" marB="45720">
                    <a:solidFill>
                      <a:srgbClr val="F6F3EB"/>
                    </a:solidFill>
                  </a:tcPr>
                </a:tc>
                <a:tc>
                  <a:txBody>
                    <a:bodyPr>
                      <a:noAutofit/>
                    </a:bodyPr>
                    <a:lstStyle/>
                    <a:p>
                      <a:r>
                        <a:rPr sz="2300" b="0">
                          <a:solidFill>
                            <a:srgbClr val="0B2033"/>
                          </a:solidFill>
                          <a:latin typeface="Arial"/>
                          <a:ea typeface="Arial"/>
                          <a:cs typeface="Arial"/>
                        </a:rPr>
                        <a:t>{x₁, x₂}</a:t>
                      </a:r>
                    </a:p>
                  </a:txBody>
                  <a:tcPr marL="91440" marR="91440" marT="45720" marB="45720">
                    <a:solidFill>
                      <a:srgbClr val="F6F3EB"/>
                    </a:solidFill>
                  </a:tcPr>
                </a:tc>
                <a:tc>
                  <a:txBody>
                    <a:bodyPr>
                      <a:noAutofit/>
                    </a:bodyPr>
                    <a:lstStyle/>
                    <a:p>
                      <a:r>
                        <a:rPr sz="2300" b="0">
                          <a:solidFill>
                            <a:srgbClr val="0B2033"/>
                          </a:solidFill>
                          <a:latin typeface="Arial"/>
                          <a:ea typeface="Arial"/>
                          <a:cs typeface="Arial"/>
                        </a:rPr>
                        <a:t>0.84</a:t>
                      </a:r>
                    </a:p>
                  </a:txBody>
                  <a:tcPr marL="91440" marR="91440" marT="45720" marB="45720">
                    <a:solidFill>
                      <a:srgbClr val="F6F3EB"/>
                    </a:solidFill>
                  </a:tcPr>
                </a:tc>
                <a:tc>
                  <a:txBody>
                    <a:bodyPr>
                      <a:noAutofit/>
                    </a:bodyPr>
                    <a:lstStyle/>
                    <a:p>
                      <a:r>
                        <a:rPr sz="2300" b="0">
                          <a:solidFill>
                            <a:srgbClr val="0B2033"/>
                          </a:solidFill>
                          <a:latin typeface="Arial"/>
                          <a:ea typeface="Arial"/>
                          <a:cs typeface="Arial"/>
                        </a:rPr>
                        <a:t>0</a:t>
                      </a:r>
                    </a:p>
                  </a:txBody>
                  <a:tcPr marL="91440" marR="91440" marT="45720" marB="45720">
                    <a:solidFill>
                      <a:srgbClr val="F6F3EB"/>
                    </a:solidFill>
                  </a:tcPr>
                </a:tc>
              </a:tr>
              <a:tr h="584200">
                <a:tc>
                  <a:txBody>
                    <a:bodyPr>
                      <a:noAutofit/>
                    </a:bodyPr>
                    <a:lstStyle/>
                    <a:p>
                      <a:r>
                        <a:rPr sz="2300" b="0">
                          <a:solidFill>
                            <a:srgbClr val="0B2033"/>
                          </a:solidFill>
                          <a:latin typeface="Arial"/>
                          <a:ea typeface="Arial"/>
                          <a:cs typeface="Arial"/>
                        </a:rPr>
                        <a:t>{x₁}</a:t>
                      </a:r>
                    </a:p>
                  </a:txBody>
                  <a:tcPr marL="91440" marR="91440" marT="45720" marB="45720">
                    <a:solidFill>
                      <a:srgbClr val="EEEEE7"/>
                    </a:solidFill>
                  </a:tcPr>
                </a:tc>
                <a:tc>
                  <a:txBody>
                    <a:bodyPr>
                      <a:noAutofit/>
                    </a:bodyPr>
                    <a:lstStyle/>
                    <a:p>
                      <a:r>
                        <a:rPr sz="2300" b="0">
                          <a:solidFill>
                            <a:srgbClr val="0B2033"/>
                          </a:solidFill>
                          <a:latin typeface="Arial"/>
                          <a:ea typeface="Arial"/>
                          <a:cs typeface="Arial"/>
                        </a:rPr>
                        <a:t>0.87</a:t>
                      </a:r>
                    </a:p>
                  </a:txBody>
                  <a:tcPr marL="91440" marR="91440" marT="45720" marB="45720">
                    <a:solidFill>
                      <a:srgbClr val="EEEEE7"/>
                    </a:solidFill>
                  </a:tcPr>
                </a:tc>
                <a:tc>
                  <a:txBody>
                    <a:bodyPr>
                      <a:noAutofit/>
                    </a:bodyPr>
                    <a:lstStyle/>
                    <a:p>
                      <a:r>
                        <a:rPr sz="2300" b="0">
                          <a:solidFill>
                            <a:srgbClr val="0B2033"/>
                          </a:solidFill>
                          <a:latin typeface="Arial"/>
                          <a:ea typeface="Arial"/>
                          <a:cs typeface="Arial"/>
                        </a:rPr>
                        <a:t>1</a:t>
                      </a:r>
                    </a:p>
                  </a:txBody>
                  <a:tcPr marL="91440" marR="91440" marT="45720" marB="45720">
                    <a:solidFill>
                      <a:srgbClr val="EEEEE7"/>
                    </a:solidFill>
                  </a:tcPr>
                </a:tc>
                <a:tc>
                  <a:txBody>
                    <a:bodyPr>
                      <a:noAutofit/>
                    </a:bodyPr>
                    <a:lstStyle/>
                    <a:p>
                      <a:r>
                        <a:rPr sz="2300" b="0">
                          <a:solidFill>
                            <a:srgbClr val="0B2033"/>
                          </a:solidFill>
                          <a:latin typeface="Arial"/>
                          <a:ea typeface="Arial"/>
                          <a:cs typeface="Arial"/>
                        </a:rPr>
                        <a:t>{x₁, x₃}</a:t>
                      </a:r>
                    </a:p>
                  </a:txBody>
                  <a:tcPr marL="91440" marR="91440" marT="45720" marB="45720">
                    <a:solidFill>
                      <a:srgbClr val="EEEEE7"/>
                    </a:solidFill>
                  </a:tcPr>
                </a:tc>
                <a:tc>
                  <a:txBody>
                    <a:bodyPr>
                      <a:noAutofit/>
                    </a:bodyPr>
                    <a:lstStyle/>
                    <a:p>
                      <a:r>
                        <a:rPr sz="2300" b="0">
                          <a:solidFill>
                            <a:srgbClr val="0B2033"/>
                          </a:solidFill>
                          <a:latin typeface="Arial"/>
                          <a:ea typeface="Arial"/>
                          <a:cs typeface="Arial"/>
                        </a:rPr>
                        <a:t>0.89</a:t>
                      </a:r>
                    </a:p>
                  </a:txBody>
                  <a:tcPr marL="91440" marR="91440" marT="45720" marB="45720">
                    <a:solidFill>
                      <a:srgbClr val="EEEEE7"/>
                    </a:solidFill>
                  </a:tcPr>
                </a:tc>
                <a:tc>
                  <a:txBody>
                    <a:bodyPr>
                      <a:noAutofit/>
                    </a:bodyPr>
                    <a:lstStyle/>
                    <a:p>
                      <a:r>
                        <a:rPr sz="2300" b="0">
                          <a:solidFill>
                            <a:srgbClr val="0B2033"/>
                          </a:solidFill>
                          <a:latin typeface="Arial"/>
                          <a:ea typeface="Arial"/>
                          <a:cs typeface="Arial"/>
                        </a:rPr>
                        <a:t>1</a:t>
                      </a:r>
                    </a:p>
                  </a:txBody>
                  <a:tcPr marL="91440" marR="91440" marT="45720" marB="45720">
                    <a:solidFill>
                      <a:srgbClr val="EEEEE7"/>
                    </a:solidFill>
                  </a:tcPr>
                </a:tc>
              </a:tr>
              <a:tr h="584200">
                <a:tc>
                  <a:txBody>
                    <a:bodyPr>
                      <a:noAutofit/>
                    </a:bodyPr>
                    <a:lstStyle/>
                    <a:p>
                      <a:r>
                        <a:rPr sz="2300" b="0">
                          <a:solidFill>
                            <a:srgbClr val="0B2033"/>
                          </a:solidFill>
                          <a:latin typeface="Arial"/>
                          <a:ea typeface="Arial"/>
                          <a:cs typeface="Arial"/>
                        </a:rPr>
                        <a:t>{x₂}</a:t>
                      </a:r>
                    </a:p>
                  </a:txBody>
                  <a:tcPr marL="91440" marR="91440" marT="45720" marB="45720">
                    <a:solidFill>
                      <a:srgbClr val="F6F3EB"/>
                    </a:solidFill>
                  </a:tcPr>
                </a:tc>
                <a:tc>
                  <a:txBody>
                    <a:bodyPr>
                      <a:noAutofit/>
                    </a:bodyPr>
                    <a:lstStyle/>
                    <a:p>
                      <a:r>
                        <a:rPr sz="2300" b="0">
                          <a:solidFill>
                            <a:srgbClr val="0B2033"/>
                          </a:solidFill>
                          <a:latin typeface="Arial"/>
                          <a:ea typeface="Arial"/>
                          <a:cs typeface="Arial"/>
                        </a:rPr>
                        <a:t>0.88</a:t>
                      </a:r>
                    </a:p>
                  </a:txBody>
                  <a:tcPr marL="91440" marR="91440" marT="45720" marB="45720">
                    <a:solidFill>
                      <a:srgbClr val="F6F3EB"/>
                    </a:solidFill>
                  </a:tcPr>
                </a:tc>
                <a:tc>
                  <a:txBody>
                    <a:bodyPr>
                      <a:noAutofit/>
                    </a:bodyPr>
                    <a:lstStyle/>
                    <a:p>
                      <a:r>
                        <a:rPr sz="2300" b="0">
                          <a:solidFill>
                            <a:srgbClr val="0B2033"/>
                          </a:solidFill>
                          <a:latin typeface="Arial"/>
                          <a:ea typeface="Arial"/>
                          <a:cs typeface="Arial"/>
                        </a:rPr>
                        <a:t>1</a:t>
                      </a:r>
                    </a:p>
                  </a:txBody>
                  <a:tcPr marL="91440" marR="91440" marT="45720" marB="45720">
                    <a:solidFill>
                      <a:srgbClr val="F6F3EB"/>
                    </a:solidFill>
                  </a:tcPr>
                </a:tc>
                <a:tc>
                  <a:txBody>
                    <a:bodyPr>
                      <a:noAutofit/>
                    </a:bodyPr>
                    <a:lstStyle/>
                    <a:p>
                      <a:r>
                        <a:rPr sz="2300" b="0">
                          <a:solidFill>
                            <a:srgbClr val="0B2033"/>
                          </a:solidFill>
                          <a:latin typeface="Arial"/>
                          <a:ea typeface="Arial"/>
                          <a:cs typeface="Arial"/>
                        </a:rPr>
                        <a:t>{x₂, x₃}</a:t>
                      </a:r>
                    </a:p>
                  </a:txBody>
                  <a:tcPr marL="91440" marR="91440" marT="45720" marB="45720">
                    <a:solidFill>
                      <a:srgbClr val="F6F3EB"/>
                    </a:solidFill>
                  </a:tcPr>
                </a:tc>
                <a:tc>
                  <a:txBody>
                    <a:bodyPr>
                      <a:noAutofit/>
                    </a:bodyPr>
                    <a:lstStyle/>
                    <a:p>
                      <a:r>
                        <a:rPr sz="2300" b="0">
                          <a:solidFill>
                            <a:srgbClr val="0B2033"/>
                          </a:solidFill>
                          <a:latin typeface="Arial"/>
                          <a:ea typeface="Arial"/>
                          <a:cs typeface="Arial"/>
                        </a:rPr>
                        <a:t>0.86</a:t>
                      </a:r>
                    </a:p>
                  </a:txBody>
                  <a:tcPr marL="91440" marR="91440" marT="45720" marB="45720">
                    <a:solidFill>
                      <a:srgbClr val="F6F3EB"/>
                    </a:solidFill>
                  </a:tcPr>
                </a:tc>
                <a:tc>
                  <a:txBody>
                    <a:bodyPr>
                      <a:noAutofit/>
                    </a:bodyPr>
                    <a:lstStyle/>
                    <a:p>
                      <a:r>
                        <a:rPr sz="2300" b="0">
                          <a:solidFill>
                            <a:srgbClr val="0B2033"/>
                          </a:solidFill>
                          <a:latin typeface="Arial"/>
                          <a:ea typeface="Arial"/>
                          <a:cs typeface="Arial"/>
                        </a:rPr>
                        <a:t>1</a:t>
                      </a:r>
                    </a:p>
                  </a:txBody>
                  <a:tcPr marL="91440" marR="91440" marT="45720" marB="45720">
                    <a:solidFill>
                      <a:srgbClr val="F6F3EB"/>
                    </a:solidFill>
                  </a:tcPr>
                </a:tc>
              </a:tr>
              <a:tr h="584200">
                <a:tc>
                  <a:txBody>
                    <a:bodyPr>
                      <a:noAutofit/>
                    </a:bodyPr>
                    <a:lstStyle/>
                    <a:p>
                      <a:r>
                        <a:rPr sz="2300" b="0">
                          <a:solidFill>
                            <a:srgbClr val="0B2033"/>
                          </a:solidFill>
                          <a:latin typeface="Arial"/>
                          <a:ea typeface="Arial"/>
                          <a:cs typeface="Arial"/>
                        </a:rPr>
                        <a:t>{x₃}</a:t>
                      </a:r>
                    </a:p>
                  </a:txBody>
                  <a:tcPr marL="91440" marR="91440" marT="45720" marB="45720">
                    <a:solidFill>
                      <a:srgbClr val="EEEEE7"/>
                    </a:solidFill>
                  </a:tcPr>
                </a:tc>
                <a:tc>
                  <a:txBody>
                    <a:bodyPr>
                      <a:noAutofit/>
                    </a:bodyPr>
                    <a:lstStyle/>
                    <a:p>
                      <a:r>
                        <a:rPr sz="2300" b="0">
                          <a:solidFill>
                            <a:srgbClr val="0B2033"/>
                          </a:solidFill>
                          <a:latin typeface="Arial"/>
                          <a:ea typeface="Arial"/>
                          <a:cs typeface="Arial"/>
                        </a:rPr>
                        <a:t>0.80</a:t>
                      </a:r>
                    </a:p>
                  </a:txBody>
                  <a:tcPr marL="91440" marR="91440" marT="45720" marB="45720">
                    <a:solidFill>
                      <a:srgbClr val="EEEEE7"/>
                    </a:solidFill>
                  </a:tcPr>
                </a:tc>
                <a:tc>
                  <a:txBody>
                    <a:bodyPr>
                      <a:noAutofit/>
                    </a:bodyPr>
                    <a:lstStyle/>
                    <a:p>
                      <a:r>
                        <a:rPr sz="2300" b="0">
                          <a:solidFill>
                            <a:srgbClr val="0B2033"/>
                          </a:solidFill>
                          <a:latin typeface="Arial"/>
                          <a:ea typeface="Arial"/>
                          <a:cs typeface="Arial"/>
                        </a:rPr>
                        <a:t>0</a:t>
                      </a:r>
                    </a:p>
                  </a:txBody>
                  <a:tcPr marL="91440" marR="91440" marT="45720" marB="45720">
                    <a:solidFill>
                      <a:srgbClr val="EEEEE7"/>
                    </a:solidFill>
                  </a:tcPr>
                </a:tc>
                <a:tc>
                  <a:txBody>
                    <a:bodyPr>
                      <a:noAutofit/>
                    </a:bodyPr>
                    <a:lstStyle/>
                    <a:p>
                      <a:r>
                        <a:rPr sz="2300" b="0">
                          <a:solidFill>
                            <a:srgbClr val="0B2033"/>
                          </a:solidFill>
                          <a:latin typeface="Arial"/>
                          <a:ea typeface="Arial"/>
                          <a:cs typeface="Arial"/>
                        </a:rPr>
                        <a:t>{x₁, x₂, x₃}</a:t>
                      </a:r>
                    </a:p>
                  </a:txBody>
                  <a:tcPr marL="91440" marR="91440" marT="45720" marB="45720">
                    <a:solidFill>
                      <a:srgbClr val="EEEEE7"/>
                    </a:solidFill>
                  </a:tcPr>
                </a:tc>
                <a:tc>
                  <a:txBody>
                    <a:bodyPr>
                      <a:noAutofit/>
                    </a:bodyPr>
                    <a:lstStyle/>
                    <a:p>
                      <a:r>
                        <a:rPr sz="2300" b="0">
                          <a:solidFill>
                            <a:srgbClr val="0B2033"/>
                          </a:solidFill>
                          <a:latin typeface="Arial"/>
                          <a:ea typeface="Arial"/>
                          <a:cs typeface="Arial"/>
                        </a:rPr>
                        <a:t>0.90</a:t>
                      </a:r>
                    </a:p>
                  </a:txBody>
                  <a:tcPr marL="91440" marR="91440" marT="45720" marB="45720">
                    <a:solidFill>
                      <a:srgbClr val="EEEEE7"/>
                    </a:solidFill>
                  </a:tcPr>
                </a:tc>
                <a:tc>
                  <a:txBody>
                    <a:bodyPr>
                      <a:noAutofit/>
                    </a:bodyPr>
                    <a:lstStyle/>
                    <a:p>
                      <a:r>
                        <a:rPr sz="2300" b="0">
                          <a:solidFill>
                            <a:srgbClr val="0B2033"/>
                          </a:solidFill>
                          <a:latin typeface="Arial"/>
                          <a:ea typeface="Arial"/>
                          <a:cs typeface="Arial"/>
                        </a:rPr>
                        <a:t>1</a:t>
                      </a:r>
                    </a:p>
                  </a:txBody>
                  <a:tcPr marL="91440" marR="91440" marT="45720" marB="45720">
                    <a:solidFill>
                      <a:srgbClr val="EEEEE7"/>
                    </a:solidFill>
                  </a:tcPr>
                </a:tc>
              </a:tr>
            </a:tbl>
          </a:graphicData>
        </a:graphic>
      </p:graphicFrame>
      <p:sp>
        <p:nvSpPr>
          <p:cNvPr id="7" name="text-56">
            <a:extLst xmlns:a="http://schemas.openxmlformats.org/drawingml/2006/main">
              <a:ext uri="{FF2B5EF4-FFF2-40B4-BE49-F238E27FC236}">
                <a16:creationId xmlns:a16="http://schemas.microsoft.com/office/drawing/2014/main" id="{5EF2A34C-223B-4273-9CD0-72FA341E7771}"/>
              </a:ext>
            </a:extLst>
          </p:cNvPr>
          <p:cNvSpPr>
            <a:spLocks xmlns:a="http://schemas.openxmlformats.org/drawingml/2006/main" noGrp="1"/>
          </p:cNvSpPr>
          <p:nvPr/>
        </p:nvSpPr>
        <p:spPr>
          <a:xfrm xmlns:a="http://schemas.openxmlformats.org/drawingml/2006/main">
            <a:off x="762000" y="6997700"/>
            <a:ext cx="137160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00" b="1">
                <a:solidFill>
                  <a:srgbClr val="0B2033"/>
                </a:solidFill>
                <a:latin typeface="Arial"/>
                <a:ea typeface="Arial"/>
                <a:cs typeface="Arial"/>
              </a:defRPr>
            </a:pPr>
            <a:r>
              <a:rPr sz="2500" b="1">
                <a:solidFill>
                  <a:srgbClr val="0B2033"/>
                </a:solidFill>
                <a:latin typeface="Arial"/>
                <a:ea typeface="Arial"/>
                <a:cs typeface="Arial"/>
              </a:rPr>
              <a:t>“Winning” means meeting the score requirement. This defines the game.</a:t>
            </a:r>
          </a:p>
        </p:txBody>
      </p:sp>
      <p:sp>
        <p:nvSpPr>
          <p:cNvPr id="8" name="text-57">
            <a:extLst xmlns:a="http://schemas.openxmlformats.org/drawingml/2006/main">
              <a:ext uri="{FF2B5EF4-FFF2-40B4-BE49-F238E27FC236}">
                <a16:creationId xmlns:a16="http://schemas.microsoft.com/office/drawing/2014/main" id="{596156C8-0645-487A-A63C-E34B2AF106B1}"/>
              </a:ext>
            </a:extLst>
          </p:cNvPr>
          <p:cNvSpPr>
            <a:spLocks xmlns:a="http://schemas.openxmlformats.org/drawingml/2006/main" noGrp="1"/>
          </p:cNvSpPr>
          <p:nvPr/>
        </p:nvSpPr>
        <p:spPr>
          <a:xfrm xmlns:a="http://schemas.openxmlformats.org/drawingml/2006/main">
            <a:off x="762000" y="7708900"/>
            <a:ext cx="13716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526675"/>
                </a:solidFill>
                <a:latin typeface="Arial"/>
                <a:ea typeface="Arial"/>
                <a:cs typeface="Arial"/>
              </a:defRPr>
            </a:pPr>
            <a:r>
              <a:rPr sz="2100" b="0">
                <a:solidFill>
                  <a:srgbClr val="526675"/>
                </a:solidFill>
                <a:latin typeface="Arial"/>
                <a:ea typeface="Arial"/>
                <a:cs typeface="Arial"/>
              </a:rPr>
              <a:t>This game can be nonmonotone: adding an input can change a win into a loss.</a:t>
            </a:r>
          </a:p>
        </p:txBody>
      </p:sp>
    </p:spTree>
    <p:extLst>
      <p:ext uri="{BB962C8B-B14F-4D97-AF65-F5344CB8AC3E}">
        <p14:creationId xmlns:p14="http://schemas.microsoft.com/office/powerpoint/2010/main" val="580429411"/>
      </p:ext>
    </p:extLst>
  </p:cSld>
</p:sld>
</file>

<file path=ppt/slides/slide6.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1" name="text-58">
            <a:extLst xmlns:a="http://schemas.openxmlformats.org/drawingml/2006/main">
              <a:ext uri="{FF2B5EF4-FFF2-40B4-BE49-F238E27FC236}">
                <a16:creationId xmlns:a16="http://schemas.microsoft.com/office/drawing/2014/main" id="{C05FBD03-3B1B-4E59-BD0D-59305BEA5B46}"/>
              </a:ext>
            </a:extLst>
          </p:cNvPr>
          <p:cNvSpPr>
            <a:spLocks xmlns:a="http://schemas.openxmlformats.org/drawingml/2006/main" noGrp="1"/>
          </p:cNvSpPr>
          <p:nvPr/>
        </p:nvSpPr>
        <p:spPr>
          <a:xfrm xmlns:a="http://schemas.openxmlformats.org/drawingml/2006/main">
            <a:off x="762000" y="558800"/>
            <a:ext cx="13843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900" b="1">
                <a:solidFill>
                  <a:srgbClr val="0B2033"/>
                </a:solidFill>
                <a:latin typeface="Arial"/>
                <a:ea typeface="Arial"/>
                <a:cs typeface="Arial"/>
              </a:defRPr>
            </a:pPr>
            <a:r>
              <a:rPr sz="3900" b="1">
                <a:solidFill>
                  <a:srgbClr val="0B2033"/>
                </a:solidFill>
                <a:latin typeface="Arial"/>
                <a:ea typeface="Arial"/>
                <a:cs typeface="Arial"/>
              </a:rPr>
              <a:t>Shapley: average marginal contributions</a:t>
            </a:r>
          </a:p>
        </p:txBody>
      </p:sp>
      <p:sp>
        <p:nvSpPr>
          <p:cNvPr id="2" name="rule-59">
            <a:extLst xmlns:a="http://schemas.openxmlformats.org/drawingml/2006/main">
              <a:ext uri="{FF2B5EF4-FFF2-40B4-BE49-F238E27FC236}">
                <a16:creationId xmlns:a16="http://schemas.microsoft.com/office/drawing/2014/main" id="{6C8AA95D-C5ED-45D7-B9EC-20737304F6F0}"/>
              </a:ext>
            </a:extLst>
          </p:cNvPr>
          <p:cNvSpPr>
            <a:spLocks xmlns:a="http://schemas.openxmlformats.org/drawingml/2006/main" noGrp="1"/>
          </p:cNvSpPr>
          <p:nvPr/>
        </p:nvSpPr>
        <p:spPr>
          <a:xfrm xmlns:a="http://schemas.openxmlformats.org/drawingml/2006/main">
            <a:off x="762000" y="1701800"/>
            <a:ext cx="13716000" cy="0"/>
          </a:xfrm>
          <a:prstGeom xmlns:a="http://schemas.openxmlformats.org/drawingml/2006/main" prst="line">
            <a:avLst/>
          </a:prstGeom>
          <a:noFill xmlns:a="http://schemas.openxmlformats.org/drawingml/2006/main"/>
          <a:ln xmlns:a="http://schemas.openxmlformats.org/drawingml/2006/main" w="19050">
            <a:solidFill>
              <a:srgbClr val="0C7C78"/>
            </a:solidFill>
          </a:ln>
        </p:spPr>
      </p:sp>
      <p:sp>
        <p:nvSpPr>
          <p:cNvPr id="3" name="text-60">
            <a:extLst xmlns:a="http://schemas.openxmlformats.org/drawingml/2006/main">
              <a:ext uri="{FF2B5EF4-FFF2-40B4-BE49-F238E27FC236}">
                <a16:creationId xmlns:a16="http://schemas.microsoft.com/office/drawing/2014/main" id="{8F1C78BE-7028-4DE9-8F22-F8FD889863CF}"/>
              </a:ext>
            </a:extLst>
          </p:cNvPr>
          <p:cNvSpPr>
            <a:spLocks xmlns:a="http://schemas.openxmlformats.org/drawingml/2006/main" noGrp="1"/>
          </p:cNvSpPr>
          <p:nvPr/>
        </p:nvSpPr>
        <p:spPr>
          <a:xfrm xmlns:a="http://schemas.openxmlformats.org/drawingml/2006/main">
            <a:off x="14122400" y="80772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600" b="0">
                <a:solidFill>
                  <a:srgbClr val="526675"/>
                </a:solidFill>
                <a:latin typeface="Arial"/>
                <a:ea typeface="Arial"/>
                <a:cs typeface="Arial"/>
              </a:defRPr>
            </a:pPr>
            <a:r>
              <a:rPr sz="1600" b="0">
                <a:solidFill>
                  <a:srgbClr val="526675"/>
                </a:solidFill>
                <a:latin typeface="Arial"/>
                <a:ea typeface="Arial"/>
                <a:cs typeface="Arial"/>
              </a:rPr>
              <a:t>06</a:t>
            </a:r>
          </a:p>
        </p:txBody>
      </p:sp>
      <p:sp>
        <p:nvSpPr>
          <p:cNvPr id="4" name="text-61">
            <a:extLst xmlns:a="http://schemas.openxmlformats.org/drawingml/2006/main">
              <a:ext uri="{FF2B5EF4-FFF2-40B4-BE49-F238E27FC236}">
                <a16:creationId xmlns:a16="http://schemas.microsoft.com/office/drawing/2014/main" id="{449CD267-0A0B-4D44-A87F-A7F8AEA1912C}"/>
              </a:ext>
            </a:extLst>
          </p:cNvPr>
          <p:cNvSpPr>
            <a:spLocks xmlns:a="http://schemas.openxmlformats.org/drawingml/2006/main" noGrp="1"/>
          </p:cNvSpPr>
          <p:nvPr/>
        </p:nvSpPr>
        <p:spPr>
          <a:xfrm xmlns:a="http://schemas.openxmlformats.org/drawingml/2006/main">
            <a:off x="762000" y="2006600"/>
            <a:ext cx="1371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00" b="1">
                <a:solidFill>
                  <a:srgbClr val="0C7C78"/>
                </a:solidFill>
                <a:latin typeface="Arial"/>
                <a:ea typeface="Arial"/>
                <a:cs typeface="Arial"/>
              </a:defRPr>
            </a:pPr>
            <a:r>
              <a:rPr sz="2800" b="1">
                <a:solidFill>
                  <a:srgbClr val="0C7C78"/>
                </a:solidFill>
                <a:latin typeface="Arial"/>
                <a:ea typeface="Arial"/>
                <a:cs typeface="Arial"/>
              </a:rPr>
              <a:t>φᵢ(v) = ∑ w(S) Δᵢ(S)       w(S) = |S|! (n − |S| − 1)! / n!</a:t>
            </a:r>
          </a:p>
        </p:txBody>
      </p:sp>
      <p:sp>
        <p:nvSpPr>
          <p:cNvPr id="5" name="text-62">
            <a:extLst xmlns:a="http://schemas.openxmlformats.org/drawingml/2006/main">
              <a:ext uri="{FF2B5EF4-FFF2-40B4-BE49-F238E27FC236}">
                <a16:creationId xmlns:a16="http://schemas.microsoft.com/office/drawing/2014/main" id="{21EDCE2F-F285-41E2-B16A-2428452A770F}"/>
              </a:ext>
            </a:extLst>
          </p:cNvPr>
          <p:cNvSpPr>
            <a:spLocks xmlns:a="http://schemas.openxmlformats.org/drawingml/2006/main" noGrp="1"/>
          </p:cNvSpPr>
          <p:nvPr/>
        </p:nvSpPr>
        <p:spPr>
          <a:xfrm xmlns:a="http://schemas.openxmlformats.org/drawingml/2006/main">
            <a:off x="762000" y="2908300"/>
            <a:ext cx="1371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00" b="0">
                <a:solidFill>
                  <a:srgbClr val="526675"/>
                </a:solidFill>
                <a:latin typeface="Arial"/>
                <a:ea typeface="Arial"/>
                <a:cs typeface="Arial"/>
              </a:defRPr>
            </a:pPr>
            <a:r>
              <a:rPr sz="2200" b="0">
                <a:solidFill>
                  <a:srgbClr val="526675"/>
                </a:solidFill>
                <a:latin typeface="Arial"/>
                <a:ea typeface="Arial"/>
                <a:cs typeface="Arial"/>
              </a:rPr>
              <a:t>S excludes i. For n = 3, the four context weights are 1/3, 1/6, 1/6, 1/3.</a:t>
            </a:r>
          </a:p>
        </p:txBody>
      </p:sp>
      <p:graphicFrame>
        <p:nvGraphicFramePr>
          <p:cNvPr id="16" name=""/>
          <p:cNvGraphicFramePr/>
          <p:nvPr/>
        </p:nvGraphicFramePr>
        <p:xfrm>
          <a:off xmlns:a="http://schemas.openxmlformats.org/drawingml/2006/main" x="762000" y="3467100"/>
          <a:ext xmlns:a="http://schemas.openxmlformats.org/drawingml/2006/main" cx="13716000" cy="2514600"/>
        </p:xfrm>
        <a:graphic xmlns:a="http://schemas.openxmlformats.org/drawingml/2006/main">
          <a:graphicData uri="http://schemas.openxmlformats.org/drawingml/2006/table">
            <a:tbl>
              <a:tblPr/>
              <a:tblGrid>
                <a:gridCol w="1841500"/>
                <a:gridCol w="2222500"/>
                <a:gridCol w="3111500"/>
                <a:gridCol w="3111500"/>
                <a:gridCol w="3429000"/>
              </a:tblGrid>
              <a:tr h="685800">
                <a:tc>
                  <a:txBody>
                    <a:bodyPr>
                      <a:noAutofit/>
                    </a:bodyPr>
                    <a:lstStyle/>
                    <a:p>
                      <a:r>
                        <a:rPr sz="2100" b="1">
                          <a:solidFill>
                            <a:srgbClr val="FFFFFF"/>
                          </a:solidFill>
                          <a:latin typeface="Arial"/>
                          <a:ea typeface="Arial"/>
                          <a:cs typeface="Arial"/>
                        </a:rPr>
                        <a:t>Input i</a:t>
                      </a:r>
                    </a:p>
                  </a:txBody>
                  <a:tcPr marL="91440" marR="91440" marT="45720" marB="45720">
                    <a:solidFill>
                      <a:srgbClr val="0B2033"/>
                    </a:solidFill>
                  </a:tcPr>
                </a:tc>
                <a:tc>
                  <a:txBody>
                    <a:bodyPr>
                      <a:noAutofit/>
                    </a:bodyPr>
                    <a:lstStyle/>
                    <a:p>
                      <a:r>
                        <a:rPr sz="2100" b="1">
                          <a:solidFill>
                            <a:srgbClr val="FFFFFF"/>
                          </a:solidFill>
                          <a:latin typeface="Arial"/>
                          <a:ea typeface="Arial"/>
                          <a:cs typeface="Arial"/>
                        </a:rPr>
                        <a:t>Empty group</a:t>
                      </a:r>
                    </a:p>
                  </a:txBody>
                  <a:tcPr marL="91440" marR="91440" marT="45720" marB="45720">
                    <a:solidFill>
                      <a:srgbClr val="0B2033"/>
                    </a:solidFill>
                  </a:tcPr>
                </a:tc>
                <a:tc>
                  <a:txBody>
                    <a:bodyPr>
                      <a:noAutofit/>
                    </a:bodyPr>
                    <a:lstStyle/>
                    <a:p>
                      <a:r>
                        <a:rPr sz="2100" b="1">
                          <a:solidFill>
                            <a:srgbClr val="FFFFFF"/>
                          </a:solidFill>
                          <a:latin typeface="Arial"/>
                          <a:ea typeface="Arial"/>
                          <a:cs typeface="Arial"/>
                        </a:rPr>
                        <a:t>First one-input group</a:t>
                      </a:r>
                    </a:p>
                  </a:txBody>
                  <a:tcPr marL="91440" marR="91440" marT="45720" marB="45720">
                    <a:solidFill>
                      <a:srgbClr val="0B2033"/>
                    </a:solidFill>
                  </a:tcPr>
                </a:tc>
                <a:tc>
                  <a:txBody>
                    <a:bodyPr>
                      <a:noAutofit/>
                    </a:bodyPr>
                    <a:lstStyle/>
                    <a:p>
                      <a:r>
                        <a:rPr sz="2100" b="1">
                          <a:solidFill>
                            <a:srgbClr val="FFFFFF"/>
                          </a:solidFill>
                          <a:latin typeface="Arial"/>
                          <a:ea typeface="Arial"/>
                          <a:cs typeface="Arial"/>
                        </a:rPr>
                        <a:t>Second one-input group</a:t>
                      </a:r>
                    </a:p>
                  </a:txBody>
                  <a:tcPr marL="91440" marR="91440" marT="45720" marB="45720">
                    <a:solidFill>
                      <a:srgbClr val="0B2033"/>
                    </a:solidFill>
                  </a:tcPr>
                </a:tc>
                <a:tc>
                  <a:txBody>
                    <a:bodyPr>
                      <a:noAutofit/>
                    </a:bodyPr>
                    <a:lstStyle/>
                    <a:p>
                      <a:r>
                        <a:rPr sz="2100" b="1">
                          <a:solidFill>
                            <a:srgbClr val="FFFFFF"/>
                          </a:solidFill>
                          <a:latin typeface="Arial"/>
                          <a:ea typeface="Arial"/>
                          <a:cs typeface="Arial"/>
                        </a:rPr>
                        <a:t>Both other inputs</a:t>
                      </a:r>
                    </a:p>
                  </a:txBody>
                  <a:tcPr marL="91440" marR="91440" marT="45720" marB="45720">
                    <a:solidFill>
                      <a:srgbClr val="0B2033"/>
                    </a:solidFill>
                  </a:tcPr>
                </a:tc>
              </a:tr>
              <a:tr h="609600">
                <a:tc>
                  <a:txBody>
                    <a:bodyPr>
                      <a:noAutofit/>
                    </a:bodyPr>
                    <a:lstStyle/>
                    <a:p>
                      <a:r>
                        <a:rPr sz="2100" b="0">
                          <a:solidFill>
                            <a:srgbClr val="0B2033"/>
                          </a:solidFill>
                          <a:latin typeface="Arial"/>
                          <a:ea typeface="Arial"/>
                          <a:cs typeface="Arial"/>
                        </a:rPr>
                        <a:t>x₁</a:t>
                      </a:r>
                    </a:p>
                  </a:txBody>
                  <a:tcPr marL="91440" marR="91440" marT="45720" marB="45720">
                    <a:solidFill>
                      <a:srgbClr val="F6F3EB"/>
                    </a:solidFill>
                  </a:tcPr>
                </a:tc>
                <a:tc>
                  <a:txBody>
                    <a:bodyPr>
                      <a:noAutofit/>
                    </a:bodyPr>
                    <a:lstStyle/>
                    <a:p>
                      <a:r>
                        <a:rPr sz="2100" b="0">
                          <a:solidFill>
                            <a:srgbClr val="0B2033"/>
                          </a:solidFill>
                          <a:latin typeface="Arial"/>
                          <a:ea typeface="Arial"/>
                          <a:cs typeface="Arial"/>
                        </a:rPr>
                        <a:t>∅: +1</a:t>
                      </a:r>
                    </a:p>
                  </a:txBody>
                  <a:tcPr marL="91440" marR="91440" marT="45720" marB="45720">
                    <a:solidFill>
                      <a:srgbClr val="F6F3EB"/>
                    </a:solidFill>
                  </a:tcPr>
                </a:tc>
                <a:tc>
                  <a:txBody>
                    <a:bodyPr>
                      <a:noAutofit/>
                    </a:bodyPr>
                    <a:lstStyle/>
                    <a:p>
                      <a:r>
                        <a:rPr sz="2100" b="0">
                          <a:solidFill>
                            <a:srgbClr val="0B2033"/>
                          </a:solidFill>
                          <a:latin typeface="Arial"/>
                          <a:ea typeface="Arial"/>
                          <a:cs typeface="Arial"/>
                        </a:rPr>
                        <a:t>{x₂}: −1</a:t>
                      </a:r>
                    </a:p>
                  </a:txBody>
                  <a:tcPr marL="91440" marR="91440" marT="45720" marB="45720">
                    <a:solidFill>
                      <a:srgbClr val="F6F3EB"/>
                    </a:solidFill>
                  </a:tcPr>
                </a:tc>
                <a:tc>
                  <a:txBody>
                    <a:bodyPr>
                      <a:noAutofit/>
                    </a:bodyPr>
                    <a:lstStyle/>
                    <a:p>
                      <a:r>
                        <a:rPr sz="2100" b="0">
                          <a:solidFill>
                            <a:srgbClr val="0B2033"/>
                          </a:solidFill>
                          <a:latin typeface="Arial"/>
                          <a:ea typeface="Arial"/>
                          <a:cs typeface="Arial"/>
                        </a:rPr>
                        <a:t>{x₃}: +1</a:t>
                      </a:r>
                    </a:p>
                  </a:txBody>
                  <a:tcPr marL="91440" marR="91440" marT="45720" marB="45720">
                    <a:solidFill>
                      <a:srgbClr val="F6F3EB"/>
                    </a:solidFill>
                  </a:tcPr>
                </a:tc>
                <a:tc>
                  <a:txBody>
                    <a:bodyPr>
                      <a:noAutofit/>
                    </a:bodyPr>
                    <a:lstStyle/>
                    <a:p>
                      <a:r>
                        <a:rPr sz="2100" b="0">
                          <a:solidFill>
                            <a:srgbClr val="0B2033"/>
                          </a:solidFill>
                          <a:latin typeface="Arial"/>
                          <a:ea typeface="Arial"/>
                          <a:cs typeface="Arial"/>
                        </a:rPr>
                        <a:t>{x₂, x₃}: 0</a:t>
                      </a:r>
                    </a:p>
                  </a:txBody>
                  <a:tcPr marL="91440" marR="91440" marT="45720" marB="45720">
                    <a:solidFill>
                      <a:srgbClr val="F6F3EB"/>
                    </a:solidFill>
                  </a:tcPr>
                </a:tc>
              </a:tr>
              <a:tr h="609600">
                <a:tc>
                  <a:txBody>
                    <a:bodyPr>
                      <a:noAutofit/>
                    </a:bodyPr>
                    <a:lstStyle/>
                    <a:p>
                      <a:r>
                        <a:rPr sz="2100" b="0">
                          <a:solidFill>
                            <a:srgbClr val="0B2033"/>
                          </a:solidFill>
                          <a:latin typeface="Arial"/>
                          <a:ea typeface="Arial"/>
                          <a:cs typeface="Arial"/>
                        </a:rPr>
                        <a:t>x₂</a:t>
                      </a:r>
                    </a:p>
                  </a:txBody>
                  <a:tcPr marL="91440" marR="91440" marT="45720" marB="45720">
                    <a:solidFill>
                      <a:srgbClr val="EEEEE7"/>
                    </a:solidFill>
                  </a:tcPr>
                </a:tc>
                <a:tc>
                  <a:txBody>
                    <a:bodyPr>
                      <a:noAutofit/>
                    </a:bodyPr>
                    <a:lstStyle/>
                    <a:p>
                      <a:r>
                        <a:rPr sz="2100" b="0">
                          <a:solidFill>
                            <a:srgbClr val="0B2033"/>
                          </a:solidFill>
                          <a:latin typeface="Arial"/>
                          <a:ea typeface="Arial"/>
                          <a:cs typeface="Arial"/>
                        </a:rPr>
                        <a:t>∅: +1</a:t>
                      </a:r>
                    </a:p>
                  </a:txBody>
                  <a:tcPr marL="91440" marR="91440" marT="45720" marB="45720">
                    <a:solidFill>
                      <a:srgbClr val="EEEEE7"/>
                    </a:solidFill>
                  </a:tcPr>
                </a:tc>
                <a:tc>
                  <a:txBody>
                    <a:bodyPr>
                      <a:noAutofit/>
                    </a:bodyPr>
                    <a:lstStyle/>
                    <a:p>
                      <a:r>
                        <a:rPr sz="2100" b="0">
                          <a:solidFill>
                            <a:srgbClr val="0B2033"/>
                          </a:solidFill>
                          <a:latin typeface="Arial"/>
                          <a:ea typeface="Arial"/>
                          <a:cs typeface="Arial"/>
                        </a:rPr>
                        <a:t>{x₁}: −1</a:t>
                      </a:r>
                    </a:p>
                  </a:txBody>
                  <a:tcPr marL="91440" marR="91440" marT="45720" marB="45720">
                    <a:solidFill>
                      <a:srgbClr val="EEEEE7"/>
                    </a:solidFill>
                  </a:tcPr>
                </a:tc>
                <a:tc>
                  <a:txBody>
                    <a:bodyPr>
                      <a:noAutofit/>
                    </a:bodyPr>
                    <a:lstStyle/>
                    <a:p>
                      <a:r>
                        <a:rPr sz="2100" b="0">
                          <a:solidFill>
                            <a:srgbClr val="0B2033"/>
                          </a:solidFill>
                          <a:latin typeface="Arial"/>
                          <a:ea typeface="Arial"/>
                          <a:cs typeface="Arial"/>
                        </a:rPr>
                        <a:t>{x₃}: +1</a:t>
                      </a:r>
                    </a:p>
                  </a:txBody>
                  <a:tcPr marL="91440" marR="91440" marT="45720" marB="45720">
                    <a:solidFill>
                      <a:srgbClr val="EEEEE7"/>
                    </a:solidFill>
                  </a:tcPr>
                </a:tc>
                <a:tc>
                  <a:txBody>
                    <a:bodyPr>
                      <a:noAutofit/>
                    </a:bodyPr>
                    <a:lstStyle/>
                    <a:p>
                      <a:r>
                        <a:rPr sz="2100" b="0">
                          <a:solidFill>
                            <a:srgbClr val="0B2033"/>
                          </a:solidFill>
                          <a:latin typeface="Arial"/>
                          <a:ea typeface="Arial"/>
                          <a:cs typeface="Arial"/>
                        </a:rPr>
                        <a:t>{x₁, x₃}: 0</a:t>
                      </a:r>
                    </a:p>
                  </a:txBody>
                  <a:tcPr marL="91440" marR="91440" marT="45720" marB="45720">
                    <a:solidFill>
                      <a:srgbClr val="EEEEE7"/>
                    </a:solidFill>
                  </a:tcPr>
                </a:tc>
              </a:tr>
              <a:tr h="609600">
                <a:tc>
                  <a:txBody>
                    <a:bodyPr>
                      <a:noAutofit/>
                    </a:bodyPr>
                    <a:lstStyle/>
                    <a:p>
                      <a:r>
                        <a:rPr sz="2100" b="0">
                          <a:solidFill>
                            <a:srgbClr val="0B2033"/>
                          </a:solidFill>
                          <a:latin typeface="Arial"/>
                          <a:ea typeface="Arial"/>
                          <a:cs typeface="Arial"/>
                        </a:rPr>
                        <a:t>x₃</a:t>
                      </a:r>
                    </a:p>
                  </a:txBody>
                  <a:tcPr marL="91440" marR="91440" marT="45720" marB="45720">
                    <a:solidFill>
                      <a:srgbClr val="F6F3EB"/>
                    </a:solidFill>
                  </a:tcPr>
                </a:tc>
                <a:tc>
                  <a:txBody>
                    <a:bodyPr>
                      <a:noAutofit/>
                    </a:bodyPr>
                    <a:lstStyle/>
                    <a:p>
                      <a:r>
                        <a:rPr sz="2100" b="0">
                          <a:solidFill>
                            <a:srgbClr val="0B2033"/>
                          </a:solidFill>
                          <a:latin typeface="Arial"/>
                          <a:ea typeface="Arial"/>
                          <a:cs typeface="Arial"/>
                        </a:rPr>
                        <a:t>∅: 0</a:t>
                      </a:r>
                    </a:p>
                  </a:txBody>
                  <a:tcPr marL="91440" marR="91440" marT="45720" marB="45720">
                    <a:solidFill>
                      <a:srgbClr val="F6F3EB"/>
                    </a:solidFill>
                  </a:tcPr>
                </a:tc>
                <a:tc>
                  <a:txBody>
                    <a:bodyPr>
                      <a:noAutofit/>
                    </a:bodyPr>
                    <a:lstStyle/>
                    <a:p>
                      <a:r>
                        <a:rPr sz="2100" b="0">
                          <a:solidFill>
                            <a:srgbClr val="0B2033"/>
                          </a:solidFill>
                          <a:latin typeface="Arial"/>
                          <a:ea typeface="Arial"/>
                          <a:cs typeface="Arial"/>
                        </a:rPr>
                        <a:t>{x₁}: 0</a:t>
                      </a:r>
                    </a:p>
                  </a:txBody>
                  <a:tcPr marL="91440" marR="91440" marT="45720" marB="45720">
                    <a:solidFill>
                      <a:srgbClr val="F6F3EB"/>
                    </a:solidFill>
                  </a:tcPr>
                </a:tc>
                <a:tc>
                  <a:txBody>
                    <a:bodyPr>
                      <a:noAutofit/>
                    </a:bodyPr>
                    <a:lstStyle/>
                    <a:p>
                      <a:r>
                        <a:rPr sz="2100" b="0">
                          <a:solidFill>
                            <a:srgbClr val="0B2033"/>
                          </a:solidFill>
                          <a:latin typeface="Arial"/>
                          <a:ea typeface="Arial"/>
                          <a:cs typeface="Arial"/>
                        </a:rPr>
                        <a:t>{x₂}: 0</a:t>
                      </a:r>
                    </a:p>
                  </a:txBody>
                  <a:tcPr marL="91440" marR="91440" marT="45720" marB="45720">
                    <a:solidFill>
                      <a:srgbClr val="F6F3EB"/>
                    </a:solidFill>
                  </a:tcPr>
                </a:tc>
                <a:tc>
                  <a:txBody>
                    <a:bodyPr>
                      <a:noAutofit/>
                    </a:bodyPr>
                    <a:lstStyle/>
                    <a:p>
                      <a:r>
                        <a:rPr sz="2100" b="0">
                          <a:solidFill>
                            <a:srgbClr val="0B2033"/>
                          </a:solidFill>
                          <a:latin typeface="Arial"/>
                          <a:ea typeface="Arial"/>
                          <a:cs typeface="Arial"/>
                        </a:rPr>
                        <a:t>{x₁, x₂}: +1</a:t>
                      </a:r>
                    </a:p>
                  </a:txBody>
                  <a:tcPr marL="91440" marR="91440" marT="45720" marB="45720">
                    <a:solidFill>
                      <a:srgbClr val="F6F3EB"/>
                    </a:solidFill>
                  </a:tcPr>
                </a:tc>
              </a:tr>
            </a:tbl>
          </a:graphicData>
        </a:graphic>
      </p:graphicFrame>
      <p:sp>
        <p:nvSpPr>
          <p:cNvPr id="7" name="text-63">
            <a:extLst xmlns:a="http://schemas.openxmlformats.org/drawingml/2006/main">
              <a:ext uri="{FF2B5EF4-FFF2-40B4-BE49-F238E27FC236}">
                <a16:creationId xmlns:a16="http://schemas.microsoft.com/office/drawing/2014/main" id="{6A44491A-F727-44F8-A68E-37D48B01F9CE}"/>
              </a:ext>
            </a:extLst>
          </p:cNvPr>
          <p:cNvSpPr>
            <a:spLocks xmlns:a="http://schemas.openxmlformats.org/drawingml/2006/main" noGrp="1"/>
          </p:cNvSpPr>
          <p:nvPr/>
        </p:nvSpPr>
        <p:spPr>
          <a:xfrm xmlns:a="http://schemas.openxmlformats.org/drawingml/2006/main">
            <a:off x="762000" y="6146800"/>
            <a:ext cx="13716000" cy="52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00" b="0">
                <a:solidFill>
                  <a:srgbClr val="0B2033"/>
                </a:solidFill>
                <a:latin typeface="Arial"/>
                <a:ea typeface="Arial"/>
                <a:cs typeface="Arial"/>
              </a:defRPr>
            </a:pPr>
            <a:r>
              <a:rPr sz="2600" b="0">
                <a:solidFill>
                  <a:srgbClr val="0B2033"/>
                </a:solidFill>
                <a:latin typeface="Arial"/>
                <a:ea typeface="Arial"/>
                <a:cs typeface="Arial"/>
              </a:rPr>
              <a:t>φ₁ = (1/3)(+1) + (1/6)(−1) + (1/6)(+1) + (1/3)(0) = 1/3</a:t>
            </a:r>
          </a:p>
        </p:txBody>
      </p:sp>
      <p:sp>
        <p:nvSpPr>
          <p:cNvPr id="8" name="text-64">
            <a:extLst xmlns:a="http://schemas.openxmlformats.org/drawingml/2006/main">
              <a:ext uri="{FF2B5EF4-FFF2-40B4-BE49-F238E27FC236}">
                <a16:creationId xmlns:a16="http://schemas.microsoft.com/office/drawing/2014/main" id="{C5F54AE2-20E0-4DEF-AF83-20A9CF344859}"/>
              </a:ext>
            </a:extLst>
          </p:cNvPr>
          <p:cNvSpPr>
            <a:spLocks xmlns:a="http://schemas.openxmlformats.org/drawingml/2006/main" noGrp="1"/>
          </p:cNvSpPr>
          <p:nvPr/>
        </p:nvSpPr>
        <p:spPr>
          <a:xfrm xmlns:a="http://schemas.openxmlformats.org/drawingml/2006/main">
            <a:off x="762000" y="6731000"/>
            <a:ext cx="13716000" cy="52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00" b="0">
                <a:solidFill>
                  <a:srgbClr val="0B2033"/>
                </a:solidFill>
                <a:latin typeface="Arial"/>
                <a:ea typeface="Arial"/>
                <a:cs typeface="Arial"/>
              </a:defRPr>
            </a:pPr>
            <a:r>
              <a:rPr sz="2600" b="0">
                <a:solidFill>
                  <a:srgbClr val="0B2033"/>
                </a:solidFill>
                <a:latin typeface="Arial"/>
                <a:ea typeface="Arial"/>
                <a:cs typeface="Arial"/>
              </a:rPr>
              <a:t>φ₂ = (1/3)(+1) + (1/6)(−1) + (1/6)(+1) + (1/3)(0) = 1/3</a:t>
            </a:r>
          </a:p>
        </p:txBody>
      </p:sp>
      <p:sp>
        <p:nvSpPr>
          <p:cNvPr id="9" name="text-65">
            <a:extLst xmlns:a="http://schemas.openxmlformats.org/drawingml/2006/main">
              <a:ext uri="{FF2B5EF4-FFF2-40B4-BE49-F238E27FC236}">
                <a16:creationId xmlns:a16="http://schemas.microsoft.com/office/drawing/2014/main" id="{B709C0DA-3B68-418A-8F49-8C83D0694D61}"/>
              </a:ext>
            </a:extLst>
          </p:cNvPr>
          <p:cNvSpPr>
            <a:spLocks xmlns:a="http://schemas.openxmlformats.org/drawingml/2006/main" noGrp="1"/>
          </p:cNvSpPr>
          <p:nvPr/>
        </p:nvSpPr>
        <p:spPr>
          <a:xfrm xmlns:a="http://schemas.openxmlformats.org/drawingml/2006/main">
            <a:off x="762000" y="7315200"/>
            <a:ext cx="13716000" cy="52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00" b="0">
                <a:solidFill>
                  <a:srgbClr val="0B2033"/>
                </a:solidFill>
                <a:latin typeface="Arial"/>
                <a:ea typeface="Arial"/>
                <a:cs typeface="Arial"/>
              </a:defRPr>
            </a:pPr>
            <a:r>
              <a:rPr sz="2600" b="0">
                <a:solidFill>
                  <a:srgbClr val="0B2033"/>
                </a:solidFill>
                <a:latin typeface="Arial"/>
                <a:ea typeface="Arial"/>
                <a:cs typeface="Arial"/>
              </a:rPr>
              <a:t>φ₃ = (1/3)(0) + (1/6)(0) + (1/6)(0) + (1/3)(+1) = 1/3</a:t>
            </a:r>
          </a:p>
        </p:txBody>
      </p:sp>
      <p:sp>
        <p:nvSpPr>
          <p:cNvPr id="10" name="text-66">
            <a:extLst xmlns:a="http://schemas.openxmlformats.org/drawingml/2006/main">
              <a:ext uri="{FF2B5EF4-FFF2-40B4-BE49-F238E27FC236}">
                <a16:creationId xmlns:a16="http://schemas.microsoft.com/office/drawing/2014/main" id="{985C71F5-2472-4608-8479-5DFCDD3634A8}"/>
              </a:ext>
            </a:extLst>
          </p:cNvPr>
          <p:cNvSpPr>
            <a:spLocks xmlns:a="http://schemas.openxmlformats.org/drawingml/2006/main" noGrp="1"/>
          </p:cNvSpPr>
          <p:nvPr/>
        </p:nvSpPr>
        <p:spPr>
          <a:xfrm xmlns:a="http://schemas.openxmlformats.org/drawingml/2006/main">
            <a:off x="762000" y="7924800"/>
            <a:ext cx="13335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00" b="0">
                <a:solidFill>
                  <a:srgbClr val="526675"/>
                </a:solidFill>
                <a:latin typeface="Arial"/>
                <a:ea typeface="Arial"/>
                <a:cs typeface="Arial"/>
              </a:defRPr>
            </a:pPr>
            <a:r>
              <a:rPr sz="1400" b="0">
                <a:solidFill>
                  <a:srgbClr val="526675"/>
                </a:solidFill>
                <a:latin typeface="Arial"/>
                <a:ea typeface="Arial"/>
                <a:cs typeface="Arial"/>
              </a:rPr>
              <a:t>Cells show context S: marginal Δᵢ(S). Same illustrative game. Shapley (1952), A Value for N-Person Games.</a:t>
            </a:r>
          </a:p>
        </p:txBody>
      </p:sp>
    </p:spTree>
    <p:extLst>
      <p:ext uri="{BB962C8B-B14F-4D97-AF65-F5344CB8AC3E}">
        <p14:creationId xmlns:p14="http://schemas.microsoft.com/office/powerpoint/2010/main" val="1444115736"/>
      </p:ext>
    </p:extLst>
  </p:cSld>
</p:sld>
</file>

<file path=ppt/slides/slide7.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0" name="text-67">
            <a:extLst xmlns:a="http://schemas.openxmlformats.org/drawingml/2006/main">
              <a:ext uri="{FF2B5EF4-FFF2-40B4-BE49-F238E27FC236}">
                <a16:creationId xmlns:a16="http://schemas.microsoft.com/office/drawing/2014/main" id="{D096A41B-044D-41FF-8D77-0512F6D6AA8A}"/>
              </a:ext>
            </a:extLst>
          </p:cNvPr>
          <p:cNvSpPr>
            <a:spLocks xmlns:a="http://schemas.openxmlformats.org/drawingml/2006/main" noGrp="1"/>
          </p:cNvSpPr>
          <p:nvPr/>
        </p:nvSpPr>
        <p:spPr>
          <a:xfrm xmlns:a="http://schemas.openxmlformats.org/drawingml/2006/main">
            <a:off x="762000" y="558800"/>
            <a:ext cx="13843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900" b="1">
                <a:solidFill>
                  <a:srgbClr val="0B2033"/>
                </a:solidFill>
                <a:latin typeface="Arial"/>
                <a:ea typeface="Arial"/>
                <a:cs typeface="Arial"/>
              </a:defRPr>
            </a:pPr>
            <a:r>
              <a:rPr sz="3900" b="1">
                <a:solidFill>
                  <a:srgbClr val="0B2033"/>
                </a:solidFill>
                <a:latin typeface="Arial"/>
                <a:ea typeface="Arial"/>
                <a:cs typeface="Arial"/>
              </a:rPr>
              <a:t>MinPPI: retain the worst marginal effect</a:t>
            </a:r>
          </a:p>
        </p:txBody>
      </p:sp>
      <p:sp>
        <p:nvSpPr>
          <p:cNvPr id="2" name="rule-68">
            <a:extLst xmlns:a="http://schemas.openxmlformats.org/drawingml/2006/main">
              <a:ext uri="{FF2B5EF4-FFF2-40B4-BE49-F238E27FC236}">
                <a16:creationId xmlns:a16="http://schemas.microsoft.com/office/drawing/2014/main" id="{57FA3460-269D-4964-A3BC-833FB1857457}"/>
              </a:ext>
            </a:extLst>
          </p:cNvPr>
          <p:cNvSpPr>
            <a:spLocks xmlns:a="http://schemas.openxmlformats.org/drawingml/2006/main" noGrp="1"/>
          </p:cNvSpPr>
          <p:nvPr/>
        </p:nvSpPr>
        <p:spPr>
          <a:xfrm xmlns:a="http://schemas.openxmlformats.org/drawingml/2006/main">
            <a:off x="762000" y="1701800"/>
            <a:ext cx="13716000" cy="0"/>
          </a:xfrm>
          <a:prstGeom xmlns:a="http://schemas.openxmlformats.org/drawingml/2006/main" prst="line">
            <a:avLst/>
          </a:prstGeom>
          <a:noFill xmlns:a="http://schemas.openxmlformats.org/drawingml/2006/main"/>
          <a:ln xmlns:a="http://schemas.openxmlformats.org/drawingml/2006/main" w="19050">
            <a:solidFill>
              <a:srgbClr val="0C7C78"/>
            </a:solidFill>
          </a:ln>
        </p:spPr>
      </p:sp>
      <p:sp>
        <p:nvSpPr>
          <p:cNvPr id="3" name="text-69">
            <a:extLst xmlns:a="http://schemas.openxmlformats.org/drawingml/2006/main">
              <a:ext uri="{FF2B5EF4-FFF2-40B4-BE49-F238E27FC236}">
                <a16:creationId xmlns:a16="http://schemas.microsoft.com/office/drawing/2014/main" id="{9771C954-FD33-46A3-BB65-0E6F42CD974D}"/>
              </a:ext>
            </a:extLst>
          </p:cNvPr>
          <p:cNvSpPr>
            <a:spLocks xmlns:a="http://schemas.openxmlformats.org/drawingml/2006/main" noGrp="1"/>
          </p:cNvSpPr>
          <p:nvPr/>
        </p:nvSpPr>
        <p:spPr>
          <a:xfrm xmlns:a="http://schemas.openxmlformats.org/drawingml/2006/main">
            <a:off x="14122400" y="80772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600" b="0">
                <a:solidFill>
                  <a:srgbClr val="526675"/>
                </a:solidFill>
                <a:latin typeface="Arial"/>
                <a:ea typeface="Arial"/>
                <a:cs typeface="Arial"/>
              </a:defRPr>
            </a:pPr>
            <a:r>
              <a:rPr sz="1600" b="0">
                <a:solidFill>
                  <a:srgbClr val="526675"/>
                </a:solidFill>
                <a:latin typeface="Arial"/>
                <a:ea typeface="Arial"/>
                <a:cs typeface="Arial"/>
              </a:rPr>
              <a:t>07</a:t>
            </a:r>
          </a:p>
        </p:txBody>
      </p:sp>
      <p:sp>
        <p:nvSpPr>
          <p:cNvPr id="4" name="text-70">
            <a:extLst xmlns:a="http://schemas.openxmlformats.org/drawingml/2006/main">
              <a:ext uri="{FF2B5EF4-FFF2-40B4-BE49-F238E27FC236}">
                <a16:creationId xmlns:a16="http://schemas.microsoft.com/office/drawing/2014/main" id="{19EE1D12-2F54-4A53-95DA-CB859145392A}"/>
              </a:ext>
            </a:extLst>
          </p:cNvPr>
          <p:cNvSpPr>
            <a:spLocks xmlns:a="http://schemas.openxmlformats.org/drawingml/2006/main" noGrp="1"/>
          </p:cNvSpPr>
          <p:nvPr/>
        </p:nvSpPr>
        <p:spPr>
          <a:xfrm xmlns:a="http://schemas.openxmlformats.org/drawingml/2006/main">
            <a:off x="762000" y="2006600"/>
            <a:ext cx="13716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0">
                <a:solidFill>
                  <a:srgbClr val="526675"/>
                </a:solidFill>
                <a:latin typeface="Arial"/>
                <a:ea typeface="Arial"/>
                <a:cs typeface="Arial"/>
              </a:defRPr>
            </a:pPr>
            <a:r>
              <a:rPr sz="2700" b="0">
                <a:solidFill>
                  <a:srgbClr val="526675"/>
                </a:solidFill>
                <a:latin typeface="Arial"/>
                <a:ea typeface="Arial"/>
                <a:cs typeface="Arial"/>
              </a:rPr>
              <a:t>The game and marginal effects stay the same. The aggregation changes.</a:t>
            </a:r>
          </a:p>
        </p:txBody>
      </p:sp>
      <p:sp>
        <p:nvSpPr>
          <p:cNvPr id="5" name="text-71">
            <a:extLst xmlns:a="http://schemas.openxmlformats.org/drawingml/2006/main">
              <a:ext uri="{FF2B5EF4-FFF2-40B4-BE49-F238E27FC236}">
                <a16:creationId xmlns:a16="http://schemas.microsoft.com/office/drawing/2014/main" id="{9215095E-3E39-47E8-91E0-719D9DC97F8B}"/>
              </a:ext>
            </a:extLst>
          </p:cNvPr>
          <p:cNvSpPr>
            <a:spLocks xmlns:a="http://schemas.openxmlformats.org/drawingml/2006/main" noGrp="1"/>
          </p:cNvSpPr>
          <p:nvPr/>
        </p:nvSpPr>
        <p:spPr>
          <a:xfrm xmlns:a="http://schemas.openxmlformats.org/drawingml/2006/main">
            <a:off x="762000" y="2921000"/>
            <a:ext cx="1371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00" b="1">
                <a:solidFill>
                  <a:srgbClr val="C63E40"/>
                </a:solidFill>
                <a:latin typeface="Arial"/>
                <a:ea typeface="Arial"/>
                <a:cs typeface="Arial"/>
              </a:defRPr>
            </a:pPr>
            <a:r>
              <a:rPr sz="3100" b="1">
                <a:solidFill>
                  <a:srgbClr val="C63E40"/>
                </a:solidFill>
                <a:latin typeface="Arial"/>
                <a:ea typeface="Arial"/>
                <a:cs typeface="Arial"/>
              </a:rPr>
              <a:t>M₁ = min {+1, −1, +1, 0} = −1</a:t>
            </a:r>
          </a:p>
        </p:txBody>
      </p:sp>
      <p:sp>
        <p:nvSpPr>
          <p:cNvPr id="6" name="text-72">
            <a:extLst xmlns:a="http://schemas.openxmlformats.org/drawingml/2006/main">
              <a:ext uri="{FF2B5EF4-FFF2-40B4-BE49-F238E27FC236}">
                <a16:creationId xmlns:a16="http://schemas.microsoft.com/office/drawing/2014/main" id="{55ADA7BB-7097-4C1F-B9C9-3241B81BFC8C}"/>
              </a:ext>
            </a:extLst>
          </p:cNvPr>
          <p:cNvSpPr>
            <a:spLocks xmlns:a="http://schemas.openxmlformats.org/drawingml/2006/main" noGrp="1"/>
          </p:cNvSpPr>
          <p:nvPr/>
        </p:nvSpPr>
        <p:spPr>
          <a:xfrm xmlns:a="http://schemas.openxmlformats.org/drawingml/2006/main">
            <a:off x="762000" y="3657600"/>
            <a:ext cx="1371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00" b="1">
                <a:solidFill>
                  <a:srgbClr val="C63E40"/>
                </a:solidFill>
                <a:latin typeface="Arial"/>
                <a:ea typeface="Arial"/>
                <a:cs typeface="Arial"/>
              </a:defRPr>
            </a:pPr>
            <a:r>
              <a:rPr sz="3100" b="1">
                <a:solidFill>
                  <a:srgbClr val="C63E40"/>
                </a:solidFill>
                <a:latin typeface="Arial"/>
                <a:ea typeface="Arial"/>
                <a:cs typeface="Arial"/>
              </a:rPr>
              <a:t>M₂ = min {+1, −1, +1, 0} = −1</a:t>
            </a:r>
          </a:p>
        </p:txBody>
      </p:sp>
      <p:sp>
        <p:nvSpPr>
          <p:cNvPr id="7" name="text-73">
            <a:extLst xmlns:a="http://schemas.openxmlformats.org/drawingml/2006/main">
              <a:ext uri="{FF2B5EF4-FFF2-40B4-BE49-F238E27FC236}">
                <a16:creationId xmlns:a16="http://schemas.microsoft.com/office/drawing/2014/main" id="{533BFCB8-9D51-4586-BFCF-56A3A497063E}"/>
              </a:ext>
            </a:extLst>
          </p:cNvPr>
          <p:cNvSpPr>
            <a:spLocks xmlns:a="http://schemas.openxmlformats.org/drawingml/2006/main" noGrp="1"/>
          </p:cNvSpPr>
          <p:nvPr/>
        </p:nvSpPr>
        <p:spPr>
          <a:xfrm xmlns:a="http://schemas.openxmlformats.org/drawingml/2006/main">
            <a:off x="762000" y="4394200"/>
            <a:ext cx="1371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00" b="1">
                <a:solidFill>
                  <a:srgbClr val="0C7C78"/>
                </a:solidFill>
                <a:latin typeface="Arial"/>
                <a:ea typeface="Arial"/>
                <a:cs typeface="Arial"/>
              </a:defRPr>
            </a:pPr>
            <a:r>
              <a:rPr sz="3100" b="1">
                <a:solidFill>
                  <a:srgbClr val="0C7C78"/>
                </a:solidFill>
                <a:latin typeface="Arial"/>
                <a:ea typeface="Arial"/>
                <a:cs typeface="Arial"/>
              </a:rPr>
              <a:t>M₃ = min {0, 0, 0, +1} = 0</a:t>
            </a:r>
          </a:p>
        </p:txBody>
      </p:sp>
      <p:graphicFrame>
        <p:nvGraphicFramePr>
          <p:cNvPr id="17" name=""/>
          <p:cNvGraphicFramePr/>
          <p:nvPr/>
        </p:nvGraphicFramePr>
        <p:xfrm>
          <a:off xmlns:a="http://schemas.openxmlformats.org/drawingml/2006/main" x="762000" y="5308600"/>
          <a:ext xmlns:a="http://schemas.openxmlformats.org/drawingml/2006/main" cx="13716000" cy="1981200"/>
        </p:xfrm>
        <a:graphic xmlns:a="http://schemas.openxmlformats.org/drawingml/2006/main">
          <a:graphicData uri="http://schemas.openxmlformats.org/drawingml/2006/table">
            <a:tbl>
              <a:tblPr/>
              <a:tblGrid>
                <a:gridCol w="1968500"/>
                <a:gridCol w="2667000"/>
                <a:gridCol w="2667000"/>
                <a:gridCol w="6413500"/>
              </a:tblGrid>
              <a:tr h="495300">
                <a:tc>
                  <a:txBody>
                    <a:bodyPr>
                      <a:noAutofit/>
                    </a:bodyPr>
                    <a:lstStyle/>
                    <a:p>
                      <a:r>
                        <a:rPr sz="2300" b="1">
                          <a:solidFill>
                            <a:srgbClr val="FFFFFF"/>
                          </a:solidFill>
                          <a:latin typeface="Arial"/>
                          <a:ea typeface="Arial"/>
                          <a:cs typeface="Arial"/>
                        </a:rPr>
                        <a:t>Input</a:t>
                      </a:r>
                    </a:p>
                  </a:txBody>
                  <a:tcPr marL="91440" marR="91440" marT="45720" marB="45720">
                    <a:solidFill>
                      <a:srgbClr val="0B2033"/>
                    </a:solidFill>
                  </a:tcPr>
                </a:tc>
                <a:tc>
                  <a:txBody>
                    <a:bodyPr>
                      <a:noAutofit/>
                    </a:bodyPr>
                    <a:lstStyle/>
                    <a:p>
                      <a:r>
                        <a:rPr sz="2300" b="1">
                          <a:solidFill>
                            <a:srgbClr val="FFFFFF"/>
                          </a:solidFill>
                          <a:latin typeface="Arial"/>
                          <a:ea typeface="Arial"/>
                          <a:cs typeface="Arial"/>
                        </a:rPr>
                        <a:t>Shapley φᵢ</a:t>
                      </a:r>
                    </a:p>
                  </a:txBody>
                  <a:tcPr marL="91440" marR="91440" marT="45720" marB="45720">
                    <a:solidFill>
                      <a:srgbClr val="0B2033"/>
                    </a:solidFill>
                  </a:tcPr>
                </a:tc>
                <a:tc>
                  <a:txBody>
                    <a:bodyPr>
                      <a:noAutofit/>
                    </a:bodyPr>
                    <a:lstStyle/>
                    <a:p>
                      <a:r>
                        <a:rPr sz="2300" b="1">
                          <a:solidFill>
                            <a:srgbClr val="FFFFFF"/>
                          </a:solidFill>
                          <a:latin typeface="Arial"/>
                          <a:ea typeface="Arial"/>
                          <a:cs typeface="Arial"/>
                        </a:rPr>
                        <a:t>MinPPI Mᵢ</a:t>
                      </a:r>
                    </a:p>
                  </a:txBody>
                  <a:tcPr marL="91440" marR="91440" marT="45720" marB="45720">
                    <a:solidFill>
                      <a:srgbClr val="0B2033"/>
                    </a:solidFill>
                  </a:tcPr>
                </a:tc>
                <a:tc>
                  <a:txBody>
                    <a:bodyPr>
                      <a:noAutofit/>
                    </a:bodyPr>
                    <a:lstStyle/>
                    <a:p>
                      <a:r>
                        <a:rPr sz="2300" b="1">
                          <a:solidFill>
                            <a:srgbClr val="FFFFFF"/>
                          </a:solidFill>
                          <a:latin typeface="Arial"/>
                          <a:ea typeface="Arial"/>
                          <a:cs typeface="Arial"/>
                        </a:rPr>
                        <a:t>Interpretation in this game</a:t>
                      </a:r>
                    </a:p>
                  </a:txBody>
                  <a:tcPr marL="91440" marR="91440" marT="45720" marB="45720">
                    <a:solidFill>
                      <a:srgbClr val="0B2033"/>
                    </a:solidFill>
                  </a:tcPr>
                </a:tc>
              </a:tr>
              <a:tr h="495300">
                <a:tc>
                  <a:txBody>
                    <a:bodyPr>
                      <a:noAutofit/>
                    </a:bodyPr>
                    <a:lstStyle/>
                    <a:p>
                      <a:r>
                        <a:rPr sz="2300" b="0">
                          <a:solidFill>
                            <a:srgbClr val="0B2033"/>
                          </a:solidFill>
                          <a:latin typeface="Arial"/>
                          <a:ea typeface="Arial"/>
                          <a:cs typeface="Arial"/>
                        </a:rPr>
                        <a:t>x₁</a:t>
                      </a:r>
                    </a:p>
                  </a:txBody>
                  <a:tcPr marL="91440" marR="91440" marT="45720" marB="45720">
                    <a:solidFill>
                      <a:srgbClr val="F6F3EB"/>
                    </a:solidFill>
                  </a:tcPr>
                </a:tc>
                <a:tc>
                  <a:txBody>
                    <a:bodyPr>
                      <a:noAutofit/>
                    </a:bodyPr>
                    <a:lstStyle/>
                    <a:p>
                      <a:r>
                        <a:rPr sz="2300" b="0">
                          <a:solidFill>
                            <a:srgbClr val="0B2033"/>
                          </a:solidFill>
                          <a:latin typeface="Arial"/>
                          <a:ea typeface="Arial"/>
                          <a:cs typeface="Arial"/>
                        </a:rPr>
                        <a:t>+1/3</a:t>
                      </a:r>
                    </a:p>
                  </a:txBody>
                  <a:tcPr marL="91440" marR="91440" marT="45720" marB="45720">
                    <a:solidFill>
                      <a:srgbClr val="F6F3EB"/>
                    </a:solidFill>
                  </a:tcPr>
                </a:tc>
                <a:tc>
                  <a:txBody>
                    <a:bodyPr>
                      <a:noAutofit/>
                    </a:bodyPr>
                    <a:lstStyle/>
                    <a:p>
                      <a:r>
                        <a:rPr sz="2300" b="0">
                          <a:solidFill>
                            <a:srgbClr val="0B2033"/>
                          </a:solidFill>
                          <a:latin typeface="Arial"/>
                          <a:ea typeface="Arial"/>
                          <a:cs typeface="Arial"/>
                        </a:rPr>
                        <a:t>−1</a:t>
                      </a:r>
                    </a:p>
                  </a:txBody>
                  <a:tcPr marL="91440" marR="91440" marT="45720" marB="45720">
                    <a:solidFill>
                      <a:srgbClr val="F6F3EB"/>
                    </a:solidFill>
                  </a:tcPr>
                </a:tc>
                <a:tc>
                  <a:txBody>
                    <a:bodyPr>
                      <a:noAutofit/>
                    </a:bodyPr>
                    <a:lstStyle/>
                    <a:p>
                      <a:r>
                        <a:rPr sz="2300" b="0">
                          <a:solidFill>
                            <a:srgbClr val="0B2033"/>
                          </a:solidFill>
                          <a:latin typeface="Arial"/>
                          <a:ea typeface="Arial"/>
                          <a:cs typeface="Arial"/>
                        </a:rPr>
                        <a:t>Has a harmful context</a:t>
                      </a:r>
                    </a:p>
                  </a:txBody>
                  <a:tcPr marL="91440" marR="91440" marT="45720" marB="45720">
                    <a:solidFill>
                      <a:srgbClr val="F6F3EB"/>
                    </a:solidFill>
                  </a:tcPr>
                </a:tc>
              </a:tr>
              <a:tr h="495300">
                <a:tc>
                  <a:txBody>
                    <a:bodyPr>
                      <a:noAutofit/>
                    </a:bodyPr>
                    <a:lstStyle/>
                    <a:p>
                      <a:r>
                        <a:rPr sz="2300" b="0">
                          <a:solidFill>
                            <a:srgbClr val="0B2033"/>
                          </a:solidFill>
                          <a:latin typeface="Arial"/>
                          <a:ea typeface="Arial"/>
                          <a:cs typeface="Arial"/>
                        </a:rPr>
                        <a:t>x₂</a:t>
                      </a:r>
                    </a:p>
                  </a:txBody>
                  <a:tcPr marL="91440" marR="91440" marT="45720" marB="45720">
                    <a:solidFill>
                      <a:srgbClr val="EEEEE7"/>
                    </a:solidFill>
                  </a:tcPr>
                </a:tc>
                <a:tc>
                  <a:txBody>
                    <a:bodyPr>
                      <a:noAutofit/>
                    </a:bodyPr>
                    <a:lstStyle/>
                    <a:p>
                      <a:r>
                        <a:rPr sz="2300" b="0">
                          <a:solidFill>
                            <a:srgbClr val="0B2033"/>
                          </a:solidFill>
                          <a:latin typeface="Arial"/>
                          <a:ea typeface="Arial"/>
                          <a:cs typeface="Arial"/>
                        </a:rPr>
                        <a:t>+1/3</a:t>
                      </a:r>
                    </a:p>
                  </a:txBody>
                  <a:tcPr marL="91440" marR="91440" marT="45720" marB="45720">
                    <a:solidFill>
                      <a:srgbClr val="EEEEE7"/>
                    </a:solidFill>
                  </a:tcPr>
                </a:tc>
                <a:tc>
                  <a:txBody>
                    <a:bodyPr>
                      <a:noAutofit/>
                    </a:bodyPr>
                    <a:lstStyle/>
                    <a:p>
                      <a:r>
                        <a:rPr sz="2300" b="0">
                          <a:solidFill>
                            <a:srgbClr val="0B2033"/>
                          </a:solidFill>
                          <a:latin typeface="Arial"/>
                          <a:ea typeface="Arial"/>
                          <a:cs typeface="Arial"/>
                        </a:rPr>
                        <a:t>−1</a:t>
                      </a:r>
                    </a:p>
                  </a:txBody>
                  <a:tcPr marL="91440" marR="91440" marT="45720" marB="45720">
                    <a:solidFill>
                      <a:srgbClr val="EEEEE7"/>
                    </a:solidFill>
                  </a:tcPr>
                </a:tc>
                <a:tc>
                  <a:txBody>
                    <a:bodyPr>
                      <a:noAutofit/>
                    </a:bodyPr>
                    <a:lstStyle/>
                    <a:p>
                      <a:r>
                        <a:rPr sz="2300" b="0">
                          <a:solidFill>
                            <a:srgbClr val="0B2033"/>
                          </a:solidFill>
                          <a:latin typeface="Arial"/>
                          <a:ea typeface="Arial"/>
                          <a:cs typeface="Arial"/>
                        </a:rPr>
                        <a:t>Has a harmful context</a:t>
                      </a:r>
                    </a:p>
                  </a:txBody>
                  <a:tcPr marL="91440" marR="91440" marT="45720" marB="45720">
                    <a:solidFill>
                      <a:srgbClr val="EEEEE7"/>
                    </a:solidFill>
                  </a:tcPr>
                </a:tc>
              </a:tr>
              <a:tr h="495300">
                <a:tc>
                  <a:txBody>
                    <a:bodyPr>
                      <a:noAutofit/>
                    </a:bodyPr>
                    <a:lstStyle/>
                    <a:p>
                      <a:r>
                        <a:rPr sz="2300" b="0">
                          <a:solidFill>
                            <a:srgbClr val="0B2033"/>
                          </a:solidFill>
                          <a:latin typeface="Arial"/>
                          <a:ea typeface="Arial"/>
                          <a:cs typeface="Arial"/>
                        </a:rPr>
                        <a:t>x₃</a:t>
                      </a:r>
                    </a:p>
                  </a:txBody>
                  <a:tcPr marL="91440" marR="91440" marT="45720" marB="45720">
                    <a:solidFill>
                      <a:srgbClr val="F6F3EB"/>
                    </a:solidFill>
                  </a:tcPr>
                </a:tc>
                <a:tc>
                  <a:txBody>
                    <a:bodyPr>
                      <a:noAutofit/>
                    </a:bodyPr>
                    <a:lstStyle/>
                    <a:p>
                      <a:r>
                        <a:rPr sz="2300" b="0">
                          <a:solidFill>
                            <a:srgbClr val="0B2033"/>
                          </a:solidFill>
                          <a:latin typeface="Arial"/>
                          <a:ea typeface="Arial"/>
                          <a:cs typeface="Arial"/>
                        </a:rPr>
                        <a:t>+1/3</a:t>
                      </a:r>
                    </a:p>
                  </a:txBody>
                  <a:tcPr marL="91440" marR="91440" marT="45720" marB="45720">
                    <a:solidFill>
                      <a:srgbClr val="F6F3EB"/>
                    </a:solidFill>
                  </a:tcPr>
                </a:tc>
                <a:tc>
                  <a:txBody>
                    <a:bodyPr>
                      <a:noAutofit/>
                    </a:bodyPr>
                    <a:lstStyle/>
                    <a:p>
                      <a:r>
                        <a:rPr sz="2300" b="0">
                          <a:solidFill>
                            <a:srgbClr val="0B2033"/>
                          </a:solidFill>
                          <a:latin typeface="Arial"/>
                          <a:ea typeface="Arial"/>
                          <a:cs typeface="Arial"/>
                        </a:rPr>
                        <a:t>0</a:t>
                      </a:r>
                    </a:p>
                  </a:txBody>
                  <a:tcPr marL="91440" marR="91440" marT="45720" marB="45720">
                    <a:solidFill>
                      <a:srgbClr val="F6F3EB"/>
                    </a:solidFill>
                  </a:tcPr>
                </a:tc>
                <a:tc>
                  <a:txBody>
                    <a:bodyPr>
                      <a:noAutofit/>
                    </a:bodyPr>
                    <a:lstStyle/>
                    <a:p>
                      <a:r>
                        <a:rPr sz="2300" b="0">
                          <a:solidFill>
                            <a:srgbClr val="0B2033"/>
                          </a:solidFill>
                          <a:latin typeface="Arial"/>
                          <a:ea typeface="Arial"/>
                          <a:cs typeface="Arial"/>
                        </a:rPr>
                        <a:t>No negative crossing, but can help</a:t>
                      </a:r>
                    </a:p>
                  </a:txBody>
                  <a:tcPr marL="91440" marR="91440" marT="45720" marB="45720">
                    <a:solidFill>
                      <a:srgbClr val="F6F3EB"/>
                    </a:solidFill>
                  </a:tcPr>
                </a:tc>
              </a:tr>
            </a:tbl>
          </a:graphicData>
        </a:graphic>
      </p:graphicFrame>
      <p:sp>
        <p:nvSpPr>
          <p:cNvPr id="9" name="text-74">
            <a:extLst xmlns:a="http://schemas.openxmlformats.org/drawingml/2006/main">
              <a:ext uri="{FF2B5EF4-FFF2-40B4-BE49-F238E27FC236}">
                <a16:creationId xmlns:a16="http://schemas.microsoft.com/office/drawing/2014/main" id="{759E9723-B4E1-48E3-B1B0-CA81242ADA89}"/>
              </a:ext>
            </a:extLst>
          </p:cNvPr>
          <p:cNvSpPr>
            <a:spLocks xmlns:a="http://schemas.openxmlformats.org/drawingml/2006/main" noGrp="1"/>
          </p:cNvSpPr>
          <p:nvPr/>
        </p:nvSpPr>
        <p:spPr>
          <a:xfrm xmlns:a="http://schemas.openxmlformats.org/drawingml/2006/main">
            <a:off x="762000" y="7454900"/>
            <a:ext cx="13716000" cy="48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00" b="1">
                <a:solidFill>
                  <a:srgbClr val="0C7C78"/>
                </a:solidFill>
                <a:latin typeface="Arial"/>
                <a:ea typeface="Arial"/>
                <a:cs typeface="Arial"/>
              </a:defRPr>
            </a:pPr>
            <a:r>
              <a:rPr sz="2600" b="1">
                <a:solidFill>
                  <a:srgbClr val="0C7C78"/>
                </a:solidFill>
                <a:latin typeface="Arial"/>
                <a:ea typeface="Arial"/>
                <a:cs typeface="Arial"/>
              </a:rPr>
              <a:t>The same positive average can hide different worst-case behavior.</a:t>
            </a:r>
          </a:p>
        </p:txBody>
      </p:sp>
    </p:spTree>
    <p:extLst>
      <p:ext uri="{BB962C8B-B14F-4D97-AF65-F5344CB8AC3E}">
        <p14:creationId xmlns:p14="http://schemas.microsoft.com/office/powerpoint/2010/main" val="848714123"/>
      </p:ext>
    </p:extLst>
  </p:cSld>
</p:sld>
</file>

<file path=ppt/slides/slide8.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6" name="text-75">
            <a:extLst xmlns:a="http://schemas.openxmlformats.org/drawingml/2006/main">
              <a:ext uri="{FF2B5EF4-FFF2-40B4-BE49-F238E27FC236}">
                <a16:creationId xmlns:a16="http://schemas.microsoft.com/office/drawing/2014/main" id="{CDEDF783-675E-4871-819B-495423E1E58B}"/>
              </a:ext>
            </a:extLst>
          </p:cNvPr>
          <p:cNvSpPr>
            <a:spLocks xmlns:a="http://schemas.openxmlformats.org/drawingml/2006/main" noGrp="1"/>
          </p:cNvSpPr>
          <p:nvPr/>
        </p:nvSpPr>
        <p:spPr>
          <a:xfrm xmlns:a="http://schemas.openxmlformats.org/drawingml/2006/main">
            <a:off x="762000" y="558800"/>
            <a:ext cx="13843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900" b="1">
                <a:solidFill>
                  <a:srgbClr val="0B2033"/>
                </a:solidFill>
                <a:latin typeface="Arial"/>
                <a:ea typeface="Arial"/>
                <a:cs typeface="Arial"/>
              </a:defRPr>
            </a:pPr>
            <a:r>
              <a:rPr sz="3900" b="1">
                <a:solidFill>
                  <a:srgbClr val="0B2033"/>
                </a:solidFill>
                <a:latin typeface="Arial"/>
                <a:ea typeface="Arial"/>
                <a:cs typeface="Arial"/>
              </a:rPr>
              <a:t>A concrete example of the core idea</a:t>
            </a:r>
          </a:p>
        </p:txBody>
      </p:sp>
      <p:sp>
        <p:nvSpPr>
          <p:cNvPr id="2" name="rule-76">
            <a:extLst xmlns:a="http://schemas.openxmlformats.org/drawingml/2006/main">
              <a:ext uri="{FF2B5EF4-FFF2-40B4-BE49-F238E27FC236}">
                <a16:creationId xmlns:a16="http://schemas.microsoft.com/office/drawing/2014/main" id="{349808BD-98B5-434E-9E1C-6713711D937D}"/>
              </a:ext>
            </a:extLst>
          </p:cNvPr>
          <p:cNvSpPr>
            <a:spLocks xmlns:a="http://schemas.openxmlformats.org/drawingml/2006/main" noGrp="1"/>
          </p:cNvSpPr>
          <p:nvPr/>
        </p:nvSpPr>
        <p:spPr>
          <a:xfrm xmlns:a="http://schemas.openxmlformats.org/drawingml/2006/main">
            <a:off x="762000" y="1701800"/>
            <a:ext cx="13716000" cy="0"/>
          </a:xfrm>
          <a:prstGeom xmlns:a="http://schemas.openxmlformats.org/drawingml/2006/main" prst="line">
            <a:avLst/>
          </a:prstGeom>
          <a:noFill xmlns:a="http://schemas.openxmlformats.org/drawingml/2006/main"/>
          <a:ln xmlns:a="http://schemas.openxmlformats.org/drawingml/2006/main" w="19050">
            <a:solidFill>
              <a:srgbClr val="0C7C78"/>
            </a:solidFill>
          </a:ln>
        </p:spPr>
      </p:sp>
      <p:sp>
        <p:nvSpPr>
          <p:cNvPr id="3" name="text-77">
            <a:extLst xmlns:a="http://schemas.openxmlformats.org/drawingml/2006/main">
              <a:ext uri="{FF2B5EF4-FFF2-40B4-BE49-F238E27FC236}">
                <a16:creationId xmlns:a16="http://schemas.microsoft.com/office/drawing/2014/main" id="{039760DB-2215-4379-95C3-1DD2421166E9}"/>
              </a:ext>
            </a:extLst>
          </p:cNvPr>
          <p:cNvSpPr>
            <a:spLocks xmlns:a="http://schemas.openxmlformats.org/drawingml/2006/main" noGrp="1"/>
          </p:cNvSpPr>
          <p:nvPr/>
        </p:nvSpPr>
        <p:spPr>
          <a:xfrm xmlns:a="http://schemas.openxmlformats.org/drawingml/2006/main">
            <a:off x="14122400" y="80772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600" b="0">
                <a:solidFill>
                  <a:srgbClr val="526675"/>
                </a:solidFill>
                <a:latin typeface="Arial"/>
                <a:ea typeface="Arial"/>
                <a:cs typeface="Arial"/>
              </a:defRPr>
            </a:pPr>
            <a:r>
              <a:rPr sz="1600" b="0">
                <a:solidFill>
                  <a:srgbClr val="526675"/>
                </a:solidFill>
                <a:latin typeface="Arial"/>
                <a:ea typeface="Arial"/>
                <a:cs typeface="Arial"/>
              </a:rPr>
              <a:t>08</a:t>
            </a:r>
          </a:p>
        </p:txBody>
      </p:sp>
      <p:sp>
        <p:nvSpPr>
          <p:cNvPr id="4" name="text-78">
            <a:extLst xmlns:a="http://schemas.openxmlformats.org/drawingml/2006/main">
              <a:ext uri="{FF2B5EF4-FFF2-40B4-BE49-F238E27FC236}">
                <a16:creationId xmlns:a16="http://schemas.microsoft.com/office/drawing/2014/main" id="{DFE24EEE-6DA3-4D93-B66D-30FD14621097}"/>
              </a:ext>
            </a:extLst>
          </p:cNvPr>
          <p:cNvSpPr>
            <a:spLocks xmlns:a="http://schemas.openxmlformats.org/drawingml/2006/main" noGrp="1"/>
          </p:cNvSpPr>
          <p:nvPr/>
        </p:nvSpPr>
        <p:spPr>
          <a:xfrm xmlns:a="http://schemas.openxmlformats.org/drawingml/2006/main">
            <a:off x="762000" y="2082800"/>
            <a:ext cx="1371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00" b="0">
                <a:solidFill>
                  <a:srgbClr val="526675"/>
                </a:solidFill>
                <a:latin typeface="Arial"/>
                <a:ea typeface="Arial"/>
                <a:cs typeface="Arial"/>
              </a:defRPr>
            </a:pPr>
            <a:r>
              <a:rPr sz="2600" b="0">
                <a:solidFill>
                  <a:srgbClr val="526675"/>
                </a:solidFill>
                <a:latin typeface="Arial"/>
                <a:ea typeface="Arial"/>
                <a:cs typeface="Arial"/>
              </a:rPr>
              <a:t>Illustration only: α = 0.95, U(D) = 0.90, so q = 0.855</a:t>
            </a:r>
          </a:p>
        </p:txBody>
      </p:sp>
      <p:sp>
        <p:nvSpPr>
          <p:cNvPr id="5" name="stage-79">
            <a:extLst xmlns:a="http://schemas.openxmlformats.org/drawingml/2006/main">
              <a:ext uri="{FF2B5EF4-FFF2-40B4-BE49-F238E27FC236}">
                <a16:creationId xmlns:a16="http://schemas.microsoft.com/office/drawing/2014/main" id="{BA0D1784-5823-4C94-B0C8-0EA7D0A52CE8}"/>
              </a:ext>
            </a:extLst>
          </p:cNvPr>
          <p:cNvSpPr>
            <a:spLocks xmlns:a="http://schemas.openxmlformats.org/drawingml/2006/main" noGrp="1"/>
          </p:cNvSpPr>
          <p:nvPr/>
        </p:nvSpPr>
        <p:spPr>
          <a:xfrm xmlns:a="http://schemas.openxmlformats.org/drawingml/2006/main">
            <a:off x="762000" y="3225800"/>
            <a:ext cx="5334000" cy="2286000"/>
          </a:xfrm>
          <a:prstGeom xmlns:a="http://schemas.openxmlformats.org/drawingml/2006/main" prst="rect">
            <a:avLst/>
          </a:prstGeom>
          <a:solidFill xmlns:a="http://schemas.openxmlformats.org/drawingml/2006/main">
            <a:srgbClr val="E0F0EB"/>
          </a:solidFill>
          <a:ln xmlns:a="http://schemas.openxmlformats.org/drawingml/2006/main" w="16510">
            <a:solidFill>
              <a:srgbClr val="0C7C78"/>
            </a:solidFill>
          </a:ln>
        </p:spPr>
      </p:sp>
      <p:sp>
        <p:nvSpPr>
          <p:cNvPr id="6" name="text-80">
            <a:extLst xmlns:a="http://schemas.openxmlformats.org/drawingml/2006/main">
              <a:ext uri="{FF2B5EF4-FFF2-40B4-BE49-F238E27FC236}">
                <a16:creationId xmlns:a16="http://schemas.microsoft.com/office/drawing/2014/main" id="{CC9406FC-CE7B-4AB1-A0D9-58359A99DBE2}"/>
              </a:ext>
            </a:extLst>
          </p:cNvPr>
          <p:cNvSpPr>
            <a:spLocks xmlns:a="http://schemas.openxmlformats.org/drawingml/2006/main" noGrp="1"/>
          </p:cNvSpPr>
          <p:nvPr/>
        </p:nvSpPr>
        <p:spPr>
          <a:xfrm xmlns:a="http://schemas.openxmlformats.org/drawingml/2006/main">
            <a:off x="965200" y="3378200"/>
            <a:ext cx="49276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00" b="1">
                <a:solidFill>
                  <a:srgbClr val="0C7C78"/>
                </a:solidFill>
                <a:latin typeface="Arial"/>
                <a:ea typeface="Arial"/>
                <a:cs typeface="Arial"/>
              </a:defRPr>
            </a:pPr>
            <a:r>
              <a:rPr sz="2500" b="1">
                <a:solidFill>
                  <a:srgbClr val="0C7C78"/>
                </a:solidFill>
                <a:latin typeface="Arial"/>
                <a:ea typeface="Arial"/>
                <a:cs typeface="Arial"/>
              </a:rPr>
              <a:t>Model using {x₁}</a:t>
            </a:r>
          </a:p>
        </p:txBody>
      </p:sp>
      <p:sp>
        <p:nvSpPr>
          <p:cNvPr id="7" name="text-81">
            <a:extLst xmlns:a="http://schemas.openxmlformats.org/drawingml/2006/main">
              <a:ext uri="{FF2B5EF4-FFF2-40B4-BE49-F238E27FC236}">
                <a16:creationId xmlns:a16="http://schemas.microsoft.com/office/drawing/2014/main" id="{40347201-F536-45B0-8666-71E9B59AB94A}"/>
              </a:ext>
            </a:extLst>
          </p:cNvPr>
          <p:cNvSpPr>
            <a:spLocks xmlns:a="http://schemas.openxmlformats.org/drawingml/2006/main" noGrp="1"/>
          </p:cNvSpPr>
          <p:nvPr/>
        </p:nvSpPr>
        <p:spPr>
          <a:xfrm xmlns:a="http://schemas.openxmlformats.org/drawingml/2006/main">
            <a:off x="965200" y="3962400"/>
            <a:ext cx="49276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900" b="0">
                <a:solidFill>
                  <a:srgbClr val="0B2033"/>
                </a:solidFill>
                <a:latin typeface="Arial"/>
                <a:ea typeface="Arial"/>
                <a:cs typeface="Arial"/>
              </a:defRPr>
            </a:pPr>
            <a:r>
              <a:rPr sz="2900" b="0">
                <a:solidFill>
                  <a:srgbClr val="0B2033"/>
                </a:solidFill>
                <a:latin typeface="Arial"/>
                <a:ea typeface="Arial"/>
                <a:cs typeface="Arial"/>
              </a:rPr>
              <a:t>Validation score: 0.87</a:t>
            </a:r>
          </a:p>
          <a:p xmlns:a="http://schemas.openxmlformats.org/drawingml/2006/main">
            <a:pPr algn="l">
              <a:defRPr sz="2900" b="0">
                <a:solidFill>
                  <a:srgbClr val="0B2033"/>
                </a:solidFill>
                <a:latin typeface="Arial"/>
                <a:ea typeface="Arial"/>
                <a:cs typeface="Arial"/>
              </a:defRPr>
            </a:pPr>
            <a:r>
              <a:rPr sz="2900" b="0">
                <a:solidFill>
                  <a:srgbClr val="0B2033"/>
                </a:solidFill>
                <a:latin typeface="Arial"/>
                <a:ea typeface="Arial"/>
                <a:cs typeface="Arial"/>
              </a:rPr>
              <a:t>Meets the requirement</a:t>
            </a:r>
          </a:p>
        </p:txBody>
      </p:sp>
      <p:sp>
        <p:nvSpPr>
          <p:cNvPr id="8" name="stage-82">
            <a:extLst xmlns:a="http://schemas.openxmlformats.org/drawingml/2006/main">
              <a:ext uri="{FF2B5EF4-FFF2-40B4-BE49-F238E27FC236}">
                <a16:creationId xmlns:a16="http://schemas.microsoft.com/office/drawing/2014/main" id="{5C1A0585-1F28-4713-A173-2D1182140E86}"/>
              </a:ext>
            </a:extLst>
          </p:cNvPr>
          <p:cNvSpPr>
            <a:spLocks xmlns:a="http://schemas.openxmlformats.org/drawingml/2006/main" noGrp="1"/>
          </p:cNvSpPr>
          <p:nvPr/>
        </p:nvSpPr>
        <p:spPr>
          <a:xfrm xmlns:a="http://schemas.openxmlformats.org/drawingml/2006/main">
            <a:off x="9144000" y="3225800"/>
            <a:ext cx="5334000" cy="2286000"/>
          </a:xfrm>
          <a:prstGeom xmlns:a="http://schemas.openxmlformats.org/drawingml/2006/main" prst="rect">
            <a:avLst/>
          </a:prstGeom>
          <a:solidFill xmlns:a="http://schemas.openxmlformats.org/drawingml/2006/main">
            <a:srgbClr val="F6F3EB"/>
          </a:solidFill>
          <a:ln xmlns:a="http://schemas.openxmlformats.org/drawingml/2006/main" w="16510">
            <a:solidFill>
              <a:srgbClr val="526675"/>
            </a:solidFill>
          </a:ln>
        </p:spPr>
      </p:sp>
      <p:sp>
        <p:nvSpPr>
          <p:cNvPr id="9" name="text-83">
            <a:extLst xmlns:a="http://schemas.openxmlformats.org/drawingml/2006/main">
              <a:ext uri="{FF2B5EF4-FFF2-40B4-BE49-F238E27FC236}">
                <a16:creationId xmlns:a16="http://schemas.microsoft.com/office/drawing/2014/main" id="{E7432CD0-F54F-4D3D-93F1-E199A6CBFDAB}"/>
              </a:ext>
            </a:extLst>
          </p:cNvPr>
          <p:cNvSpPr>
            <a:spLocks xmlns:a="http://schemas.openxmlformats.org/drawingml/2006/main" noGrp="1"/>
          </p:cNvSpPr>
          <p:nvPr/>
        </p:nvSpPr>
        <p:spPr>
          <a:xfrm xmlns:a="http://schemas.openxmlformats.org/drawingml/2006/main">
            <a:off x="9347200" y="3378200"/>
            <a:ext cx="49276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00" b="1">
                <a:solidFill>
                  <a:srgbClr val="0B2033"/>
                </a:solidFill>
                <a:latin typeface="Arial"/>
                <a:ea typeface="Arial"/>
                <a:cs typeface="Arial"/>
              </a:defRPr>
            </a:pPr>
            <a:r>
              <a:rPr sz="2500" b="1">
                <a:solidFill>
                  <a:srgbClr val="0B2033"/>
                </a:solidFill>
                <a:latin typeface="Arial"/>
                <a:ea typeface="Arial"/>
                <a:cs typeface="Arial"/>
              </a:rPr>
              <a:t>Model using {x₁, x₂}</a:t>
            </a:r>
          </a:p>
        </p:txBody>
      </p:sp>
      <p:sp>
        <p:nvSpPr>
          <p:cNvPr id="10" name="text-84">
            <a:extLst xmlns:a="http://schemas.openxmlformats.org/drawingml/2006/main">
              <a:ext uri="{FF2B5EF4-FFF2-40B4-BE49-F238E27FC236}">
                <a16:creationId xmlns:a16="http://schemas.microsoft.com/office/drawing/2014/main" id="{820C5135-5A2E-43B0-AA91-D490D164E26C}"/>
              </a:ext>
            </a:extLst>
          </p:cNvPr>
          <p:cNvSpPr>
            <a:spLocks xmlns:a="http://schemas.openxmlformats.org/drawingml/2006/main" noGrp="1"/>
          </p:cNvSpPr>
          <p:nvPr/>
        </p:nvSpPr>
        <p:spPr>
          <a:xfrm xmlns:a="http://schemas.openxmlformats.org/drawingml/2006/main">
            <a:off x="9347200" y="3962400"/>
            <a:ext cx="49276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900" b="0">
                <a:solidFill>
                  <a:srgbClr val="0B2033"/>
                </a:solidFill>
                <a:latin typeface="Arial"/>
                <a:ea typeface="Arial"/>
                <a:cs typeface="Arial"/>
              </a:defRPr>
            </a:pPr>
            <a:r>
              <a:rPr sz="2900" b="0">
                <a:solidFill>
                  <a:srgbClr val="0B2033"/>
                </a:solidFill>
                <a:latin typeface="Arial"/>
                <a:ea typeface="Arial"/>
                <a:cs typeface="Arial"/>
              </a:rPr>
              <a:t>Validation score: 0.84</a:t>
            </a:r>
          </a:p>
          <a:p xmlns:a="http://schemas.openxmlformats.org/drawingml/2006/main">
            <a:pPr algn="l">
              <a:defRPr sz="2900" b="0">
                <a:solidFill>
                  <a:srgbClr val="0B2033"/>
                </a:solidFill>
                <a:latin typeface="Arial"/>
                <a:ea typeface="Arial"/>
                <a:cs typeface="Arial"/>
              </a:defRPr>
            </a:pPr>
            <a:r>
              <a:rPr sz="2900" b="0">
                <a:solidFill>
                  <a:srgbClr val="0B2033"/>
                </a:solidFill>
                <a:latin typeface="Arial"/>
                <a:ea typeface="Arial"/>
                <a:cs typeface="Arial"/>
              </a:rPr>
              <a:t>Falls below the requirement</a:t>
            </a:r>
          </a:p>
        </p:txBody>
      </p:sp>
      <p:cxnSp>
        <p:nvCxnSpPr>
          <p:cNvPr id="26" name=""/>
          <p:cNvCxnSpPr>
            <a:stCxn xmlns:a="http://schemas.openxmlformats.org/drawingml/2006/main" id="5" idx="3"/>
            <a:endCxn xmlns:a="http://schemas.openxmlformats.org/drawingml/2006/main" id="8" idx="1"/>
          </p:cNvCxnSpPr>
          <p:nvPr/>
        </p:nvCxnSpPr>
        <p:spPr>
          <a:xfrm xmlns:a="http://schemas.openxmlformats.org/drawingml/2006/main">
            <a:off x="6096000" y="4368800"/>
            <a:ext cx="3048000" cy="0"/>
          </a:xfrm>
          <a:prstGeom xmlns:a="http://schemas.openxmlformats.org/drawingml/2006/main" prst="straightConnector1">
            <a:avLst/>
          </a:prstGeom>
          <a:ln xmlns:a="http://schemas.openxmlformats.org/drawingml/2006/main" w="25400">
            <a:solidFill>
              <a:srgbClr val="0C7C78"/>
            </a:solidFill>
            <a:tailEnd type="triangle" w="med" len="med"/>
          </a:ln>
        </p:spPr>
      </p:cxnSp>
      <p:sp>
        <p:nvSpPr>
          <p:cNvPr id="12" name="text-85">
            <a:extLst xmlns:a="http://schemas.openxmlformats.org/drawingml/2006/main">
              <a:ext uri="{FF2B5EF4-FFF2-40B4-BE49-F238E27FC236}">
                <a16:creationId xmlns:a16="http://schemas.microsoft.com/office/drawing/2014/main" id="{16D535BF-D0FA-41E5-8491-35543FEF6342}"/>
              </a:ext>
            </a:extLst>
          </p:cNvPr>
          <p:cNvSpPr>
            <a:spLocks xmlns:a="http://schemas.openxmlformats.org/drawingml/2006/main" noGrp="1"/>
          </p:cNvSpPr>
          <p:nvPr/>
        </p:nvSpPr>
        <p:spPr>
          <a:xfrm xmlns:a="http://schemas.openxmlformats.org/drawingml/2006/main">
            <a:off x="6350000" y="3365500"/>
            <a:ext cx="2514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00" b="1">
                <a:solidFill>
                  <a:srgbClr val="0B2033"/>
                </a:solidFill>
                <a:latin typeface="Arial"/>
                <a:ea typeface="Arial"/>
                <a:cs typeface="Arial"/>
              </a:defRPr>
            </a:pPr>
            <a:r>
              <a:rPr sz="2500" b="1">
                <a:solidFill>
                  <a:srgbClr val="0B2033"/>
                </a:solidFill>
                <a:latin typeface="Arial"/>
                <a:ea typeface="Arial"/>
                <a:cs typeface="Arial"/>
              </a:rPr>
              <a:t>Add input x₂</a:t>
            </a:r>
          </a:p>
          <a:p xmlns:a="http://schemas.openxmlformats.org/drawingml/2006/main">
            <a:pPr algn="ctr">
              <a:defRPr sz="2500" b="1">
                <a:solidFill>
                  <a:srgbClr val="0B2033"/>
                </a:solidFill>
                <a:latin typeface="Arial"/>
                <a:ea typeface="Arial"/>
                <a:cs typeface="Arial"/>
              </a:defRPr>
            </a:pPr>
            <a:r>
              <a:rPr sz="2500" b="1">
                <a:solidFill>
                  <a:srgbClr val="0B2033"/>
                </a:solidFill>
                <a:latin typeface="Arial"/>
                <a:ea typeface="Arial"/>
                <a:cs typeface="Arial"/>
              </a:rPr>
              <a:t>and retrain</a:t>
            </a:r>
          </a:p>
        </p:txBody>
      </p:sp>
      <p:sp>
        <p:nvSpPr>
          <p:cNvPr id="13" name="text-86">
            <a:extLst xmlns:a="http://schemas.openxmlformats.org/drawingml/2006/main">
              <a:ext uri="{FF2B5EF4-FFF2-40B4-BE49-F238E27FC236}">
                <a16:creationId xmlns:a16="http://schemas.microsoft.com/office/drawing/2014/main" id="{DE48F478-39D1-467A-AAE7-C8C63F89CCF2}"/>
              </a:ext>
            </a:extLst>
          </p:cNvPr>
          <p:cNvSpPr>
            <a:spLocks xmlns:a="http://schemas.openxmlformats.org/drawingml/2006/main" noGrp="1"/>
          </p:cNvSpPr>
          <p:nvPr/>
        </p:nvSpPr>
        <p:spPr>
          <a:xfrm xmlns:a="http://schemas.openxmlformats.org/drawingml/2006/main">
            <a:off x="762000" y="5854700"/>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300" b="0">
                <a:solidFill>
                  <a:srgbClr val="526675"/>
                </a:solidFill>
                <a:latin typeface="Arial"/>
                <a:ea typeface="Arial"/>
                <a:cs typeface="Arial"/>
              </a:defRPr>
            </a:pPr>
            <a:r>
              <a:rPr sz="2300" b="0">
                <a:solidFill>
                  <a:srgbClr val="526675"/>
                </a:solidFill>
                <a:latin typeface="Arial"/>
                <a:ea typeface="Arial"/>
                <a:cs typeface="Arial"/>
              </a:rPr>
              <a:t>Same training rows, learner settings and validation rows</a:t>
            </a:r>
          </a:p>
        </p:txBody>
      </p:sp>
      <p:sp>
        <p:nvSpPr>
          <p:cNvPr id="14" name="text-87">
            <a:extLst xmlns:a="http://schemas.openxmlformats.org/drawingml/2006/main">
              <a:ext uri="{FF2B5EF4-FFF2-40B4-BE49-F238E27FC236}">
                <a16:creationId xmlns:a16="http://schemas.microsoft.com/office/drawing/2014/main" id="{CEBFFD1A-038D-4FC4-B244-992B486E226A}"/>
              </a:ext>
            </a:extLst>
          </p:cNvPr>
          <p:cNvSpPr>
            <a:spLocks xmlns:a="http://schemas.openxmlformats.org/drawingml/2006/main" noGrp="1"/>
          </p:cNvSpPr>
          <p:nvPr/>
        </p:nvSpPr>
        <p:spPr>
          <a:xfrm xmlns:a="http://schemas.openxmlformats.org/drawingml/2006/main">
            <a:off x="762000" y="6692900"/>
            <a:ext cx="1371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00" b="1">
                <a:solidFill>
                  <a:srgbClr val="0C7C78"/>
                </a:solidFill>
                <a:latin typeface="Arial"/>
                <a:ea typeface="Arial"/>
                <a:cs typeface="Arial"/>
              </a:defRPr>
            </a:pPr>
            <a:r>
              <a:rPr sz="2600" b="1">
                <a:solidFill>
                  <a:srgbClr val="0C7C78"/>
                </a:solidFill>
                <a:latin typeface="Arial"/>
                <a:ea typeface="Arial"/>
                <a:cs typeface="Arial"/>
              </a:rPr>
              <a:t>Here Δ₂({x₁}) = 0 − 1 = −1: a harmful witness that another person can check.</a:t>
            </a:r>
          </a:p>
        </p:txBody>
      </p:sp>
      <p:sp>
        <p:nvSpPr>
          <p:cNvPr id="15" name="text-88">
            <a:extLst xmlns:a="http://schemas.openxmlformats.org/drawingml/2006/main">
              <a:ext uri="{FF2B5EF4-FFF2-40B4-BE49-F238E27FC236}">
                <a16:creationId xmlns:a16="http://schemas.microsoft.com/office/drawing/2014/main" id="{81A10C7D-792F-4828-B6A8-2281477F3541}"/>
              </a:ext>
            </a:extLst>
          </p:cNvPr>
          <p:cNvSpPr>
            <a:spLocks xmlns:a="http://schemas.openxmlformats.org/drawingml/2006/main" noGrp="1"/>
          </p:cNvSpPr>
          <p:nvPr/>
        </p:nvSpPr>
        <p:spPr>
          <a:xfrm xmlns:a="http://schemas.openxmlformats.org/drawingml/2006/main">
            <a:off x="762000" y="7696200"/>
            <a:ext cx="13716000" cy="39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526675"/>
                </a:solidFill>
                <a:latin typeface="Arial"/>
                <a:ea typeface="Arial"/>
                <a:cs typeface="Arial"/>
              </a:defRPr>
            </a:pPr>
            <a:r>
              <a:rPr sz="2100" b="0">
                <a:solidFill>
                  <a:srgbClr val="526675"/>
                </a:solidFill>
                <a:latin typeface="Arial"/>
                <a:ea typeface="Arial"/>
                <a:cs typeface="Arial"/>
              </a:rPr>
              <a:t>It motivates a deletion test. It does not prove that joint deletion will help.</a:t>
            </a:r>
          </a:p>
        </p:txBody>
      </p:sp>
    </p:spTree>
    <p:extLst>
      <p:ext uri="{BB962C8B-B14F-4D97-AF65-F5344CB8AC3E}">
        <p14:creationId xmlns:p14="http://schemas.microsoft.com/office/powerpoint/2010/main" val="1104772682"/>
      </p:ext>
    </p:extLst>
  </p:cSld>
</p:sld>
</file>

<file path=ppt/slides/slide9.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31" name="text-89">
            <a:extLst xmlns:a="http://schemas.openxmlformats.org/drawingml/2006/main">
              <a:ext uri="{FF2B5EF4-FFF2-40B4-BE49-F238E27FC236}">
                <a16:creationId xmlns:a16="http://schemas.microsoft.com/office/drawing/2014/main" id="{C8F98A92-5EB3-4C16-94FF-29C999FB9C52}"/>
              </a:ext>
            </a:extLst>
          </p:cNvPr>
          <p:cNvSpPr>
            <a:spLocks xmlns:a="http://schemas.openxmlformats.org/drawingml/2006/main" noGrp="1"/>
          </p:cNvSpPr>
          <p:nvPr/>
        </p:nvSpPr>
        <p:spPr>
          <a:xfrm xmlns:a="http://schemas.openxmlformats.org/drawingml/2006/main">
            <a:off x="762000" y="558800"/>
            <a:ext cx="13843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900" b="1">
                <a:solidFill>
                  <a:srgbClr val="0B2033"/>
                </a:solidFill>
                <a:latin typeface="Arial"/>
                <a:ea typeface="Arial"/>
                <a:cs typeface="Arial"/>
              </a:defRPr>
            </a:pPr>
            <a:r>
              <a:rPr sz="3900" b="1">
                <a:solidFill>
                  <a:srgbClr val="0B2033"/>
                </a:solidFill>
                <a:latin typeface="Arial"/>
                <a:ea typeface="Arial"/>
                <a:cs typeface="Arial"/>
              </a:rPr>
              <a:t>Research architecture</a:t>
            </a:r>
          </a:p>
        </p:txBody>
      </p:sp>
      <p:sp>
        <p:nvSpPr>
          <p:cNvPr id="2" name="rule-90">
            <a:extLst xmlns:a="http://schemas.openxmlformats.org/drawingml/2006/main">
              <a:ext uri="{FF2B5EF4-FFF2-40B4-BE49-F238E27FC236}">
                <a16:creationId xmlns:a16="http://schemas.microsoft.com/office/drawing/2014/main" id="{DF97EB08-D608-4CBB-8828-36E064800B07}"/>
              </a:ext>
            </a:extLst>
          </p:cNvPr>
          <p:cNvSpPr>
            <a:spLocks xmlns:a="http://schemas.openxmlformats.org/drawingml/2006/main" noGrp="1"/>
          </p:cNvSpPr>
          <p:nvPr/>
        </p:nvSpPr>
        <p:spPr>
          <a:xfrm xmlns:a="http://schemas.openxmlformats.org/drawingml/2006/main">
            <a:off x="762000" y="1701800"/>
            <a:ext cx="13716000" cy="0"/>
          </a:xfrm>
          <a:prstGeom xmlns:a="http://schemas.openxmlformats.org/drawingml/2006/main" prst="line">
            <a:avLst/>
          </a:prstGeom>
          <a:noFill xmlns:a="http://schemas.openxmlformats.org/drawingml/2006/main"/>
          <a:ln xmlns:a="http://schemas.openxmlformats.org/drawingml/2006/main" w="19050">
            <a:solidFill>
              <a:srgbClr val="0C7C78"/>
            </a:solidFill>
          </a:ln>
        </p:spPr>
      </p:sp>
      <p:sp>
        <p:nvSpPr>
          <p:cNvPr id="3" name="text-91">
            <a:extLst xmlns:a="http://schemas.openxmlformats.org/drawingml/2006/main">
              <a:ext uri="{FF2B5EF4-FFF2-40B4-BE49-F238E27FC236}">
                <a16:creationId xmlns:a16="http://schemas.microsoft.com/office/drawing/2014/main" id="{9C76F15F-BF9A-4124-81A4-17342FF882CF}"/>
              </a:ext>
            </a:extLst>
          </p:cNvPr>
          <p:cNvSpPr>
            <a:spLocks xmlns:a="http://schemas.openxmlformats.org/drawingml/2006/main" noGrp="1"/>
          </p:cNvSpPr>
          <p:nvPr/>
        </p:nvSpPr>
        <p:spPr>
          <a:xfrm xmlns:a="http://schemas.openxmlformats.org/drawingml/2006/main">
            <a:off x="14122400" y="80772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600" b="0">
                <a:solidFill>
                  <a:srgbClr val="526675"/>
                </a:solidFill>
                <a:latin typeface="Arial"/>
                <a:ea typeface="Arial"/>
                <a:cs typeface="Arial"/>
              </a:defRPr>
            </a:pPr>
            <a:r>
              <a:rPr sz="1600" b="0">
                <a:solidFill>
                  <a:srgbClr val="526675"/>
                </a:solidFill>
                <a:latin typeface="Arial"/>
                <a:ea typeface="Arial"/>
                <a:cs typeface="Arial"/>
              </a:rPr>
              <a:t>09</a:t>
            </a:r>
          </a:p>
        </p:txBody>
      </p:sp>
      <p:sp>
        <p:nvSpPr>
          <p:cNvPr id="4" name="text-92">
            <a:extLst xmlns:a="http://schemas.openxmlformats.org/drawingml/2006/main">
              <a:ext uri="{FF2B5EF4-FFF2-40B4-BE49-F238E27FC236}">
                <a16:creationId xmlns:a16="http://schemas.microsoft.com/office/drawing/2014/main" id="{71B47EC6-C639-4497-8465-145B90B56D56}"/>
              </a:ext>
            </a:extLst>
          </p:cNvPr>
          <p:cNvSpPr>
            <a:spLocks xmlns:a="http://schemas.openxmlformats.org/drawingml/2006/main" noGrp="1"/>
          </p:cNvSpPr>
          <p:nvPr/>
        </p:nvSpPr>
        <p:spPr>
          <a:xfrm xmlns:a="http://schemas.openxmlformats.org/drawingml/2006/main">
            <a:off x="762000" y="2006600"/>
            <a:ext cx="13716000" cy="59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00" b="1">
                <a:solidFill>
                  <a:srgbClr val="0B2033"/>
                </a:solidFill>
                <a:latin typeface="Arial"/>
                <a:ea typeface="Arial"/>
                <a:cs typeface="Arial"/>
              </a:defRPr>
            </a:pPr>
            <a:r>
              <a:rPr sz="2500" b="1">
                <a:solidFill>
                  <a:srgbClr val="0B2033"/>
                </a:solidFill>
                <a:latin typeface="Arial"/>
                <a:ea typeface="Arial"/>
                <a:cs typeface="Arial"/>
              </a:rPr>
              <a:t>Fixed supervised task: labeled data, learner, split and performance requirement</a:t>
            </a:r>
          </a:p>
        </p:txBody>
      </p:sp>
      <p:sp>
        <p:nvSpPr>
          <p:cNvPr id="5" name="stage-93">
            <a:extLst xmlns:a="http://schemas.openxmlformats.org/drawingml/2006/main">
              <a:ext uri="{FF2B5EF4-FFF2-40B4-BE49-F238E27FC236}">
                <a16:creationId xmlns:a16="http://schemas.microsoft.com/office/drawing/2014/main" id="{A46E396C-5426-4DF7-A93D-AB527330DE23}"/>
              </a:ext>
            </a:extLst>
          </p:cNvPr>
          <p:cNvSpPr>
            <a:spLocks xmlns:a="http://schemas.openxmlformats.org/drawingml/2006/main" noGrp="1"/>
          </p:cNvSpPr>
          <p:nvPr/>
        </p:nvSpPr>
        <p:spPr>
          <a:xfrm xmlns:a="http://schemas.openxmlformats.org/drawingml/2006/main">
            <a:off x="762000" y="2984500"/>
            <a:ext cx="3619500" cy="1993900"/>
          </a:xfrm>
          <a:prstGeom xmlns:a="http://schemas.openxmlformats.org/drawingml/2006/main" prst="rect">
            <a:avLst/>
          </a:prstGeom>
          <a:solidFill xmlns:a="http://schemas.openxmlformats.org/drawingml/2006/main">
            <a:srgbClr val="F6F3EB"/>
          </a:solidFill>
          <a:ln xmlns:a="http://schemas.openxmlformats.org/drawingml/2006/main" w="16510">
            <a:solidFill>
              <a:srgbClr val="526675"/>
            </a:solidFill>
          </a:ln>
        </p:spPr>
      </p:sp>
      <p:sp>
        <p:nvSpPr>
          <p:cNvPr id="6" name="text-94">
            <a:extLst xmlns:a="http://schemas.openxmlformats.org/drawingml/2006/main">
              <a:ext uri="{FF2B5EF4-FFF2-40B4-BE49-F238E27FC236}">
                <a16:creationId xmlns:a16="http://schemas.microsoft.com/office/drawing/2014/main" id="{72AA1E81-A5AC-4715-8C0B-4AC3CF6CCA4F}"/>
              </a:ext>
            </a:extLst>
          </p:cNvPr>
          <p:cNvSpPr>
            <a:spLocks xmlns:a="http://schemas.openxmlformats.org/drawingml/2006/main" noGrp="1"/>
          </p:cNvSpPr>
          <p:nvPr/>
        </p:nvSpPr>
        <p:spPr>
          <a:xfrm xmlns:a="http://schemas.openxmlformats.org/drawingml/2006/main">
            <a:off x="965200" y="3136900"/>
            <a:ext cx="32131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00" b="1">
                <a:solidFill>
                  <a:srgbClr val="0B2033"/>
                </a:solidFill>
                <a:latin typeface="Arial"/>
                <a:ea typeface="Arial"/>
                <a:cs typeface="Arial"/>
              </a:defRPr>
            </a:pPr>
            <a:r>
              <a:rPr sz="2500" b="1">
                <a:solidFill>
                  <a:srgbClr val="0B2033"/>
                </a:solidFill>
                <a:latin typeface="Arial"/>
                <a:ea typeface="Arial"/>
                <a:cs typeface="Arial"/>
              </a:rPr>
              <a:t>1. Choose a context</a:t>
            </a:r>
          </a:p>
        </p:txBody>
      </p:sp>
      <p:sp>
        <p:nvSpPr>
          <p:cNvPr id="7" name="text-95">
            <a:extLst xmlns:a="http://schemas.openxmlformats.org/drawingml/2006/main">
              <a:ext uri="{FF2B5EF4-FFF2-40B4-BE49-F238E27FC236}">
                <a16:creationId xmlns:a16="http://schemas.microsoft.com/office/drawing/2014/main" id="{C57E2213-82E5-48F1-A6F6-44758B4C02C6}"/>
              </a:ext>
            </a:extLst>
          </p:cNvPr>
          <p:cNvSpPr>
            <a:spLocks xmlns:a="http://schemas.openxmlformats.org/drawingml/2006/main" noGrp="1"/>
          </p:cNvSpPr>
          <p:nvPr/>
        </p:nvSpPr>
        <p:spPr>
          <a:xfrm xmlns:a="http://schemas.openxmlformats.org/drawingml/2006/main">
            <a:off x="965200" y="3721100"/>
            <a:ext cx="3213100" cy="1117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00" b="0">
                <a:solidFill>
                  <a:srgbClr val="0B2033"/>
                </a:solidFill>
                <a:latin typeface="Arial"/>
                <a:ea typeface="Arial"/>
                <a:cs typeface="Arial"/>
              </a:defRPr>
            </a:pPr>
            <a:r>
              <a:rPr sz="2300" b="0">
                <a:solidFill>
                  <a:srgbClr val="0B2033"/>
                </a:solidFill>
                <a:latin typeface="Arial"/>
                <a:ea typeface="Arial"/>
                <a:cs typeface="Arial"/>
              </a:rPr>
              <a:t>Select input i and</a:t>
            </a:r>
          </a:p>
          <a:p xmlns:a="http://schemas.openxmlformats.org/drawingml/2006/main">
            <a:pPr algn="l">
              <a:defRPr sz="2300" b="0">
                <a:solidFill>
                  <a:srgbClr val="0B2033"/>
                </a:solidFill>
                <a:latin typeface="Arial"/>
                <a:ea typeface="Arial"/>
                <a:cs typeface="Arial"/>
              </a:defRPr>
            </a:pPr>
            <a:r>
              <a:rPr sz="2300" b="0">
                <a:solidFill>
                  <a:srgbClr val="0B2033"/>
                </a:solidFill>
                <a:latin typeface="Arial"/>
                <a:ea typeface="Arial"/>
                <a:cs typeface="Arial"/>
              </a:rPr>
              <a:t>other inputs S</a:t>
            </a:r>
          </a:p>
        </p:txBody>
      </p:sp>
      <p:sp>
        <p:nvSpPr>
          <p:cNvPr id="8" name="stage-96">
            <a:extLst xmlns:a="http://schemas.openxmlformats.org/drawingml/2006/main">
              <a:ext uri="{FF2B5EF4-FFF2-40B4-BE49-F238E27FC236}">
                <a16:creationId xmlns:a16="http://schemas.microsoft.com/office/drawing/2014/main" id="{F2317F57-D3DE-4D0E-9D4A-03ECFDE764BB}"/>
              </a:ext>
            </a:extLst>
          </p:cNvPr>
          <p:cNvSpPr>
            <a:spLocks xmlns:a="http://schemas.openxmlformats.org/drawingml/2006/main" noGrp="1"/>
          </p:cNvSpPr>
          <p:nvPr/>
        </p:nvSpPr>
        <p:spPr>
          <a:xfrm xmlns:a="http://schemas.openxmlformats.org/drawingml/2006/main">
            <a:off x="5562600" y="2984500"/>
            <a:ext cx="4127500" cy="1993900"/>
          </a:xfrm>
          <a:prstGeom xmlns:a="http://schemas.openxmlformats.org/drawingml/2006/main" prst="rect">
            <a:avLst/>
          </a:prstGeom>
          <a:solidFill xmlns:a="http://schemas.openxmlformats.org/drawingml/2006/main">
            <a:srgbClr val="E0F0EB"/>
          </a:solidFill>
          <a:ln xmlns:a="http://schemas.openxmlformats.org/drawingml/2006/main" w="16510">
            <a:solidFill>
              <a:srgbClr val="0C7C78"/>
            </a:solidFill>
          </a:ln>
        </p:spPr>
      </p:sp>
      <p:sp>
        <p:nvSpPr>
          <p:cNvPr id="9" name="text-97">
            <a:extLst xmlns:a="http://schemas.openxmlformats.org/drawingml/2006/main">
              <a:ext uri="{FF2B5EF4-FFF2-40B4-BE49-F238E27FC236}">
                <a16:creationId xmlns:a16="http://schemas.microsoft.com/office/drawing/2014/main" id="{215410BD-2A5E-40BF-A42D-8A8F749E3F0B}"/>
              </a:ext>
            </a:extLst>
          </p:cNvPr>
          <p:cNvSpPr>
            <a:spLocks xmlns:a="http://schemas.openxmlformats.org/drawingml/2006/main" noGrp="1"/>
          </p:cNvSpPr>
          <p:nvPr/>
        </p:nvSpPr>
        <p:spPr>
          <a:xfrm xmlns:a="http://schemas.openxmlformats.org/drawingml/2006/main">
            <a:off x="5765800" y="3136900"/>
            <a:ext cx="37211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00" b="1">
                <a:solidFill>
                  <a:srgbClr val="0C7C78"/>
                </a:solidFill>
                <a:latin typeface="Arial"/>
                <a:ea typeface="Arial"/>
                <a:cs typeface="Arial"/>
              </a:defRPr>
            </a:pPr>
            <a:r>
              <a:rPr sz="2500" b="1">
                <a:solidFill>
                  <a:srgbClr val="0C7C78"/>
                </a:solidFill>
                <a:latin typeface="Arial"/>
                <a:ea typeface="Arial"/>
                <a:cs typeface="Arial"/>
              </a:rPr>
              <a:t>2. Test the addition</a:t>
            </a:r>
          </a:p>
        </p:txBody>
      </p:sp>
      <p:sp>
        <p:nvSpPr>
          <p:cNvPr id="10" name="text-98">
            <a:extLst xmlns:a="http://schemas.openxmlformats.org/drawingml/2006/main">
              <a:ext uri="{FF2B5EF4-FFF2-40B4-BE49-F238E27FC236}">
                <a16:creationId xmlns:a16="http://schemas.microsoft.com/office/drawing/2014/main" id="{E9079FC0-888D-4D68-AC7A-A61AD7459AB5}"/>
              </a:ext>
            </a:extLst>
          </p:cNvPr>
          <p:cNvSpPr>
            <a:spLocks xmlns:a="http://schemas.openxmlformats.org/drawingml/2006/main" noGrp="1"/>
          </p:cNvSpPr>
          <p:nvPr/>
        </p:nvSpPr>
        <p:spPr>
          <a:xfrm xmlns:a="http://schemas.openxmlformats.org/drawingml/2006/main">
            <a:off x="5765800" y="3721100"/>
            <a:ext cx="3721100" cy="1117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00" b="0">
                <a:solidFill>
                  <a:srgbClr val="0B2033"/>
                </a:solidFill>
                <a:latin typeface="Arial"/>
                <a:ea typeface="Arial"/>
                <a:cs typeface="Arial"/>
              </a:defRPr>
            </a:pPr>
            <a:r>
              <a:rPr sz="2300" b="0">
                <a:solidFill>
                  <a:srgbClr val="0B2033"/>
                </a:solidFill>
                <a:latin typeface="Arial"/>
                <a:ea typeface="Arial"/>
                <a:cs typeface="Arial"/>
              </a:rPr>
              <a:t>Train on S and on S+i.</a:t>
            </a:r>
          </a:p>
          <a:p xmlns:a="http://schemas.openxmlformats.org/drawingml/2006/main">
            <a:pPr algn="l">
              <a:defRPr sz="2300" b="0">
                <a:solidFill>
                  <a:srgbClr val="0B2033"/>
                </a:solidFill>
                <a:latin typeface="Arial"/>
                <a:ea typeface="Arial"/>
                <a:cs typeface="Arial"/>
              </a:defRPr>
            </a:pPr>
            <a:r>
              <a:rPr sz="2300" b="0">
                <a:solidFill>
                  <a:srgbClr val="0B2033"/>
                </a:solidFill>
                <a:latin typeface="Arial"/>
                <a:ea typeface="Arial"/>
                <a:cs typeface="Arial"/>
              </a:rPr>
              <a:t>Compare validation scores.</a:t>
            </a:r>
          </a:p>
        </p:txBody>
      </p:sp>
      <p:sp>
        <p:nvSpPr>
          <p:cNvPr id="11" name="stage-99">
            <a:extLst xmlns:a="http://schemas.openxmlformats.org/drawingml/2006/main">
              <a:ext uri="{FF2B5EF4-FFF2-40B4-BE49-F238E27FC236}">
                <a16:creationId xmlns:a16="http://schemas.microsoft.com/office/drawing/2014/main" id="{9E8804CD-FD2D-4C19-AA1F-B56052031AEB}"/>
              </a:ext>
            </a:extLst>
          </p:cNvPr>
          <p:cNvSpPr>
            <a:spLocks xmlns:a="http://schemas.openxmlformats.org/drawingml/2006/main" noGrp="1"/>
          </p:cNvSpPr>
          <p:nvPr/>
        </p:nvSpPr>
        <p:spPr>
          <a:xfrm xmlns:a="http://schemas.openxmlformats.org/drawingml/2006/main">
            <a:off x="10858500" y="2984500"/>
            <a:ext cx="3619500" cy="1993900"/>
          </a:xfrm>
          <a:prstGeom xmlns:a="http://schemas.openxmlformats.org/drawingml/2006/main" prst="rect">
            <a:avLst/>
          </a:prstGeom>
          <a:solidFill xmlns:a="http://schemas.openxmlformats.org/drawingml/2006/main">
            <a:srgbClr val="F6F3EB"/>
          </a:solidFill>
          <a:ln xmlns:a="http://schemas.openxmlformats.org/drawingml/2006/main" w="16510">
            <a:solidFill>
              <a:srgbClr val="526675"/>
            </a:solidFill>
          </a:ln>
        </p:spPr>
      </p:sp>
      <p:sp>
        <p:nvSpPr>
          <p:cNvPr id="12" name="text-100">
            <a:extLst xmlns:a="http://schemas.openxmlformats.org/drawingml/2006/main">
              <a:ext uri="{FF2B5EF4-FFF2-40B4-BE49-F238E27FC236}">
                <a16:creationId xmlns:a16="http://schemas.microsoft.com/office/drawing/2014/main" id="{C9B34AC6-D16B-41F6-9054-8991B3E895E0}"/>
              </a:ext>
            </a:extLst>
          </p:cNvPr>
          <p:cNvSpPr>
            <a:spLocks xmlns:a="http://schemas.openxmlformats.org/drawingml/2006/main" noGrp="1"/>
          </p:cNvSpPr>
          <p:nvPr/>
        </p:nvSpPr>
        <p:spPr>
          <a:xfrm xmlns:a="http://schemas.openxmlformats.org/drawingml/2006/main">
            <a:off x="11061700" y="3136900"/>
            <a:ext cx="32131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00" b="1">
                <a:solidFill>
                  <a:srgbClr val="0B2033"/>
                </a:solidFill>
                <a:latin typeface="Arial"/>
                <a:ea typeface="Arial"/>
                <a:cs typeface="Arial"/>
              </a:defRPr>
            </a:pPr>
            <a:r>
              <a:rPr sz="2500" b="1">
                <a:solidFill>
                  <a:srgbClr val="0B2033"/>
                </a:solidFill>
                <a:latin typeface="Arial"/>
                <a:ea typeface="Arial"/>
                <a:cs typeface="Arial"/>
              </a:rPr>
              <a:t>3. Record failures</a:t>
            </a:r>
          </a:p>
        </p:txBody>
      </p:sp>
      <p:sp>
        <p:nvSpPr>
          <p:cNvPr id="13" name="text-101">
            <a:extLst xmlns:a="http://schemas.openxmlformats.org/drawingml/2006/main">
              <a:ext uri="{FF2B5EF4-FFF2-40B4-BE49-F238E27FC236}">
                <a16:creationId xmlns:a16="http://schemas.microsoft.com/office/drawing/2014/main" id="{D5F0C2C6-25CF-4480-A3CB-ECAC90B270AD}"/>
              </a:ext>
            </a:extLst>
          </p:cNvPr>
          <p:cNvSpPr>
            <a:spLocks xmlns:a="http://schemas.openxmlformats.org/drawingml/2006/main" noGrp="1"/>
          </p:cNvSpPr>
          <p:nvPr/>
        </p:nvSpPr>
        <p:spPr>
          <a:xfrm xmlns:a="http://schemas.openxmlformats.org/drawingml/2006/main">
            <a:off x="11061700" y="3721100"/>
            <a:ext cx="3213100" cy="1117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00" b="0">
                <a:solidFill>
                  <a:srgbClr val="0B2033"/>
                </a:solidFill>
                <a:latin typeface="Arial"/>
                <a:ea typeface="Arial"/>
                <a:cs typeface="Arial"/>
              </a:defRPr>
            </a:pPr>
            <a:r>
              <a:rPr sz="2300" b="0">
                <a:solidFill>
                  <a:srgbClr val="0B2033"/>
                </a:solidFill>
                <a:latin typeface="Arial"/>
                <a:ea typeface="Arial"/>
                <a:cs typeface="Arial"/>
              </a:rPr>
              <a:t>Save only pass-to-fail:</a:t>
            </a:r>
          </a:p>
          <a:p xmlns:a="http://schemas.openxmlformats.org/drawingml/2006/main">
            <a:pPr algn="l">
              <a:defRPr sz="2300" b="0">
                <a:solidFill>
                  <a:srgbClr val="0B2033"/>
                </a:solidFill>
                <a:latin typeface="Arial"/>
                <a:ea typeface="Arial"/>
                <a:cs typeface="Arial"/>
              </a:defRPr>
            </a:pPr>
            <a:r>
              <a:rPr sz="2300" b="0">
                <a:solidFill>
                  <a:srgbClr val="0B2033"/>
                </a:solidFill>
                <a:latin typeface="Arial"/>
                <a:ea typeface="Arial"/>
                <a:cs typeface="Arial"/>
              </a:rPr>
              <a:t>i, S, scores and threshold.</a:t>
            </a:r>
          </a:p>
        </p:txBody>
      </p:sp>
      <p:cxnSp>
        <p:nvCxnSpPr>
          <p:cNvPr id="44" name=""/>
          <p:cNvCxnSpPr>
            <a:stCxn xmlns:a="http://schemas.openxmlformats.org/drawingml/2006/main" id="5" idx="3"/>
            <a:endCxn xmlns:a="http://schemas.openxmlformats.org/drawingml/2006/main" id="8" idx="1"/>
          </p:cNvCxnSpPr>
          <p:nvPr/>
        </p:nvCxnSpPr>
        <p:spPr>
          <a:xfrm xmlns:a="http://schemas.openxmlformats.org/drawingml/2006/main">
            <a:off x="4381500" y="3981450"/>
            <a:ext cx="1181100" cy="0"/>
          </a:xfrm>
          <a:prstGeom xmlns:a="http://schemas.openxmlformats.org/drawingml/2006/main" prst="straightConnector1">
            <a:avLst/>
          </a:prstGeom>
          <a:ln xmlns:a="http://schemas.openxmlformats.org/drawingml/2006/main" w="25400">
            <a:solidFill>
              <a:srgbClr val="0C7C78"/>
            </a:solidFill>
            <a:tailEnd type="triangle" w="med" len="med"/>
          </a:ln>
        </p:spPr>
      </p:cxnSp>
      <p:cxnSp>
        <p:nvCxnSpPr>
          <p:cNvPr id="45" name=""/>
          <p:cNvCxnSpPr>
            <a:stCxn xmlns:a="http://schemas.openxmlformats.org/drawingml/2006/main" id="8" idx="3"/>
            <a:endCxn xmlns:a="http://schemas.openxmlformats.org/drawingml/2006/main" id="11" idx="1"/>
          </p:cNvCxnSpPr>
          <p:nvPr/>
        </p:nvCxnSpPr>
        <p:spPr>
          <a:xfrm xmlns:a="http://schemas.openxmlformats.org/drawingml/2006/main">
            <a:off x="9690100" y="3981450"/>
            <a:ext cx="1168400" cy="0"/>
          </a:xfrm>
          <a:prstGeom xmlns:a="http://schemas.openxmlformats.org/drawingml/2006/main" prst="straightConnector1">
            <a:avLst/>
          </a:prstGeom>
          <a:ln xmlns:a="http://schemas.openxmlformats.org/drawingml/2006/main" w="25400">
            <a:solidFill>
              <a:srgbClr val="0C7C78"/>
            </a:solidFill>
            <a:tailEnd type="triangle" w="med" len="med"/>
          </a:ln>
        </p:spPr>
      </p:cxnSp>
      <p:sp>
        <p:nvSpPr>
          <p:cNvPr id="16" name="text-102">
            <a:extLst xmlns:a="http://schemas.openxmlformats.org/drawingml/2006/main">
              <a:ext uri="{FF2B5EF4-FFF2-40B4-BE49-F238E27FC236}">
                <a16:creationId xmlns:a16="http://schemas.microsoft.com/office/drawing/2014/main" id="{BD4F9E94-F8B8-4FE1-8FD0-017655B3F976}"/>
              </a:ext>
            </a:extLst>
          </p:cNvPr>
          <p:cNvSpPr>
            <a:spLocks xmlns:a="http://schemas.openxmlformats.org/drawingml/2006/main" noGrp="1"/>
          </p:cNvSpPr>
          <p:nvPr/>
        </p:nvSpPr>
        <p:spPr>
          <a:xfrm xmlns:a="http://schemas.openxmlformats.org/drawingml/2006/main">
            <a:off x="762000" y="2628900"/>
            <a:ext cx="13716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00" b="1">
                <a:solidFill>
                  <a:srgbClr val="0C7C78"/>
                </a:solidFill>
                <a:latin typeface="Arial"/>
                <a:ea typeface="Arial"/>
                <a:cs typeface="Arial"/>
              </a:defRPr>
            </a:pPr>
            <a:r>
              <a:rPr sz="1700" b="1">
                <a:solidFill>
                  <a:srgbClr val="0C7C78"/>
                </a:solidFill>
                <a:latin typeface="Arial"/>
                <a:ea typeface="Arial"/>
                <a:cs typeface="Arial"/>
              </a:rPr>
              <a:t>FEATURE AUDIT</a:t>
            </a:r>
          </a:p>
        </p:txBody>
      </p:sp>
      <p:sp>
        <p:nvSpPr>
          <p:cNvPr id="17" name="stage-103">
            <a:extLst xmlns:a="http://schemas.openxmlformats.org/drawingml/2006/main">
              <a:ext uri="{FF2B5EF4-FFF2-40B4-BE49-F238E27FC236}">
                <a16:creationId xmlns:a16="http://schemas.microsoft.com/office/drawing/2014/main" id="{3EE457FE-E9E3-4931-BA40-A4644DCE438D}"/>
              </a:ext>
            </a:extLst>
          </p:cNvPr>
          <p:cNvSpPr>
            <a:spLocks xmlns:a="http://schemas.openxmlformats.org/drawingml/2006/main" noGrp="1"/>
          </p:cNvSpPr>
          <p:nvPr/>
        </p:nvSpPr>
        <p:spPr>
          <a:xfrm xmlns:a="http://schemas.openxmlformats.org/drawingml/2006/main">
            <a:off x="10858500" y="6070600"/>
            <a:ext cx="3619500" cy="1460500"/>
          </a:xfrm>
          <a:prstGeom xmlns:a="http://schemas.openxmlformats.org/drawingml/2006/main" prst="rect">
            <a:avLst/>
          </a:prstGeom>
          <a:solidFill xmlns:a="http://schemas.openxmlformats.org/drawingml/2006/main">
            <a:srgbClr val="F6F3EB"/>
          </a:solidFill>
          <a:ln xmlns:a="http://schemas.openxmlformats.org/drawingml/2006/main" w="16510">
            <a:solidFill>
              <a:srgbClr val="526675"/>
            </a:solidFill>
          </a:ln>
        </p:spPr>
      </p:sp>
      <p:sp>
        <p:nvSpPr>
          <p:cNvPr id="18" name="text-104">
            <a:extLst xmlns:a="http://schemas.openxmlformats.org/drawingml/2006/main">
              <a:ext uri="{FF2B5EF4-FFF2-40B4-BE49-F238E27FC236}">
                <a16:creationId xmlns:a16="http://schemas.microsoft.com/office/drawing/2014/main" id="{31C160B5-47B4-4BFA-813B-C1CB0531D91C}"/>
              </a:ext>
            </a:extLst>
          </p:cNvPr>
          <p:cNvSpPr>
            <a:spLocks xmlns:a="http://schemas.openxmlformats.org/drawingml/2006/main" noGrp="1"/>
          </p:cNvSpPr>
          <p:nvPr/>
        </p:nvSpPr>
        <p:spPr>
          <a:xfrm xmlns:a="http://schemas.openxmlformats.org/drawingml/2006/main">
            <a:off x="11061700" y="6223000"/>
            <a:ext cx="32131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00" b="1">
                <a:solidFill>
                  <a:srgbClr val="0B2033"/>
                </a:solidFill>
                <a:latin typeface="Arial"/>
                <a:ea typeface="Arial"/>
                <a:cs typeface="Arial"/>
              </a:defRPr>
            </a:pPr>
            <a:r>
              <a:rPr sz="2500" b="1">
                <a:solidFill>
                  <a:srgbClr val="0B2033"/>
                </a:solidFill>
                <a:latin typeface="Arial"/>
                <a:ea typeface="Arial"/>
                <a:cs typeface="Arial"/>
              </a:rPr>
              <a:t>4. Propose removal</a:t>
            </a:r>
          </a:p>
        </p:txBody>
      </p:sp>
      <p:sp>
        <p:nvSpPr>
          <p:cNvPr id="19" name="text-105">
            <a:extLst xmlns:a="http://schemas.openxmlformats.org/drawingml/2006/main">
              <a:ext uri="{FF2B5EF4-FFF2-40B4-BE49-F238E27FC236}">
                <a16:creationId xmlns:a16="http://schemas.microsoft.com/office/drawing/2014/main" id="{2575FF4B-86CB-4F8D-9DDE-3B4C8C89216C}"/>
              </a:ext>
            </a:extLst>
          </p:cNvPr>
          <p:cNvSpPr>
            <a:spLocks xmlns:a="http://schemas.openxmlformats.org/drawingml/2006/main" noGrp="1"/>
          </p:cNvSpPr>
          <p:nvPr/>
        </p:nvSpPr>
        <p:spPr>
          <a:xfrm xmlns:a="http://schemas.openxmlformats.org/drawingml/2006/main">
            <a:off x="11061700" y="6807200"/>
            <a:ext cx="321310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00" b="0">
                <a:solidFill>
                  <a:srgbClr val="0B2033"/>
                </a:solidFill>
                <a:latin typeface="Arial"/>
                <a:ea typeface="Arial"/>
                <a:cs typeface="Arial"/>
              </a:defRPr>
            </a:pPr>
            <a:r>
              <a:rPr sz="2200" b="0">
                <a:solidFill>
                  <a:srgbClr val="0B2033"/>
                </a:solidFill>
                <a:latin typeface="Arial"/>
                <a:ea typeface="Arial"/>
                <a:cs typeface="Arial"/>
              </a:rPr>
              <a:t>Choose one candidate.</a:t>
            </a:r>
          </a:p>
        </p:txBody>
      </p:sp>
      <p:sp>
        <p:nvSpPr>
          <p:cNvPr id="20" name="stage-106">
            <a:extLst xmlns:a="http://schemas.openxmlformats.org/drawingml/2006/main">
              <a:ext uri="{FF2B5EF4-FFF2-40B4-BE49-F238E27FC236}">
                <a16:creationId xmlns:a16="http://schemas.microsoft.com/office/drawing/2014/main" id="{6DD48A8D-0E0E-4827-B9AD-858AFA37E09A}"/>
              </a:ext>
            </a:extLst>
          </p:cNvPr>
          <p:cNvSpPr>
            <a:spLocks xmlns:a="http://schemas.openxmlformats.org/drawingml/2006/main" noGrp="1"/>
          </p:cNvSpPr>
          <p:nvPr/>
        </p:nvSpPr>
        <p:spPr>
          <a:xfrm xmlns:a="http://schemas.openxmlformats.org/drawingml/2006/main">
            <a:off x="5562600" y="6070600"/>
            <a:ext cx="4127500" cy="1460500"/>
          </a:xfrm>
          <a:prstGeom xmlns:a="http://schemas.openxmlformats.org/drawingml/2006/main" prst="rect">
            <a:avLst/>
          </a:prstGeom>
          <a:solidFill xmlns:a="http://schemas.openxmlformats.org/drawingml/2006/main">
            <a:srgbClr val="F6F3EB"/>
          </a:solidFill>
          <a:ln xmlns:a="http://schemas.openxmlformats.org/drawingml/2006/main" w="16510">
            <a:solidFill>
              <a:srgbClr val="526675"/>
            </a:solidFill>
          </a:ln>
        </p:spPr>
      </p:sp>
      <p:sp>
        <p:nvSpPr>
          <p:cNvPr id="21" name="text-107">
            <a:extLst xmlns:a="http://schemas.openxmlformats.org/drawingml/2006/main">
              <a:ext uri="{FF2B5EF4-FFF2-40B4-BE49-F238E27FC236}">
                <a16:creationId xmlns:a16="http://schemas.microsoft.com/office/drawing/2014/main" id="{D7DD622D-830E-4C25-AD12-6A52D43B1DE3}"/>
              </a:ext>
            </a:extLst>
          </p:cNvPr>
          <p:cNvSpPr>
            <a:spLocks xmlns:a="http://schemas.openxmlformats.org/drawingml/2006/main" noGrp="1"/>
          </p:cNvSpPr>
          <p:nvPr/>
        </p:nvSpPr>
        <p:spPr>
          <a:xfrm xmlns:a="http://schemas.openxmlformats.org/drawingml/2006/main">
            <a:off x="5765800" y="6223000"/>
            <a:ext cx="37211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00" b="1">
                <a:solidFill>
                  <a:srgbClr val="0B2033"/>
                </a:solidFill>
                <a:latin typeface="Arial"/>
                <a:ea typeface="Arial"/>
                <a:cs typeface="Arial"/>
              </a:defRPr>
            </a:pPr>
            <a:r>
              <a:rPr sz="2500" b="1">
                <a:solidFill>
                  <a:srgbClr val="0B2033"/>
                </a:solidFill>
                <a:latin typeface="Arial"/>
                <a:ea typeface="Arial"/>
                <a:cs typeface="Arial"/>
              </a:rPr>
              <a:t>5. Independent check</a:t>
            </a:r>
          </a:p>
        </p:txBody>
      </p:sp>
      <p:sp>
        <p:nvSpPr>
          <p:cNvPr id="22" name="text-108">
            <a:extLst xmlns:a="http://schemas.openxmlformats.org/drawingml/2006/main">
              <a:ext uri="{FF2B5EF4-FFF2-40B4-BE49-F238E27FC236}">
                <a16:creationId xmlns:a16="http://schemas.microsoft.com/office/drawing/2014/main" id="{25D7C96A-A26A-4C31-BEEB-C203C9059272}"/>
              </a:ext>
            </a:extLst>
          </p:cNvPr>
          <p:cNvSpPr>
            <a:spLocks xmlns:a="http://schemas.openxmlformats.org/drawingml/2006/main" noGrp="1"/>
          </p:cNvSpPr>
          <p:nvPr/>
        </p:nvSpPr>
        <p:spPr>
          <a:xfrm xmlns:a="http://schemas.openxmlformats.org/drawingml/2006/main">
            <a:off x="5765800" y="6807200"/>
            <a:ext cx="372110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00" b="0">
                <a:solidFill>
                  <a:srgbClr val="0B2033"/>
                </a:solidFill>
                <a:latin typeface="Arial"/>
                <a:ea typeface="Arial"/>
                <a:cs typeface="Arial"/>
              </a:defRPr>
            </a:pPr>
            <a:r>
              <a:rPr sz="2200" b="0">
                <a:solidFill>
                  <a:srgbClr val="0B2033"/>
                </a:solidFill>
                <a:latin typeface="Arial"/>
                <a:ea typeface="Arial"/>
                <a:cs typeface="Arial"/>
              </a:rPr>
              <a:t>Accept it or keep all inputs.</a:t>
            </a:r>
          </a:p>
        </p:txBody>
      </p:sp>
      <p:sp>
        <p:nvSpPr>
          <p:cNvPr id="23" name="stage-109">
            <a:extLst xmlns:a="http://schemas.openxmlformats.org/drawingml/2006/main">
              <a:ext uri="{FF2B5EF4-FFF2-40B4-BE49-F238E27FC236}">
                <a16:creationId xmlns:a16="http://schemas.microsoft.com/office/drawing/2014/main" id="{3F400A9A-F268-4629-8DA9-B11CEFE5FBF1}"/>
              </a:ext>
            </a:extLst>
          </p:cNvPr>
          <p:cNvSpPr>
            <a:spLocks xmlns:a="http://schemas.openxmlformats.org/drawingml/2006/main" noGrp="1"/>
          </p:cNvSpPr>
          <p:nvPr/>
        </p:nvSpPr>
        <p:spPr>
          <a:xfrm xmlns:a="http://schemas.openxmlformats.org/drawingml/2006/main">
            <a:off x="762000" y="6070600"/>
            <a:ext cx="3619500" cy="1460500"/>
          </a:xfrm>
          <a:prstGeom xmlns:a="http://schemas.openxmlformats.org/drawingml/2006/main" prst="rect">
            <a:avLst/>
          </a:prstGeom>
          <a:solidFill xmlns:a="http://schemas.openxmlformats.org/drawingml/2006/main">
            <a:srgbClr val="F6F3EB"/>
          </a:solidFill>
          <a:ln xmlns:a="http://schemas.openxmlformats.org/drawingml/2006/main" w="16510">
            <a:solidFill>
              <a:srgbClr val="526675"/>
            </a:solidFill>
          </a:ln>
        </p:spPr>
      </p:sp>
      <p:sp>
        <p:nvSpPr>
          <p:cNvPr id="24" name="text-110">
            <a:extLst xmlns:a="http://schemas.openxmlformats.org/drawingml/2006/main">
              <a:ext uri="{FF2B5EF4-FFF2-40B4-BE49-F238E27FC236}">
                <a16:creationId xmlns:a16="http://schemas.microsoft.com/office/drawing/2014/main" id="{ADFF873F-4D1D-4569-8B7F-14282105195A}"/>
              </a:ext>
            </a:extLst>
          </p:cNvPr>
          <p:cNvSpPr>
            <a:spLocks xmlns:a="http://schemas.openxmlformats.org/drawingml/2006/main" noGrp="1"/>
          </p:cNvSpPr>
          <p:nvPr/>
        </p:nvSpPr>
        <p:spPr>
          <a:xfrm xmlns:a="http://schemas.openxmlformats.org/drawingml/2006/main">
            <a:off x="965200" y="6223000"/>
            <a:ext cx="32131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00" b="1">
                <a:solidFill>
                  <a:srgbClr val="0B2033"/>
                </a:solidFill>
                <a:latin typeface="Arial"/>
                <a:ea typeface="Arial"/>
                <a:cs typeface="Arial"/>
              </a:defRPr>
            </a:pPr>
            <a:r>
              <a:rPr sz="2500" b="1">
                <a:solidFill>
                  <a:srgbClr val="0B2033"/>
                </a:solidFill>
                <a:latin typeface="Arial"/>
                <a:ea typeface="Arial"/>
                <a:cs typeface="Arial"/>
              </a:rPr>
              <a:t>6. Held-out test</a:t>
            </a:r>
          </a:p>
        </p:txBody>
      </p:sp>
      <p:sp>
        <p:nvSpPr>
          <p:cNvPr id="25" name="text-111">
            <a:extLst xmlns:a="http://schemas.openxmlformats.org/drawingml/2006/main">
              <a:ext uri="{FF2B5EF4-FFF2-40B4-BE49-F238E27FC236}">
                <a16:creationId xmlns:a16="http://schemas.microsoft.com/office/drawing/2014/main" id="{C64A7578-E969-4576-B153-3B5D74A1EF31}"/>
              </a:ext>
            </a:extLst>
          </p:cNvPr>
          <p:cNvSpPr>
            <a:spLocks xmlns:a="http://schemas.openxmlformats.org/drawingml/2006/main" noGrp="1"/>
          </p:cNvSpPr>
          <p:nvPr/>
        </p:nvSpPr>
        <p:spPr>
          <a:xfrm xmlns:a="http://schemas.openxmlformats.org/drawingml/2006/main">
            <a:off x="965200" y="6807200"/>
            <a:ext cx="321310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00" b="0">
                <a:solidFill>
                  <a:srgbClr val="0B2033"/>
                </a:solidFill>
                <a:latin typeface="Arial"/>
                <a:ea typeface="Arial"/>
                <a:cs typeface="Arial"/>
              </a:defRPr>
            </a:pPr>
            <a:r>
              <a:rPr sz="2200" b="0">
                <a:solidFill>
                  <a:srgbClr val="0B2033"/>
                </a:solidFill>
                <a:latin typeface="Arial"/>
                <a:ea typeface="Arial"/>
                <a:cs typeface="Arial"/>
              </a:rPr>
              <a:t>Measure size, loss and cost.</a:t>
            </a:r>
          </a:p>
        </p:txBody>
      </p:sp>
      <p:cxnSp>
        <p:nvCxnSpPr>
          <p:cNvPr id="56" name=""/>
          <p:cNvCxnSpPr>
            <a:stCxn xmlns:a="http://schemas.openxmlformats.org/drawingml/2006/main" id="11" idx="2"/>
            <a:endCxn xmlns:a="http://schemas.openxmlformats.org/drawingml/2006/main" id="17" idx="0"/>
          </p:cNvCxnSpPr>
          <p:nvPr/>
        </p:nvCxnSpPr>
        <p:spPr>
          <a:xfrm xmlns:a="http://schemas.openxmlformats.org/drawingml/2006/main">
            <a:off x="12668250" y="4978400"/>
            <a:ext cx="0" cy="1092200"/>
          </a:xfrm>
          <a:prstGeom xmlns:a="http://schemas.openxmlformats.org/drawingml/2006/main" prst="straightConnector1">
            <a:avLst/>
          </a:prstGeom>
          <a:ln xmlns:a="http://schemas.openxmlformats.org/drawingml/2006/main" w="25400">
            <a:solidFill>
              <a:srgbClr val="0C7C78"/>
            </a:solidFill>
            <a:tailEnd type="triangle" w="med" len="med"/>
          </a:ln>
        </p:spPr>
      </p:cxnSp>
      <p:cxnSp>
        <p:nvCxnSpPr>
          <p:cNvPr id="57" name=""/>
          <p:cNvCxnSpPr>
            <a:stCxn xmlns:a="http://schemas.openxmlformats.org/drawingml/2006/main" id="17" idx="1"/>
            <a:endCxn xmlns:a="http://schemas.openxmlformats.org/drawingml/2006/main" id="20" idx="3"/>
          </p:cNvCxnSpPr>
          <p:nvPr/>
        </p:nvCxnSpPr>
        <p:spPr>
          <a:xfrm xmlns:a="http://schemas.openxmlformats.org/drawingml/2006/main" flipH="1">
            <a:off x="9690100" y="6800850"/>
            <a:ext cx="1168400" cy="0"/>
          </a:xfrm>
          <a:prstGeom xmlns:a="http://schemas.openxmlformats.org/drawingml/2006/main" prst="straightConnector1">
            <a:avLst/>
          </a:prstGeom>
          <a:ln xmlns:a="http://schemas.openxmlformats.org/drawingml/2006/main" w="25400">
            <a:solidFill>
              <a:srgbClr val="0C7C78"/>
            </a:solidFill>
            <a:tailEnd type="triangle" w="med" len="med"/>
          </a:ln>
        </p:spPr>
      </p:cxnSp>
      <p:cxnSp>
        <p:nvCxnSpPr>
          <p:cNvPr id="58" name=""/>
          <p:cNvCxnSpPr>
            <a:stCxn xmlns:a="http://schemas.openxmlformats.org/drawingml/2006/main" id="20" idx="1"/>
            <a:endCxn xmlns:a="http://schemas.openxmlformats.org/drawingml/2006/main" id="23" idx="3"/>
          </p:cNvCxnSpPr>
          <p:nvPr/>
        </p:nvCxnSpPr>
        <p:spPr>
          <a:xfrm xmlns:a="http://schemas.openxmlformats.org/drawingml/2006/main" flipH="1">
            <a:off x="4381500" y="6800850"/>
            <a:ext cx="1181100" cy="0"/>
          </a:xfrm>
          <a:prstGeom xmlns:a="http://schemas.openxmlformats.org/drawingml/2006/main" prst="straightConnector1">
            <a:avLst/>
          </a:prstGeom>
          <a:ln xmlns:a="http://schemas.openxmlformats.org/drawingml/2006/main" w="25400">
            <a:solidFill>
              <a:srgbClr val="0C7C78"/>
            </a:solidFill>
            <a:tailEnd type="triangle" w="med" len="med"/>
          </a:ln>
        </p:spPr>
      </p:cxnSp>
      <p:sp>
        <p:nvSpPr>
          <p:cNvPr id="29" name="text-112">
            <a:extLst xmlns:a="http://schemas.openxmlformats.org/drawingml/2006/main">
              <a:ext uri="{FF2B5EF4-FFF2-40B4-BE49-F238E27FC236}">
                <a16:creationId xmlns:a16="http://schemas.microsoft.com/office/drawing/2014/main" id="{7D1E6327-A5D9-4AE8-8AE2-767A4FDA2BFD}"/>
              </a:ext>
            </a:extLst>
          </p:cNvPr>
          <p:cNvSpPr>
            <a:spLocks xmlns:a="http://schemas.openxmlformats.org/drawingml/2006/main" noGrp="1"/>
          </p:cNvSpPr>
          <p:nvPr/>
        </p:nvSpPr>
        <p:spPr>
          <a:xfrm xmlns:a="http://schemas.openxmlformats.org/drawingml/2006/main">
            <a:off x="762000" y="5130800"/>
            <a:ext cx="9144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526675"/>
                </a:solidFill>
                <a:latin typeface="Arial"/>
                <a:ea typeface="Arial"/>
                <a:cs typeface="Arial"/>
              </a:defRPr>
            </a:pPr>
            <a:r>
              <a:rPr sz="2100" b="0">
                <a:solidFill>
                  <a:srgbClr val="526675"/>
                </a:solidFill>
                <a:latin typeface="Arial"/>
                <a:ea typeface="Arial"/>
                <a:cs typeface="Arial"/>
              </a:rPr>
              <a:t>Repeat the audit within a fixed query budget.</a:t>
            </a:r>
          </a:p>
        </p:txBody>
      </p:sp>
      <p:sp>
        <p:nvSpPr>
          <p:cNvPr id="30" name="text-113">
            <a:extLst xmlns:a="http://schemas.openxmlformats.org/drawingml/2006/main">
              <a:ext uri="{FF2B5EF4-FFF2-40B4-BE49-F238E27FC236}">
                <a16:creationId xmlns:a16="http://schemas.microsoft.com/office/drawing/2014/main" id="{45950FAF-C4D1-4204-A245-1753B264C3B9}"/>
              </a:ext>
            </a:extLst>
          </p:cNvPr>
          <p:cNvSpPr>
            <a:spLocks xmlns:a="http://schemas.openxmlformats.org/drawingml/2006/main" noGrp="1"/>
          </p:cNvSpPr>
          <p:nvPr/>
        </p:nvSpPr>
        <p:spPr>
          <a:xfrm xmlns:a="http://schemas.openxmlformats.org/drawingml/2006/main">
            <a:off x="762000" y="5626100"/>
            <a:ext cx="863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00" b="1">
                <a:solidFill>
                  <a:srgbClr val="0C7C78"/>
                </a:solidFill>
                <a:latin typeface="Arial"/>
                <a:ea typeface="Arial"/>
                <a:cs typeface="Arial"/>
              </a:defRPr>
            </a:pPr>
            <a:r>
              <a:rPr sz="1700" b="1">
                <a:solidFill>
                  <a:srgbClr val="0C7C78"/>
                </a:solidFill>
                <a:latin typeface="Arial"/>
                <a:ea typeface="Arial"/>
                <a:cs typeface="Arial"/>
              </a:rPr>
              <a:t>PLANNED DELETION EVALUATION</a:t>
            </a:r>
          </a:p>
        </p:txBody>
      </p:sp>
    </p:spTree>
    <p:extLst>
      <p:ext uri="{BB962C8B-B14F-4D97-AF65-F5344CB8AC3E}">
        <p14:creationId xmlns:p14="http://schemas.microsoft.com/office/powerpoint/2010/main" val="408059350"/>
      </p:ext>
    </p:extLst>
  </p:cSld>
</p:sld>
</file>

<file path=ppt/slides/slide10.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8" name="text-114">
            <a:extLst xmlns:a="http://schemas.openxmlformats.org/drawingml/2006/main">
              <a:ext uri="{FF2B5EF4-FFF2-40B4-BE49-F238E27FC236}">
                <a16:creationId xmlns:a16="http://schemas.microsoft.com/office/drawing/2014/main" id="{BCDBADE8-DD0D-4EA8-B2EF-4F2DA0CDA7B6}"/>
              </a:ext>
            </a:extLst>
          </p:cNvPr>
          <p:cNvSpPr>
            <a:spLocks xmlns:a="http://schemas.openxmlformats.org/drawingml/2006/main" noGrp="1"/>
          </p:cNvSpPr>
          <p:nvPr/>
        </p:nvSpPr>
        <p:spPr>
          <a:xfrm xmlns:a="http://schemas.openxmlformats.org/drawingml/2006/main">
            <a:off x="762000" y="558800"/>
            <a:ext cx="13843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900" b="1">
                <a:solidFill>
                  <a:srgbClr val="0B2033"/>
                </a:solidFill>
                <a:latin typeface="Arial"/>
                <a:ea typeface="Arial"/>
                <a:cs typeface="Arial"/>
              </a:defRPr>
            </a:pPr>
            <a:r>
              <a:rPr sz="3900" b="1">
                <a:solidFill>
                  <a:srgbClr val="0B2033"/>
                </a:solidFill>
                <a:latin typeface="Arial"/>
                <a:ea typeface="Arial"/>
                <a:cs typeface="Arial"/>
              </a:rPr>
              <a:t>The theory behind MinPPI</a:t>
            </a:r>
          </a:p>
        </p:txBody>
      </p:sp>
      <p:sp>
        <p:nvSpPr>
          <p:cNvPr id="2" name="rule-115">
            <a:extLst xmlns:a="http://schemas.openxmlformats.org/drawingml/2006/main">
              <a:ext uri="{FF2B5EF4-FFF2-40B4-BE49-F238E27FC236}">
                <a16:creationId xmlns:a16="http://schemas.microsoft.com/office/drawing/2014/main" id="{42A5A3D2-1BD3-4112-9C02-688C42E97C43}"/>
              </a:ext>
            </a:extLst>
          </p:cNvPr>
          <p:cNvSpPr>
            <a:spLocks xmlns:a="http://schemas.openxmlformats.org/drawingml/2006/main" noGrp="1"/>
          </p:cNvSpPr>
          <p:nvPr/>
        </p:nvSpPr>
        <p:spPr>
          <a:xfrm xmlns:a="http://schemas.openxmlformats.org/drawingml/2006/main">
            <a:off x="762000" y="1701800"/>
            <a:ext cx="13716000" cy="0"/>
          </a:xfrm>
          <a:prstGeom xmlns:a="http://schemas.openxmlformats.org/drawingml/2006/main" prst="line">
            <a:avLst/>
          </a:prstGeom>
          <a:noFill xmlns:a="http://schemas.openxmlformats.org/drawingml/2006/main"/>
          <a:ln xmlns:a="http://schemas.openxmlformats.org/drawingml/2006/main" w="19050">
            <a:solidFill>
              <a:srgbClr val="0C7C78"/>
            </a:solidFill>
          </a:ln>
        </p:spPr>
      </p:sp>
      <p:sp>
        <p:nvSpPr>
          <p:cNvPr id="3" name="text-116">
            <a:extLst xmlns:a="http://schemas.openxmlformats.org/drawingml/2006/main">
              <a:ext uri="{FF2B5EF4-FFF2-40B4-BE49-F238E27FC236}">
                <a16:creationId xmlns:a16="http://schemas.microsoft.com/office/drawing/2014/main" id="{300F2281-33F4-4062-B7AB-8A29FB401C7A}"/>
              </a:ext>
            </a:extLst>
          </p:cNvPr>
          <p:cNvSpPr>
            <a:spLocks xmlns:a="http://schemas.openxmlformats.org/drawingml/2006/main" noGrp="1"/>
          </p:cNvSpPr>
          <p:nvPr/>
        </p:nvSpPr>
        <p:spPr>
          <a:xfrm xmlns:a="http://schemas.openxmlformats.org/drawingml/2006/main">
            <a:off x="14122400" y="80772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600" b="0">
                <a:solidFill>
                  <a:srgbClr val="526675"/>
                </a:solidFill>
                <a:latin typeface="Arial"/>
                <a:ea typeface="Arial"/>
                <a:cs typeface="Arial"/>
              </a:defRPr>
            </a:pPr>
            <a:r>
              <a:rPr sz="1600" b="0">
                <a:solidFill>
                  <a:srgbClr val="526675"/>
                </a:solidFill>
                <a:latin typeface="Arial"/>
                <a:ea typeface="Arial"/>
                <a:cs typeface="Arial"/>
              </a:rPr>
              <a:t>10</a:t>
            </a:r>
          </a:p>
        </p:txBody>
      </p:sp>
      <p:graphicFrame>
        <p:nvGraphicFramePr>
          <p:cNvPr id="11" name=""/>
          <p:cNvGraphicFramePr/>
          <p:nvPr/>
        </p:nvGraphicFramePr>
        <p:xfrm>
          <a:off xmlns:a="http://schemas.openxmlformats.org/drawingml/2006/main" x="762000" y="2133600"/>
          <a:ext xmlns:a="http://schemas.openxmlformats.org/drawingml/2006/main" cx="13716000" cy="3048000"/>
        </p:xfrm>
        <a:graphic xmlns:a="http://schemas.openxmlformats.org/drawingml/2006/main">
          <a:graphicData uri="http://schemas.openxmlformats.org/drawingml/2006/table">
            <a:tbl>
              <a:tblPr/>
              <a:tblGrid>
                <a:gridCol w="4191000"/>
                <a:gridCol w="9525000"/>
              </a:tblGrid>
              <a:tr h="762000">
                <a:tc>
                  <a:txBody>
                    <a:bodyPr>
                      <a:noAutofit/>
                    </a:bodyPr>
                    <a:lstStyle/>
                    <a:p>
                      <a:r>
                        <a:rPr sz="2500" b="1">
                          <a:solidFill>
                            <a:srgbClr val="FFFFFF"/>
                          </a:solidFill>
                          <a:latin typeface="Arial"/>
                          <a:ea typeface="Arial"/>
                          <a:cs typeface="Arial"/>
                        </a:rPr>
                        <a:t>Game-theoretic idea</a:t>
                      </a:r>
                    </a:p>
                  </a:txBody>
                  <a:tcPr marL="91440" marR="91440" marT="45720" marB="45720">
                    <a:solidFill>
                      <a:srgbClr val="0B2033"/>
                    </a:solidFill>
                  </a:tcPr>
                </a:tc>
                <a:tc>
                  <a:txBody>
                    <a:bodyPr>
                      <a:noAutofit/>
                    </a:bodyPr>
                    <a:lstStyle/>
                    <a:p>
                      <a:r>
                        <a:rPr sz="2500" b="1">
                          <a:solidFill>
                            <a:srgbClr val="FFFFFF"/>
                          </a:solidFill>
                          <a:latin typeface="Arial"/>
                          <a:ea typeface="Arial"/>
                          <a:cs typeface="Arial"/>
                        </a:rPr>
                        <a:t>Meaning for a prediction model</a:t>
                      </a:r>
                    </a:p>
                  </a:txBody>
                  <a:tcPr marL="91440" marR="91440" marT="45720" marB="45720">
                    <a:solidFill>
                      <a:srgbClr val="0B2033"/>
                    </a:solidFill>
                  </a:tcPr>
                </a:tc>
              </a:tr>
              <a:tr h="762000">
                <a:tc>
                  <a:txBody>
                    <a:bodyPr>
                      <a:noAutofit/>
                    </a:bodyPr>
                    <a:lstStyle/>
                    <a:p>
                      <a:r>
                        <a:rPr sz="2500" b="0">
                          <a:solidFill>
                            <a:srgbClr val="0B2033"/>
                          </a:solidFill>
                          <a:latin typeface="Arial"/>
                          <a:ea typeface="Arial"/>
                          <a:cs typeface="Arial"/>
                        </a:rPr>
                        <a:t>Player</a:t>
                      </a:r>
                    </a:p>
                  </a:txBody>
                  <a:tcPr marL="91440" marR="91440" marT="45720" marB="45720">
                    <a:solidFill>
                      <a:srgbClr val="F6F3EB"/>
                    </a:solidFill>
                  </a:tcPr>
                </a:tc>
                <a:tc>
                  <a:txBody>
                    <a:bodyPr>
                      <a:noAutofit/>
                    </a:bodyPr>
                    <a:lstStyle/>
                    <a:p>
                      <a:r>
                        <a:rPr sz="2500" b="0">
                          <a:solidFill>
                            <a:srgbClr val="0B2033"/>
                          </a:solidFill>
                          <a:latin typeface="Arial"/>
                          <a:ea typeface="Arial"/>
                          <a:cs typeface="Arial"/>
                        </a:rPr>
                        <a:t>One input column</a:t>
                      </a:r>
                    </a:p>
                  </a:txBody>
                  <a:tcPr marL="91440" marR="91440" marT="45720" marB="45720">
                    <a:solidFill>
                      <a:srgbClr val="F6F3EB"/>
                    </a:solidFill>
                  </a:tcPr>
                </a:tc>
              </a:tr>
              <a:tr h="762000">
                <a:tc>
                  <a:txBody>
                    <a:bodyPr>
                      <a:noAutofit/>
                    </a:bodyPr>
                    <a:lstStyle/>
                    <a:p>
                      <a:r>
                        <a:rPr sz="2500" b="0">
                          <a:solidFill>
                            <a:srgbClr val="0B2033"/>
                          </a:solidFill>
                          <a:latin typeface="Arial"/>
                          <a:ea typeface="Arial"/>
                          <a:cs typeface="Arial"/>
                        </a:rPr>
                        <a:t>Coalition</a:t>
                      </a:r>
                    </a:p>
                  </a:txBody>
                  <a:tcPr marL="91440" marR="91440" marT="45720" marB="45720">
                    <a:solidFill>
                      <a:srgbClr val="EEEEE7"/>
                    </a:solidFill>
                  </a:tcPr>
                </a:tc>
                <a:tc>
                  <a:txBody>
                    <a:bodyPr>
                      <a:noAutofit/>
                    </a:bodyPr>
                    <a:lstStyle/>
                    <a:p>
                      <a:r>
                        <a:rPr sz="2500" b="0">
                          <a:solidFill>
                            <a:srgbClr val="0B2033"/>
                          </a:solidFill>
                          <a:latin typeface="Arial"/>
                          <a:ea typeface="Arial"/>
                          <a:cs typeface="Arial"/>
                        </a:rPr>
                        <a:t>A group of columns used to train a model</a:t>
                      </a:r>
                    </a:p>
                  </a:txBody>
                  <a:tcPr marL="91440" marR="91440" marT="45720" marB="45720">
                    <a:solidFill>
                      <a:srgbClr val="EEEEE7"/>
                    </a:solidFill>
                  </a:tcPr>
                </a:tc>
              </a:tr>
              <a:tr h="762000">
                <a:tc>
                  <a:txBody>
                    <a:bodyPr>
                      <a:noAutofit/>
                    </a:bodyPr>
                    <a:lstStyle/>
                    <a:p>
                      <a:r>
                        <a:rPr sz="2500" b="0">
                          <a:solidFill>
                            <a:srgbClr val="0B2033"/>
                          </a:solidFill>
                          <a:latin typeface="Arial"/>
                          <a:ea typeface="Arial"/>
                          <a:cs typeface="Arial"/>
                        </a:rPr>
                        <a:t>Marginal contribution</a:t>
                      </a:r>
                    </a:p>
                  </a:txBody>
                  <a:tcPr marL="91440" marR="91440" marT="45720" marB="45720">
                    <a:solidFill>
                      <a:srgbClr val="F6F3EB"/>
                    </a:solidFill>
                  </a:tcPr>
                </a:tc>
                <a:tc>
                  <a:txBody>
                    <a:bodyPr>
                      <a:noAutofit/>
                    </a:bodyPr>
                    <a:lstStyle/>
                    <a:p>
                      <a:r>
                        <a:rPr sz="2500" b="0">
                          <a:solidFill>
                            <a:srgbClr val="0B2033"/>
                          </a:solidFill>
                          <a:latin typeface="Arial"/>
                          <a:ea typeface="Arial"/>
                          <a:cs typeface="Arial"/>
                        </a:rPr>
                        <a:t>The change after adding one column to that group</a:t>
                      </a:r>
                    </a:p>
                  </a:txBody>
                  <a:tcPr marL="91440" marR="91440" marT="45720" marB="45720">
                    <a:solidFill>
                      <a:srgbClr val="F6F3EB"/>
                    </a:solidFill>
                  </a:tcPr>
                </a:tc>
              </a:tr>
            </a:tbl>
          </a:graphicData>
        </a:graphic>
      </p:graphicFrame>
      <p:sp>
        <p:nvSpPr>
          <p:cNvPr id="5" name="text-117">
            <a:extLst xmlns:a="http://schemas.openxmlformats.org/drawingml/2006/main">
              <a:ext uri="{FF2B5EF4-FFF2-40B4-BE49-F238E27FC236}">
                <a16:creationId xmlns:a16="http://schemas.microsoft.com/office/drawing/2014/main" id="{3DF704B7-E304-4D8B-A0B7-5A6C30970A50}"/>
              </a:ext>
            </a:extLst>
          </p:cNvPr>
          <p:cNvSpPr>
            <a:spLocks xmlns:a="http://schemas.openxmlformats.org/drawingml/2006/main" noGrp="1"/>
          </p:cNvSpPr>
          <p:nvPr/>
        </p:nvSpPr>
        <p:spPr>
          <a:xfrm xmlns:a="http://schemas.openxmlformats.org/drawingml/2006/main">
            <a:off x="762000" y="5562600"/>
            <a:ext cx="1371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00" b="1">
                <a:solidFill>
                  <a:srgbClr val="0C7C78"/>
                </a:solidFill>
                <a:latin typeface="Arial"/>
                <a:ea typeface="Arial"/>
                <a:cs typeface="Arial"/>
              </a:defRPr>
            </a:pPr>
            <a:r>
              <a:rPr sz="3100" b="1">
                <a:solidFill>
                  <a:srgbClr val="0C7C78"/>
                </a:solidFill>
                <a:latin typeface="Arial"/>
                <a:ea typeface="Arial"/>
                <a:cs typeface="Arial"/>
              </a:rPr>
              <a:t>MinPPI checks the worst threshold change across feature groups.</a:t>
            </a:r>
          </a:p>
        </p:txBody>
      </p:sp>
      <p:sp>
        <p:nvSpPr>
          <p:cNvPr id="6" name="text-118">
            <a:extLst xmlns:a="http://schemas.openxmlformats.org/drawingml/2006/main">
              <a:ext uri="{FF2B5EF4-FFF2-40B4-BE49-F238E27FC236}">
                <a16:creationId xmlns:a16="http://schemas.microsoft.com/office/drawing/2014/main" id="{266C7769-1858-4A72-8BB4-7CA132D60939}"/>
              </a:ext>
            </a:extLst>
          </p:cNvPr>
          <p:cNvSpPr>
            <a:spLocks xmlns:a="http://schemas.openxmlformats.org/drawingml/2006/main" noGrp="1"/>
          </p:cNvSpPr>
          <p:nvPr/>
        </p:nvSpPr>
        <p:spPr>
          <a:xfrm xmlns:a="http://schemas.openxmlformats.org/drawingml/2006/main">
            <a:off x="762000" y="6578600"/>
            <a:ext cx="13716000" cy="82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0">
                <a:solidFill>
                  <a:srgbClr val="0B2033"/>
                </a:solidFill>
                <a:latin typeface="Arial"/>
                <a:ea typeface="Arial"/>
                <a:cs typeface="Arial"/>
              </a:defRPr>
            </a:pPr>
            <a:r>
              <a:rPr sz="2700" b="0">
                <a:solidFill>
                  <a:srgbClr val="0B2033"/>
                </a:solidFill>
                <a:latin typeface="Arial"/>
                <a:ea typeface="Arial"/>
                <a:cs typeface="Arial"/>
              </a:rPr>
              <a:t>If any group changes from pass to fail, that input has a negative witness.</a:t>
            </a:r>
          </a:p>
        </p:txBody>
      </p:sp>
      <p:sp>
        <p:nvSpPr>
          <p:cNvPr id="7" name="text-119">
            <a:extLst xmlns:a="http://schemas.openxmlformats.org/drawingml/2006/main">
              <a:ext uri="{FF2B5EF4-FFF2-40B4-BE49-F238E27FC236}">
                <a16:creationId xmlns:a16="http://schemas.microsoft.com/office/drawing/2014/main" id="{2E6F2A38-1662-448D-A682-ABA1109E058D}"/>
              </a:ext>
            </a:extLst>
          </p:cNvPr>
          <p:cNvSpPr>
            <a:spLocks xmlns:a="http://schemas.openxmlformats.org/drawingml/2006/main" noGrp="1"/>
          </p:cNvSpPr>
          <p:nvPr/>
        </p:nvSpPr>
        <p:spPr>
          <a:xfrm xmlns:a="http://schemas.openxmlformats.org/drawingml/2006/main">
            <a:off x="762000" y="7721600"/>
            <a:ext cx="13716000" cy="36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26675"/>
                </a:solidFill>
                <a:latin typeface="Arial"/>
                <a:ea typeface="Arial"/>
                <a:cs typeface="Arial"/>
              </a:defRPr>
            </a:pPr>
            <a:r>
              <a:rPr sz="1800" b="0">
                <a:solidFill>
                  <a:srgbClr val="526675"/>
                </a:solidFill>
                <a:latin typeface="Arial"/>
                <a:ea typeface="Arial"/>
                <a:cs typeface="Arial"/>
              </a:rPr>
              <a:t>Minimum aggregation builds on prior work. Our focus is evidence at a fixed performance requirement.</a:t>
            </a:r>
          </a:p>
        </p:txBody>
      </p:sp>
    </p:spTree>
    <p:extLst>
      <p:ext uri="{BB962C8B-B14F-4D97-AF65-F5344CB8AC3E}">
        <p14:creationId xmlns:p14="http://schemas.microsoft.com/office/powerpoint/2010/main" val="1350333459"/>
      </p:ext>
    </p:extLst>
  </p:cSld>
</p:sld>
</file>

<file path=ppt/slides/slide11.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2" name="text-120">
            <a:extLst xmlns:a="http://schemas.openxmlformats.org/drawingml/2006/main">
              <a:ext uri="{FF2B5EF4-FFF2-40B4-BE49-F238E27FC236}">
                <a16:creationId xmlns:a16="http://schemas.microsoft.com/office/drawing/2014/main" id="{2EE22FC1-6A23-4D96-991A-26EE323DB7B5}"/>
              </a:ext>
            </a:extLst>
          </p:cNvPr>
          <p:cNvSpPr>
            <a:spLocks xmlns:a="http://schemas.openxmlformats.org/drawingml/2006/main" noGrp="1"/>
          </p:cNvSpPr>
          <p:nvPr/>
        </p:nvSpPr>
        <p:spPr>
          <a:xfrm xmlns:a="http://schemas.openxmlformats.org/drawingml/2006/main">
            <a:off x="762000" y="558800"/>
            <a:ext cx="13843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900" b="1">
                <a:solidFill>
                  <a:srgbClr val="0B2033"/>
                </a:solidFill>
                <a:latin typeface="Arial"/>
                <a:ea typeface="Arial"/>
                <a:cs typeface="Arial"/>
              </a:defRPr>
            </a:pPr>
            <a:r>
              <a:rPr sz="3900" b="1">
                <a:solidFill>
                  <a:srgbClr val="0B2033"/>
                </a:solidFill>
                <a:latin typeface="Arial"/>
                <a:ea typeface="Arial"/>
                <a:cs typeface="Arial"/>
              </a:rPr>
              <a:t>Finding witnesses within a limited budget</a:t>
            </a:r>
          </a:p>
        </p:txBody>
      </p:sp>
      <p:sp>
        <p:nvSpPr>
          <p:cNvPr id="2" name="rule-121">
            <a:extLst xmlns:a="http://schemas.openxmlformats.org/drawingml/2006/main">
              <a:ext uri="{FF2B5EF4-FFF2-40B4-BE49-F238E27FC236}">
                <a16:creationId xmlns:a16="http://schemas.microsoft.com/office/drawing/2014/main" id="{571414C5-1094-4F95-BD23-AC35E1EFCC24}"/>
              </a:ext>
            </a:extLst>
          </p:cNvPr>
          <p:cNvSpPr>
            <a:spLocks xmlns:a="http://schemas.openxmlformats.org/drawingml/2006/main" noGrp="1"/>
          </p:cNvSpPr>
          <p:nvPr/>
        </p:nvSpPr>
        <p:spPr>
          <a:xfrm xmlns:a="http://schemas.openxmlformats.org/drawingml/2006/main">
            <a:off x="762000" y="1701800"/>
            <a:ext cx="13716000" cy="0"/>
          </a:xfrm>
          <a:prstGeom xmlns:a="http://schemas.openxmlformats.org/drawingml/2006/main" prst="line">
            <a:avLst/>
          </a:prstGeom>
          <a:noFill xmlns:a="http://schemas.openxmlformats.org/drawingml/2006/main"/>
          <a:ln xmlns:a="http://schemas.openxmlformats.org/drawingml/2006/main" w="19050">
            <a:solidFill>
              <a:srgbClr val="0C7C78"/>
            </a:solidFill>
          </a:ln>
        </p:spPr>
      </p:sp>
      <p:sp>
        <p:nvSpPr>
          <p:cNvPr id="3" name="text-122">
            <a:extLst xmlns:a="http://schemas.openxmlformats.org/drawingml/2006/main">
              <a:ext uri="{FF2B5EF4-FFF2-40B4-BE49-F238E27FC236}">
                <a16:creationId xmlns:a16="http://schemas.microsoft.com/office/drawing/2014/main" id="{BB53A0D9-7E6C-4F42-9AD1-F400F6CEA94F}"/>
              </a:ext>
            </a:extLst>
          </p:cNvPr>
          <p:cNvSpPr>
            <a:spLocks xmlns:a="http://schemas.openxmlformats.org/drawingml/2006/main" noGrp="1"/>
          </p:cNvSpPr>
          <p:nvPr/>
        </p:nvSpPr>
        <p:spPr>
          <a:xfrm xmlns:a="http://schemas.openxmlformats.org/drawingml/2006/main">
            <a:off x="14122400" y="80772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600" b="0">
                <a:solidFill>
                  <a:srgbClr val="526675"/>
                </a:solidFill>
                <a:latin typeface="Arial"/>
                <a:ea typeface="Arial"/>
                <a:cs typeface="Arial"/>
              </a:defRPr>
            </a:pPr>
            <a:r>
              <a:rPr sz="1600" b="0">
                <a:solidFill>
                  <a:srgbClr val="526675"/>
                </a:solidFill>
                <a:latin typeface="Arial"/>
                <a:ea typeface="Arial"/>
                <a:cs typeface="Arial"/>
              </a:rPr>
              <a:t>11</a:t>
            </a:r>
          </a:p>
        </p:txBody>
      </p:sp>
      <p:sp>
        <p:nvSpPr>
          <p:cNvPr id="4" name="text-123">
            <a:extLst xmlns:a="http://schemas.openxmlformats.org/drawingml/2006/main">
              <a:ext uri="{FF2B5EF4-FFF2-40B4-BE49-F238E27FC236}">
                <a16:creationId xmlns:a16="http://schemas.microsoft.com/office/drawing/2014/main" id="{E3C3957F-49B2-4FCD-8905-3B5973DBD1F8}"/>
              </a:ext>
            </a:extLst>
          </p:cNvPr>
          <p:cNvSpPr>
            <a:spLocks xmlns:a="http://schemas.openxmlformats.org/drawingml/2006/main" noGrp="1"/>
          </p:cNvSpPr>
          <p:nvPr/>
        </p:nvSpPr>
        <p:spPr>
          <a:xfrm xmlns:a="http://schemas.openxmlformats.org/drawingml/2006/main">
            <a:off x="762000" y="2082800"/>
            <a:ext cx="137160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00" b="1">
                <a:solidFill>
                  <a:srgbClr val="0B2033"/>
                </a:solidFill>
                <a:latin typeface="Arial"/>
                <a:ea typeface="Arial"/>
                <a:cs typeface="Arial"/>
              </a:defRPr>
            </a:pPr>
            <a:r>
              <a:rPr sz="3100" b="1">
                <a:solidFill>
                  <a:srgbClr val="0B2033"/>
                </a:solidFill>
                <a:latin typeface="Arial"/>
                <a:ea typeface="Arial"/>
                <a:cs typeface="Arial"/>
              </a:rPr>
              <a:t>Checking every combination becomes expensive as inputs grow.</a:t>
            </a:r>
          </a:p>
        </p:txBody>
      </p:sp>
      <p:sp>
        <p:nvSpPr>
          <p:cNvPr id="5" name="text-124">
            <a:extLst xmlns:a="http://schemas.openxmlformats.org/drawingml/2006/main">
              <a:ext uri="{FF2B5EF4-FFF2-40B4-BE49-F238E27FC236}">
                <a16:creationId xmlns:a16="http://schemas.microsoft.com/office/drawing/2014/main" id="{438AADDE-740B-4DEA-AC6A-EF74C11EE5D8}"/>
              </a:ext>
            </a:extLst>
          </p:cNvPr>
          <p:cNvSpPr>
            <a:spLocks xmlns:a="http://schemas.openxmlformats.org/drawingml/2006/main" noGrp="1"/>
          </p:cNvSpPr>
          <p:nvPr/>
        </p:nvSpPr>
        <p:spPr>
          <a:xfrm xmlns:a="http://schemas.openxmlformats.org/drawingml/2006/main">
            <a:off x="762000" y="3454400"/>
            <a:ext cx="6350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00" b="1">
                <a:solidFill>
                  <a:srgbClr val="0C7C78"/>
                </a:solidFill>
                <a:latin typeface="Arial"/>
                <a:ea typeface="Arial"/>
                <a:cs typeface="Arial"/>
              </a:defRPr>
            </a:pPr>
            <a:r>
              <a:rPr sz="2800" b="1">
                <a:solidFill>
                  <a:srgbClr val="0C7C78"/>
                </a:solidFill>
                <a:latin typeface="Arial"/>
                <a:ea typeface="Arial"/>
                <a:cs typeface="Arial"/>
              </a:rPr>
              <a:t>A: random exploration</a:t>
            </a:r>
          </a:p>
        </p:txBody>
      </p:sp>
      <p:sp>
        <p:nvSpPr>
          <p:cNvPr id="6" name="text-125">
            <a:extLst xmlns:a="http://schemas.openxmlformats.org/drawingml/2006/main">
              <a:ext uri="{FF2B5EF4-FFF2-40B4-BE49-F238E27FC236}">
                <a16:creationId xmlns:a16="http://schemas.microsoft.com/office/drawing/2014/main" id="{F05B0430-871C-4AF1-AA8C-E307F3FC09DB}"/>
              </a:ext>
            </a:extLst>
          </p:cNvPr>
          <p:cNvSpPr>
            <a:spLocks xmlns:a="http://schemas.openxmlformats.org/drawingml/2006/main" noGrp="1"/>
          </p:cNvSpPr>
          <p:nvPr/>
        </p:nvSpPr>
        <p:spPr>
          <a:xfrm xmlns:a="http://schemas.openxmlformats.org/drawingml/2006/main">
            <a:off x="762000" y="4152900"/>
            <a:ext cx="6350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0">
                <a:solidFill>
                  <a:srgbClr val="0B2033"/>
                </a:solidFill>
                <a:latin typeface="Arial"/>
                <a:ea typeface="Arial"/>
                <a:cs typeface="Arial"/>
              </a:defRPr>
            </a:pPr>
            <a:r>
              <a:rPr sz="2700" b="0">
                <a:solidFill>
                  <a:srgbClr val="0B2033"/>
                </a:solidFill>
                <a:latin typeface="Arial"/>
                <a:ea typeface="Arial"/>
                <a:cs typeface="Arial"/>
              </a:rPr>
              <a:t>Try varied groups of inputs.</a:t>
            </a:r>
          </a:p>
          <a:p xmlns:a="http://schemas.openxmlformats.org/drawingml/2006/main">
            <a:pPr algn="l">
              <a:defRPr sz="2700" b="0">
                <a:solidFill>
                  <a:srgbClr val="0B2033"/>
                </a:solidFill>
                <a:latin typeface="Arial"/>
                <a:ea typeface="Arial"/>
                <a:cs typeface="Arial"/>
              </a:defRPr>
            </a:pPr>
            <a:r>
              <a:rPr sz="2700" b="0">
                <a:solidFill>
                  <a:srgbClr val="0B2033"/>
                </a:solidFill>
                <a:latin typeface="Arial"/>
                <a:ea typeface="Arial"/>
                <a:cs typeface="Arial"/>
              </a:rPr>
              <a:t>This is the reference search strategy.</a:t>
            </a:r>
          </a:p>
        </p:txBody>
      </p:sp>
      <p:sp>
        <p:nvSpPr>
          <p:cNvPr id="7" name="text-126">
            <a:extLst xmlns:a="http://schemas.openxmlformats.org/drawingml/2006/main">
              <a:ext uri="{FF2B5EF4-FFF2-40B4-BE49-F238E27FC236}">
                <a16:creationId xmlns:a16="http://schemas.microsoft.com/office/drawing/2014/main" id="{50567803-95D1-4FD3-9C46-65E2C53B0B9B}"/>
              </a:ext>
            </a:extLst>
          </p:cNvPr>
          <p:cNvSpPr>
            <a:spLocks xmlns:a="http://schemas.openxmlformats.org/drawingml/2006/main" noGrp="1"/>
          </p:cNvSpPr>
          <p:nvPr/>
        </p:nvSpPr>
        <p:spPr>
          <a:xfrm xmlns:a="http://schemas.openxmlformats.org/drawingml/2006/main">
            <a:off x="8255000" y="3454400"/>
            <a:ext cx="6223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00" b="1">
                <a:solidFill>
                  <a:srgbClr val="0C7C78"/>
                </a:solidFill>
                <a:latin typeface="Arial"/>
                <a:ea typeface="Arial"/>
                <a:cs typeface="Arial"/>
              </a:defRPr>
            </a:pPr>
            <a:r>
              <a:rPr sz="2800" b="1">
                <a:solidFill>
                  <a:srgbClr val="0C7C78"/>
                </a:solidFill>
                <a:latin typeface="Arial"/>
                <a:ea typeface="Arial"/>
                <a:cs typeface="Arial"/>
              </a:rPr>
              <a:t>B: guided exploration</a:t>
            </a:r>
          </a:p>
        </p:txBody>
      </p:sp>
      <p:sp>
        <p:nvSpPr>
          <p:cNvPr id="8" name="text-127">
            <a:extLst xmlns:a="http://schemas.openxmlformats.org/drawingml/2006/main">
              <a:ext uri="{FF2B5EF4-FFF2-40B4-BE49-F238E27FC236}">
                <a16:creationId xmlns:a16="http://schemas.microsoft.com/office/drawing/2014/main" id="{A8DD7B04-B584-4F00-B735-9D0887AD3E31}"/>
              </a:ext>
            </a:extLst>
          </p:cNvPr>
          <p:cNvSpPr>
            <a:spLocks xmlns:a="http://schemas.openxmlformats.org/drawingml/2006/main" noGrp="1"/>
          </p:cNvSpPr>
          <p:nvPr/>
        </p:nvSpPr>
        <p:spPr>
          <a:xfrm xmlns:a="http://schemas.openxmlformats.org/drawingml/2006/main">
            <a:off x="8255000" y="4152900"/>
            <a:ext cx="6223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0">
                <a:solidFill>
                  <a:srgbClr val="0B2033"/>
                </a:solidFill>
                <a:latin typeface="Arial"/>
                <a:ea typeface="Arial"/>
                <a:cs typeface="Arial"/>
              </a:defRPr>
            </a:pPr>
            <a:r>
              <a:rPr sz="2700" b="0">
                <a:solidFill>
                  <a:srgbClr val="0B2033"/>
                </a:solidFill>
                <a:latin typeface="Arial"/>
                <a:ea typeface="Arial"/>
                <a:cs typeface="Arial"/>
              </a:rPr>
              <a:t>Use training associations to propose groups worth testing.</a:t>
            </a:r>
          </a:p>
        </p:txBody>
      </p:sp>
      <p:sp>
        <p:nvSpPr>
          <p:cNvPr id="9" name="rule-128">
            <a:extLst xmlns:a="http://schemas.openxmlformats.org/drawingml/2006/main">
              <a:ext uri="{FF2B5EF4-FFF2-40B4-BE49-F238E27FC236}">
                <a16:creationId xmlns:a16="http://schemas.microsoft.com/office/drawing/2014/main" id="{C4F34AB0-60AD-4891-80C0-80582070402A}"/>
              </a:ext>
            </a:extLst>
          </p:cNvPr>
          <p:cNvSpPr>
            <a:spLocks xmlns:a="http://schemas.openxmlformats.org/drawingml/2006/main" noGrp="1"/>
          </p:cNvSpPr>
          <p:nvPr/>
        </p:nvSpPr>
        <p:spPr>
          <a:xfrm xmlns:a="http://schemas.openxmlformats.org/drawingml/2006/main">
            <a:off x="762000" y="5803900"/>
            <a:ext cx="13716000" cy="0"/>
          </a:xfrm>
          <a:prstGeom xmlns:a="http://schemas.openxmlformats.org/drawingml/2006/main" prst="line">
            <a:avLst/>
          </a:prstGeom>
          <a:noFill xmlns:a="http://schemas.openxmlformats.org/drawingml/2006/main"/>
          <a:ln xmlns:a="http://schemas.openxmlformats.org/drawingml/2006/main" w="12700">
            <a:solidFill>
              <a:srgbClr val="D7DEDF"/>
            </a:solidFill>
          </a:ln>
        </p:spPr>
      </p:sp>
      <p:sp>
        <p:nvSpPr>
          <p:cNvPr id="10" name="text-129">
            <a:extLst xmlns:a="http://schemas.openxmlformats.org/drawingml/2006/main">
              <a:ext uri="{FF2B5EF4-FFF2-40B4-BE49-F238E27FC236}">
                <a16:creationId xmlns:a16="http://schemas.microsoft.com/office/drawing/2014/main" id="{A2F6ED5D-DC62-40D9-A63F-3CFDB188D859}"/>
              </a:ext>
            </a:extLst>
          </p:cNvPr>
          <p:cNvSpPr>
            <a:spLocks xmlns:a="http://schemas.openxmlformats.org/drawingml/2006/main" noGrp="1"/>
          </p:cNvSpPr>
          <p:nvPr/>
        </p:nvSpPr>
        <p:spPr>
          <a:xfrm xmlns:a="http://schemas.openxmlformats.org/drawingml/2006/main">
            <a:off x="762000" y="6108700"/>
            <a:ext cx="13716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00" b="1">
                <a:solidFill>
                  <a:srgbClr val="0C7C78"/>
                </a:solidFill>
                <a:latin typeface="Arial"/>
                <a:ea typeface="Arial"/>
                <a:cs typeface="Arial"/>
              </a:defRPr>
            </a:pPr>
            <a:r>
              <a:rPr sz="2800" b="1">
                <a:solidFill>
                  <a:srgbClr val="0C7C78"/>
                </a:solidFill>
                <a:latin typeface="Arial"/>
                <a:ea typeface="Arial"/>
                <a:cs typeface="Arial"/>
              </a:rPr>
              <a:t>Both use the same two-model check and the same query budget.</a:t>
            </a:r>
          </a:p>
        </p:txBody>
      </p:sp>
      <p:sp>
        <p:nvSpPr>
          <p:cNvPr id="11" name="text-130">
            <a:extLst xmlns:a="http://schemas.openxmlformats.org/drawingml/2006/main">
              <a:ext uri="{FF2B5EF4-FFF2-40B4-BE49-F238E27FC236}">
                <a16:creationId xmlns:a16="http://schemas.microsoft.com/office/drawing/2014/main" id="{6DC7D804-47AC-478C-AC71-D17E61484626}"/>
              </a:ext>
            </a:extLst>
          </p:cNvPr>
          <p:cNvSpPr>
            <a:spLocks xmlns:a="http://schemas.openxmlformats.org/drawingml/2006/main" noGrp="1"/>
          </p:cNvSpPr>
          <p:nvPr/>
        </p:nvSpPr>
        <p:spPr>
          <a:xfrm xmlns:a="http://schemas.openxmlformats.org/drawingml/2006/main">
            <a:off x="762000" y="7162800"/>
            <a:ext cx="13716000" cy="85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0">
                <a:solidFill>
                  <a:srgbClr val="0B2033"/>
                </a:solidFill>
                <a:latin typeface="Arial"/>
                <a:ea typeface="Arial"/>
                <a:cs typeface="Arial"/>
              </a:defRPr>
            </a:pPr>
            <a:r>
              <a:rPr sz="2700" b="0">
                <a:solidFill>
                  <a:srgbClr val="0B2033"/>
                </a:solidFill>
                <a:latin typeface="Arial"/>
                <a:ea typeface="Arial"/>
                <a:cs typeface="Arial"/>
              </a:rPr>
              <a:t>A found witness is checkable. An unvisited group may still hide one.</a:t>
            </a:r>
          </a:p>
        </p:txBody>
      </p:sp>
    </p:spTree>
    <p:extLst>
      <p:ext uri="{BB962C8B-B14F-4D97-AF65-F5344CB8AC3E}">
        <p14:creationId xmlns:p14="http://schemas.microsoft.com/office/powerpoint/2010/main" val="1142434327"/>
      </p:ext>
    </p:extLst>
  </p:cSld>
</p:sld>
</file>

<file path=ppt/slides/slide12.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8" name="text-131">
            <a:extLst xmlns:a="http://schemas.openxmlformats.org/drawingml/2006/main">
              <a:ext uri="{FF2B5EF4-FFF2-40B4-BE49-F238E27FC236}">
                <a16:creationId xmlns:a16="http://schemas.microsoft.com/office/drawing/2014/main" id="{54283EB3-2186-4DBA-B1AC-C1A107CEC1E7}"/>
              </a:ext>
            </a:extLst>
          </p:cNvPr>
          <p:cNvSpPr>
            <a:spLocks xmlns:a="http://schemas.openxmlformats.org/drawingml/2006/main" noGrp="1"/>
          </p:cNvSpPr>
          <p:nvPr/>
        </p:nvSpPr>
        <p:spPr>
          <a:xfrm xmlns:a="http://schemas.openxmlformats.org/drawingml/2006/main">
            <a:off x="762000" y="558800"/>
            <a:ext cx="13843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900" b="1">
                <a:solidFill>
                  <a:srgbClr val="0B2033"/>
                </a:solidFill>
                <a:latin typeface="Arial"/>
                <a:ea typeface="Arial"/>
                <a:cs typeface="Arial"/>
              </a:defRPr>
            </a:pPr>
            <a:r>
              <a:rPr sz="3900" b="1">
                <a:solidFill>
                  <a:srgbClr val="0B2033"/>
                </a:solidFill>
                <a:latin typeface="Arial"/>
                <a:ea typeface="Arial"/>
                <a:cs typeface="Arial"/>
              </a:rPr>
              <a:t>Why these datasets fit the research</a:t>
            </a:r>
          </a:p>
        </p:txBody>
      </p:sp>
      <p:sp>
        <p:nvSpPr>
          <p:cNvPr id="2" name="rule-132">
            <a:extLst xmlns:a="http://schemas.openxmlformats.org/drawingml/2006/main">
              <a:ext uri="{FF2B5EF4-FFF2-40B4-BE49-F238E27FC236}">
                <a16:creationId xmlns:a16="http://schemas.microsoft.com/office/drawing/2014/main" id="{8E3C99CF-9169-4C39-ACC8-EF7F7919DC5A}"/>
              </a:ext>
            </a:extLst>
          </p:cNvPr>
          <p:cNvSpPr>
            <a:spLocks xmlns:a="http://schemas.openxmlformats.org/drawingml/2006/main" noGrp="1"/>
          </p:cNvSpPr>
          <p:nvPr/>
        </p:nvSpPr>
        <p:spPr>
          <a:xfrm xmlns:a="http://schemas.openxmlformats.org/drawingml/2006/main">
            <a:off x="762000" y="1701800"/>
            <a:ext cx="13716000" cy="0"/>
          </a:xfrm>
          <a:prstGeom xmlns:a="http://schemas.openxmlformats.org/drawingml/2006/main" prst="line">
            <a:avLst/>
          </a:prstGeom>
          <a:noFill xmlns:a="http://schemas.openxmlformats.org/drawingml/2006/main"/>
          <a:ln xmlns:a="http://schemas.openxmlformats.org/drawingml/2006/main" w="19050">
            <a:solidFill>
              <a:srgbClr val="0C7C78"/>
            </a:solidFill>
          </a:ln>
        </p:spPr>
      </p:sp>
      <p:sp>
        <p:nvSpPr>
          <p:cNvPr id="3" name="text-133">
            <a:extLst xmlns:a="http://schemas.openxmlformats.org/drawingml/2006/main">
              <a:ext uri="{FF2B5EF4-FFF2-40B4-BE49-F238E27FC236}">
                <a16:creationId xmlns:a16="http://schemas.microsoft.com/office/drawing/2014/main" id="{BFF31525-559B-4F2D-8EB3-73FA9136CA19}"/>
              </a:ext>
            </a:extLst>
          </p:cNvPr>
          <p:cNvSpPr>
            <a:spLocks xmlns:a="http://schemas.openxmlformats.org/drawingml/2006/main" noGrp="1"/>
          </p:cNvSpPr>
          <p:nvPr/>
        </p:nvSpPr>
        <p:spPr>
          <a:xfrm xmlns:a="http://schemas.openxmlformats.org/drawingml/2006/main">
            <a:off x="14122400" y="80772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600" b="0">
                <a:solidFill>
                  <a:srgbClr val="526675"/>
                </a:solidFill>
                <a:latin typeface="Arial"/>
                <a:ea typeface="Arial"/>
                <a:cs typeface="Arial"/>
              </a:defRPr>
            </a:pPr>
            <a:r>
              <a:rPr sz="1600" b="0">
                <a:solidFill>
                  <a:srgbClr val="526675"/>
                </a:solidFill>
                <a:latin typeface="Arial"/>
                <a:ea typeface="Arial"/>
                <a:cs typeface="Arial"/>
              </a:rPr>
              <a:t>12</a:t>
            </a:r>
          </a:p>
        </p:txBody>
      </p:sp>
      <p:sp>
        <p:nvSpPr>
          <p:cNvPr id="4" name="text-134">
            <a:extLst xmlns:a="http://schemas.openxmlformats.org/drawingml/2006/main">
              <a:ext uri="{FF2B5EF4-FFF2-40B4-BE49-F238E27FC236}">
                <a16:creationId xmlns:a16="http://schemas.microsoft.com/office/drawing/2014/main" id="{89243B60-1145-4199-8D12-7DAC635C5CE2}"/>
              </a:ext>
            </a:extLst>
          </p:cNvPr>
          <p:cNvSpPr>
            <a:spLocks xmlns:a="http://schemas.openxmlformats.org/drawingml/2006/main" noGrp="1"/>
          </p:cNvSpPr>
          <p:nvPr/>
        </p:nvSpPr>
        <p:spPr>
          <a:xfrm xmlns:a="http://schemas.openxmlformats.org/drawingml/2006/main">
            <a:off x="762000" y="2006600"/>
            <a:ext cx="137160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00" b="1">
                <a:solidFill>
                  <a:srgbClr val="0B2033"/>
                </a:solidFill>
                <a:latin typeface="Arial"/>
                <a:ea typeface="Arial"/>
                <a:cs typeface="Arial"/>
              </a:defRPr>
            </a:pPr>
            <a:r>
              <a:rPr sz="2800" b="1">
                <a:solidFill>
                  <a:srgbClr val="0B2033"/>
                </a:solidFill>
                <a:latin typeface="Arial"/>
                <a:ea typeface="Arial"/>
                <a:cs typeface="Arial"/>
              </a:rPr>
              <a:t>The core studies need checkable cases, known structure and real prediction tasks.</a:t>
            </a:r>
          </a:p>
        </p:txBody>
      </p:sp>
      <p:graphicFrame>
        <p:nvGraphicFramePr>
          <p:cNvPr id="12" name=""/>
          <p:cNvGraphicFramePr/>
          <p:nvPr/>
        </p:nvGraphicFramePr>
        <p:xfrm>
          <a:off xmlns:a="http://schemas.openxmlformats.org/drawingml/2006/main" x="762000" y="2946400"/>
          <a:ext xmlns:a="http://schemas.openxmlformats.org/drawingml/2006/main" cx="13716000" cy="4102100"/>
        </p:xfrm>
        <a:graphic xmlns:a="http://schemas.openxmlformats.org/drawingml/2006/main">
          <a:graphicData uri="http://schemas.openxmlformats.org/drawingml/2006/table">
            <a:tbl>
              <a:tblPr/>
              <a:tblGrid>
                <a:gridCol w="3048000"/>
                <a:gridCol w="5334000"/>
                <a:gridCol w="5334000"/>
              </a:tblGrid>
              <a:tr h="546100">
                <a:tc>
                  <a:txBody>
                    <a:bodyPr>
                      <a:noAutofit/>
                    </a:bodyPr>
                    <a:lstStyle/>
                    <a:p>
                      <a:r>
                        <a:rPr sz="2200" b="1">
                          <a:solidFill>
                            <a:srgbClr val="FFFFFF"/>
                          </a:solidFill>
                          <a:latin typeface="Arial"/>
                          <a:ea typeface="Arial"/>
                          <a:cs typeface="Arial"/>
                        </a:rPr>
                        <a:t>Dataset</a:t>
                      </a:r>
                    </a:p>
                  </a:txBody>
                  <a:tcPr marL="91440" marR="91440" marT="45720" marB="45720">
                    <a:solidFill>
                      <a:srgbClr val="0B2033"/>
                    </a:solidFill>
                  </a:tcPr>
                </a:tc>
                <a:tc>
                  <a:txBody>
                    <a:bodyPr>
                      <a:noAutofit/>
                    </a:bodyPr>
                    <a:lstStyle/>
                    <a:p>
                      <a:r>
                        <a:rPr sz="2200" b="1">
                          <a:solidFill>
                            <a:srgbClr val="FFFFFF"/>
                          </a:solidFill>
                          <a:latin typeface="Arial"/>
                          <a:ea typeface="Arial"/>
                          <a:cs typeface="Arial"/>
                        </a:rPr>
                        <a:t>Inputs and target</a:t>
                      </a:r>
                    </a:p>
                  </a:txBody>
                  <a:tcPr marL="91440" marR="91440" marT="45720" marB="45720">
                    <a:solidFill>
                      <a:srgbClr val="0B2033"/>
                    </a:solidFill>
                  </a:tcPr>
                </a:tc>
                <a:tc>
                  <a:txBody>
                    <a:bodyPr>
                      <a:noAutofit/>
                    </a:bodyPr>
                    <a:lstStyle/>
                    <a:p>
                      <a:r>
                        <a:rPr sz="2200" b="1">
                          <a:solidFill>
                            <a:srgbClr val="FFFFFF"/>
                          </a:solidFill>
                          <a:latin typeface="Arial"/>
                          <a:ea typeface="Arial"/>
                          <a:cs typeface="Arial"/>
                        </a:rPr>
                        <a:t>Reason for inclusion</a:t>
                      </a:r>
                    </a:p>
                  </a:txBody>
                  <a:tcPr marL="91440" marR="91440" marT="45720" marB="45720">
                    <a:solidFill>
                      <a:srgbClr val="0B2033"/>
                    </a:solidFill>
                  </a:tcPr>
                </a:tc>
              </a:tr>
              <a:tr h="889000">
                <a:tc>
                  <a:txBody>
                    <a:bodyPr>
                      <a:noAutofit/>
                    </a:bodyPr>
                    <a:lstStyle/>
                    <a:p>
                      <a:r>
                        <a:rPr sz="2200" b="0">
                          <a:solidFill>
                            <a:srgbClr val="0B2033"/>
                          </a:solidFill>
                          <a:latin typeface="Arial"/>
                          <a:ea typeface="Arial"/>
                          <a:cs typeface="Arial"/>
                        </a:rPr>
                        <a:t>Abalone</a:t>
                      </a:r>
                    </a:p>
                  </a:txBody>
                  <a:tcPr marL="91440" marR="91440" marT="45720" marB="45720">
                    <a:solidFill>
                      <a:srgbClr val="F6F3EB"/>
                    </a:solidFill>
                  </a:tcPr>
                </a:tc>
                <a:tc>
                  <a:txBody>
                    <a:bodyPr>
                      <a:noAutofit/>
                    </a:bodyPr>
                    <a:lstStyle/>
                    <a:p>
                      <a:r>
                        <a:rPr sz="2200" b="0">
                          <a:solidFill>
                            <a:srgbClr val="0B2033"/>
                          </a:solidFill>
                          <a:latin typeface="Arial"/>
                          <a:ea typeface="Arial"/>
                          <a:cs typeface="Arial"/>
                        </a:rPr>
                        <a:t>Physical measurements predict ring count.</a:t>
                      </a:r>
                    </a:p>
                  </a:txBody>
                  <a:tcPr marL="91440" marR="91440" marT="45720" marB="45720">
                    <a:solidFill>
                      <a:srgbClr val="F6F3EB"/>
                    </a:solidFill>
                  </a:tcPr>
                </a:tc>
                <a:tc>
                  <a:txBody>
                    <a:bodyPr>
                      <a:noAutofit/>
                    </a:bodyPr>
                    <a:lstStyle/>
                    <a:p>
                      <a:r>
                        <a:rPr sz="2200" b="0">
                          <a:solidFill>
                            <a:srgbClr val="0B2033"/>
                          </a:solidFill>
                          <a:latin typeface="Arial"/>
                          <a:ea typeface="Arial"/>
                          <a:cs typeface="Arial"/>
                        </a:rPr>
                        <a:t>Eight inputs allow every subset to be checked. Covers regression.</a:t>
                      </a:r>
                    </a:p>
                  </a:txBody>
                  <a:tcPr marL="91440" marR="91440" marT="45720" marB="45720">
                    <a:solidFill>
                      <a:srgbClr val="F6F3EB"/>
                    </a:solidFill>
                  </a:tcPr>
                </a:tc>
              </a:tr>
              <a:tr h="889000">
                <a:tc>
                  <a:txBody>
                    <a:bodyPr>
                      <a:noAutofit/>
                    </a:bodyPr>
                    <a:lstStyle/>
                    <a:p>
                      <a:r>
                        <a:rPr sz="2200" b="0">
                          <a:solidFill>
                            <a:srgbClr val="0B2033"/>
                          </a:solidFill>
                          <a:latin typeface="Arial"/>
                          <a:ea typeface="Arial"/>
                          <a:cs typeface="Arial"/>
                        </a:rPr>
                        <a:t>Madelon</a:t>
                      </a:r>
                    </a:p>
                  </a:txBody>
                  <a:tcPr marL="91440" marR="91440" marT="45720" marB="45720">
                    <a:solidFill>
                      <a:srgbClr val="EEEEE7"/>
                    </a:solidFill>
                  </a:tcPr>
                </a:tc>
                <a:tc>
                  <a:txBody>
                    <a:bodyPr>
                      <a:noAutofit/>
                    </a:bodyPr>
                    <a:lstStyle/>
                    <a:p>
                      <a:r>
                        <a:rPr sz="2200" b="0">
                          <a:solidFill>
                            <a:srgbClr val="0B2033"/>
                          </a:solidFill>
                          <a:latin typeface="Arial"/>
                          <a:ea typeface="Arial"/>
                          <a:cs typeface="Arial"/>
                        </a:rPr>
                        <a:t>Signal, redundant and distractor columns predict a synthetic class.</a:t>
                      </a:r>
                    </a:p>
                  </a:txBody>
                  <a:tcPr marL="91440" marR="91440" marT="45720" marB="45720">
                    <a:solidFill>
                      <a:srgbClr val="EEEEE7"/>
                    </a:solidFill>
                  </a:tcPr>
                </a:tc>
                <a:tc>
                  <a:txBody>
                    <a:bodyPr>
                      <a:noAutofit/>
                    </a:bodyPr>
                    <a:lstStyle/>
                    <a:p>
                      <a:r>
                        <a:rPr sz="2200" b="0">
                          <a:solidFill>
                            <a:srgbClr val="0B2033"/>
                          </a:solidFill>
                          <a:latin typeface="Arial"/>
                          <a:ea typeface="Arial"/>
                          <a:cs typeface="Arial"/>
                        </a:rPr>
                        <a:t>Known generating structure challenges feature search.</a:t>
                      </a:r>
                    </a:p>
                  </a:txBody>
                  <a:tcPr marL="91440" marR="91440" marT="45720" marB="45720">
                    <a:solidFill>
                      <a:srgbClr val="EEEEE7"/>
                    </a:solidFill>
                  </a:tcPr>
                </a:tc>
              </a:tr>
              <a:tr h="889000">
                <a:tc>
                  <a:txBody>
                    <a:bodyPr>
                      <a:noAutofit/>
                    </a:bodyPr>
                    <a:lstStyle/>
                    <a:p>
                      <a:r>
                        <a:rPr sz="2200" b="0">
                          <a:solidFill>
                            <a:srgbClr val="0B2033"/>
                          </a:solidFill>
                          <a:latin typeface="Arial"/>
                          <a:ea typeface="Arial"/>
                          <a:cs typeface="Arial"/>
                        </a:rPr>
                        <a:t>Spambase</a:t>
                      </a:r>
                    </a:p>
                  </a:txBody>
                  <a:tcPr marL="91440" marR="91440" marT="45720" marB="45720">
                    <a:solidFill>
                      <a:srgbClr val="F6F3EB"/>
                    </a:solidFill>
                  </a:tcPr>
                </a:tc>
                <a:tc>
                  <a:txBody>
                    <a:bodyPr>
                      <a:noAutofit/>
                    </a:bodyPr>
                    <a:lstStyle/>
                    <a:p>
                      <a:r>
                        <a:rPr sz="2200" b="0">
                          <a:solidFill>
                            <a:srgbClr val="0B2033"/>
                          </a:solidFill>
                          <a:latin typeface="Arial"/>
                          <a:ea typeface="Arial"/>
                          <a:cs typeface="Arial"/>
                        </a:rPr>
                        <a:t>Word and character statistics predict spam.</a:t>
                      </a:r>
                    </a:p>
                  </a:txBody>
                  <a:tcPr marL="91440" marR="91440" marT="45720" marB="45720">
                    <a:solidFill>
                      <a:srgbClr val="F6F3EB"/>
                    </a:solidFill>
                  </a:tcPr>
                </a:tc>
                <a:tc>
                  <a:txBody>
                    <a:bodyPr>
                      <a:noAutofit/>
                    </a:bodyPr>
                    <a:lstStyle/>
                    <a:p>
                      <a:r>
                        <a:rPr sz="2200" b="0">
                          <a:solidFill>
                            <a:srgbClr val="0B2033"/>
                          </a:solidFill>
                          <a:latin typeface="Arial"/>
                          <a:ea typeface="Arial"/>
                          <a:cs typeface="Arial"/>
                        </a:rPr>
                        <a:t>Real inputs give interpretable classification examples.</a:t>
                      </a:r>
                    </a:p>
                  </a:txBody>
                  <a:tcPr marL="91440" marR="91440" marT="45720" marB="45720">
                    <a:solidFill>
                      <a:srgbClr val="F6F3EB"/>
                    </a:solidFill>
                  </a:tcPr>
                </a:tc>
              </a:tr>
              <a:tr h="889000">
                <a:tc>
                  <a:txBody>
                    <a:bodyPr>
                      <a:noAutofit/>
                    </a:bodyPr>
                    <a:lstStyle/>
                    <a:p>
                      <a:r>
                        <a:rPr sz="2200" b="0">
                          <a:solidFill>
                            <a:srgbClr val="0B2033"/>
                          </a:solidFill>
                          <a:latin typeface="Arial"/>
                          <a:ea typeface="Arial"/>
                          <a:cs typeface="Arial"/>
                        </a:rPr>
                        <a:t>Credit-card fraud</a:t>
                      </a:r>
                    </a:p>
                  </a:txBody>
                  <a:tcPr marL="91440" marR="91440" marT="45720" marB="45720">
                    <a:solidFill>
                      <a:srgbClr val="EEEEE7"/>
                    </a:solidFill>
                  </a:tcPr>
                </a:tc>
                <a:tc>
                  <a:txBody>
                    <a:bodyPr>
                      <a:noAutofit/>
                    </a:bodyPr>
                    <a:lstStyle/>
                    <a:p>
                      <a:r>
                        <a:rPr sz="2200" b="0">
                          <a:solidFill>
                            <a:srgbClr val="0B2033"/>
                          </a:solidFill>
                          <a:latin typeface="Arial"/>
                          <a:ea typeface="Arial"/>
                          <a:cs typeface="Arial"/>
                        </a:rPr>
                        <a:t>PCA components and amount predict fraud.</a:t>
                      </a:r>
                    </a:p>
                  </a:txBody>
                  <a:tcPr marL="91440" marR="91440" marT="45720" marB="45720">
                    <a:solidFill>
                      <a:srgbClr val="EEEEE7"/>
                    </a:solidFill>
                  </a:tcPr>
                </a:tc>
                <a:tc>
                  <a:txBody>
                    <a:bodyPr>
                      <a:noAutofit/>
                    </a:bodyPr>
                    <a:lstStyle/>
                    <a:p>
                      <a:r>
                        <a:rPr sz="2200" b="0">
                          <a:solidFill>
                            <a:srgbClr val="0B2033"/>
                          </a:solidFill>
                          <a:latin typeface="Arial"/>
                          <a:ea typeface="Arial"/>
                          <a:cs typeface="Arial"/>
                        </a:rPr>
                        <a:t>Rare positive cases test a different classification setting.</a:t>
                      </a:r>
                    </a:p>
                  </a:txBody>
                  <a:tcPr marL="91440" marR="91440" marT="45720" marB="45720">
                    <a:solidFill>
                      <a:srgbClr val="EEEEE7"/>
                    </a:solidFill>
                  </a:tcPr>
                </a:tc>
              </a:tr>
            </a:tbl>
          </a:graphicData>
        </a:graphic>
      </p:graphicFrame>
      <p:sp>
        <p:nvSpPr>
          <p:cNvPr id="6" name="text-135">
            <a:extLst xmlns:a="http://schemas.openxmlformats.org/drawingml/2006/main">
              <a:ext uri="{FF2B5EF4-FFF2-40B4-BE49-F238E27FC236}">
                <a16:creationId xmlns:a16="http://schemas.microsoft.com/office/drawing/2014/main" id="{43E67A3D-1EF5-4A61-A487-67B380E928B3}"/>
              </a:ext>
            </a:extLst>
          </p:cNvPr>
          <p:cNvSpPr>
            <a:spLocks xmlns:a="http://schemas.openxmlformats.org/drawingml/2006/main" noGrp="1"/>
          </p:cNvSpPr>
          <p:nvPr/>
        </p:nvSpPr>
        <p:spPr>
          <a:xfrm xmlns:a="http://schemas.openxmlformats.org/drawingml/2006/main">
            <a:off x="762000" y="7277100"/>
            <a:ext cx="1371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00" b="1">
                <a:solidFill>
                  <a:srgbClr val="0C7C78"/>
                </a:solidFill>
                <a:latin typeface="Arial"/>
                <a:ea typeface="Arial"/>
                <a:cs typeface="Arial"/>
              </a:defRPr>
            </a:pPr>
            <a:r>
              <a:rPr sz="2300" b="1">
                <a:solidFill>
                  <a:srgbClr val="0C7C78"/>
                </a:solidFill>
                <a:latin typeface="Arial"/>
                <a:ea typeface="Arial"/>
                <a:cs typeface="Arial"/>
              </a:rPr>
              <a:t>All four are supervised tasks. PCA describes inputs, not a change of learning task.</a:t>
            </a:r>
          </a:p>
        </p:txBody>
      </p:sp>
      <p:sp>
        <p:nvSpPr>
          <p:cNvPr id="7" name="text-136">
            <a:extLst xmlns:a="http://schemas.openxmlformats.org/drawingml/2006/main">
              <a:ext uri="{FF2B5EF4-FFF2-40B4-BE49-F238E27FC236}">
                <a16:creationId xmlns:a16="http://schemas.microsoft.com/office/drawing/2014/main" id="{867D25F3-6C95-4578-B16A-FC378DB6D166}"/>
              </a:ext>
            </a:extLst>
          </p:cNvPr>
          <p:cNvSpPr>
            <a:spLocks xmlns:a="http://schemas.openxmlformats.org/drawingml/2006/main" noGrp="1"/>
          </p:cNvSpPr>
          <p:nvPr/>
        </p:nvSpPr>
        <p:spPr>
          <a:xfrm xmlns:a="http://schemas.openxmlformats.org/drawingml/2006/main">
            <a:off x="762000" y="7874000"/>
            <a:ext cx="13716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26675"/>
                </a:solidFill>
                <a:latin typeface="Arial"/>
                <a:ea typeface="Arial"/>
                <a:cs typeface="Arial"/>
              </a:defRPr>
            </a:pPr>
            <a:r>
              <a:rPr sz="1800" b="0">
                <a:solidFill>
                  <a:srgbClr val="526675"/>
                </a:solidFill>
                <a:latin typeface="Arial"/>
                <a:ea typeface="Arial"/>
                <a:cs typeface="Arial"/>
              </a:rPr>
              <a:t>The broader benchmark also includes Gisette and ISOLET.</a:t>
            </a:r>
          </a:p>
        </p:txBody>
      </p:sp>
    </p:spTree>
    <p:extLst>
      <p:ext uri="{BB962C8B-B14F-4D97-AF65-F5344CB8AC3E}">
        <p14:creationId xmlns:p14="http://schemas.microsoft.com/office/powerpoint/2010/main" val="2102274001"/>
      </p:ext>
    </p:extLst>
  </p:cSld>
</p:sld>
</file>

<file path=ppt/slides/slide13.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3" name="text-137">
            <a:extLst xmlns:a="http://schemas.openxmlformats.org/drawingml/2006/main">
              <a:ext uri="{FF2B5EF4-FFF2-40B4-BE49-F238E27FC236}">
                <a16:creationId xmlns:a16="http://schemas.microsoft.com/office/drawing/2014/main" id="{F0FB1952-7027-4809-BEAA-85DD4D3A73DF}"/>
              </a:ext>
            </a:extLst>
          </p:cNvPr>
          <p:cNvSpPr>
            <a:spLocks xmlns:a="http://schemas.openxmlformats.org/drawingml/2006/main" noGrp="1"/>
          </p:cNvSpPr>
          <p:nvPr/>
        </p:nvSpPr>
        <p:spPr>
          <a:xfrm xmlns:a="http://schemas.openxmlformats.org/drawingml/2006/main">
            <a:off x="762000" y="558800"/>
            <a:ext cx="13843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900" b="1">
                <a:solidFill>
                  <a:srgbClr val="0B2033"/>
                </a:solidFill>
                <a:latin typeface="Arial"/>
                <a:ea typeface="Arial"/>
                <a:cs typeface="Arial"/>
              </a:defRPr>
            </a:pPr>
            <a:r>
              <a:rPr sz="3900" b="1">
                <a:solidFill>
                  <a:srgbClr val="0B2033"/>
                </a:solidFill>
                <a:latin typeface="Arial"/>
                <a:ea typeface="Arial"/>
                <a:cs typeface="Arial"/>
              </a:rPr>
              <a:t>Three studies answer three different questions</a:t>
            </a:r>
          </a:p>
        </p:txBody>
      </p:sp>
      <p:sp>
        <p:nvSpPr>
          <p:cNvPr id="2" name="rule-138">
            <a:extLst xmlns:a="http://schemas.openxmlformats.org/drawingml/2006/main">
              <a:ext uri="{FF2B5EF4-FFF2-40B4-BE49-F238E27FC236}">
                <a16:creationId xmlns:a16="http://schemas.microsoft.com/office/drawing/2014/main" id="{DD785233-5D03-4B70-AB09-ACC16E80A508}"/>
              </a:ext>
            </a:extLst>
          </p:cNvPr>
          <p:cNvSpPr>
            <a:spLocks xmlns:a="http://schemas.openxmlformats.org/drawingml/2006/main" noGrp="1"/>
          </p:cNvSpPr>
          <p:nvPr/>
        </p:nvSpPr>
        <p:spPr>
          <a:xfrm xmlns:a="http://schemas.openxmlformats.org/drawingml/2006/main">
            <a:off x="762000" y="1701800"/>
            <a:ext cx="13716000" cy="0"/>
          </a:xfrm>
          <a:prstGeom xmlns:a="http://schemas.openxmlformats.org/drawingml/2006/main" prst="line">
            <a:avLst/>
          </a:prstGeom>
          <a:noFill xmlns:a="http://schemas.openxmlformats.org/drawingml/2006/main"/>
          <a:ln xmlns:a="http://schemas.openxmlformats.org/drawingml/2006/main" w="19050">
            <a:solidFill>
              <a:srgbClr val="0C7C78"/>
            </a:solidFill>
          </a:ln>
        </p:spPr>
      </p:sp>
      <p:sp>
        <p:nvSpPr>
          <p:cNvPr id="3" name="text-139">
            <a:extLst xmlns:a="http://schemas.openxmlformats.org/drawingml/2006/main">
              <a:ext uri="{FF2B5EF4-FFF2-40B4-BE49-F238E27FC236}">
                <a16:creationId xmlns:a16="http://schemas.microsoft.com/office/drawing/2014/main" id="{D70C219A-BC99-43E2-933E-62A84BB66E15}"/>
              </a:ext>
            </a:extLst>
          </p:cNvPr>
          <p:cNvSpPr>
            <a:spLocks xmlns:a="http://schemas.openxmlformats.org/drawingml/2006/main" noGrp="1"/>
          </p:cNvSpPr>
          <p:nvPr/>
        </p:nvSpPr>
        <p:spPr>
          <a:xfrm xmlns:a="http://schemas.openxmlformats.org/drawingml/2006/main">
            <a:off x="14122400" y="80772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600" b="0">
                <a:solidFill>
                  <a:srgbClr val="526675"/>
                </a:solidFill>
                <a:latin typeface="Arial"/>
                <a:ea typeface="Arial"/>
                <a:cs typeface="Arial"/>
              </a:defRPr>
            </a:pPr>
            <a:r>
              <a:rPr sz="1600" b="0">
                <a:solidFill>
                  <a:srgbClr val="526675"/>
                </a:solidFill>
                <a:latin typeface="Arial"/>
                <a:ea typeface="Arial"/>
                <a:cs typeface="Arial"/>
              </a:rPr>
              <a:t>13</a:t>
            </a:r>
          </a:p>
        </p:txBody>
      </p:sp>
      <p:sp>
        <p:nvSpPr>
          <p:cNvPr id="4" name="text-140">
            <a:extLst xmlns:a="http://schemas.openxmlformats.org/drawingml/2006/main">
              <a:ext uri="{FF2B5EF4-FFF2-40B4-BE49-F238E27FC236}">
                <a16:creationId xmlns:a16="http://schemas.microsoft.com/office/drawing/2014/main" id="{15320A0C-40B3-4397-8C93-5E6EC0D7B84A}"/>
              </a:ext>
            </a:extLst>
          </p:cNvPr>
          <p:cNvSpPr>
            <a:spLocks xmlns:a="http://schemas.openxmlformats.org/drawingml/2006/main" noGrp="1"/>
          </p:cNvSpPr>
          <p:nvPr/>
        </p:nvSpPr>
        <p:spPr>
          <a:xfrm xmlns:a="http://schemas.openxmlformats.org/drawingml/2006/main">
            <a:off x="762000" y="2146300"/>
            <a:ext cx="88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00" b="1">
                <a:solidFill>
                  <a:srgbClr val="0C7C78"/>
                </a:solidFill>
                <a:latin typeface="Arial"/>
                <a:ea typeface="Arial"/>
                <a:cs typeface="Arial"/>
              </a:defRPr>
            </a:pPr>
            <a:r>
              <a:rPr sz="2800" b="1">
                <a:solidFill>
                  <a:srgbClr val="0C7C78"/>
                </a:solidFill>
                <a:latin typeface="Arial"/>
                <a:ea typeface="Arial"/>
                <a:cs typeface="Arial"/>
              </a:rPr>
              <a:t>01</a:t>
            </a:r>
          </a:p>
        </p:txBody>
      </p:sp>
      <p:sp>
        <p:nvSpPr>
          <p:cNvPr id="5" name="text-141">
            <a:extLst xmlns:a="http://schemas.openxmlformats.org/drawingml/2006/main">
              <a:ext uri="{FF2B5EF4-FFF2-40B4-BE49-F238E27FC236}">
                <a16:creationId xmlns:a16="http://schemas.microsoft.com/office/drawing/2014/main" id="{4352516A-5B76-4838-9AD5-256DC26B7681}"/>
              </a:ext>
            </a:extLst>
          </p:cNvPr>
          <p:cNvSpPr>
            <a:spLocks xmlns:a="http://schemas.openxmlformats.org/drawingml/2006/main" noGrp="1"/>
          </p:cNvSpPr>
          <p:nvPr/>
        </p:nvSpPr>
        <p:spPr>
          <a:xfrm xmlns:a="http://schemas.openxmlformats.org/drawingml/2006/main">
            <a:off x="1841500" y="2146300"/>
            <a:ext cx="125095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00" b="1">
                <a:solidFill>
                  <a:srgbClr val="0B2033"/>
                </a:solidFill>
                <a:latin typeface="Arial"/>
                <a:ea typeface="Arial"/>
                <a:cs typeface="Arial"/>
              </a:defRPr>
            </a:pPr>
            <a:r>
              <a:rPr sz="2800" b="1">
                <a:solidFill>
                  <a:srgbClr val="0B2033"/>
                </a:solidFill>
                <a:latin typeface="Arial"/>
                <a:ea typeface="Arial"/>
                <a:cs typeface="Arial"/>
              </a:rPr>
              <a:t>Discovery: how much do we miss?</a:t>
            </a:r>
          </a:p>
        </p:txBody>
      </p:sp>
      <p:sp>
        <p:nvSpPr>
          <p:cNvPr id="6" name="text-142">
            <a:extLst xmlns:a="http://schemas.openxmlformats.org/drawingml/2006/main">
              <a:ext uri="{FF2B5EF4-FFF2-40B4-BE49-F238E27FC236}">
                <a16:creationId xmlns:a16="http://schemas.microsoft.com/office/drawing/2014/main" id="{669244A9-25F3-4B2F-B0C7-701D4085AB6B}"/>
              </a:ext>
            </a:extLst>
          </p:cNvPr>
          <p:cNvSpPr>
            <a:spLocks xmlns:a="http://schemas.openxmlformats.org/drawingml/2006/main" noGrp="1"/>
          </p:cNvSpPr>
          <p:nvPr/>
        </p:nvSpPr>
        <p:spPr>
          <a:xfrm xmlns:a="http://schemas.openxmlformats.org/drawingml/2006/main">
            <a:off x="1841500" y="2768600"/>
            <a:ext cx="125095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0">
                <a:solidFill>
                  <a:srgbClr val="526675"/>
                </a:solidFill>
                <a:latin typeface="Arial"/>
                <a:ea typeface="Arial"/>
                <a:cs typeface="Arial"/>
              </a:defRPr>
            </a:pPr>
            <a:r>
              <a:rPr sz="2400" b="0">
                <a:solidFill>
                  <a:srgbClr val="526675"/>
                </a:solidFill>
                <a:latin typeface="Arial"/>
                <a:ea typeface="Arial"/>
                <a:cs typeface="Arial"/>
              </a:rPr>
              <a:t>Compare the search with all possible subsets in small problems.</a:t>
            </a:r>
          </a:p>
        </p:txBody>
      </p:sp>
      <p:sp>
        <p:nvSpPr>
          <p:cNvPr id="7" name="text-143">
            <a:extLst xmlns:a="http://schemas.openxmlformats.org/drawingml/2006/main">
              <a:ext uri="{FF2B5EF4-FFF2-40B4-BE49-F238E27FC236}">
                <a16:creationId xmlns:a16="http://schemas.microsoft.com/office/drawing/2014/main" id="{2CB73E51-F9E7-41B3-95FE-F34D4F444BB7}"/>
              </a:ext>
            </a:extLst>
          </p:cNvPr>
          <p:cNvSpPr>
            <a:spLocks xmlns:a="http://schemas.openxmlformats.org/drawingml/2006/main" noGrp="1"/>
          </p:cNvSpPr>
          <p:nvPr/>
        </p:nvSpPr>
        <p:spPr>
          <a:xfrm xmlns:a="http://schemas.openxmlformats.org/drawingml/2006/main">
            <a:off x="762000" y="3962400"/>
            <a:ext cx="88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00" b="1">
                <a:solidFill>
                  <a:srgbClr val="0C7C78"/>
                </a:solidFill>
                <a:latin typeface="Arial"/>
                <a:ea typeface="Arial"/>
                <a:cs typeface="Arial"/>
              </a:defRPr>
            </a:pPr>
            <a:r>
              <a:rPr sz="2800" b="1">
                <a:solidFill>
                  <a:srgbClr val="0C7C78"/>
                </a:solidFill>
                <a:latin typeface="Arial"/>
                <a:ea typeface="Arial"/>
                <a:cs typeface="Arial"/>
              </a:rPr>
              <a:t>02</a:t>
            </a:r>
          </a:p>
        </p:txBody>
      </p:sp>
      <p:sp>
        <p:nvSpPr>
          <p:cNvPr id="8" name="text-144">
            <a:extLst xmlns:a="http://schemas.openxmlformats.org/drawingml/2006/main">
              <a:ext uri="{FF2B5EF4-FFF2-40B4-BE49-F238E27FC236}">
                <a16:creationId xmlns:a16="http://schemas.microsoft.com/office/drawing/2014/main" id="{89DAED63-4429-4591-B44E-61A15D1B23A3}"/>
              </a:ext>
            </a:extLst>
          </p:cNvPr>
          <p:cNvSpPr>
            <a:spLocks xmlns:a="http://schemas.openxmlformats.org/drawingml/2006/main" noGrp="1"/>
          </p:cNvSpPr>
          <p:nvPr/>
        </p:nvSpPr>
        <p:spPr>
          <a:xfrm xmlns:a="http://schemas.openxmlformats.org/drawingml/2006/main">
            <a:off x="1841500" y="3962400"/>
            <a:ext cx="125095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00" b="1">
                <a:solidFill>
                  <a:srgbClr val="0B2033"/>
                </a:solidFill>
                <a:latin typeface="Arial"/>
                <a:ea typeface="Arial"/>
                <a:cs typeface="Arial"/>
              </a:defRPr>
            </a:pPr>
            <a:r>
              <a:rPr sz="2800" b="1">
                <a:solidFill>
                  <a:srgbClr val="0B2033"/>
                </a:solidFill>
                <a:latin typeface="Arial"/>
                <a:ea typeface="Arial"/>
                <a:cs typeface="Arial"/>
              </a:rPr>
              <a:t>Mechanism: what makes discovery difficult?</a:t>
            </a:r>
          </a:p>
        </p:txBody>
      </p:sp>
      <p:sp>
        <p:nvSpPr>
          <p:cNvPr id="9" name="text-145">
            <a:extLst xmlns:a="http://schemas.openxmlformats.org/drawingml/2006/main">
              <a:ext uri="{FF2B5EF4-FFF2-40B4-BE49-F238E27FC236}">
                <a16:creationId xmlns:a16="http://schemas.microsoft.com/office/drawing/2014/main" id="{CC0278F8-1B6A-41E5-828F-C003A56FB335}"/>
              </a:ext>
            </a:extLst>
          </p:cNvPr>
          <p:cNvSpPr>
            <a:spLocks xmlns:a="http://schemas.openxmlformats.org/drawingml/2006/main" noGrp="1"/>
          </p:cNvSpPr>
          <p:nvPr/>
        </p:nvSpPr>
        <p:spPr>
          <a:xfrm xmlns:a="http://schemas.openxmlformats.org/drawingml/2006/main">
            <a:off x="1841500" y="4584700"/>
            <a:ext cx="125095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0">
                <a:solidFill>
                  <a:srgbClr val="526675"/>
                </a:solidFill>
                <a:latin typeface="Arial"/>
                <a:ea typeface="Arial"/>
                <a:cs typeface="Arial"/>
              </a:defRPr>
            </a:pPr>
            <a:r>
              <a:rPr sz="2400" b="0">
                <a:solidFill>
                  <a:srgbClr val="526675"/>
                </a:solidFill>
                <a:latin typeface="Arial"/>
                <a:ea typeface="Arial"/>
                <a:cs typeface="Arial"/>
              </a:rPr>
              <a:t>Control signal, redundancy and interaction in synthetic data.</a:t>
            </a:r>
          </a:p>
        </p:txBody>
      </p:sp>
      <p:sp>
        <p:nvSpPr>
          <p:cNvPr id="10" name="text-146">
            <a:extLst xmlns:a="http://schemas.openxmlformats.org/drawingml/2006/main">
              <a:ext uri="{FF2B5EF4-FFF2-40B4-BE49-F238E27FC236}">
                <a16:creationId xmlns:a16="http://schemas.microsoft.com/office/drawing/2014/main" id="{720E8844-C8B2-4798-82CF-98F8F44E46F4}"/>
              </a:ext>
            </a:extLst>
          </p:cNvPr>
          <p:cNvSpPr>
            <a:spLocks xmlns:a="http://schemas.openxmlformats.org/drawingml/2006/main" noGrp="1"/>
          </p:cNvSpPr>
          <p:nvPr/>
        </p:nvSpPr>
        <p:spPr>
          <a:xfrm xmlns:a="http://schemas.openxmlformats.org/drawingml/2006/main">
            <a:off x="762000" y="5778500"/>
            <a:ext cx="88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00" b="1">
                <a:solidFill>
                  <a:srgbClr val="0C7C78"/>
                </a:solidFill>
                <a:latin typeface="Arial"/>
                <a:ea typeface="Arial"/>
                <a:cs typeface="Arial"/>
              </a:defRPr>
            </a:pPr>
            <a:r>
              <a:rPr sz="2800" b="1">
                <a:solidFill>
                  <a:srgbClr val="0C7C78"/>
                </a:solidFill>
                <a:latin typeface="Arial"/>
                <a:ea typeface="Arial"/>
                <a:cs typeface="Arial"/>
              </a:rPr>
              <a:t>03</a:t>
            </a:r>
          </a:p>
        </p:txBody>
      </p:sp>
      <p:sp>
        <p:nvSpPr>
          <p:cNvPr id="11" name="text-147">
            <a:extLst xmlns:a="http://schemas.openxmlformats.org/drawingml/2006/main">
              <a:ext uri="{FF2B5EF4-FFF2-40B4-BE49-F238E27FC236}">
                <a16:creationId xmlns:a16="http://schemas.microsoft.com/office/drawing/2014/main" id="{E2D62EAE-95E4-495F-8528-334592B88770}"/>
              </a:ext>
            </a:extLst>
          </p:cNvPr>
          <p:cNvSpPr>
            <a:spLocks xmlns:a="http://schemas.openxmlformats.org/drawingml/2006/main" noGrp="1"/>
          </p:cNvSpPr>
          <p:nvPr/>
        </p:nvSpPr>
        <p:spPr>
          <a:xfrm xmlns:a="http://schemas.openxmlformats.org/drawingml/2006/main">
            <a:off x="1841500" y="5778500"/>
            <a:ext cx="125095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00" b="1">
                <a:solidFill>
                  <a:srgbClr val="0B2033"/>
                </a:solidFill>
                <a:latin typeface="Arial"/>
                <a:ea typeface="Arial"/>
                <a:cs typeface="Arial"/>
              </a:defRPr>
            </a:pPr>
            <a:r>
              <a:rPr sz="2800" b="1">
                <a:solidFill>
                  <a:srgbClr val="0B2033"/>
                </a:solidFill>
                <a:latin typeface="Arial"/>
                <a:ea typeface="Arial"/>
                <a:cs typeface="Arial"/>
              </a:rPr>
              <a:t>Decision: is removal worth doing?</a:t>
            </a:r>
          </a:p>
        </p:txBody>
      </p:sp>
      <p:sp>
        <p:nvSpPr>
          <p:cNvPr id="12" name="text-148">
            <a:extLst xmlns:a="http://schemas.openxmlformats.org/drawingml/2006/main">
              <a:ext uri="{FF2B5EF4-FFF2-40B4-BE49-F238E27FC236}">
                <a16:creationId xmlns:a16="http://schemas.microsoft.com/office/drawing/2014/main" id="{2C0B8F3B-0651-490A-9033-8FC7A35DDA81}"/>
              </a:ext>
            </a:extLst>
          </p:cNvPr>
          <p:cNvSpPr>
            <a:spLocks xmlns:a="http://schemas.openxmlformats.org/drawingml/2006/main" noGrp="1"/>
          </p:cNvSpPr>
          <p:nvPr/>
        </p:nvSpPr>
        <p:spPr>
          <a:xfrm xmlns:a="http://schemas.openxmlformats.org/drawingml/2006/main">
            <a:off x="1841500" y="6400800"/>
            <a:ext cx="125095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0">
                <a:solidFill>
                  <a:srgbClr val="526675"/>
                </a:solidFill>
                <a:latin typeface="Arial"/>
                <a:ea typeface="Arial"/>
                <a:cs typeface="Arial"/>
              </a:defRPr>
            </a:pPr>
            <a:r>
              <a:rPr sz="2400" b="0">
                <a:solidFill>
                  <a:srgbClr val="526675"/>
                </a:solidFill>
                <a:latin typeface="Arial"/>
                <a:ea typeface="Arial"/>
                <a:cs typeface="Arial"/>
              </a:rPr>
              <a:t>Test smaller models on independent data and include the full cost.</a:t>
            </a:r>
          </a:p>
        </p:txBody>
      </p:sp>
    </p:spTree>
    <p:extLst>
      <p:ext uri="{BB962C8B-B14F-4D97-AF65-F5344CB8AC3E}">
        <p14:creationId xmlns:p14="http://schemas.microsoft.com/office/powerpoint/2010/main" val="622632504"/>
      </p:ext>
    </p:extLst>
  </p:cSld>
</p:sld>
</file>

<file path=ppt/slides/slide14.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22" name="text-149">
            <a:extLst xmlns:a="http://schemas.openxmlformats.org/drawingml/2006/main">
              <a:ext uri="{FF2B5EF4-FFF2-40B4-BE49-F238E27FC236}">
                <a16:creationId xmlns:a16="http://schemas.microsoft.com/office/drawing/2014/main" id="{E4F026BA-D34C-4752-AE1F-A24771D91BA1}"/>
              </a:ext>
            </a:extLst>
          </p:cNvPr>
          <p:cNvSpPr>
            <a:spLocks xmlns:a="http://schemas.openxmlformats.org/drawingml/2006/main" noGrp="1"/>
          </p:cNvSpPr>
          <p:nvPr/>
        </p:nvSpPr>
        <p:spPr>
          <a:xfrm xmlns:a="http://schemas.openxmlformats.org/drawingml/2006/main">
            <a:off x="762000" y="558800"/>
            <a:ext cx="13843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900" b="1">
                <a:solidFill>
                  <a:srgbClr val="0B2033"/>
                </a:solidFill>
                <a:latin typeface="Arial"/>
                <a:ea typeface="Arial"/>
                <a:cs typeface="Arial"/>
              </a:defRPr>
            </a:pPr>
            <a:r>
              <a:rPr sz="3900" b="1">
                <a:solidFill>
                  <a:srgbClr val="0B2033"/>
                </a:solidFill>
                <a:latin typeface="Arial"/>
                <a:ea typeface="Arial"/>
                <a:cs typeface="Arial"/>
              </a:rPr>
              <a:t>Study 1: measure what the search misses</a:t>
            </a:r>
          </a:p>
        </p:txBody>
      </p:sp>
      <p:sp>
        <p:nvSpPr>
          <p:cNvPr id="2" name="rule-150">
            <a:extLst xmlns:a="http://schemas.openxmlformats.org/drawingml/2006/main">
              <a:ext uri="{FF2B5EF4-FFF2-40B4-BE49-F238E27FC236}">
                <a16:creationId xmlns:a16="http://schemas.microsoft.com/office/drawing/2014/main" id="{70AA5CEB-5E3E-4923-B97D-E8EA2900011A}"/>
              </a:ext>
            </a:extLst>
          </p:cNvPr>
          <p:cNvSpPr>
            <a:spLocks xmlns:a="http://schemas.openxmlformats.org/drawingml/2006/main" noGrp="1"/>
          </p:cNvSpPr>
          <p:nvPr/>
        </p:nvSpPr>
        <p:spPr>
          <a:xfrm xmlns:a="http://schemas.openxmlformats.org/drawingml/2006/main">
            <a:off x="762000" y="1701800"/>
            <a:ext cx="13716000" cy="0"/>
          </a:xfrm>
          <a:prstGeom xmlns:a="http://schemas.openxmlformats.org/drawingml/2006/main" prst="line">
            <a:avLst/>
          </a:prstGeom>
          <a:noFill xmlns:a="http://schemas.openxmlformats.org/drawingml/2006/main"/>
          <a:ln xmlns:a="http://schemas.openxmlformats.org/drawingml/2006/main" w="19050">
            <a:solidFill>
              <a:srgbClr val="0C7C78"/>
            </a:solidFill>
          </a:ln>
        </p:spPr>
      </p:sp>
      <p:sp>
        <p:nvSpPr>
          <p:cNvPr id="3" name="text-151">
            <a:extLst xmlns:a="http://schemas.openxmlformats.org/drawingml/2006/main">
              <a:ext uri="{FF2B5EF4-FFF2-40B4-BE49-F238E27FC236}">
                <a16:creationId xmlns:a16="http://schemas.microsoft.com/office/drawing/2014/main" id="{DA9E3B32-659D-4937-A497-6AA3C567DDB4}"/>
              </a:ext>
            </a:extLst>
          </p:cNvPr>
          <p:cNvSpPr>
            <a:spLocks xmlns:a="http://schemas.openxmlformats.org/drawingml/2006/main" noGrp="1"/>
          </p:cNvSpPr>
          <p:nvPr/>
        </p:nvSpPr>
        <p:spPr>
          <a:xfrm xmlns:a="http://schemas.openxmlformats.org/drawingml/2006/main">
            <a:off x="14122400" y="80772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600" b="0">
                <a:solidFill>
                  <a:srgbClr val="526675"/>
                </a:solidFill>
                <a:latin typeface="Arial"/>
                <a:ea typeface="Arial"/>
                <a:cs typeface="Arial"/>
              </a:defRPr>
            </a:pPr>
            <a:r>
              <a:rPr sz="1600" b="0">
                <a:solidFill>
                  <a:srgbClr val="526675"/>
                </a:solidFill>
                <a:latin typeface="Arial"/>
                <a:ea typeface="Arial"/>
                <a:cs typeface="Arial"/>
              </a:rPr>
              <a:t>14</a:t>
            </a:r>
          </a:p>
        </p:txBody>
      </p:sp>
      <p:sp>
        <p:nvSpPr>
          <p:cNvPr id="4" name="text-152">
            <a:extLst xmlns:a="http://schemas.openxmlformats.org/drawingml/2006/main">
              <a:ext uri="{FF2B5EF4-FFF2-40B4-BE49-F238E27FC236}">
                <a16:creationId xmlns:a16="http://schemas.microsoft.com/office/drawing/2014/main" id="{6678338B-2B33-4259-BACB-52F7E145CAE9}"/>
              </a:ext>
            </a:extLst>
          </p:cNvPr>
          <p:cNvSpPr>
            <a:spLocks xmlns:a="http://schemas.openxmlformats.org/drawingml/2006/main" noGrp="1"/>
          </p:cNvSpPr>
          <p:nvPr/>
        </p:nvSpPr>
        <p:spPr>
          <a:xfrm xmlns:a="http://schemas.openxmlformats.org/drawingml/2006/main">
            <a:off x="762000" y="2006600"/>
            <a:ext cx="1371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00" b="1">
                <a:solidFill>
                  <a:srgbClr val="0B2033"/>
                </a:solidFill>
                <a:latin typeface="Arial"/>
                <a:ea typeface="Arial"/>
                <a:cs typeface="Arial"/>
              </a:defRPr>
            </a:pPr>
            <a:r>
              <a:rPr sz="3100" b="1">
                <a:solidFill>
                  <a:srgbClr val="0B2033"/>
                </a:solidFill>
                <a:latin typeface="Arial"/>
                <a:ea typeface="Arial"/>
                <a:cs typeface="Arial"/>
              </a:rPr>
              <a:t>Small problems let us establish a complete reference.</a:t>
            </a:r>
          </a:p>
        </p:txBody>
      </p:sp>
      <p:sp>
        <p:nvSpPr>
          <p:cNvPr id="5" name="stage-153">
            <a:extLst xmlns:a="http://schemas.openxmlformats.org/drawingml/2006/main">
              <a:ext uri="{FF2B5EF4-FFF2-40B4-BE49-F238E27FC236}">
                <a16:creationId xmlns:a16="http://schemas.microsoft.com/office/drawing/2014/main" id="{824FA218-49B4-4E01-BE8F-591EEDB51D0F}"/>
              </a:ext>
            </a:extLst>
          </p:cNvPr>
          <p:cNvSpPr>
            <a:spLocks xmlns:a="http://schemas.openxmlformats.org/drawingml/2006/main" noGrp="1"/>
          </p:cNvSpPr>
          <p:nvPr/>
        </p:nvSpPr>
        <p:spPr>
          <a:xfrm xmlns:a="http://schemas.openxmlformats.org/drawingml/2006/main">
            <a:off x="762000" y="3289300"/>
            <a:ext cx="3937000" cy="2057400"/>
          </a:xfrm>
          <a:prstGeom xmlns:a="http://schemas.openxmlformats.org/drawingml/2006/main" prst="rect">
            <a:avLst/>
          </a:prstGeom>
          <a:solidFill xmlns:a="http://schemas.openxmlformats.org/drawingml/2006/main">
            <a:srgbClr val="F6F3EB"/>
          </a:solidFill>
          <a:ln xmlns:a="http://schemas.openxmlformats.org/drawingml/2006/main" w="16510">
            <a:solidFill>
              <a:srgbClr val="526675"/>
            </a:solidFill>
          </a:ln>
        </p:spPr>
      </p:sp>
      <p:sp>
        <p:nvSpPr>
          <p:cNvPr id="6" name="text-154">
            <a:extLst xmlns:a="http://schemas.openxmlformats.org/drawingml/2006/main">
              <a:ext uri="{FF2B5EF4-FFF2-40B4-BE49-F238E27FC236}">
                <a16:creationId xmlns:a16="http://schemas.microsoft.com/office/drawing/2014/main" id="{1813A996-B2E4-494A-B6F5-4D836E90647B}"/>
              </a:ext>
            </a:extLst>
          </p:cNvPr>
          <p:cNvSpPr>
            <a:spLocks xmlns:a="http://schemas.openxmlformats.org/drawingml/2006/main" noGrp="1"/>
          </p:cNvSpPr>
          <p:nvPr/>
        </p:nvSpPr>
        <p:spPr>
          <a:xfrm xmlns:a="http://schemas.openxmlformats.org/drawingml/2006/main">
            <a:off x="965200" y="3441700"/>
            <a:ext cx="35306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00" b="1">
                <a:solidFill>
                  <a:srgbClr val="0B2033"/>
                </a:solidFill>
                <a:latin typeface="Arial"/>
                <a:ea typeface="Arial"/>
                <a:cs typeface="Arial"/>
              </a:defRPr>
            </a:pPr>
            <a:r>
              <a:rPr sz="2500" b="1">
                <a:solidFill>
                  <a:srgbClr val="0B2033"/>
                </a:solidFill>
                <a:latin typeface="Arial"/>
                <a:ea typeface="Arial"/>
                <a:cs typeface="Arial"/>
              </a:rPr>
              <a:t>Same 8-input problem</a:t>
            </a:r>
          </a:p>
        </p:txBody>
      </p:sp>
      <p:sp>
        <p:nvSpPr>
          <p:cNvPr id="7" name="text-155">
            <a:extLst xmlns:a="http://schemas.openxmlformats.org/drawingml/2006/main">
              <a:ext uri="{FF2B5EF4-FFF2-40B4-BE49-F238E27FC236}">
                <a16:creationId xmlns:a16="http://schemas.microsoft.com/office/drawing/2014/main" id="{AB1EB409-B10E-4AA8-99CC-8AB9B069F229}"/>
              </a:ext>
            </a:extLst>
          </p:cNvPr>
          <p:cNvSpPr>
            <a:spLocks xmlns:a="http://schemas.openxmlformats.org/drawingml/2006/main" noGrp="1"/>
          </p:cNvSpPr>
          <p:nvPr/>
        </p:nvSpPr>
        <p:spPr>
          <a:xfrm xmlns:a="http://schemas.openxmlformats.org/drawingml/2006/main">
            <a:off x="965200" y="4025900"/>
            <a:ext cx="35306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00" b="0">
                <a:solidFill>
                  <a:srgbClr val="0B2033"/>
                </a:solidFill>
                <a:latin typeface="Arial"/>
                <a:ea typeface="Arial"/>
                <a:cs typeface="Arial"/>
              </a:defRPr>
            </a:pPr>
            <a:r>
              <a:rPr sz="2300" b="0">
                <a:solidFill>
                  <a:srgbClr val="0B2033"/>
                </a:solidFill>
                <a:latin typeface="Arial"/>
                <a:ea typeface="Arial"/>
                <a:cs typeface="Arial"/>
              </a:rPr>
              <a:t>Same data split, model</a:t>
            </a:r>
          </a:p>
          <a:p xmlns:a="http://schemas.openxmlformats.org/drawingml/2006/main">
            <a:pPr algn="l">
              <a:defRPr sz="2300" b="0">
                <a:solidFill>
                  <a:srgbClr val="0B2033"/>
                </a:solidFill>
                <a:latin typeface="Arial"/>
                <a:ea typeface="Arial"/>
                <a:cs typeface="Arial"/>
              </a:defRPr>
            </a:pPr>
            <a:r>
              <a:rPr sz="2300" b="0">
                <a:solidFill>
                  <a:srgbClr val="0B2033"/>
                </a:solidFill>
                <a:latin typeface="Arial"/>
                <a:ea typeface="Arial"/>
                <a:cs typeface="Arial"/>
              </a:rPr>
              <a:t>and performance requirement</a:t>
            </a:r>
          </a:p>
        </p:txBody>
      </p:sp>
      <p:sp>
        <p:nvSpPr>
          <p:cNvPr id="8" name="stage-156">
            <a:extLst xmlns:a="http://schemas.openxmlformats.org/drawingml/2006/main">
              <a:ext uri="{FF2B5EF4-FFF2-40B4-BE49-F238E27FC236}">
                <a16:creationId xmlns:a16="http://schemas.microsoft.com/office/drawing/2014/main" id="{1B08A1E0-C59E-4649-8EF1-EC4A6DB1F474}"/>
              </a:ext>
            </a:extLst>
          </p:cNvPr>
          <p:cNvSpPr>
            <a:spLocks xmlns:a="http://schemas.openxmlformats.org/drawingml/2006/main" noGrp="1"/>
          </p:cNvSpPr>
          <p:nvPr/>
        </p:nvSpPr>
        <p:spPr>
          <a:xfrm xmlns:a="http://schemas.openxmlformats.org/drawingml/2006/main">
            <a:off x="6070600" y="2870200"/>
            <a:ext cx="4089400" cy="1587500"/>
          </a:xfrm>
          <a:prstGeom xmlns:a="http://schemas.openxmlformats.org/drawingml/2006/main" prst="rect">
            <a:avLst/>
          </a:prstGeom>
          <a:solidFill xmlns:a="http://schemas.openxmlformats.org/drawingml/2006/main">
            <a:srgbClr val="E0F0EB"/>
          </a:solidFill>
          <a:ln xmlns:a="http://schemas.openxmlformats.org/drawingml/2006/main" w="16510">
            <a:solidFill>
              <a:srgbClr val="0C7C78"/>
            </a:solidFill>
          </a:ln>
        </p:spPr>
      </p:sp>
      <p:sp>
        <p:nvSpPr>
          <p:cNvPr id="9" name="text-157">
            <a:extLst xmlns:a="http://schemas.openxmlformats.org/drawingml/2006/main">
              <a:ext uri="{FF2B5EF4-FFF2-40B4-BE49-F238E27FC236}">
                <a16:creationId xmlns:a16="http://schemas.microsoft.com/office/drawing/2014/main" id="{9C1D39B8-CDFC-4F87-8188-4F5848470076}"/>
              </a:ext>
            </a:extLst>
          </p:cNvPr>
          <p:cNvSpPr>
            <a:spLocks xmlns:a="http://schemas.openxmlformats.org/drawingml/2006/main" noGrp="1"/>
          </p:cNvSpPr>
          <p:nvPr/>
        </p:nvSpPr>
        <p:spPr>
          <a:xfrm xmlns:a="http://schemas.openxmlformats.org/drawingml/2006/main">
            <a:off x="6273800" y="3022600"/>
            <a:ext cx="36830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00" b="1">
                <a:solidFill>
                  <a:srgbClr val="0C7C78"/>
                </a:solidFill>
                <a:latin typeface="Arial"/>
                <a:ea typeface="Arial"/>
                <a:cs typeface="Arial"/>
              </a:defRPr>
            </a:pPr>
            <a:r>
              <a:rPr sz="2500" b="1">
                <a:solidFill>
                  <a:srgbClr val="0C7C78"/>
                </a:solidFill>
                <a:latin typeface="Arial"/>
                <a:ea typeface="Arial"/>
                <a:cs typeface="Arial"/>
              </a:rPr>
              <a:t>Complete enumeration</a:t>
            </a:r>
          </a:p>
        </p:txBody>
      </p:sp>
      <p:sp>
        <p:nvSpPr>
          <p:cNvPr id="10" name="text-158">
            <a:extLst xmlns:a="http://schemas.openxmlformats.org/drawingml/2006/main">
              <a:ext uri="{FF2B5EF4-FFF2-40B4-BE49-F238E27FC236}">
                <a16:creationId xmlns:a16="http://schemas.microsoft.com/office/drawing/2014/main" id="{568E627D-7E4D-4761-96A0-731CECA23DEE}"/>
              </a:ext>
            </a:extLst>
          </p:cNvPr>
          <p:cNvSpPr>
            <a:spLocks xmlns:a="http://schemas.openxmlformats.org/drawingml/2006/main" noGrp="1"/>
          </p:cNvSpPr>
          <p:nvPr/>
        </p:nvSpPr>
        <p:spPr>
          <a:xfrm xmlns:a="http://schemas.openxmlformats.org/drawingml/2006/main">
            <a:off x="6273800" y="3606800"/>
            <a:ext cx="36830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00" b="0">
                <a:solidFill>
                  <a:srgbClr val="0B2033"/>
                </a:solidFill>
                <a:latin typeface="Arial"/>
                <a:ea typeface="Arial"/>
                <a:cs typeface="Arial"/>
              </a:defRPr>
            </a:pPr>
            <a:r>
              <a:rPr sz="2300" b="0">
                <a:solidFill>
                  <a:srgbClr val="0B2033"/>
                </a:solidFill>
                <a:latin typeface="Arial"/>
                <a:ea typeface="Arial"/>
                <a:cs typeface="Arial"/>
              </a:rPr>
              <a:t>Check all 256 subsets.</a:t>
            </a:r>
          </a:p>
        </p:txBody>
      </p:sp>
      <p:sp>
        <p:nvSpPr>
          <p:cNvPr id="11" name="stage-159">
            <a:extLst xmlns:a="http://schemas.openxmlformats.org/drawingml/2006/main">
              <a:ext uri="{FF2B5EF4-FFF2-40B4-BE49-F238E27FC236}">
                <a16:creationId xmlns:a16="http://schemas.microsoft.com/office/drawing/2014/main" id="{1DCCCDC1-7A29-4B72-832E-BF69BBF4DB87}"/>
              </a:ext>
            </a:extLst>
          </p:cNvPr>
          <p:cNvSpPr>
            <a:spLocks xmlns:a="http://schemas.openxmlformats.org/drawingml/2006/main" noGrp="1"/>
          </p:cNvSpPr>
          <p:nvPr/>
        </p:nvSpPr>
        <p:spPr>
          <a:xfrm xmlns:a="http://schemas.openxmlformats.org/drawingml/2006/main">
            <a:off x="6070600" y="5092700"/>
            <a:ext cx="4089400" cy="1587500"/>
          </a:xfrm>
          <a:prstGeom xmlns:a="http://schemas.openxmlformats.org/drawingml/2006/main" prst="rect">
            <a:avLst/>
          </a:prstGeom>
          <a:solidFill xmlns:a="http://schemas.openxmlformats.org/drawingml/2006/main">
            <a:srgbClr val="F6F3EB"/>
          </a:solidFill>
          <a:ln xmlns:a="http://schemas.openxmlformats.org/drawingml/2006/main" w="16510">
            <a:solidFill>
              <a:srgbClr val="526675"/>
            </a:solidFill>
          </a:ln>
        </p:spPr>
      </p:sp>
      <p:sp>
        <p:nvSpPr>
          <p:cNvPr id="12" name="text-160">
            <a:extLst xmlns:a="http://schemas.openxmlformats.org/drawingml/2006/main">
              <a:ext uri="{FF2B5EF4-FFF2-40B4-BE49-F238E27FC236}">
                <a16:creationId xmlns:a16="http://schemas.microsoft.com/office/drawing/2014/main" id="{1E1809B8-34B9-4284-90B9-84F87A513027}"/>
              </a:ext>
            </a:extLst>
          </p:cNvPr>
          <p:cNvSpPr>
            <a:spLocks xmlns:a="http://schemas.openxmlformats.org/drawingml/2006/main" noGrp="1"/>
          </p:cNvSpPr>
          <p:nvPr/>
        </p:nvSpPr>
        <p:spPr>
          <a:xfrm xmlns:a="http://schemas.openxmlformats.org/drawingml/2006/main">
            <a:off x="6273800" y="5245100"/>
            <a:ext cx="36830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00" b="1">
                <a:solidFill>
                  <a:srgbClr val="0B2033"/>
                </a:solidFill>
                <a:latin typeface="Arial"/>
                <a:ea typeface="Arial"/>
                <a:cs typeface="Arial"/>
              </a:defRPr>
            </a:pPr>
            <a:r>
              <a:rPr sz="2500" b="1">
                <a:solidFill>
                  <a:srgbClr val="0B2033"/>
                </a:solidFill>
                <a:latin typeface="Arial"/>
                <a:ea typeface="Arial"/>
                <a:cs typeface="Arial"/>
              </a:rPr>
              <a:t>Limited-budget search</a:t>
            </a:r>
          </a:p>
        </p:txBody>
      </p:sp>
      <p:sp>
        <p:nvSpPr>
          <p:cNvPr id="13" name="text-161">
            <a:extLst xmlns:a="http://schemas.openxmlformats.org/drawingml/2006/main">
              <a:ext uri="{FF2B5EF4-FFF2-40B4-BE49-F238E27FC236}">
                <a16:creationId xmlns:a16="http://schemas.microsoft.com/office/drawing/2014/main" id="{879C4085-2BCF-4004-880E-9A2ACD615543}"/>
              </a:ext>
            </a:extLst>
          </p:cNvPr>
          <p:cNvSpPr>
            <a:spLocks xmlns:a="http://schemas.openxmlformats.org/drawingml/2006/main" noGrp="1"/>
          </p:cNvSpPr>
          <p:nvPr/>
        </p:nvSpPr>
        <p:spPr>
          <a:xfrm xmlns:a="http://schemas.openxmlformats.org/drawingml/2006/main">
            <a:off x="6273800" y="5829300"/>
            <a:ext cx="36830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00" b="0">
                <a:solidFill>
                  <a:srgbClr val="0B2033"/>
                </a:solidFill>
                <a:latin typeface="Arial"/>
                <a:ea typeface="Arial"/>
                <a:cs typeface="Arial"/>
              </a:defRPr>
            </a:pPr>
            <a:r>
              <a:rPr sz="2300" b="0">
                <a:solidFill>
                  <a:srgbClr val="0B2033"/>
                </a:solidFill>
                <a:latin typeface="Arial"/>
                <a:ea typeface="Arial"/>
                <a:cs typeface="Arial"/>
              </a:rPr>
              <a:t>Let A or B request subsets.</a:t>
            </a:r>
          </a:p>
        </p:txBody>
      </p:sp>
      <p:sp>
        <p:nvSpPr>
          <p:cNvPr id="14" name="stage-162">
            <a:extLst xmlns:a="http://schemas.openxmlformats.org/drawingml/2006/main">
              <a:ext uri="{FF2B5EF4-FFF2-40B4-BE49-F238E27FC236}">
                <a16:creationId xmlns:a16="http://schemas.microsoft.com/office/drawing/2014/main" id="{8AABABF0-3B9D-451C-A340-AB5F2EF75D06}"/>
              </a:ext>
            </a:extLst>
          </p:cNvPr>
          <p:cNvSpPr>
            <a:spLocks xmlns:a="http://schemas.openxmlformats.org/drawingml/2006/main" noGrp="1"/>
          </p:cNvSpPr>
          <p:nvPr/>
        </p:nvSpPr>
        <p:spPr>
          <a:xfrm xmlns:a="http://schemas.openxmlformats.org/drawingml/2006/main">
            <a:off x="11366500" y="3937000"/>
            <a:ext cx="3111500" cy="2044700"/>
          </a:xfrm>
          <a:prstGeom xmlns:a="http://schemas.openxmlformats.org/drawingml/2006/main" prst="rect">
            <a:avLst/>
          </a:prstGeom>
          <a:solidFill xmlns:a="http://schemas.openxmlformats.org/drawingml/2006/main">
            <a:srgbClr val="F6F3EB"/>
          </a:solidFill>
          <a:ln xmlns:a="http://schemas.openxmlformats.org/drawingml/2006/main" w="16510">
            <a:solidFill>
              <a:srgbClr val="526675"/>
            </a:solidFill>
          </a:ln>
        </p:spPr>
      </p:sp>
      <p:sp>
        <p:nvSpPr>
          <p:cNvPr id="15" name="text-163">
            <a:extLst xmlns:a="http://schemas.openxmlformats.org/drawingml/2006/main">
              <a:ext uri="{FF2B5EF4-FFF2-40B4-BE49-F238E27FC236}">
                <a16:creationId xmlns:a16="http://schemas.microsoft.com/office/drawing/2014/main" id="{A1D97AC4-1284-4171-A7BC-68DB6C73BB7F}"/>
              </a:ext>
            </a:extLst>
          </p:cNvPr>
          <p:cNvSpPr>
            <a:spLocks xmlns:a="http://schemas.openxmlformats.org/drawingml/2006/main" noGrp="1"/>
          </p:cNvSpPr>
          <p:nvPr/>
        </p:nvSpPr>
        <p:spPr>
          <a:xfrm xmlns:a="http://schemas.openxmlformats.org/drawingml/2006/main">
            <a:off x="11569700" y="4089400"/>
            <a:ext cx="27051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00" b="1">
                <a:solidFill>
                  <a:srgbClr val="0B2033"/>
                </a:solidFill>
                <a:latin typeface="Arial"/>
                <a:ea typeface="Arial"/>
                <a:cs typeface="Arial"/>
              </a:defRPr>
            </a:pPr>
            <a:r>
              <a:rPr sz="2500" b="1">
                <a:solidFill>
                  <a:srgbClr val="0B2033"/>
                </a:solidFill>
                <a:latin typeface="Arial"/>
                <a:ea typeface="Arial"/>
                <a:cs typeface="Arial"/>
              </a:rPr>
              <a:t>Compare</a:t>
            </a:r>
          </a:p>
        </p:txBody>
      </p:sp>
      <p:sp>
        <p:nvSpPr>
          <p:cNvPr id="16" name="text-164">
            <a:extLst xmlns:a="http://schemas.openxmlformats.org/drawingml/2006/main">
              <a:ext uri="{FF2B5EF4-FFF2-40B4-BE49-F238E27FC236}">
                <a16:creationId xmlns:a16="http://schemas.microsoft.com/office/drawing/2014/main" id="{7A2A3BF3-54A4-4C3C-A5D4-16D96F048930}"/>
              </a:ext>
            </a:extLst>
          </p:cNvPr>
          <p:cNvSpPr>
            <a:spLocks xmlns:a="http://schemas.openxmlformats.org/drawingml/2006/main" noGrp="1"/>
          </p:cNvSpPr>
          <p:nvPr/>
        </p:nvSpPr>
        <p:spPr>
          <a:xfrm xmlns:a="http://schemas.openxmlformats.org/drawingml/2006/main">
            <a:off x="11569700" y="4673600"/>
            <a:ext cx="27051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00" b="0">
                <a:solidFill>
                  <a:srgbClr val="0B2033"/>
                </a:solidFill>
                <a:latin typeface="Arial"/>
                <a:ea typeface="Arial"/>
                <a:cs typeface="Arial"/>
              </a:defRPr>
            </a:pPr>
            <a:r>
              <a:rPr sz="2300" b="0">
                <a:solidFill>
                  <a:srgbClr val="0B2033"/>
                </a:solidFill>
                <a:latin typeface="Arial"/>
                <a:ea typeface="Arial"/>
                <a:cs typeface="Arial"/>
              </a:rPr>
              <a:t>How many harmful</a:t>
            </a:r>
          </a:p>
          <a:p xmlns:a="http://schemas.openxmlformats.org/drawingml/2006/main">
            <a:pPr algn="l">
              <a:defRPr sz="2300" b="0">
                <a:solidFill>
                  <a:srgbClr val="0B2033"/>
                </a:solidFill>
                <a:latin typeface="Arial"/>
                <a:ea typeface="Arial"/>
                <a:cs typeface="Arial"/>
              </a:defRPr>
            </a:pPr>
            <a:r>
              <a:rPr sz="2300" b="0">
                <a:solidFill>
                  <a:srgbClr val="0B2033"/>
                </a:solidFill>
                <a:latin typeface="Arial"/>
                <a:ea typeface="Arial"/>
                <a:cs typeface="Arial"/>
              </a:rPr>
              <a:t>inputs were found?</a:t>
            </a:r>
          </a:p>
        </p:txBody>
      </p:sp>
      <p:cxnSp>
        <p:nvCxnSpPr>
          <p:cNvPr id="38" name=""/>
          <p:cNvCxnSpPr>
            <a:stCxn xmlns:a="http://schemas.openxmlformats.org/drawingml/2006/main" id="5" idx="3"/>
            <a:endCxn xmlns:a="http://schemas.openxmlformats.org/drawingml/2006/main" id="8" idx="1"/>
          </p:cNvCxnSpPr>
          <p:nvPr/>
        </p:nvCxnSpPr>
        <p:spPr>
          <a:xfrm xmlns:a="http://schemas.openxmlformats.org/drawingml/2006/main" flipV="1">
            <a:off x="4699000" y="3663950"/>
            <a:ext cx="1371600" cy="654050"/>
          </a:xfrm>
          <a:prstGeom xmlns:a="http://schemas.openxmlformats.org/drawingml/2006/main" prst="bentConnector3">
            <a:avLst>
              <a:gd name="adj1" fmla="val 50000"/>
            </a:avLst>
          </a:prstGeom>
          <a:ln xmlns:a="http://schemas.openxmlformats.org/drawingml/2006/main" w="25400">
            <a:solidFill>
              <a:srgbClr val="0C7C78"/>
            </a:solidFill>
            <a:tailEnd type="triangle" w="med" len="med"/>
          </a:ln>
        </p:spPr>
      </p:cxnSp>
      <p:cxnSp>
        <p:nvCxnSpPr>
          <p:cNvPr id="39" name=""/>
          <p:cNvCxnSpPr>
            <a:stCxn xmlns:a="http://schemas.openxmlformats.org/drawingml/2006/main" id="5" idx="3"/>
            <a:endCxn xmlns:a="http://schemas.openxmlformats.org/drawingml/2006/main" id="11" idx="1"/>
          </p:cNvCxnSpPr>
          <p:nvPr/>
        </p:nvCxnSpPr>
        <p:spPr>
          <a:xfrm xmlns:a="http://schemas.openxmlformats.org/drawingml/2006/main">
            <a:off x="4699000" y="4318000"/>
            <a:ext cx="1371600" cy="1568450"/>
          </a:xfrm>
          <a:prstGeom xmlns:a="http://schemas.openxmlformats.org/drawingml/2006/main" prst="bentConnector3">
            <a:avLst>
              <a:gd name="adj1" fmla="val 50000"/>
            </a:avLst>
          </a:prstGeom>
          <a:ln xmlns:a="http://schemas.openxmlformats.org/drawingml/2006/main" w="25400">
            <a:solidFill>
              <a:srgbClr val="0C7C78"/>
            </a:solidFill>
            <a:tailEnd type="triangle" w="med" len="med"/>
          </a:ln>
        </p:spPr>
      </p:cxnSp>
      <p:cxnSp>
        <p:nvCxnSpPr>
          <p:cNvPr id="40" name=""/>
          <p:cNvCxnSpPr>
            <a:stCxn xmlns:a="http://schemas.openxmlformats.org/drawingml/2006/main" id="8" idx="3"/>
            <a:endCxn xmlns:a="http://schemas.openxmlformats.org/drawingml/2006/main" id="14" idx="1"/>
          </p:cNvCxnSpPr>
          <p:nvPr/>
        </p:nvCxnSpPr>
        <p:spPr>
          <a:xfrm xmlns:a="http://schemas.openxmlformats.org/drawingml/2006/main">
            <a:off x="10160000" y="3663950"/>
            <a:ext cx="1206500" cy="1295400"/>
          </a:xfrm>
          <a:prstGeom xmlns:a="http://schemas.openxmlformats.org/drawingml/2006/main" prst="bentConnector3">
            <a:avLst>
              <a:gd name="adj1" fmla="val 50000"/>
            </a:avLst>
          </a:prstGeom>
          <a:ln xmlns:a="http://schemas.openxmlformats.org/drawingml/2006/main" w="25400">
            <a:solidFill>
              <a:srgbClr val="0C7C78"/>
            </a:solidFill>
            <a:tailEnd type="triangle" w="med" len="med"/>
          </a:ln>
        </p:spPr>
      </p:cxnSp>
      <p:cxnSp>
        <p:nvCxnSpPr>
          <p:cNvPr id="41" name=""/>
          <p:cNvCxnSpPr>
            <a:stCxn xmlns:a="http://schemas.openxmlformats.org/drawingml/2006/main" id="11" idx="3"/>
            <a:endCxn xmlns:a="http://schemas.openxmlformats.org/drawingml/2006/main" id="14" idx="1"/>
          </p:cNvCxnSpPr>
          <p:nvPr/>
        </p:nvCxnSpPr>
        <p:spPr>
          <a:xfrm xmlns:a="http://schemas.openxmlformats.org/drawingml/2006/main" flipV="1">
            <a:off x="10160000" y="4959350"/>
            <a:ext cx="1206500" cy="927100"/>
          </a:xfrm>
          <a:prstGeom xmlns:a="http://schemas.openxmlformats.org/drawingml/2006/main" prst="bentConnector3">
            <a:avLst>
              <a:gd name="adj1" fmla="val 50000"/>
            </a:avLst>
          </a:prstGeom>
          <a:ln xmlns:a="http://schemas.openxmlformats.org/drawingml/2006/main" w="25400">
            <a:solidFill>
              <a:srgbClr val="0C7C78"/>
            </a:solidFill>
            <a:tailEnd type="triangle" w="med" len="med"/>
          </a:ln>
        </p:spPr>
      </p:cxnSp>
      <p:sp>
        <p:nvSpPr>
          <p:cNvPr id="21" name="text-165">
            <a:extLst xmlns:a="http://schemas.openxmlformats.org/drawingml/2006/main">
              <a:ext uri="{FF2B5EF4-FFF2-40B4-BE49-F238E27FC236}">
                <a16:creationId xmlns:a16="http://schemas.microsoft.com/office/drawing/2014/main" id="{C1EA20B6-E711-4404-A4FD-61374A43F27A}"/>
              </a:ext>
            </a:extLst>
          </p:cNvPr>
          <p:cNvSpPr>
            <a:spLocks xmlns:a="http://schemas.openxmlformats.org/drawingml/2006/main" noGrp="1"/>
          </p:cNvSpPr>
          <p:nvPr/>
        </p:nvSpPr>
        <p:spPr>
          <a:xfrm xmlns:a="http://schemas.openxmlformats.org/drawingml/2006/main">
            <a:off x="762000" y="7277100"/>
            <a:ext cx="1371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00" b="1">
                <a:solidFill>
                  <a:srgbClr val="0C7C78"/>
                </a:solidFill>
                <a:latin typeface="Arial"/>
                <a:ea typeface="Arial"/>
                <a:cs typeface="Arial"/>
              </a:defRPr>
            </a:pPr>
            <a:r>
              <a:rPr sz="2600" b="1">
                <a:solidFill>
                  <a:srgbClr val="0C7C78"/>
                </a:solidFill>
                <a:latin typeface="Arial"/>
                <a:ea typeface="Arial"/>
                <a:cs typeface="Arial"/>
              </a:rPr>
              <a:t>Success means finding more of the known harmful inputs at the same budget.</a:t>
            </a:r>
          </a:p>
        </p:txBody>
      </p:sp>
    </p:spTree>
    <p:extLst>
      <p:ext uri="{BB962C8B-B14F-4D97-AF65-F5344CB8AC3E}">
        <p14:creationId xmlns:p14="http://schemas.microsoft.com/office/powerpoint/2010/main" val="1497163778"/>
      </p:ext>
    </p:extLst>
  </p:cSld>
</p:sld>
</file>

<file path=ppt/slides/slide15.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7" name="text-166">
            <a:extLst xmlns:a="http://schemas.openxmlformats.org/drawingml/2006/main">
              <a:ext uri="{FF2B5EF4-FFF2-40B4-BE49-F238E27FC236}">
                <a16:creationId xmlns:a16="http://schemas.microsoft.com/office/drawing/2014/main" id="{75254D7A-AA7E-4FB0-A599-89E01E0F6819}"/>
              </a:ext>
            </a:extLst>
          </p:cNvPr>
          <p:cNvSpPr>
            <a:spLocks xmlns:a="http://schemas.openxmlformats.org/drawingml/2006/main" noGrp="1"/>
          </p:cNvSpPr>
          <p:nvPr/>
        </p:nvSpPr>
        <p:spPr>
          <a:xfrm xmlns:a="http://schemas.openxmlformats.org/drawingml/2006/main">
            <a:off x="762000" y="558800"/>
            <a:ext cx="13843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900" b="1">
                <a:solidFill>
                  <a:srgbClr val="0B2033"/>
                </a:solidFill>
                <a:latin typeface="Arial"/>
                <a:ea typeface="Arial"/>
                <a:cs typeface="Arial"/>
              </a:defRPr>
            </a:pPr>
            <a:r>
              <a:rPr sz="3900" b="1">
                <a:solidFill>
                  <a:srgbClr val="0B2033"/>
                </a:solidFill>
                <a:latin typeface="Arial"/>
                <a:ea typeface="Arial"/>
                <a:cs typeface="Arial"/>
              </a:rPr>
              <a:t>Study 2: explain why some witnesses are harder to find</a:t>
            </a:r>
          </a:p>
        </p:txBody>
      </p:sp>
      <p:sp>
        <p:nvSpPr>
          <p:cNvPr id="2" name="rule-167">
            <a:extLst xmlns:a="http://schemas.openxmlformats.org/drawingml/2006/main">
              <a:ext uri="{FF2B5EF4-FFF2-40B4-BE49-F238E27FC236}">
                <a16:creationId xmlns:a16="http://schemas.microsoft.com/office/drawing/2014/main" id="{9C1CA36E-8C67-4599-A860-2C6E09DEB82F}"/>
              </a:ext>
            </a:extLst>
          </p:cNvPr>
          <p:cNvSpPr>
            <a:spLocks xmlns:a="http://schemas.openxmlformats.org/drawingml/2006/main" noGrp="1"/>
          </p:cNvSpPr>
          <p:nvPr/>
        </p:nvSpPr>
        <p:spPr>
          <a:xfrm xmlns:a="http://schemas.openxmlformats.org/drawingml/2006/main">
            <a:off x="762000" y="1701800"/>
            <a:ext cx="13716000" cy="0"/>
          </a:xfrm>
          <a:prstGeom xmlns:a="http://schemas.openxmlformats.org/drawingml/2006/main" prst="line">
            <a:avLst/>
          </a:prstGeom>
          <a:noFill xmlns:a="http://schemas.openxmlformats.org/drawingml/2006/main"/>
          <a:ln xmlns:a="http://schemas.openxmlformats.org/drawingml/2006/main" w="19050">
            <a:solidFill>
              <a:srgbClr val="0C7C78"/>
            </a:solidFill>
          </a:ln>
        </p:spPr>
      </p:sp>
      <p:sp>
        <p:nvSpPr>
          <p:cNvPr id="3" name="text-168">
            <a:extLst xmlns:a="http://schemas.openxmlformats.org/drawingml/2006/main">
              <a:ext uri="{FF2B5EF4-FFF2-40B4-BE49-F238E27FC236}">
                <a16:creationId xmlns:a16="http://schemas.microsoft.com/office/drawing/2014/main" id="{B0616DF2-28A1-4E51-98C8-73AF0E87947D}"/>
              </a:ext>
            </a:extLst>
          </p:cNvPr>
          <p:cNvSpPr>
            <a:spLocks xmlns:a="http://schemas.openxmlformats.org/drawingml/2006/main" noGrp="1"/>
          </p:cNvSpPr>
          <p:nvPr/>
        </p:nvSpPr>
        <p:spPr>
          <a:xfrm xmlns:a="http://schemas.openxmlformats.org/drawingml/2006/main">
            <a:off x="14122400" y="80772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600" b="0">
                <a:solidFill>
                  <a:srgbClr val="526675"/>
                </a:solidFill>
                <a:latin typeface="Arial"/>
                <a:ea typeface="Arial"/>
                <a:cs typeface="Arial"/>
              </a:defRPr>
            </a:pPr>
            <a:r>
              <a:rPr sz="1600" b="0">
                <a:solidFill>
                  <a:srgbClr val="526675"/>
                </a:solidFill>
                <a:latin typeface="Arial"/>
                <a:ea typeface="Arial"/>
                <a:cs typeface="Arial"/>
              </a:rPr>
              <a:t>15</a:t>
            </a:r>
          </a:p>
        </p:txBody>
      </p:sp>
      <p:sp>
        <p:nvSpPr>
          <p:cNvPr id="4" name="text-169">
            <a:extLst xmlns:a="http://schemas.openxmlformats.org/drawingml/2006/main">
              <a:ext uri="{FF2B5EF4-FFF2-40B4-BE49-F238E27FC236}">
                <a16:creationId xmlns:a16="http://schemas.microsoft.com/office/drawing/2014/main" id="{9FC20A00-6460-4729-9378-8D4F2C8F3128}"/>
              </a:ext>
            </a:extLst>
          </p:cNvPr>
          <p:cNvSpPr>
            <a:spLocks xmlns:a="http://schemas.openxmlformats.org/drawingml/2006/main" noGrp="1"/>
          </p:cNvSpPr>
          <p:nvPr/>
        </p:nvSpPr>
        <p:spPr>
          <a:xfrm xmlns:a="http://schemas.openxmlformats.org/drawingml/2006/main">
            <a:off x="762000" y="1968500"/>
            <a:ext cx="13716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00" b="0">
                <a:solidFill>
                  <a:srgbClr val="526675"/>
                </a:solidFill>
                <a:latin typeface="Arial"/>
                <a:ea typeface="Arial"/>
                <a:cs typeface="Arial"/>
              </a:defRPr>
            </a:pPr>
            <a:r>
              <a:rPr sz="2200" b="0">
                <a:solidFill>
                  <a:srgbClr val="526675"/>
                </a:solidFill>
                <a:latin typeface="Arial"/>
                <a:ea typeface="Arial"/>
                <a:cs typeface="Arial"/>
              </a:rPr>
              <a:t>Planned controlled experiment</a:t>
            </a:r>
          </a:p>
        </p:txBody>
      </p:sp>
      <p:graphicFrame>
        <p:nvGraphicFramePr>
          <p:cNvPr id="11" name=""/>
          <p:cNvGraphicFramePr/>
          <p:nvPr/>
        </p:nvGraphicFramePr>
        <p:xfrm>
          <a:off xmlns:a="http://schemas.openxmlformats.org/drawingml/2006/main" x="762000" y="2844800"/>
          <a:ext xmlns:a="http://schemas.openxmlformats.org/drawingml/2006/main" cx="13716000" cy="3771900"/>
        </p:xfrm>
        <a:graphic xmlns:a="http://schemas.openxmlformats.org/drawingml/2006/main">
          <a:graphicData uri="http://schemas.openxmlformats.org/drawingml/2006/table">
            <a:tbl>
              <a:tblPr/>
              <a:tblGrid>
                <a:gridCol w="3683000"/>
                <a:gridCol w="5397500"/>
                <a:gridCol w="4635500"/>
              </a:tblGrid>
              <a:tr h="609600">
                <a:tc>
                  <a:txBody>
                    <a:bodyPr>
                      <a:noAutofit/>
                    </a:bodyPr>
                    <a:lstStyle/>
                    <a:p>
                      <a:r>
                        <a:rPr sz="2300" b="1">
                          <a:solidFill>
                            <a:srgbClr val="FFFFFF"/>
                          </a:solidFill>
                          <a:latin typeface="Arial"/>
                          <a:ea typeface="Arial"/>
                          <a:cs typeface="Arial"/>
                        </a:rPr>
                        <a:t>Controlled structure</a:t>
                      </a:r>
                    </a:p>
                  </a:txBody>
                  <a:tcPr marL="91440" marR="91440" marT="45720" marB="45720">
                    <a:solidFill>
                      <a:srgbClr val="0B2033"/>
                    </a:solidFill>
                  </a:tcPr>
                </a:tc>
                <a:tc>
                  <a:txBody>
                    <a:bodyPr>
                      <a:noAutofit/>
                    </a:bodyPr>
                    <a:lstStyle/>
                    <a:p>
                      <a:r>
                        <a:rPr sz="2300" b="1">
                          <a:solidFill>
                            <a:srgbClr val="FFFFFF"/>
                          </a:solidFill>
                          <a:latin typeface="Arial"/>
                          <a:ea typeface="Arial"/>
                          <a:cs typeface="Arial"/>
                        </a:rPr>
                        <a:t>What changes in the inputs</a:t>
                      </a:r>
                    </a:p>
                  </a:txBody>
                  <a:tcPr marL="91440" marR="91440" marT="45720" marB="45720">
                    <a:solidFill>
                      <a:srgbClr val="0B2033"/>
                    </a:solidFill>
                  </a:tcPr>
                </a:tc>
                <a:tc>
                  <a:txBody>
                    <a:bodyPr>
                      <a:noAutofit/>
                    </a:bodyPr>
                    <a:lstStyle/>
                    <a:p>
                      <a:r>
                        <a:rPr sz="2300" b="1">
                          <a:solidFill>
                            <a:srgbClr val="FFFFFF"/>
                          </a:solidFill>
                          <a:latin typeface="Arial"/>
                          <a:ea typeface="Arial"/>
                          <a:cs typeface="Arial"/>
                        </a:rPr>
                        <a:t>What we learn</a:t>
                      </a:r>
                    </a:p>
                  </a:txBody>
                  <a:tcPr marL="91440" marR="91440" marT="45720" marB="45720">
                    <a:solidFill>
                      <a:srgbClr val="0B2033"/>
                    </a:solidFill>
                  </a:tcPr>
                </a:tc>
              </a:tr>
              <a:tr h="1054100">
                <a:tc>
                  <a:txBody>
                    <a:bodyPr>
                      <a:noAutofit/>
                    </a:bodyPr>
                    <a:lstStyle/>
                    <a:p>
                      <a:r>
                        <a:rPr sz="2300" b="0">
                          <a:solidFill>
                            <a:srgbClr val="0B2033"/>
                          </a:solidFill>
                          <a:latin typeface="Arial"/>
                          <a:ea typeface="Arial"/>
                          <a:cs typeface="Arial"/>
                        </a:rPr>
                        <a:t>Signal with distractors</a:t>
                      </a:r>
                    </a:p>
                  </a:txBody>
                  <a:tcPr marL="91440" marR="91440" marT="45720" marB="45720">
                    <a:solidFill>
                      <a:srgbClr val="F6F3EB"/>
                    </a:solidFill>
                  </a:tcPr>
                </a:tc>
                <a:tc>
                  <a:txBody>
                    <a:bodyPr>
                      <a:noAutofit/>
                    </a:bodyPr>
                    <a:lstStyle/>
                    <a:p>
                      <a:r>
                        <a:rPr sz="2300" b="0">
                          <a:solidFill>
                            <a:srgbClr val="0B2033"/>
                          </a:solidFill>
                          <a:latin typeface="Arial"/>
                          <a:ea typeface="Arial"/>
                          <a:cs typeface="Arial"/>
                        </a:rPr>
                        <a:t>Useful variables plus unrelated columns.</a:t>
                      </a:r>
                    </a:p>
                  </a:txBody>
                  <a:tcPr marL="91440" marR="91440" marT="45720" marB="45720">
                    <a:solidFill>
                      <a:srgbClr val="F6F3EB"/>
                    </a:solidFill>
                  </a:tcPr>
                </a:tc>
                <a:tc>
                  <a:txBody>
                    <a:bodyPr>
                      <a:noAutofit/>
                    </a:bodyPr>
                    <a:lstStyle/>
                    <a:p>
                      <a:r>
                        <a:rPr sz="2300" b="0">
                          <a:solidFill>
                            <a:srgbClr val="0B2033"/>
                          </a:solidFill>
                          <a:latin typeface="Arial"/>
                          <a:ea typeface="Arial"/>
                          <a:cs typeface="Arial"/>
                        </a:rPr>
                        <a:t>Whether extra noise creates difficult contexts.</a:t>
                      </a:r>
                    </a:p>
                  </a:txBody>
                  <a:tcPr marL="91440" marR="91440" marT="45720" marB="45720">
                    <a:solidFill>
                      <a:srgbClr val="F6F3EB"/>
                    </a:solidFill>
                  </a:tcPr>
                </a:tc>
              </a:tr>
              <a:tr h="1054100">
                <a:tc>
                  <a:txBody>
                    <a:bodyPr>
                      <a:noAutofit/>
                    </a:bodyPr>
                    <a:lstStyle/>
                    <a:p>
                      <a:r>
                        <a:rPr sz="2300" b="0">
                          <a:solidFill>
                            <a:srgbClr val="0B2033"/>
                          </a:solidFill>
                          <a:latin typeface="Arial"/>
                          <a:ea typeface="Arial"/>
                          <a:cs typeface="Arial"/>
                        </a:rPr>
                        <a:t>Correlated redundancy</a:t>
                      </a:r>
                    </a:p>
                  </a:txBody>
                  <a:tcPr marL="91440" marR="91440" marT="45720" marB="45720">
                    <a:solidFill>
                      <a:srgbClr val="EEEEE7"/>
                    </a:solidFill>
                  </a:tcPr>
                </a:tc>
                <a:tc>
                  <a:txBody>
                    <a:bodyPr>
                      <a:noAutofit/>
                    </a:bodyPr>
                    <a:lstStyle/>
                    <a:p>
                      <a:r>
                        <a:rPr sz="2300" b="0">
                          <a:solidFill>
                            <a:srgbClr val="0B2033"/>
                          </a:solidFill>
                          <a:latin typeface="Arial"/>
                          <a:ea typeface="Arial"/>
                          <a:cs typeface="Arial"/>
                        </a:rPr>
                        <a:t>Add noisy copies of informative variables.</a:t>
                      </a:r>
                    </a:p>
                  </a:txBody>
                  <a:tcPr marL="91440" marR="91440" marT="45720" marB="45720">
                    <a:solidFill>
                      <a:srgbClr val="EEEEE7"/>
                    </a:solidFill>
                  </a:tcPr>
                </a:tc>
                <a:tc>
                  <a:txBody>
                    <a:bodyPr>
                      <a:noAutofit/>
                    </a:bodyPr>
                    <a:lstStyle/>
                    <a:p>
                      <a:r>
                        <a:rPr sz="2300" b="0">
                          <a:solidFill>
                            <a:srgbClr val="0B2033"/>
                          </a:solidFill>
                          <a:latin typeface="Arial"/>
                          <a:ea typeface="Arial"/>
                          <a:cs typeface="Arial"/>
                        </a:rPr>
                        <a:t>How overlapping information affects discovery.</a:t>
                      </a:r>
                    </a:p>
                  </a:txBody>
                  <a:tcPr marL="91440" marR="91440" marT="45720" marB="45720">
                    <a:solidFill>
                      <a:srgbClr val="EEEEE7"/>
                    </a:solidFill>
                  </a:tcPr>
                </a:tc>
              </a:tr>
              <a:tr h="1054100">
                <a:tc>
                  <a:txBody>
                    <a:bodyPr>
                      <a:noAutofit/>
                    </a:bodyPr>
                    <a:lstStyle/>
                    <a:p>
                      <a:r>
                        <a:rPr sz="2300" b="0">
                          <a:solidFill>
                            <a:srgbClr val="0B2033"/>
                          </a:solidFill>
                          <a:latin typeface="Arial"/>
                          <a:ea typeface="Arial"/>
                          <a:cs typeface="Arial"/>
                        </a:rPr>
                        <a:t>Interaction</a:t>
                      </a:r>
                    </a:p>
                  </a:txBody>
                  <a:tcPr marL="91440" marR="91440" marT="45720" marB="45720">
                    <a:solidFill>
                      <a:srgbClr val="F6F3EB"/>
                    </a:solidFill>
                  </a:tcPr>
                </a:tc>
                <a:tc>
                  <a:txBody>
                    <a:bodyPr>
                      <a:noAutofit/>
                    </a:bodyPr>
                    <a:lstStyle/>
                    <a:p>
                      <a:r>
                        <a:rPr sz="2300" b="0">
                          <a:solidFill>
                            <a:srgbClr val="0B2033"/>
                          </a:solidFill>
                          <a:latin typeface="Arial"/>
                          <a:ea typeface="Arial"/>
                          <a:cs typeface="Arial"/>
                        </a:rPr>
                        <a:t>The target depends on a combination of variables.</a:t>
                      </a:r>
                    </a:p>
                  </a:txBody>
                  <a:tcPr marL="91440" marR="91440" marT="45720" marB="45720">
                    <a:solidFill>
                      <a:srgbClr val="F6F3EB"/>
                    </a:solidFill>
                  </a:tcPr>
                </a:tc>
                <a:tc>
                  <a:txBody>
                    <a:bodyPr>
                      <a:noAutofit/>
                    </a:bodyPr>
                    <a:lstStyle/>
                    <a:p>
                      <a:r>
                        <a:rPr sz="2300" b="0">
                          <a:solidFill>
                            <a:srgbClr val="0B2033"/>
                          </a:solidFill>
                          <a:latin typeface="Arial"/>
                          <a:ea typeface="Arial"/>
                          <a:cs typeface="Arial"/>
                        </a:rPr>
                        <a:t>Whether the search reaches important combinations.</a:t>
                      </a:r>
                    </a:p>
                  </a:txBody>
                  <a:tcPr marL="91440" marR="91440" marT="45720" marB="45720">
                    <a:solidFill>
                      <a:srgbClr val="F6F3EB"/>
                    </a:solidFill>
                  </a:tcPr>
                </a:tc>
              </a:tr>
            </a:tbl>
          </a:graphicData>
        </a:graphic>
      </p:graphicFrame>
      <p:sp>
        <p:nvSpPr>
          <p:cNvPr id="6" name="text-170">
            <a:extLst xmlns:a="http://schemas.openxmlformats.org/drawingml/2006/main">
              <a:ext uri="{FF2B5EF4-FFF2-40B4-BE49-F238E27FC236}">
                <a16:creationId xmlns:a16="http://schemas.microsoft.com/office/drawing/2014/main" id="{89464F44-E657-47FD-81CF-FBCF3FFCDD8D}"/>
              </a:ext>
            </a:extLst>
          </p:cNvPr>
          <p:cNvSpPr>
            <a:spLocks xmlns:a="http://schemas.openxmlformats.org/drawingml/2006/main" noGrp="1"/>
          </p:cNvSpPr>
          <p:nvPr/>
        </p:nvSpPr>
        <p:spPr>
          <a:xfrm xmlns:a="http://schemas.openxmlformats.org/drawingml/2006/main">
            <a:off x="762000" y="7277100"/>
            <a:ext cx="1371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00" b="1">
                <a:solidFill>
                  <a:srgbClr val="0C7C78"/>
                </a:solidFill>
                <a:latin typeface="Arial"/>
                <a:ea typeface="Arial"/>
                <a:cs typeface="Arial"/>
              </a:defRPr>
            </a:pPr>
            <a:r>
              <a:rPr sz="2600" b="1">
                <a:solidFill>
                  <a:srgbClr val="0C7C78"/>
                </a:solidFill>
                <a:latin typeface="Arial"/>
                <a:ea typeface="Arial"/>
                <a:cs typeface="Arial"/>
              </a:rPr>
              <a:t>Keep the model and evaluation fixed. Change the data structure deliberately.</a:t>
            </a:r>
          </a:p>
        </p:txBody>
      </p:sp>
    </p:spTree>
    <p:extLst>
      <p:ext uri="{BB962C8B-B14F-4D97-AF65-F5344CB8AC3E}">
        <p14:creationId xmlns:p14="http://schemas.microsoft.com/office/powerpoint/2010/main" val="557303993"/>
      </p:ext>
    </p:extLst>
  </p:cSld>
</p:sld>
</file>

<file path=ppt/slides/slide16.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8" name="text-171">
            <a:extLst xmlns:a="http://schemas.openxmlformats.org/drawingml/2006/main">
              <a:ext uri="{FF2B5EF4-FFF2-40B4-BE49-F238E27FC236}">
                <a16:creationId xmlns:a16="http://schemas.microsoft.com/office/drawing/2014/main" id="{ED351A0C-D287-4126-AEA7-AB9C6B54230C}"/>
              </a:ext>
            </a:extLst>
          </p:cNvPr>
          <p:cNvSpPr>
            <a:spLocks xmlns:a="http://schemas.openxmlformats.org/drawingml/2006/main" noGrp="1"/>
          </p:cNvSpPr>
          <p:nvPr/>
        </p:nvSpPr>
        <p:spPr>
          <a:xfrm xmlns:a="http://schemas.openxmlformats.org/drawingml/2006/main">
            <a:off x="762000" y="558800"/>
            <a:ext cx="13843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900" b="1">
                <a:solidFill>
                  <a:srgbClr val="0B2033"/>
                </a:solidFill>
                <a:latin typeface="Arial"/>
                <a:ea typeface="Arial"/>
                <a:cs typeface="Arial"/>
              </a:defRPr>
            </a:pPr>
            <a:r>
              <a:rPr sz="3900" b="1">
                <a:solidFill>
                  <a:srgbClr val="0B2033"/>
                </a:solidFill>
                <a:latin typeface="Arial"/>
                <a:ea typeface="Arial"/>
                <a:cs typeface="Arial"/>
              </a:rPr>
              <a:t>Study 3: test whether removal is useful</a:t>
            </a:r>
          </a:p>
        </p:txBody>
      </p:sp>
      <p:sp>
        <p:nvSpPr>
          <p:cNvPr id="2" name="rule-172">
            <a:extLst xmlns:a="http://schemas.openxmlformats.org/drawingml/2006/main">
              <a:ext uri="{FF2B5EF4-FFF2-40B4-BE49-F238E27FC236}">
                <a16:creationId xmlns:a16="http://schemas.microsoft.com/office/drawing/2014/main" id="{304FCDB1-9E1B-4EE0-94A3-BBE359BCC33E}"/>
              </a:ext>
            </a:extLst>
          </p:cNvPr>
          <p:cNvSpPr>
            <a:spLocks xmlns:a="http://schemas.openxmlformats.org/drawingml/2006/main" noGrp="1"/>
          </p:cNvSpPr>
          <p:nvPr/>
        </p:nvSpPr>
        <p:spPr>
          <a:xfrm xmlns:a="http://schemas.openxmlformats.org/drawingml/2006/main">
            <a:off x="762000" y="1701800"/>
            <a:ext cx="13716000" cy="0"/>
          </a:xfrm>
          <a:prstGeom xmlns:a="http://schemas.openxmlformats.org/drawingml/2006/main" prst="line">
            <a:avLst/>
          </a:prstGeom>
          <a:noFill xmlns:a="http://schemas.openxmlformats.org/drawingml/2006/main"/>
          <a:ln xmlns:a="http://schemas.openxmlformats.org/drawingml/2006/main" w="19050">
            <a:solidFill>
              <a:srgbClr val="0C7C78"/>
            </a:solidFill>
          </a:ln>
        </p:spPr>
      </p:sp>
      <p:sp>
        <p:nvSpPr>
          <p:cNvPr id="3" name="text-173">
            <a:extLst xmlns:a="http://schemas.openxmlformats.org/drawingml/2006/main">
              <a:ext uri="{FF2B5EF4-FFF2-40B4-BE49-F238E27FC236}">
                <a16:creationId xmlns:a16="http://schemas.microsoft.com/office/drawing/2014/main" id="{446E75AC-672E-4C4B-9D28-A0FA27FFB617}"/>
              </a:ext>
            </a:extLst>
          </p:cNvPr>
          <p:cNvSpPr>
            <a:spLocks xmlns:a="http://schemas.openxmlformats.org/drawingml/2006/main" noGrp="1"/>
          </p:cNvSpPr>
          <p:nvPr/>
        </p:nvSpPr>
        <p:spPr>
          <a:xfrm xmlns:a="http://schemas.openxmlformats.org/drawingml/2006/main">
            <a:off x="14122400" y="80772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600" b="0">
                <a:solidFill>
                  <a:srgbClr val="526675"/>
                </a:solidFill>
                <a:latin typeface="Arial"/>
                <a:ea typeface="Arial"/>
                <a:cs typeface="Arial"/>
              </a:defRPr>
            </a:pPr>
            <a:r>
              <a:rPr sz="1600" b="0">
                <a:solidFill>
                  <a:srgbClr val="526675"/>
                </a:solidFill>
                <a:latin typeface="Arial"/>
                <a:ea typeface="Arial"/>
                <a:cs typeface="Arial"/>
              </a:rPr>
              <a:t>16</a:t>
            </a:r>
          </a:p>
        </p:txBody>
      </p:sp>
      <p:sp>
        <p:nvSpPr>
          <p:cNvPr id="4" name="text-174">
            <a:extLst xmlns:a="http://schemas.openxmlformats.org/drawingml/2006/main">
              <a:ext uri="{FF2B5EF4-FFF2-40B4-BE49-F238E27FC236}">
                <a16:creationId xmlns:a16="http://schemas.microsoft.com/office/drawing/2014/main" id="{67ABE5D9-6EDD-4146-9E56-DB5A1CB7A73E}"/>
              </a:ext>
            </a:extLst>
          </p:cNvPr>
          <p:cNvSpPr>
            <a:spLocks xmlns:a="http://schemas.openxmlformats.org/drawingml/2006/main" noGrp="1"/>
          </p:cNvSpPr>
          <p:nvPr/>
        </p:nvSpPr>
        <p:spPr>
          <a:xfrm xmlns:a="http://schemas.openxmlformats.org/drawingml/2006/main">
            <a:off x="762000" y="1993900"/>
            <a:ext cx="13716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00" b="0">
                <a:solidFill>
                  <a:srgbClr val="526675"/>
                </a:solidFill>
                <a:latin typeface="Arial"/>
                <a:ea typeface="Arial"/>
                <a:cs typeface="Arial"/>
              </a:defRPr>
            </a:pPr>
            <a:r>
              <a:rPr sz="2600" b="0">
                <a:solidFill>
                  <a:srgbClr val="526675"/>
                </a:solidFill>
                <a:latin typeface="Arial"/>
                <a:ea typeface="Arial"/>
                <a:cs typeface="Arial"/>
              </a:rPr>
              <a:t>Planned decision experiment with separate data for each decision stage</a:t>
            </a:r>
          </a:p>
        </p:txBody>
      </p:sp>
      <p:sp>
        <p:nvSpPr>
          <p:cNvPr id="5" name="stage-175">
            <a:extLst xmlns:a="http://schemas.openxmlformats.org/drawingml/2006/main">
              <a:ext uri="{FF2B5EF4-FFF2-40B4-BE49-F238E27FC236}">
                <a16:creationId xmlns:a16="http://schemas.microsoft.com/office/drawing/2014/main" id="{A9A37AA1-FCD4-402E-AD0D-2B693011DA26}"/>
              </a:ext>
            </a:extLst>
          </p:cNvPr>
          <p:cNvSpPr>
            <a:spLocks xmlns:a="http://schemas.openxmlformats.org/drawingml/2006/main" noGrp="1"/>
          </p:cNvSpPr>
          <p:nvPr/>
        </p:nvSpPr>
        <p:spPr>
          <a:xfrm xmlns:a="http://schemas.openxmlformats.org/drawingml/2006/main">
            <a:off x="762000" y="3429000"/>
            <a:ext cx="3873500" cy="1968500"/>
          </a:xfrm>
          <a:prstGeom xmlns:a="http://schemas.openxmlformats.org/drawingml/2006/main" prst="rect">
            <a:avLst/>
          </a:prstGeom>
          <a:solidFill xmlns:a="http://schemas.openxmlformats.org/drawingml/2006/main">
            <a:srgbClr val="F6F3EB"/>
          </a:solidFill>
          <a:ln xmlns:a="http://schemas.openxmlformats.org/drawingml/2006/main" w="16510">
            <a:solidFill>
              <a:srgbClr val="526675"/>
            </a:solidFill>
          </a:ln>
        </p:spPr>
      </p:sp>
      <p:sp>
        <p:nvSpPr>
          <p:cNvPr id="6" name="text-176">
            <a:extLst xmlns:a="http://schemas.openxmlformats.org/drawingml/2006/main">
              <a:ext uri="{FF2B5EF4-FFF2-40B4-BE49-F238E27FC236}">
                <a16:creationId xmlns:a16="http://schemas.microsoft.com/office/drawing/2014/main" id="{05A08990-777F-4F62-AC01-1B5E6BBCA183}"/>
              </a:ext>
            </a:extLst>
          </p:cNvPr>
          <p:cNvSpPr>
            <a:spLocks xmlns:a="http://schemas.openxmlformats.org/drawingml/2006/main" noGrp="1"/>
          </p:cNvSpPr>
          <p:nvPr/>
        </p:nvSpPr>
        <p:spPr>
          <a:xfrm xmlns:a="http://schemas.openxmlformats.org/drawingml/2006/main">
            <a:off x="965200" y="3581400"/>
            <a:ext cx="34671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00" b="1">
                <a:solidFill>
                  <a:srgbClr val="0B2033"/>
                </a:solidFill>
                <a:latin typeface="Arial"/>
                <a:ea typeface="Arial"/>
                <a:cs typeface="Arial"/>
              </a:defRPr>
            </a:pPr>
            <a:r>
              <a:rPr sz="2500" b="1">
                <a:solidFill>
                  <a:srgbClr val="0B2033"/>
                </a:solidFill>
                <a:latin typeface="Arial"/>
                <a:ea typeface="Arial"/>
                <a:cs typeface="Arial"/>
              </a:rPr>
              <a:t>Choose a candidate</a:t>
            </a:r>
          </a:p>
        </p:txBody>
      </p:sp>
      <p:sp>
        <p:nvSpPr>
          <p:cNvPr id="7" name="text-177">
            <a:extLst xmlns:a="http://schemas.openxmlformats.org/drawingml/2006/main">
              <a:ext uri="{FF2B5EF4-FFF2-40B4-BE49-F238E27FC236}">
                <a16:creationId xmlns:a16="http://schemas.microsoft.com/office/drawing/2014/main" id="{D0DBE3D9-278D-4B91-9A7B-6CA8D83F39A6}"/>
              </a:ext>
            </a:extLst>
          </p:cNvPr>
          <p:cNvSpPr>
            <a:spLocks xmlns:a="http://schemas.openxmlformats.org/drawingml/2006/main" noGrp="1"/>
          </p:cNvSpPr>
          <p:nvPr/>
        </p:nvSpPr>
        <p:spPr>
          <a:xfrm xmlns:a="http://schemas.openxmlformats.org/drawingml/2006/main">
            <a:off x="965200" y="4165600"/>
            <a:ext cx="3467100" cy="109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00" b="0">
                <a:solidFill>
                  <a:srgbClr val="0B2033"/>
                </a:solidFill>
                <a:latin typeface="Arial"/>
                <a:ea typeface="Arial"/>
                <a:cs typeface="Arial"/>
              </a:defRPr>
            </a:pPr>
            <a:r>
              <a:rPr sz="2300" b="0">
                <a:solidFill>
                  <a:srgbClr val="0B2033"/>
                </a:solidFill>
                <a:latin typeface="Arial"/>
                <a:ea typeface="Arial"/>
                <a:cs typeface="Arial"/>
              </a:rPr>
              <a:t>Use training and</a:t>
            </a:r>
          </a:p>
          <a:p xmlns:a="http://schemas.openxmlformats.org/drawingml/2006/main">
            <a:pPr algn="l">
              <a:defRPr sz="2300" b="0">
                <a:solidFill>
                  <a:srgbClr val="0B2033"/>
                </a:solidFill>
                <a:latin typeface="Arial"/>
                <a:ea typeface="Arial"/>
                <a:cs typeface="Arial"/>
              </a:defRPr>
            </a:pPr>
            <a:r>
              <a:rPr sz="2300" b="0">
                <a:solidFill>
                  <a:srgbClr val="0B2033"/>
                </a:solidFill>
                <a:latin typeface="Arial"/>
                <a:ea typeface="Arial"/>
                <a:cs typeface="Arial"/>
              </a:rPr>
              <a:t>selection-validation data.</a:t>
            </a:r>
          </a:p>
        </p:txBody>
      </p:sp>
      <p:sp>
        <p:nvSpPr>
          <p:cNvPr id="8" name="stage-178">
            <a:extLst xmlns:a="http://schemas.openxmlformats.org/drawingml/2006/main">
              <a:ext uri="{FF2B5EF4-FFF2-40B4-BE49-F238E27FC236}">
                <a16:creationId xmlns:a16="http://schemas.microsoft.com/office/drawing/2014/main" id="{CF808A03-66CB-4133-88D7-C9CC21AB2AC2}"/>
              </a:ext>
            </a:extLst>
          </p:cNvPr>
          <p:cNvSpPr>
            <a:spLocks xmlns:a="http://schemas.openxmlformats.org/drawingml/2006/main" noGrp="1"/>
          </p:cNvSpPr>
          <p:nvPr/>
        </p:nvSpPr>
        <p:spPr>
          <a:xfrm xmlns:a="http://schemas.openxmlformats.org/drawingml/2006/main">
            <a:off x="5676900" y="3429000"/>
            <a:ext cx="3873500" cy="1968500"/>
          </a:xfrm>
          <a:prstGeom xmlns:a="http://schemas.openxmlformats.org/drawingml/2006/main" prst="rect">
            <a:avLst/>
          </a:prstGeom>
          <a:solidFill xmlns:a="http://schemas.openxmlformats.org/drawingml/2006/main">
            <a:srgbClr val="E0F0EB"/>
          </a:solidFill>
          <a:ln xmlns:a="http://schemas.openxmlformats.org/drawingml/2006/main" w="16510">
            <a:solidFill>
              <a:srgbClr val="0C7C78"/>
            </a:solidFill>
          </a:ln>
        </p:spPr>
      </p:sp>
      <p:sp>
        <p:nvSpPr>
          <p:cNvPr id="9" name="text-179">
            <a:extLst xmlns:a="http://schemas.openxmlformats.org/drawingml/2006/main">
              <a:ext uri="{FF2B5EF4-FFF2-40B4-BE49-F238E27FC236}">
                <a16:creationId xmlns:a16="http://schemas.microsoft.com/office/drawing/2014/main" id="{9616B647-062B-43B2-B6D3-1386299393DF}"/>
              </a:ext>
            </a:extLst>
          </p:cNvPr>
          <p:cNvSpPr>
            <a:spLocks xmlns:a="http://schemas.openxmlformats.org/drawingml/2006/main" noGrp="1"/>
          </p:cNvSpPr>
          <p:nvPr/>
        </p:nvSpPr>
        <p:spPr>
          <a:xfrm xmlns:a="http://schemas.openxmlformats.org/drawingml/2006/main">
            <a:off x="5880100" y="3581400"/>
            <a:ext cx="34671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00" b="1">
                <a:solidFill>
                  <a:srgbClr val="0C7C78"/>
                </a:solidFill>
                <a:latin typeface="Arial"/>
                <a:ea typeface="Arial"/>
                <a:cs typeface="Arial"/>
              </a:defRPr>
            </a:pPr>
            <a:r>
              <a:rPr sz="2500" b="1">
                <a:solidFill>
                  <a:srgbClr val="0C7C78"/>
                </a:solidFill>
                <a:latin typeface="Arial"/>
                <a:ea typeface="Arial"/>
                <a:cs typeface="Arial"/>
              </a:rPr>
              <a:t>Check independently</a:t>
            </a:r>
          </a:p>
        </p:txBody>
      </p:sp>
      <p:sp>
        <p:nvSpPr>
          <p:cNvPr id="10" name="text-180">
            <a:extLst xmlns:a="http://schemas.openxmlformats.org/drawingml/2006/main">
              <a:ext uri="{FF2B5EF4-FFF2-40B4-BE49-F238E27FC236}">
                <a16:creationId xmlns:a16="http://schemas.microsoft.com/office/drawing/2014/main" id="{E7DABB83-32E7-4721-8902-51F7D988FDAC}"/>
              </a:ext>
            </a:extLst>
          </p:cNvPr>
          <p:cNvSpPr>
            <a:spLocks xmlns:a="http://schemas.openxmlformats.org/drawingml/2006/main" noGrp="1"/>
          </p:cNvSpPr>
          <p:nvPr/>
        </p:nvSpPr>
        <p:spPr>
          <a:xfrm xmlns:a="http://schemas.openxmlformats.org/drawingml/2006/main">
            <a:off x="5880100" y="4165600"/>
            <a:ext cx="3467100" cy="109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00" b="0">
                <a:solidFill>
                  <a:srgbClr val="0B2033"/>
                </a:solidFill>
                <a:latin typeface="Arial"/>
                <a:ea typeface="Arial"/>
                <a:cs typeface="Arial"/>
              </a:defRPr>
            </a:pPr>
            <a:r>
              <a:rPr sz="2200" b="0">
                <a:solidFill>
                  <a:srgbClr val="0B2033"/>
                </a:solidFill>
                <a:latin typeface="Arial"/>
                <a:ea typeface="Arial"/>
                <a:cs typeface="Arial"/>
              </a:rPr>
              <a:t>Accept within tolerance.</a:t>
            </a:r>
          </a:p>
          <a:p xmlns:a="http://schemas.openxmlformats.org/drawingml/2006/main">
            <a:pPr algn="l">
              <a:defRPr sz="2200" b="0">
                <a:solidFill>
                  <a:srgbClr val="0B2033"/>
                </a:solidFill>
                <a:latin typeface="Arial"/>
                <a:ea typeface="Arial"/>
                <a:cs typeface="Arial"/>
              </a:defRPr>
            </a:pPr>
            <a:r>
              <a:rPr sz="2200" b="0">
                <a:solidFill>
                  <a:srgbClr val="0B2033"/>
                </a:solidFill>
                <a:latin typeface="Arial"/>
                <a:ea typeface="Arial"/>
                <a:cs typeface="Arial"/>
              </a:rPr>
              <a:t>Otherwise keep all inputs.</a:t>
            </a:r>
          </a:p>
        </p:txBody>
      </p:sp>
      <p:sp>
        <p:nvSpPr>
          <p:cNvPr id="11" name="stage-181">
            <a:extLst xmlns:a="http://schemas.openxmlformats.org/drawingml/2006/main">
              <a:ext uri="{FF2B5EF4-FFF2-40B4-BE49-F238E27FC236}">
                <a16:creationId xmlns:a16="http://schemas.microsoft.com/office/drawing/2014/main" id="{70C71E61-BCE7-4862-870C-B824AA494D4D}"/>
              </a:ext>
            </a:extLst>
          </p:cNvPr>
          <p:cNvSpPr>
            <a:spLocks xmlns:a="http://schemas.openxmlformats.org/drawingml/2006/main" noGrp="1"/>
          </p:cNvSpPr>
          <p:nvPr/>
        </p:nvSpPr>
        <p:spPr>
          <a:xfrm xmlns:a="http://schemas.openxmlformats.org/drawingml/2006/main">
            <a:off x="10604500" y="3429000"/>
            <a:ext cx="3873500" cy="1968500"/>
          </a:xfrm>
          <a:prstGeom xmlns:a="http://schemas.openxmlformats.org/drawingml/2006/main" prst="rect">
            <a:avLst/>
          </a:prstGeom>
          <a:solidFill xmlns:a="http://schemas.openxmlformats.org/drawingml/2006/main">
            <a:srgbClr val="F6F3EB"/>
          </a:solidFill>
          <a:ln xmlns:a="http://schemas.openxmlformats.org/drawingml/2006/main" w="16510">
            <a:solidFill>
              <a:srgbClr val="526675"/>
            </a:solidFill>
          </a:ln>
        </p:spPr>
      </p:sp>
      <p:sp>
        <p:nvSpPr>
          <p:cNvPr id="12" name="text-182">
            <a:extLst xmlns:a="http://schemas.openxmlformats.org/drawingml/2006/main">
              <a:ext uri="{FF2B5EF4-FFF2-40B4-BE49-F238E27FC236}">
                <a16:creationId xmlns:a16="http://schemas.microsoft.com/office/drawing/2014/main" id="{BED7385E-3011-49D2-8954-A518D28EA8F5}"/>
              </a:ext>
            </a:extLst>
          </p:cNvPr>
          <p:cNvSpPr>
            <a:spLocks xmlns:a="http://schemas.openxmlformats.org/drawingml/2006/main" noGrp="1"/>
          </p:cNvSpPr>
          <p:nvPr/>
        </p:nvSpPr>
        <p:spPr>
          <a:xfrm xmlns:a="http://schemas.openxmlformats.org/drawingml/2006/main">
            <a:off x="10807700" y="3581400"/>
            <a:ext cx="34671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00" b="1">
                <a:solidFill>
                  <a:srgbClr val="0B2033"/>
                </a:solidFill>
                <a:latin typeface="Arial"/>
                <a:ea typeface="Arial"/>
                <a:cs typeface="Arial"/>
              </a:defRPr>
            </a:pPr>
            <a:r>
              <a:rPr sz="2500" b="1">
                <a:solidFill>
                  <a:srgbClr val="0B2033"/>
                </a:solidFill>
                <a:latin typeface="Arial"/>
                <a:ea typeface="Arial"/>
                <a:cs typeface="Arial"/>
              </a:rPr>
              <a:t>Freeze and test</a:t>
            </a:r>
          </a:p>
        </p:txBody>
      </p:sp>
      <p:sp>
        <p:nvSpPr>
          <p:cNvPr id="13" name="text-183">
            <a:extLst xmlns:a="http://schemas.openxmlformats.org/drawingml/2006/main">
              <a:ext uri="{FF2B5EF4-FFF2-40B4-BE49-F238E27FC236}">
                <a16:creationId xmlns:a16="http://schemas.microsoft.com/office/drawing/2014/main" id="{E7E0B947-D815-4F38-BBDE-823C19B9CCCE}"/>
              </a:ext>
            </a:extLst>
          </p:cNvPr>
          <p:cNvSpPr>
            <a:spLocks xmlns:a="http://schemas.openxmlformats.org/drawingml/2006/main" noGrp="1"/>
          </p:cNvSpPr>
          <p:nvPr/>
        </p:nvSpPr>
        <p:spPr>
          <a:xfrm xmlns:a="http://schemas.openxmlformats.org/drawingml/2006/main">
            <a:off x="10807700" y="4165600"/>
            <a:ext cx="3467100" cy="109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00" b="0">
                <a:solidFill>
                  <a:srgbClr val="0B2033"/>
                </a:solidFill>
                <a:latin typeface="Arial"/>
                <a:ea typeface="Arial"/>
                <a:cs typeface="Arial"/>
              </a:defRPr>
            </a:pPr>
            <a:r>
              <a:rPr sz="2300" b="0">
                <a:solidFill>
                  <a:srgbClr val="0B2033"/>
                </a:solidFill>
                <a:latin typeface="Arial"/>
                <a:ea typeface="Arial"/>
                <a:cs typeface="Arial"/>
              </a:rPr>
              <a:t>Refit the chosen model.</a:t>
            </a:r>
          </a:p>
          <a:p xmlns:a="http://schemas.openxmlformats.org/drawingml/2006/main">
            <a:pPr algn="l">
              <a:defRPr sz="2300" b="0">
                <a:solidFill>
                  <a:srgbClr val="0B2033"/>
                </a:solidFill>
                <a:latin typeface="Arial"/>
                <a:ea typeface="Arial"/>
                <a:cs typeface="Arial"/>
              </a:defRPr>
            </a:pPr>
            <a:r>
              <a:rPr sz="2300" b="0">
                <a:solidFill>
                  <a:srgbClr val="0B2033"/>
                </a:solidFill>
                <a:latin typeface="Arial"/>
                <a:ea typeface="Arial"/>
                <a:cs typeface="Arial"/>
              </a:rPr>
              <a:t>Evaluate on held-out data.</a:t>
            </a:r>
          </a:p>
        </p:txBody>
      </p:sp>
      <p:cxnSp>
        <p:nvCxnSpPr>
          <p:cNvPr id="31" name=""/>
          <p:cNvCxnSpPr>
            <a:stCxn xmlns:a="http://schemas.openxmlformats.org/drawingml/2006/main" id="5" idx="3"/>
            <a:endCxn xmlns:a="http://schemas.openxmlformats.org/drawingml/2006/main" id="8" idx="1"/>
          </p:cNvCxnSpPr>
          <p:nvPr/>
        </p:nvCxnSpPr>
        <p:spPr>
          <a:xfrm xmlns:a="http://schemas.openxmlformats.org/drawingml/2006/main">
            <a:off x="4635500" y="4413250"/>
            <a:ext cx="1041400" cy="0"/>
          </a:xfrm>
          <a:prstGeom xmlns:a="http://schemas.openxmlformats.org/drawingml/2006/main" prst="straightConnector1">
            <a:avLst/>
          </a:prstGeom>
          <a:ln xmlns:a="http://schemas.openxmlformats.org/drawingml/2006/main" w="25400">
            <a:solidFill>
              <a:srgbClr val="0C7C78"/>
            </a:solidFill>
            <a:tailEnd type="triangle" w="med" len="med"/>
          </a:ln>
        </p:spPr>
      </p:cxnSp>
      <p:cxnSp>
        <p:nvCxnSpPr>
          <p:cNvPr id="32" name=""/>
          <p:cNvCxnSpPr>
            <a:stCxn xmlns:a="http://schemas.openxmlformats.org/drawingml/2006/main" id="8" idx="3"/>
            <a:endCxn xmlns:a="http://schemas.openxmlformats.org/drawingml/2006/main" id="11" idx="1"/>
          </p:cNvCxnSpPr>
          <p:nvPr/>
        </p:nvCxnSpPr>
        <p:spPr>
          <a:xfrm xmlns:a="http://schemas.openxmlformats.org/drawingml/2006/main">
            <a:off x="9550400" y="4413250"/>
            <a:ext cx="1054100" cy="0"/>
          </a:xfrm>
          <a:prstGeom xmlns:a="http://schemas.openxmlformats.org/drawingml/2006/main" prst="straightConnector1">
            <a:avLst/>
          </a:prstGeom>
          <a:ln xmlns:a="http://schemas.openxmlformats.org/drawingml/2006/main" w="25400">
            <a:solidFill>
              <a:srgbClr val="0C7C78"/>
            </a:solidFill>
            <a:tailEnd type="triangle" w="med" len="med"/>
          </a:ln>
        </p:spPr>
      </p:cxnSp>
      <p:sp>
        <p:nvSpPr>
          <p:cNvPr id="16" name="text-184">
            <a:extLst xmlns:a="http://schemas.openxmlformats.org/drawingml/2006/main">
              <a:ext uri="{FF2B5EF4-FFF2-40B4-BE49-F238E27FC236}">
                <a16:creationId xmlns:a16="http://schemas.microsoft.com/office/drawing/2014/main" id="{080A82ED-7F0F-4276-B8A6-78985ED340D6}"/>
              </a:ext>
            </a:extLst>
          </p:cNvPr>
          <p:cNvSpPr>
            <a:spLocks xmlns:a="http://schemas.openxmlformats.org/drawingml/2006/main" noGrp="1"/>
          </p:cNvSpPr>
          <p:nvPr/>
        </p:nvSpPr>
        <p:spPr>
          <a:xfrm xmlns:a="http://schemas.openxmlformats.org/drawingml/2006/main">
            <a:off x="762000" y="5943600"/>
            <a:ext cx="1371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00" b="1">
                <a:solidFill>
                  <a:srgbClr val="0B2033"/>
                </a:solidFill>
                <a:latin typeface="Arial"/>
                <a:ea typeface="Arial"/>
                <a:cs typeface="Arial"/>
              </a:defRPr>
            </a:pPr>
            <a:r>
              <a:rPr sz="2600" b="1">
                <a:solidFill>
                  <a:srgbClr val="0B2033"/>
                </a:solidFill>
                <a:latin typeface="Arial"/>
                <a:ea typeface="Arial"/>
                <a:cs typeface="Arial"/>
              </a:rPr>
              <a:t>Compare with established feature-ranking and elimination methods.</a:t>
            </a:r>
          </a:p>
        </p:txBody>
      </p:sp>
      <p:sp>
        <p:nvSpPr>
          <p:cNvPr id="17" name="text-185">
            <a:extLst xmlns:a="http://schemas.openxmlformats.org/drawingml/2006/main">
              <a:ext uri="{FF2B5EF4-FFF2-40B4-BE49-F238E27FC236}">
                <a16:creationId xmlns:a16="http://schemas.microsoft.com/office/drawing/2014/main" id="{42738D0E-ECEE-4BA1-A065-F372365C500E}"/>
              </a:ext>
            </a:extLst>
          </p:cNvPr>
          <p:cNvSpPr>
            <a:spLocks xmlns:a="http://schemas.openxmlformats.org/drawingml/2006/main" noGrp="1"/>
          </p:cNvSpPr>
          <p:nvPr/>
        </p:nvSpPr>
        <p:spPr>
          <a:xfrm xmlns:a="http://schemas.openxmlformats.org/drawingml/2006/main">
            <a:off x="762000" y="7277100"/>
            <a:ext cx="1371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00" b="1">
                <a:solidFill>
                  <a:srgbClr val="0C7C78"/>
                </a:solidFill>
                <a:latin typeface="Arial"/>
                <a:ea typeface="Arial"/>
                <a:cs typeface="Arial"/>
              </a:defRPr>
            </a:pPr>
            <a:r>
              <a:rPr sz="2600" b="1">
                <a:solidFill>
                  <a:srgbClr val="0C7C78"/>
                </a:solidFill>
                <a:latin typeface="Arial"/>
                <a:ea typeface="Arial"/>
                <a:cs typeface="Arial"/>
              </a:rPr>
              <a:t>Judge three outcomes together: fewer inputs, prediction loss and total cost.</a:t>
            </a:r>
          </a:p>
        </p:txBody>
      </p:sp>
    </p:spTree>
    <p:extLst>
      <p:ext uri="{BB962C8B-B14F-4D97-AF65-F5344CB8AC3E}">
        <p14:creationId xmlns:p14="http://schemas.microsoft.com/office/powerpoint/2010/main" val="452074512"/>
      </p:ext>
    </p:extLst>
  </p:cSld>
</p:sld>
</file>

<file path=ppt/slides/slide17.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3" name="text-186">
            <a:extLst xmlns:a="http://schemas.openxmlformats.org/drawingml/2006/main">
              <a:ext uri="{FF2B5EF4-FFF2-40B4-BE49-F238E27FC236}">
                <a16:creationId xmlns:a16="http://schemas.microsoft.com/office/drawing/2014/main" id="{3DAD581F-21A6-4CA5-A8F3-92920EF26079}"/>
              </a:ext>
            </a:extLst>
          </p:cNvPr>
          <p:cNvSpPr>
            <a:spLocks xmlns:a="http://schemas.openxmlformats.org/drawingml/2006/main" noGrp="1"/>
          </p:cNvSpPr>
          <p:nvPr/>
        </p:nvSpPr>
        <p:spPr>
          <a:xfrm xmlns:a="http://schemas.openxmlformats.org/drawingml/2006/main">
            <a:off x="762000" y="558800"/>
            <a:ext cx="13843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900" b="1">
                <a:solidFill>
                  <a:srgbClr val="0B2033"/>
                </a:solidFill>
                <a:latin typeface="Arial"/>
                <a:ea typeface="Arial"/>
                <a:cs typeface="Arial"/>
              </a:defRPr>
            </a:pPr>
            <a:r>
              <a:rPr sz="3900" b="1">
                <a:solidFill>
                  <a:srgbClr val="0B2033"/>
                </a:solidFill>
                <a:latin typeface="Arial"/>
                <a:ea typeface="Arial"/>
                <a:cs typeface="Arial"/>
              </a:rPr>
              <a:t>Current evidence and what it means</a:t>
            </a:r>
          </a:p>
        </p:txBody>
      </p:sp>
      <p:sp>
        <p:nvSpPr>
          <p:cNvPr id="2" name="rule-187">
            <a:extLst xmlns:a="http://schemas.openxmlformats.org/drawingml/2006/main">
              <a:ext uri="{FF2B5EF4-FFF2-40B4-BE49-F238E27FC236}">
                <a16:creationId xmlns:a16="http://schemas.microsoft.com/office/drawing/2014/main" id="{62EE8D84-6FEE-4627-9454-41B18EA834A6}"/>
              </a:ext>
            </a:extLst>
          </p:cNvPr>
          <p:cNvSpPr>
            <a:spLocks xmlns:a="http://schemas.openxmlformats.org/drawingml/2006/main" noGrp="1"/>
          </p:cNvSpPr>
          <p:nvPr/>
        </p:nvSpPr>
        <p:spPr>
          <a:xfrm xmlns:a="http://schemas.openxmlformats.org/drawingml/2006/main">
            <a:off x="762000" y="1701800"/>
            <a:ext cx="13716000" cy="0"/>
          </a:xfrm>
          <a:prstGeom xmlns:a="http://schemas.openxmlformats.org/drawingml/2006/main" prst="line">
            <a:avLst/>
          </a:prstGeom>
          <a:noFill xmlns:a="http://schemas.openxmlformats.org/drawingml/2006/main"/>
          <a:ln xmlns:a="http://schemas.openxmlformats.org/drawingml/2006/main" w="19050">
            <a:solidFill>
              <a:srgbClr val="0C7C78"/>
            </a:solidFill>
          </a:ln>
        </p:spPr>
      </p:sp>
      <p:sp>
        <p:nvSpPr>
          <p:cNvPr id="3" name="text-188">
            <a:extLst xmlns:a="http://schemas.openxmlformats.org/drawingml/2006/main">
              <a:ext uri="{FF2B5EF4-FFF2-40B4-BE49-F238E27FC236}">
                <a16:creationId xmlns:a16="http://schemas.microsoft.com/office/drawing/2014/main" id="{5974EACD-C81F-4751-8100-A06A438E42DA}"/>
              </a:ext>
            </a:extLst>
          </p:cNvPr>
          <p:cNvSpPr>
            <a:spLocks xmlns:a="http://schemas.openxmlformats.org/drawingml/2006/main" noGrp="1"/>
          </p:cNvSpPr>
          <p:nvPr/>
        </p:nvSpPr>
        <p:spPr>
          <a:xfrm xmlns:a="http://schemas.openxmlformats.org/drawingml/2006/main">
            <a:off x="14122400" y="80772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600" b="0">
                <a:solidFill>
                  <a:srgbClr val="526675"/>
                </a:solidFill>
                <a:latin typeface="Arial"/>
                <a:ea typeface="Arial"/>
                <a:cs typeface="Arial"/>
              </a:defRPr>
            </a:pPr>
            <a:r>
              <a:rPr sz="1600" b="0">
                <a:solidFill>
                  <a:srgbClr val="526675"/>
                </a:solidFill>
                <a:latin typeface="Arial"/>
                <a:ea typeface="Arial"/>
                <a:cs typeface="Arial"/>
              </a:rPr>
              <a:t>17</a:t>
            </a:r>
          </a:p>
        </p:txBody>
      </p:sp>
      <p:sp>
        <p:nvSpPr>
          <p:cNvPr id="4" name="text-189">
            <a:extLst xmlns:a="http://schemas.openxmlformats.org/drawingml/2006/main">
              <a:ext uri="{FF2B5EF4-FFF2-40B4-BE49-F238E27FC236}">
                <a16:creationId xmlns:a16="http://schemas.microsoft.com/office/drawing/2014/main" id="{F5978772-5CB8-4F4F-9F70-33855EA1C4FA}"/>
              </a:ext>
            </a:extLst>
          </p:cNvPr>
          <p:cNvSpPr>
            <a:spLocks xmlns:a="http://schemas.openxmlformats.org/drawingml/2006/main" noGrp="1"/>
          </p:cNvSpPr>
          <p:nvPr/>
        </p:nvSpPr>
        <p:spPr>
          <a:xfrm xmlns:a="http://schemas.openxmlformats.org/drawingml/2006/main">
            <a:off x="762000" y="2159000"/>
            <a:ext cx="88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00" b="1">
                <a:solidFill>
                  <a:srgbClr val="0C7C78"/>
                </a:solidFill>
                <a:latin typeface="Arial"/>
                <a:ea typeface="Arial"/>
                <a:cs typeface="Arial"/>
              </a:defRPr>
            </a:pPr>
            <a:r>
              <a:rPr sz="2800" b="1">
                <a:solidFill>
                  <a:srgbClr val="0C7C78"/>
                </a:solidFill>
                <a:latin typeface="Arial"/>
                <a:ea typeface="Arial"/>
                <a:cs typeface="Arial"/>
              </a:rPr>
              <a:t>01</a:t>
            </a:r>
          </a:p>
        </p:txBody>
      </p:sp>
      <p:sp>
        <p:nvSpPr>
          <p:cNvPr id="5" name="text-190">
            <a:extLst xmlns:a="http://schemas.openxmlformats.org/drawingml/2006/main">
              <a:ext uri="{FF2B5EF4-FFF2-40B4-BE49-F238E27FC236}">
                <a16:creationId xmlns:a16="http://schemas.microsoft.com/office/drawing/2014/main" id="{E814971B-5B94-485A-961C-273EB43F39D1}"/>
              </a:ext>
            </a:extLst>
          </p:cNvPr>
          <p:cNvSpPr>
            <a:spLocks xmlns:a="http://schemas.openxmlformats.org/drawingml/2006/main" noGrp="1"/>
          </p:cNvSpPr>
          <p:nvPr/>
        </p:nvSpPr>
        <p:spPr>
          <a:xfrm xmlns:a="http://schemas.openxmlformats.org/drawingml/2006/main">
            <a:off x="1841500" y="2159000"/>
            <a:ext cx="125095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00" b="1">
                <a:solidFill>
                  <a:srgbClr val="0B2033"/>
                </a:solidFill>
                <a:latin typeface="Arial"/>
                <a:ea typeface="Arial"/>
                <a:cs typeface="Arial"/>
              </a:defRPr>
            </a:pPr>
            <a:r>
              <a:rPr sz="2800" b="1">
                <a:solidFill>
                  <a:srgbClr val="0B2033"/>
                </a:solidFill>
                <a:latin typeface="Arial"/>
                <a:ea typeface="Arial"/>
                <a:cs typeface="Arial"/>
              </a:rPr>
              <a:t>The reference audit is complete</a:t>
            </a:r>
          </a:p>
        </p:txBody>
      </p:sp>
      <p:sp>
        <p:nvSpPr>
          <p:cNvPr id="6" name="text-191">
            <a:extLst xmlns:a="http://schemas.openxmlformats.org/drawingml/2006/main">
              <a:ext uri="{FF2B5EF4-FFF2-40B4-BE49-F238E27FC236}">
                <a16:creationId xmlns:a16="http://schemas.microsoft.com/office/drawing/2014/main" id="{6AE37933-C62A-4386-B520-1A3CC12C347F}"/>
              </a:ext>
            </a:extLst>
          </p:cNvPr>
          <p:cNvSpPr>
            <a:spLocks xmlns:a="http://schemas.openxmlformats.org/drawingml/2006/main" noGrp="1"/>
          </p:cNvSpPr>
          <p:nvPr/>
        </p:nvSpPr>
        <p:spPr>
          <a:xfrm xmlns:a="http://schemas.openxmlformats.org/drawingml/2006/main">
            <a:off x="1841500" y="2781300"/>
            <a:ext cx="125095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0">
                <a:solidFill>
                  <a:srgbClr val="526675"/>
                </a:solidFill>
                <a:latin typeface="Arial"/>
                <a:ea typeface="Arial"/>
                <a:cs typeface="Arial"/>
              </a:defRPr>
            </a:pPr>
            <a:r>
              <a:rPr sz="2400" b="0">
                <a:solidFill>
                  <a:srgbClr val="526675"/>
                </a:solidFill>
                <a:latin typeface="Arial"/>
                <a:ea typeface="Arial"/>
                <a:cs typeface="Arial"/>
              </a:rPr>
              <a:t>Small problems provide checkable witnesses and reveal missed cases.</a:t>
            </a:r>
          </a:p>
        </p:txBody>
      </p:sp>
      <p:sp>
        <p:nvSpPr>
          <p:cNvPr id="7" name="text-192">
            <a:extLst xmlns:a="http://schemas.openxmlformats.org/drawingml/2006/main">
              <a:ext uri="{FF2B5EF4-FFF2-40B4-BE49-F238E27FC236}">
                <a16:creationId xmlns:a16="http://schemas.microsoft.com/office/drawing/2014/main" id="{B391DFB6-262C-4E1E-A441-DB126FCC4702}"/>
              </a:ext>
            </a:extLst>
          </p:cNvPr>
          <p:cNvSpPr>
            <a:spLocks xmlns:a="http://schemas.openxmlformats.org/drawingml/2006/main" noGrp="1"/>
          </p:cNvSpPr>
          <p:nvPr/>
        </p:nvSpPr>
        <p:spPr>
          <a:xfrm xmlns:a="http://schemas.openxmlformats.org/drawingml/2006/main">
            <a:off x="762000" y="3975100"/>
            <a:ext cx="88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00" b="1">
                <a:solidFill>
                  <a:srgbClr val="0C7C78"/>
                </a:solidFill>
                <a:latin typeface="Arial"/>
                <a:ea typeface="Arial"/>
                <a:cs typeface="Arial"/>
              </a:defRPr>
            </a:pPr>
            <a:r>
              <a:rPr sz="2800" b="1">
                <a:solidFill>
                  <a:srgbClr val="0C7C78"/>
                </a:solidFill>
                <a:latin typeface="Arial"/>
                <a:ea typeface="Arial"/>
                <a:cs typeface="Arial"/>
              </a:rPr>
              <a:t>02</a:t>
            </a:r>
          </a:p>
        </p:txBody>
      </p:sp>
      <p:sp>
        <p:nvSpPr>
          <p:cNvPr id="8" name="text-193">
            <a:extLst xmlns:a="http://schemas.openxmlformats.org/drawingml/2006/main">
              <a:ext uri="{FF2B5EF4-FFF2-40B4-BE49-F238E27FC236}">
                <a16:creationId xmlns:a16="http://schemas.microsoft.com/office/drawing/2014/main" id="{3A660BC8-1E9A-4403-B316-F9BF8B2FEC90}"/>
              </a:ext>
            </a:extLst>
          </p:cNvPr>
          <p:cNvSpPr>
            <a:spLocks xmlns:a="http://schemas.openxmlformats.org/drawingml/2006/main" noGrp="1"/>
          </p:cNvSpPr>
          <p:nvPr/>
        </p:nvSpPr>
        <p:spPr>
          <a:xfrm xmlns:a="http://schemas.openxmlformats.org/drawingml/2006/main">
            <a:off x="1841500" y="3975100"/>
            <a:ext cx="125095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00" b="1">
                <a:solidFill>
                  <a:srgbClr val="0B2033"/>
                </a:solidFill>
                <a:latin typeface="Arial"/>
                <a:ea typeface="Arial"/>
                <a:cs typeface="Arial"/>
              </a:defRPr>
            </a:pPr>
            <a:r>
              <a:rPr sz="2800" b="1">
                <a:solidFill>
                  <a:srgbClr val="0B2033"/>
                </a:solidFill>
                <a:latin typeface="Arial"/>
                <a:ea typeface="Arial"/>
                <a:cs typeface="Arial"/>
              </a:rPr>
              <a:t>Guidance has no stable advantage yet</a:t>
            </a:r>
          </a:p>
        </p:txBody>
      </p:sp>
      <p:sp>
        <p:nvSpPr>
          <p:cNvPr id="9" name="text-194">
            <a:extLst xmlns:a="http://schemas.openxmlformats.org/drawingml/2006/main">
              <a:ext uri="{FF2B5EF4-FFF2-40B4-BE49-F238E27FC236}">
                <a16:creationId xmlns:a16="http://schemas.microsoft.com/office/drawing/2014/main" id="{B10DB01B-8C77-48E2-9E3C-5FB3A883DDEA}"/>
              </a:ext>
            </a:extLst>
          </p:cNvPr>
          <p:cNvSpPr>
            <a:spLocks xmlns:a="http://schemas.openxmlformats.org/drawingml/2006/main" noGrp="1"/>
          </p:cNvSpPr>
          <p:nvPr/>
        </p:nvSpPr>
        <p:spPr>
          <a:xfrm xmlns:a="http://schemas.openxmlformats.org/drawingml/2006/main">
            <a:off x="1841500" y="4597400"/>
            <a:ext cx="125095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0">
                <a:solidFill>
                  <a:srgbClr val="526675"/>
                </a:solidFill>
                <a:latin typeface="Arial"/>
                <a:ea typeface="Arial"/>
                <a:cs typeface="Arial"/>
              </a:defRPr>
            </a:pPr>
            <a:r>
              <a:rPr sz="2400" b="0">
                <a:solidFill>
                  <a:srgbClr val="526675"/>
                </a:solidFill>
                <a:latin typeface="Arial"/>
                <a:ea typeface="Arial"/>
                <a:cs typeface="Arial"/>
              </a:rPr>
              <a:t>Training associations do not consistently point toward failure contexts.</a:t>
            </a:r>
          </a:p>
        </p:txBody>
      </p:sp>
      <p:sp>
        <p:nvSpPr>
          <p:cNvPr id="10" name="text-195">
            <a:extLst xmlns:a="http://schemas.openxmlformats.org/drawingml/2006/main">
              <a:ext uri="{FF2B5EF4-FFF2-40B4-BE49-F238E27FC236}">
                <a16:creationId xmlns:a16="http://schemas.microsoft.com/office/drawing/2014/main" id="{902630BF-834C-4C01-B199-7BDD57BED6F3}"/>
              </a:ext>
            </a:extLst>
          </p:cNvPr>
          <p:cNvSpPr>
            <a:spLocks xmlns:a="http://schemas.openxmlformats.org/drawingml/2006/main" noGrp="1"/>
          </p:cNvSpPr>
          <p:nvPr/>
        </p:nvSpPr>
        <p:spPr>
          <a:xfrm xmlns:a="http://schemas.openxmlformats.org/drawingml/2006/main">
            <a:off x="762000" y="5791200"/>
            <a:ext cx="88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00" b="1">
                <a:solidFill>
                  <a:srgbClr val="0C7C78"/>
                </a:solidFill>
                <a:latin typeface="Arial"/>
                <a:ea typeface="Arial"/>
                <a:cs typeface="Arial"/>
              </a:defRPr>
            </a:pPr>
            <a:r>
              <a:rPr sz="2800" b="1">
                <a:solidFill>
                  <a:srgbClr val="0C7C78"/>
                </a:solidFill>
                <a:latin typeface="Arial"/>
                <a:ea typeface="Arial"/>
                <a:cs typeface="Arial"/>
              </a:rPr>
              <a:t>03</a:t>
            </a:r>
          </a:p>
        </p:txBody>
      </p:sp>
      <p:sp>
        <p:nvSpPr>
          <p:cNvPr id="11" name="text-196">
            <a:extLst xmlns:a="http://schemas.openxmlformats.org/drawingml/2006/main">
              <a:ext uri="{FF2B5EF4-FFF2-40B4-BE49-F238E27FC236}">
                <a16:creationId xmlns:a16="http://schemas.microsoft.com/office/drawing/2014/main" id="{65A025FF-345F-4354-8A66-4729BECFCADE}"/>
              </a:ext>
            </a:extLst>
          </p:cNvPr>
          <p:cNvSpPr>
            <a:spLocks xmlns:a="http://schemas.openxmlformats.org/drawingml/2006/main" noGrp="1"/>
          </p:cNvSpPr>
          <p:nvPr/>
        </p:nvSpPr>
        <p:spPr>
          <a:xfrm xmlns:a="http://schemas.openxmlformats.org/drawingml/2006/main">
            <a:off x="1841500" y="5791200"/>
            <a:ext cx="125095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00" b="1">
                <a:solidFill>
                  <a:srgbClr val="0B2033"/>
                </a:solidFill>
                <a:latin typeface="Arial"/>
                <a:ea typeface="Arial"/>
                <a:cs typeface="Arial"/>
              </a:defRPr>
            </a:pPr>
            <a:r>
              <a:rPr sz="2800" b="1">
                <a:solidFill>
                  <a:srgbClr val="0B2033"/>
                </a:solidFill>
                <a:latin typeface="Arial"/>
                <a:ea typeface="Arial"/>
                <a:cs typeface="Arial"/>
              </a:rPr>
              <a:t>Practical deletion value is still open</a:t>
            </a:r>
          </a:p>
        </p:txBody>
      </p:sp>
      <p:sp>
        <p:nvSpPr>
          <p:cNvPr id="12" name="text-197">
            <a:extLst xmlns:a="http://schemas.openxmlformats.org/drawingml/2006/main">
              <a:ext uri="{FF2B5EF4-FFF2-40B4-BE49-F238E27FC236}">
                <a16:creationId xmlns:a16="http://schemas.microsoft.com/office/drawing/2014/main" id="{76A2D09C-DC7B-4692-B7B3-9D67785DB144}"/>
              </a:ext>
            </a:extLst>
          </p:cNvPr>
          <p:cNvSpPr>
            <a:spLocks xmlns:a="http://schemas.openxmlformats.org/drawingml/2006/main" noGrp="1"/>
          </p:cNvSpPr>
          <p:nvPr/>
        </p:nvSpPr>
        <p:spPr>
          <a:xfrm xmlns:a="http://schemas.openxmlformats.org/drawingml/2006/main">
            <a:off x="1841500" y="6413500"/>
            <a:ext cx="125095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0">
                <a:solidFill>
                  <a:srgbClr val="526675"/>
                </a:solidFill>
                <a:latin typeface="Arial"/>
                <a:ea typeface="Arial"/>
                <a:cs typeface="Arial"/>
              </a:defRPr>
            </a:pPr>
            <a:r>
              <a:rPr sz="2400" b="0">
                <a:solidFill>
                  <a:srgbClr val="526675"/>
                </a:solidFill>
                <a:latin typeface="Arial"/>
                <a:ea typeface="Arial"/>
                <a:cs typeface="Arial"/>
              </a:rPr>
              <a:t>Controlled mechanisms and independent removal tests are the next evidence.</a:t>
            </a:r>
          </a:p>
        </p:txBody>
      </p:sp>
    </p:spTree>
    <p:extLst>
      <p:ext uri="{BB962C8B-B14F-4D97-AF65-F5344CB8AC3E}">
        <p14:creationId xmlns:p14="http://schemas.microsoft.com/office/powerpoint/2010/main" val="320737268"/>
      </p:ext>
    </p:extLst>
  </p:cSld>
</p:sld>
</file>

<file path=ppt/slides/slide18.xml><?xml version="1.0" encoding="utf-8"?>
<p:sld xmlns:p="http://schemas.openxmlformats.org/presentationml/2006/main">
  <p:cSld>
    <p:bg>
      <p:bgPr>
        <a:solidFill xmlns:a="http://schemas.openxmlformats.org/drawingml/2006/main">
          <a:srgbClr val="0B2033"/>
        </a:solidFill>
      </p:bgPr>
    </p:bg>
    <p:spTree>
      <p:nvGrpSpPr>
        <p:cNvPr id="1" name=""/>
        <p:cNvGrpSpPr/>
        <p:nvPr/>
      </p:nvGrpSpPr>
      <p:grpSpPr>
        <a:xfrm xmlns:a="http://schemas.openxmlformats.org/drawingml/2006/main"/>
      </p:grpSpPr>
      <p:sp>
        <p:nvSpPr>
          <p:cNvPr id="8" name="text-198">
            <a:extLst xmlns:a="http://schemas.openxmlformats.org/drawingml/2006/main">
              <a:ext uri="{FF2B5EF4-FFF2-40B4-BE49-F238E27FC236}">
                <a16:creationId xmlns:a16="http://schemas.microsoft.com/office/drawing/2014/main" id="{C47CA719-9934-4501-B84E-CD17EAFB63B8}"/>
              </a:ext>
            </a:extLst>
          </p:cNvPr>
          <p:cNvSpPr>
            <a:spLocks xmlns:a="http://schemas.openxmlformats.org/drawingml/2006/main" noGrp="1"/>
          </p:cNvSpPr>
          <p:nvPr/>
        </p:nvSpPr>
        <p:spPr>
          <a:xfrm xmlns:a="http://schemas.openxmlformats.org/drawingml/2006/main">
            <a:off x="762000" y="558800"/>
            <a:ext cx="13843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900" b="1">
                <a:solidFill>
                  <a:srgbClr val="FFFFFF"/>
                </a:solidFill>
                <a:latin typeface="Arial"/>
                <a:ea typeface="Arial"/>
                <a:cs typeface="Arial"/>
              </a:defRPr>
            </a:pPr>
            <a:r>
              <a:rPr sz="3900" b="1">
                <a:solidFill>
                  <a:srgbClr val="FFFFFF"/>
                </a:solidFill>
                <a:latin typeface="Arial"/>
                <a:ea typeface="Arial"/>
                <a:cs typeface="Arial"/>
              </a:rPr>
              <a:t>Expected contribution</a:t>
            </a:r>
          </a:p>
        </p:txBody>
      </p:sp>
      <p:sp>
        <p:nvSpPr>
          <p:cNvPr id="2" name="rule-199">
            <a:extLst xmlns:a="http://schemas.openxmlformats.org/drawingml/2006/main">
              <a:ext uri="{FF2B5EF4-FFF2-40B4-BE49-F238E27FC236}">
                <a16:creationId xmlns:a16="http://schemas.microsoft.com/office/drawing/2014/main" id="{F895A731-2D6A-44A6-9CCB-8C8269F5798D}"/>
              </a:ext>
            </a:extLst>
          </p:cNvPr>
          <p:cNvSpPr>
            <a:spLocks xmlns:a="http://schemas.openxmlformats.org/drawingml/2006/main" noGrp="1"/>
          </p:cNvSpPr>
          <p:nvPr/>
        </p:nvSpPr>
        <p:spPr>
          <a:xfrm xmlns:a="http://schemas.openxmlformats.org/drawingml/2006/main">
            <a:off x="762000" y="1701800"/>
            <a:ext cx="13716000" cy="0"/>
          </a:xfrm>
          <a:prstGeom xmlns:a="http://schemas.openxmlformats.org/drawingml/2006/main" prst="line">
            <a:avLst/>
          </a:prstGeom>
          <a:noFill xmlns:a="http://schemas.openxmlformats.org/drawingml/2006/main"/>
          <a:ln xmlns:a="http://schemas.openxmlformats.org/drawingml/2006/main" w="19050">
            <a:solidFill>
              <a:srgbClr val="75D0C9"/>
            </a:solidFill>
          </a:ln>
        </p:spPr>
      </p:sp>
      <p:sp>
        <p:nvSpPr>
          <p:cNvPr id="3" name="text-200">
            <a:extLst xmlns:a="http://schemas.openxmlformats.org/drawingml/2006/main">
              <a:ext uri="{FF2B5EF4-FFF2-40B4-BE49-F238E27FC236}">
                <a16:creationId xmlns:a16="http://schemas.microsoft.com/office/drawing/2014/main" id="{2065CC59-4049-48BB-819F-BF349D79819A}"/>
              </a:ext>
            </a:extLst>
          </p:cNvPr>
          <p:cNvSpPr>
            <a:spLocks xmlns:a="http://schemas.openxmlformats.org/drawingml/2006/main" noGrp="1"/>
          </p:cNvSpPr>
          <p:nvPr/>
        </p:nvSpPr>
        <p:spPr>
          <a:xfrm xmlns:a="http://schemas.openxmlformats.org/drawingml/2006/main">
            <a:off x="14122400" y="80772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600" b="0">
                <a:solidFill>
                  <a:srgbClr val="75D0C9"/>
                </a:solidFill>
                <a:latin typeface="Arial"/>
                <a:ea typeface="Arial"/>
                <a:cs typeface="Arial"/>
              </a:defRPr>
            </a:pPr>
            <a:r>
              <a:rPr sz="1600" b="0">
                <a:solidFill>
                  <a:srgbClr val="75D0C9"/>
                </a:solidFill>
                <a:latin typeface="Arial"/>
                <a:ea typeface="Arial"/>
                <a:cs typeface="Arial"/>
              </a:rPr>
              <a:t>18</a:t>
            </a:r>
          </a:p>
        </p:txBody>
      </p:sp>
      <p:sp>
        <p:nvSpPr>
          <p:cNvPr id="4" name="text-201">
            <a:extLst xmlns:a="http://schemas.openxmlformats.org/drawingml/2006/main">
              <a:ext uri="{FF2B5EF4-FFF2-40B4-BE49-F238E27FC236}">
                <a16:creationId xmlns:a16="http://schemas.microsoft.com/office/drawing/2014/main" id="{832C68AD-8283-401F-B6FB-815B9C857549}"/>
              </a:ext>
            </a:extLst>
          </p:cNvPr>
          <p:cNvSpPr>
            <a:spLocks xmlns:a="http://schemas.openxmlformats.org/drawingml/2006/main" noGrp="1"/>
          </p:cNvSpPr>
          <p:nvPr/>
        </p:nvSpPr>
        <p:spPr>
          <a:xfrm xmlns:a="http://schemas.openxmlformats.org/drawingml/2006/main">
            <a:off x="762000" y="2159000"/>
            <a:ext cx="13716000" cy="157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500" b="1">
                <a:solidFill>
                  <a:srgbClr val="FFFFFF"/>
                </a:solidFill>
                <a:latin typeface="Arial"/>
                <a:ea typeface="Arial"/>
                <a:cs typeface="Arial"/>
              </a:defRPr>
            </a:pPr>
            <a:r>
              <a:rPr sz="4500" b="1">
                <a:solidFill>
                  <a:srgbClr val="FFFFFF"/>
                </a:solidFill>
                <a:latin typeface="Arial"/>
                <a:ea typeface="Arial"/>
                <a:cs typeface="Arial"/>
              </a:rPr>
              <a:t>A feature-selection decision</a:t>
            </a:r>
          </a:p>
          <a:p xmlns:a="http://schemas.openxmlformats.org/drawingml/2006/main">
            <a:pPr algn="l">
              <a:defRPr sz="4500" b="1">
                <a:solidFill>
                  <a:srgbClr val="FFFFFF"/>
                </a:solidFill>
                <a:latin typeface="Arial"/>
                <a:ea typeface="Arial"/>
                <a:cs typeface="Arial"/>
              </a:defRPr>
            </a:pPr>
            <a:r>
              <a:rPr sz="4500" b="1">
                <a:solidFill>
                  <a:srgbClr val="FFFFFF"/>
                </a:solidFill>
                <a:latin typeface="Arial"/>
                <a:ea typeface="Arial"/>
                <a:cs typeface="Arial"/>
              </a:rPr>
              <a:t>with evidence that can be inspected.</a:t>
            </a:r>
          </a:p>
        </p:txBody>
      </p:sp>
      <p:sp>
        <p:nvSpPr>
          <p:cNvPr id="5" name="text-202">
            <a:extLst xmlns:a="http://schemas.openxmlformats.org/drawingml/2006/main">
              <a:ext uri="{FF2B5EF4-FFF2-40B4-BE49-F238E27FC236}">
                <a16:creationId xmlns:a16="http://schemas.microsoft.com/office/drawing/2014/main" id="{19EE2DBF-A9D3-4796-B75F-AE7D67972471}"/>
              </a:ext>
            </a:extLst>
          </p:cNvPr>
          <p:cNvSpPr>
            <a:spLocks xmlns:a="http://schemas.openxmlformats.org/drawingml/2006/main" noGrp="1"/>
          </p:cNvSpPr>
          <p:nvPr/>
        </p:nvSpPr>
        <p:spPr>
          <a:xfrm xmlns:a="http://schemas.openxmlformats.org/drawingml/2006/main">
            <a:off x="762000" y="4356100"/>
            <a:ext cx="13716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900" b="0">
                <a:solidFill>
                  <a:srgbClr val="75D0C9"/>
                </a:solidFill>
                <a:latin typeface="Arial"/>
                <a:ea typeface="Arial"/>
                <a:cs typeface="Arial"/>
              </a:defRPr>
            </a:pPr>
            <a:r>
              <a:rPr sz="2900" b="0">
                <a:solidFill>
                  <a:srgbClr val="75D0C9"/>
                </a:solidFill>
                <a:latin typeface="Arial"/>
                <a:ea typeface="Arial"/>
                <a:cs typeface="Arial"/>
              </a:rPr>
              <a:t>A concrete failure context explains what happened.</a:t>
            </a:r>
          </a:p>
          <a:p xmlns:a="http://schemas.openxmlformats.org/drawingml/2006/main">
            <a:pPr algn="l">
              <a:defRPr sz="2900" b="0">
                <a:solidFill>
                  <a:srgbClr val="75D0C9"/>
                </a:solidFill>
                <a:latin typeface="Arial"/>
                <a:ea typeface="Arial"/>
                <a:cs typeface="Arial"/>
              </a:defRPr>
            </a:pPr>
            <a:r>
              <a:rPr sz="2900" b="0">
                <a:solidFill>
                  <a:srgbClr val="75D0C9"/>
                </a:solidFill>
                <a:latin typeface="Arial"/>
                <a:ea typeface="Arial"/>
                <a:cs typeface="Arial"/>
              </a:rPr>
              <a:t>An exact reference shows what the search missed.</a:t>
            </a:r>
          </a:p>
          <a:p xmlns:a="http://schemas.openxmlformats.org/drawingml/2006/main">
            <a:pPr algn="l">
              <a:defRPr sz="2900" b="0">
                <a:solidFill>
                  <a:srgbClr val="75D0C9"/>
                </a:solidFill>
                <a:latin typeface="Arial"/>
                <a:ea typeface="Arial"/>
                <a:cs typeface="Arial"/>
              </a:defRPr>
            </a:pPr>
            <a:r>
              <a:rPr sz="2900" b="0">
                <a:solidFill>
                  <a:srgbClr val="75D0C9"/>
                </a:solidFill>
                <a:latin typeface="Arial"/>
                <a:ea typeface="Arial"/>
                <a:cs typeface="Arial"/>
              </a:rPr>
              <a:t>An independent test shows whether removal is worthwhile.</a:t>
            </a:r>
          </a:p>
        </p:txBody>
      </p:sp>
      <p:sp>
        <p:nvSpPr>
          <p:cNvPr id="6" name="rule-203">
            <a:extLst xmlns:a="http://schemas.openxmlformats.org/drawingml/2006/main">
              <a:ext uri="{FF2B5EF4-FFF2-40B4-BE49-F238E27FC236}">
                <a16:creationId xmlns:a16="http://schemas.microsoft.com/office/drawing/2014/main" id="{8222F301-5143-458A-8080-7E59E7755185}"/>
              </a:ext>
            </a:extLst>
          </p:cNvPr>
          <p:cNvSpPr>
            <a:spLocks xmlns:a="http://schemas.openxmlformats.org/drawingml/2006/main" noGrp="1"/>
          </p:cNvSpPr>
          <p:nvPr/>
        </p:nvSpPr>
        <p:spPr>
          <a:xfrm xmlns:a="http://schemas.openxmlformats.org/drawingml/2006/main">
            <a:off x="762000" y="7023100"/>
            <a:ext cx="13716000" cy="0"/>
          </a:xfrm>
          <a:prstGeom xmlns:a="http://schemas.openxmlformats.org/drawingml/2006/main" prst="line">
            <a:avLst/>
          </a:prstGeom>
          <a:noFill xmlns:a="http://schemas.openxmlformats.org/drawingml/2006/main"/>
          <a:ln xmlns:a="http://schemas.openxmlformats.org/drawingml/2006/main" w="12700">
            <a:solidFill>
              <a:srgbClr val="496174"/>
            </a:solidFill>
          </a:ln>
        </p:spPr>
      </p:sp>
      <p:sp>
        <p:nvSpPr>
          <p:cNvPr id="7" name="text-204">
            <a:extLst xmlns:a="http://schemas.openxmlformats.org/drawingml/2006/main">
              <a:ext uri="{FF2B5EF4-FFF2-40B4-BE49-F238E27FC236}">
                <a16:creationId xmlns:a16="http://schemas.microsoft.com/office/drawing/2014/main" id="{D9F059B6-EB5A-4427-83F1-F8F5C52ED7DF}"/>
              </a:ext>
            </a:extLst>
          </p:cNvPr>
          <p:cNvSpPr>
            <a:spLocks xmlns:a="http://schemas.openxmlformats.org/drawingml/2006/main" noGrp="1"/>
          </p:cNvSpPr>
          <p:nvPr/>
        </p:nvSpPr>
        <p:spPr>
          <a:xfrm xmlns:a="http://schemas.openxmlformats.org/drawingml/2006/main">
            <a:off x="762000" y="7340600"/>
            <a:ext cx="137160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00" b="0">
                <a:solidFill>
                  <a:srgbClr val="FFFFFF"/>
                </a:solidFill>
                <a:latin typeface="Arial"/>
                <a:ea typeface="Arial"/>
                <a:cs typeface="Arial"/>
              </a:defRPr>
            </a:pPr>
            <a:r>
              <a:rPr sz="2500" b="0">
                <a:solidFill>
                  <a:srgbClr val="FFFFFF"/>
                </a:solidFill>
                <a:latin typeface="Arial"/>
                <a:ea typeface="Arial"/>
                <a:cs typeface="Arial"/>
              </a:rPr>
              <a:t>Next: controlled mechanisms, then independent deletion evaluation.</a:t>
            </a:r>
          </a:p>
        </p:txBody>
      </p:sp>
    </p:spTree>
    <p:extLst>
      <p:ext uri="{BB962C8B-B14F-4D97-AF65-F5344CB8AC3E}">
        <p14:creationId xmlns:p14="http://schemas.microsoft.com/office/powerpoint/2010/main" val="17766642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2026-09-30T11:14:45.5600000Z</dcterms:created>
  <dcterms:modified xsi:type="dcterms:W3CDTF">2026-09-30T11:14:45.5600000Z</dcterms:modified>
</coreProperties>
</file>