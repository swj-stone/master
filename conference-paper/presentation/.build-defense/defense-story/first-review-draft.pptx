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975f1a91744f6" /><Relationship Type="http://schemas.openxmlformats.org/officeDocument/2006/relationships/extended-properties" Target="/docProps/app.xml" Id="R0eebc9eed6f24c3a" /><Relationship Type="http://schemas.openxmlformats.org/officeDocument/2006/relationships/officeDocument" Target="/ppt/presentation.xml" Id="R655551a6ad8b48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12e0fe121143ee"/>
  </p:sldMasterIdLst>
  <p:notesMasterIdLst>
    <p:notesMasterId xmlns:r="http://schemas.openxmlformats.org/officeDocument/2006/relationships" r:id="R55e01cb2126d4dc2"/>
  </p:notesMasterIdLst>
  <p:sldIdLst>
    <p:sldId xmlns:r="http://schemas.openxmlformats.org/officeDocument/2006/relationships" id="256" r:id="R9fbd9ba73bf74809"/>
    <p:sldId xmlns:r="http://schemas.openxmlformats.org/officeDocument/2006/relationships" id="257" r:id="R6581110ca8454f7a"/>
    <p:sldId xmlns:r="http://schemas.openxmlformats.org/officeDocument/2006/relationships" id="258" r:id="Rb17f397da0fc4426"/>
    <p:sldId xmlns:r="http://schemas.openxmlformats.org/officeDocument/2006/relationships" id="259" r:id="R26d3bf76bc5f4e10"/>
    <p:sldId xmlns:r="http://schemas.openxmlformats.org/officeDocument/2006/relationships" id="260" r:id="R95205cf3472a4e07"/>
    <p:sldId xmlns:r="http://schemas.openxmlformats.org/officeDocument/2006/relationships" id="261" r:id="R3d7c5e5045bb4afd"/>
    <p:sldId xmlns:r="http://schemas.openxmlformats.org/officeDocument/2006/relationships" id="262" r:id="R092edecf834e45fa"/>
    <p:sldId xmlns:r="http://schemas.openxmlformats.org/officeDocument/2006/relationships" id="263" r:id="Rfa72b45fc2de48f8"/>
    <p:sldId xmlns:r="http://schemas.openxmlformats.org/officeDocument/2006/relationships" id="264" r:id="R31ec85fd8890457b"/>
    <p:sldId xmlns:r="http://schemas.openxmlformats.org/officeDocument/2006/relationships" id="265" r:id="Rbdab5d4d6cb84064"/>
    <p:sldId xmlns:r="http://schemas.openxmlformats.org/officeDocument/2006/relationships" id="266" r:id="R7edadec381504eb1"/>
    <p:sldId xmlns:r="http://schemas.openxmlformats.org/officeDocument/2006/relationships" id="267" r:id="R499a35ec0e5742c7"/>
    <p:sldId xmlns:r="http://schemas.openxmlformats.org/officeDocument/2006/relationships" id="268" r:id="Rdf95eb2558bd46c0"/>
    <p:sldId xmlns:r="http://schemas.openxmlformats.org/officeDocument/2006/relationships" id="269" r:id="Ra3b61f3754d54ebe"/>
    <p:sldId xmlns:r="http://schemas.openxmlformats.org/officeDocument/2006/relationships" id="270" r:id="R2bfef7559b0243f6"/>
    <p:sldId xmlns:r="http://schemas.openxmlformats.org/officeDocument/2006/relationships" id="271" r:id="Rb62b13f8e2334326"/>
    <p:sldId xmlns:r="http://schemas.openxmlformats.org/officeDocument/2006/relationships" id="272" r:id="Rcb7b7166ec84452d"/>
    <p:sldId xmlns:r="http://schemas.openxmlformats.org/officeDocument/2006/relationships" id="273" r:id="R96fb1a7f95f14be2"/>
    <p:sldId xmlns:r="http://schemas.openxmlformats.org/officeDocument/2006/relationships" id="274" r:id="R1f1b0a96bd3648d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d5677c1574a5b" /><Relationship Type="http://schemas.openxmlformats.org/officeDocument/2006/relationships/slideMaster" Target="/ppt/slideMasters/slideMaster1.xml" Id="R5912e0fe121143ee" /><Relationship Type="http://schemas.openxmlformats.org/officeDocument/2006/relationships/notesMaster" Target="/ppt/notesMasters/notesMaster1.xml" Id="R55e01cb2126d4dc2" /><Relationship Type="http://schemas.openxmlformats.org/officeDocument/2006/relationships/presProps" Target="/ppt/presProps.xml" Id="Rde57a6b87856458b" /><Relationship Type="http://schemas.openxmlformats.org/officeDocument/2006/relationships/tableStyles" Target="/ppt/tableStyles.xml" Id="Red8755f3dbb842c0" /><Relationship Type="http://schemas.openxmlformats.org/officeDocument/2006/relationships/slide" Target="/ppt/slides/slide1.xml" Id="R9fbd9ba73bf74809" /><Relationship Type="http://schemas.openxmlformats.org/officeDocument/2006/relationships/slide" Target="/ppt/slides/slide2.xml" Id="R6581110ca8454f7a" /><Relationship Type="http://schemas.openxmlformats.org/officeDocument/2006/relationships/slide" Target="/ppt/slides/slide3.xml" Id="Rb17f397da0fc4426" /><Relationship Type="http://schemas.openxmlformats.org/officeDocument/2006/relationships/slide" Target="/ppt/slides/slide4.xml" Id="R26d3bf76bc5f4e10" /><Relationship Type="http://schemas.openxmlformats.org/officeDocument/2006/relationships/slide" Target="/ppt/slides/slide5.xml" Id="R95205cf3472a4e07" /><Relationship Type="http://schemas.openxmlformats.org/officeDocument/2006/relationships/slide" Target="/ppt/slides/slide6.xml" Id="R3d7c5e5045bb4afd" /><Relationship Type="http://schemas.openxmlformats.org/officeDocument/2006/relationships/slide" Target="/ppt/slides/slide7.xml" Id="R092edecf834e45fa" /><Relationship Type="http://schemas.openxmlformats.org/officeDocument/2006/relationships/slide" Target="/ppt/slides/slide8.xml" Id="Rfa72b45fc2de48f8" /><Relationship Type="http://schemas.openxmlformats.org/officeDocument/2006/relationships/slide" Target="/ppt/slides/slide9.xml" Id="R31ec85fd8890457b" /><Relationship Type="http://schemas.openxmlformats.org/officeDocument/2006/relationships/slide" Target="/ppt/slides/slide10.xml" Id="Rbdab5d4d6cb84064" /><Relationship Type="http://schemas.openxmlformats.org/officeDocument/2006/relationships/slide" Target="/ppt/slides/slide11.xml" Id="R7edadec381504eb1" /><Relationship Type="http://schemas.openxmlformats.org/officeDocument/2006/relationships/slide" Target="/ppt/slides/slide12.xml" Id="R499a35ec0e5742c7" /><Relationship Type="http://schemas.openxmlformats.org/officeDocument/2006/relationships/slide" Target="/ppt/slides/slide13.xml" Id="Rdf95eb2558bd46c0" /><Relationship Type="http://schemas.openxmlformats.org/officeDocument/2006/relationships/slide" Target="/ppt/slides/slide14.xml" Id="Ra3b61f3754d54ebe" /><Relationship Type="http://schemas.openxmlformats.org/officeDocument/2006/relationships/slide" Target="/ppt/slides/slide15.xml" Id="R2bfef7559b0243f6" /><Relationship Type="http://schemas.openxmlformats.org/officeDocument/2006/relationships/slide" Target="/ppt/slides/slide16.xml" Id="Rb62b13f8e2334326" /><Relationship Type="http://schemas.openxmlformats.org/officeDocument/2006/relationships/slide" Target="/ppt/slides/slide17.xml" Id="Rcb7b7166ec84452d" /><Relationship Type="http://schemas.openxmlformats.org/officeDocument/2006/relationships/slide" Target="/ppt/slides/slide18.xml" Id="R96fb1a7f95f14be2" /><Relationship Type="http://schemas.openxmlformats.org/officeDocument/2006/relationships/slide" Target="/ppt/slides/slide19.xml" Id="R1f1b0a96bd3648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cc806f368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61f5348844730" /><Relationship Type="http://schemas.openxmlformats.org/officeDocument/2006/relationships/notesMaster" Target="/ppt/notesMasters/notesMaster1.xml" Id="Rc48081c788b949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71564be804d6b" /><Relationship Type="http://schemas.openxmlformats.org/officeDocument/2006/relationships/notesMaster" Target="/ppt/notesMasters/notesMaster1.xml" Id="Rb8370e645bba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4861ca78d14f00" /><Relationship Type="http://schemas.openxmlformats.org/officeDocument/2006/relationships/notesMaster" Target="/ppt/notesMasters/notesMaster1.xml" Id="Rea864075771043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eeb21f59d342ff" /><Relationship Type="http://schemas.openxmlformats.org/officeDocument/2006/relationships/notesMaster" Target="/ppt/notesMasters/notesMaster1.xml" Id="R716929368eab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33f0aaaa334fac" /><Relationship Type="http://schemas.openxmlformats.org/officeDocument/2006/relationships/notesMaster" Target="/ppt/notesMasters/notesMaster1.xml" Id="Rcc1417c0f280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8f7c537b384ea3" /><Relationship Type="http://schemas.openxmlformats.org/officeDocument/2006/relationships/notesMaster" Target="/ppt/notesMasters/notesMaster1.xml" Id="R3b08cc85c84140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2778f28ad4a18" /><Relationship Type="http://schemas.openxmlformats.org/officeDocument/2006/relationships/notesMaster" Target="/ppt/notesMasters/notesMaster1.xml" Id="R2393c28929d245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c7bd3df9b041b7" /><Relationship Type="http://schemas.openxmlformats.org/officeDocument/2006/relationships/notesMaster" Target="/ppt/notesMasters/notesMaster1.xml" Id="R2a25c60e65d145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d0e202ff474f06" /><Relationship Type="http://schemas.openxmlformats.org/officeDocument/2006/relationships/notesMaster" Target="/ppt/notesMasters/notesMaster1.xml" Id="R45b8cdae6bd548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dc704d15854345" /><Relationship Type="http://schemas.openxmlformats.org/officeDocument/2006/relationships/notesMaster" Target="/ppt/notesMasters/notesMaster1.xml" Id="R1a6d02ee387b4a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770c0f5bc04a42" /><Relationship Type="http://schemas.openxmlformats.org/officeDocument/2006/relationships/notesMaster" Target="/ppt/notesMasters/notesMaster1.xml" Id="R8cfffaddf62d4d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4d623740fd48b9" /><Relationship Type="http://schemas.openxmlformats.org/officeDocument/2006/relationships/notesMaster" Target="/ppt/notesMasters/notesMaster1.xml" Id="Re4ee010e94a84f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ba7cc59f134930" /><Relationship Type="http://schemas.openxmlformats.org/officeDocument/2006/relationships/notesMaster" Target="/ppt/notesMasters/notesMaster1.xml" Id="R0e305c763b8a49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66bfd0700d446f" /><Relationship Type="http://schemas.openxmlformats.org/officeDocument/2006/relationships/notesMaster" Target="/ppt/notesMasters/notesMaster1.xml" Id="R65eb0fc952a64a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a0c51b48aa4d4a" /><Relationship Type="http://schemas.openxmlformats.org/officeDocument/2006/relationships/notesMaster" Target="/ppt/notesMasters/notesMaster1.xml" Id="Rbb66d43d87f045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158744fa9e47b7" /><Relationship Type="http://schemas.openxmlformats.org/officeDocument/2006/relationships/notesMaster" Target="/ppt/notesMasters/notesMaster1.xml" Id="R4bd59db170984a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e6844f33d44e14" /><Relationship Type="http://schemas.openxmlformats.org/officeDocument/2006/relationships/notesMaster" Target="/ppt/notesMasters/notesMaster1.xml" Id="Re55dabf4ed5245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521027268a43df" /><Relationship Type="http://schemas.openxmlformats.org/officeDocument/2006/relationships/notesMaster" Target="/ppt/notesMasters/notesMaster1.xml" Id="R400973e5e5774c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ba69e9551f47b2" /><Relationship Type="http://schemas.openxmlformats.org/officeDocument/2006/relationships/notesMaster" Target="/ppt/notesMasters/notesMaster1.xml" Id="R4dc1c3ec6f9742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开场不念长标题。我的研究关注一个具体问题：我们往模型里增加一个输入变量时，它是否可能让原本达到要求的模型反而达不到要求？我希望保存这种失败的具体证据，再检验它能否帮助我们选择更小的特征集合。本次重点介绍研究设计，实验仍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用垃圾邮件解释输入、模型和目标。每封邮件是一行数据，词频、标点、大写统计是输入，是否垃圾邮件是标签。实际使用时我们希望减少输入采集和维护成本。但固定学习器在有限样本下训练时，增加或删除输入的效果取决于其他输入，不能只凭直觉。减少特征能否节省总成本仍需要把审计开销一起测量。本研究希望为删除测试提供可复查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C:/work/学校/A.SPBU/paper/ZhaoCHI/Paper/Master-mr2/MAJOR_REVISION_PROTOCOL.md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这一页限定问题。我要找的不是一个孤立的“坏变量”，而是一个可以复查的失败场景。输出包含哪个输入、与哪些其他输入组合、加入前后模型分数如何变化。所有实验都使用监督学习，分类和回归只是目标的两种类型。PCA成分可以作为分类器输入，随机采样和进化搜索可以选择输入，但这些步骤不会把预测任务切换成无监督学习或强化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只讲这一个数值例子。完整输入模型假设为0.90，取其95%得到门槛0.855。集合S训练的模型得分0.87，加入i重新训练后为0.84。除了输入集合之外，训练、验证和模型配置保持一致。这个由达标到不达标的变化，就是后面所有方法和实验围绕的证据。数字仅为教学示例，不是实验结果。必须强调，S可能只是完整输入的一部分，不能据此推出从完整集合删除i一定有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Illustrative utilities, not observed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这是整场答辩最重要的一页。按箭头走上排，再从右向左走下排。上排是审计：选一个变量i与上下文S，用两组输入分别训练相同类型的监督模型，检查有没有负向跨越门槛，保存可以复查的记录。有限预算下不断重复前三步。下排是独立的应用验证：把见证转化为一个待删除候选，交给没有参与候选选择的验证集，通过才采用，否则回到完整输入。最后在未用过的测试集上测压缩、预测损失和总成本。两排分别回答“发生过什么”和“是否值得采取行动”。下排属于计划中的决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合作博弈提供一种组织问题的语言：特征是参与者，输入集合是联盟，边际贡献是加入一个变量带来的变化。这里先把分数转成是否达标，再找所有上下文中最差的边际。出现从1到0的变化，最小值就是负一。经典Shapley或Banzhaf关注加权平均边际，本项目关注是否存在一个失败上下文。MinShap已有最小聚合思路，因此不把min本身说成首创。详细公式在附录，主讲只保留这条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Games.</a:t>
            </a:r>
          </a:p>
          <a:p xmlns:a="http://schemas.openxmlformats.org/drawingml/2006/main">
            <a:r>
              <a:t>Banzhaf (1965), Weighted Voting Doesn’t Work.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困难不在检查一对模型，而在输入组合太多。A先抽子集大小，再抽该大小内的子集。B使用训练侧互信息和相关结构引导候选上下文。两者只改变“去哪里找”，不会改变监督任务或判定标准。引导是否更有效是实验问题，不能因为使用了相关性就假定更好。找到负见证可以确认固定游戏中的这次失败；没有找到则可能是搜索遗漏。共同查询预算不等于共同实际耗时，因此还要测模型拟合和全流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按研究用途解释选择，而不是报六组数字。Abalone只有八个输入，我们可以检查所有组合，且提供回归任务。Madelon是有标签的合成分类数据，包含有信息变量、冗余和干扰，但生成角色不等于MinPPI真值。Spambase的词频和字符统计容易对应到实际输入。Fraud提供稀有正类任务，其28个PCA主成分加金额仍用于有标签监督分类。当前35个精确游戏只来自这四套数据；Gisette和ISOLET属于更广的原始基准范围，并未加入这35个游戏。完整样本量、变量构成与目标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§2–3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https://www.openml.org/api/v1/json/data/1597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这三项研究形成证据链，而不是三组互不相关的实验。第一层有精确参照，能判断发现是否充分，已经完成。第二层控制数据结构，解释为什么会漏，处于计划阶段。第三层独立验证删除收益，回答实际使用是否值得，也处于计划阶段。每层的结论都有边界，不能用第一层的结果替代第三层。项目内部对应E1、E2和E4，为答辩按研究问题顺序称Study1、2、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§6, §7,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八个输入共有256个子集，因此能计算完整参照。这是为什么使用小面板：我们需要知道漏了多少，而不是只展示几个找到的案例。A和B不能看到完整答案，只能按预算查询自己选的子集。最后才由评价程序与精确标签比较，主要看整个预算过程的召回。已经完成四数据集、七面板、五划分组成的35个固定游戏。这里的精确答案仅针对各八维面板，不能外推成原始高维任务的真值。没有有害输入时召回没有定义，仍保留这些案例，不挑更容易展示成功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真实数据看到差异后很难解释原因，所以第二项研究有目的地构造三个监督二分类机制。第一个是信号加无关变量，第二个增加带噪声的相关副本，第三个是两变量异或交互。仍然做完整枚举作为参照，再比较同预算A/B。每种五个预先固定实例，不根据结果换随机种子。这里“无关”或“冗余”是生成角色，不能直接当成有害标签。研究要检验这些结构如何改变见证和搜索难度，而不是预先假定任何一种一定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§22.3–23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第三项研究最接近实际使用价值。每个策略在选择验证集上只提交一个候选，再由独立gate判断是否满足事先设定的预测损失容忍度。通过采用候选，不通过回完整输入，不能反复试到通过。冻结决定后在非测试数据上重训，再测试。比较包括互信息、TreeSHAP、LOFO、RFE和由验证集选择这些候选的组合策略，主比较是MinPPI-A与该组合策略。公平性要求同一数据集内固定目标、划分、学习器、预处理规则、指标和容忍度，并纳入所有成本。分类AUC和回归R²分开解释，不能把其原始分数混合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果只讲三个认识。第一，35个小型游戏已完成，能够检查见证和遗漏。第二，当前这种B引导没有稳定优于随机A，不能包装成已证实的加速或优势。第三，是否值得删除还没有独立决策证据，因此接下来先做机制实验，再做独立删除实验。统计数字在附录，需要时回答。这里的负结果让我们更准确地限定算法适用条件，不推翻固定游戏中的见证定义。证据状态参考2026年9月26日台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§1–8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尾回到价值。希望交付的不只是一个重要性分数，而是一组可以核查的理由：哪个输入在什么组合下造成达标失败；有限预算搜索遗漏多少；采取删除行动是否值得其成本。前两者属于方法与发现评价，最后一项需要下一步实验支持。NSGA-II是未来把这种证据用于特征数量与预测表现权衡的可选应用，放在附录，当前不把它作为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§1, §7 and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备用页。固定数据、划分、预处理、学习器、随机种子、效用和配额才定义一个固定博弈。二分类ROC AUC，多分类macro OVR AUC，回归审计max(raw R²,0)，gate/test用raw R²。零值并非无预测价值。MinSS和MinBz在完整上下文支持上的最小值相等，这不表示经典加权指数相等。采样最小值不小于全域最小值，观察到负一足以证实固定游戏中的存在性，采样零或正一无法认证全局类别。改变任务或条件必须形成新实验与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最新证据日期为2026年9月26日。Study1为7面板×5划分，每游戏30对采样日程，共同边际查询上限800。该研究使用64/16/20划分，不访问test。召回面积先在同游戏平均日程，再到面板、数据集，最后四数据集等权；空有害集合保留覆盖率、召回为NA。Study3不可复用Study1效用表，独立gate需要重新定义数据角色。候选冻结后非测试80%重新拟合，预处理仍来自原64%训练。成本含指导、审计、选择、gate及最终refit。该页数值不能与旧高维实验混为同一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§7, §22–23</a:t>
            </a:r>
          </a:p>
          <a:p xmlns:a="http://schemas.openxmlformats.org/drawingml/2006/main">
            <a:r>
              <a:t>C:/work/学校/A.SPBU/paper/ZhaoCHI/Paper/Master-mr2/MR3_P3_FINDINGS.md §1–4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NSGA-II是进化多目标搜索方法，不是强化学习，也不是MinPPI必需组成。目标为保留特征比例|S|/p0和1-clip(U(S),0,1)，p0固定为过滤前维数。非支配解表达压缩与预测表现的折中。旧应用实验不能证明加上审计后必然加速，重新比较需要把审计和指导成本全部计入。当前核心路线先完成机制和独立删除决策，再决定是否扩展多目标搜索。相关理论来源：Shapley 1953，Banzhaf 1965，Lundberg &amp; Lee 2017，Zheng &amp; Raskutti 2026以及Deb et al. 2002。各页备注给出资料来源。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71740044c4d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01fe801bf24445" /><Relationship Type="http://schemas.openxmlformats.org/officeDocument/2006/relationships/slideLayout" Target="/ppt/slideLayouts/slideLayout1.xml" Id="Racabde1cff1e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abde1cff1e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143c49c0447c6" /><Relationship Type="http://schemas.openxmlformats.org/officeDocument/2006/relationships/notesSlide" Target="/ppt/notesSlides/notesSlide1.xml" Id="Rafb7cce614e440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b8c8f35d649fd" /><Relationship Type="http://schemas.openxmlformats.org/officeDocument/2006/relationships/notesSlide" Target="/ppt/notesSlides/notesSlide2.xml" Id="Ra1a1570e6339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482dfb247409a" /><Relationship Type="http://schemas.openxmlformats.org/officeDocument/2006/relationships/notesSlide" Target="/ppt/notesSlides/notesSlide3.xml" Id="R7b51b2bb95274e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d289c27074f9d" /><Relationship Type="http://schemas.openxmlformats.org/officeDocument/2006/relationships/notesSlide" Target="/ppt/notesSlides/notesSlide4.xml" Id="R21dd3056435b42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c655276e749e5" /><Relationship Type="http://schemas.openxmlformats.org/officeDocument/2006/relationships/notesSlide" Target="/ppt/notesSlides/notesSlide5.xml" Id="Rd6d3161346844a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3e84d04514d34" /><Relationship Type="http://schemas.openxmlformats.org/officeDocument/2006/relationships/notesSlide" Target="/ppt/notesSlides/notesSlide6.xml" Id="Rea7bcc1913c24e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02debf19541bd" /><Relationship Type="http://schemas.openxmlformats.org/officeDocument/2006/relationships/notesSlide" Target="/ppt/notesSlides/notesSlide7.xml" Id="R372ad7e93be54c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e3931563d4494" /><Relationship Type="http://schemas.openxmlformats.org/officeDocument/2006/relationships/notesSlide" Target="/ppt/notesSlides/notesSlide8.xml" Id="Raee0bbde621644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ff1559cdc45d8" /><Relationship Type="http://schemas.openxmlformats.org/officeDocument/2006/relationships/notesSlide" Target="/ppt/notesSlides/notesSlide9.xml" Id="R4171ace835ae4b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138a042444128" /><Relationship Type="http://schemas.openxmlformats.org/officeDocument/2006/relationships/notesSlide" Target="/ppt/notesSlides/notesSlide10.xml" Id="R4c98d4a22d6a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46553ddf34539" /><Relationship Type="http://schemas.openxmlformats.org/officeDocument/2006/relationships/notesSlide" Target="/ppt/notesSlides/notesSlide11.xml" Id="R7e2d998dec2f4b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5db5fa8534774" /><Relationship Type="http://schemas.openxmlformats.org/officeDocument/2006/relationships/notesSlide" Target="/ppt/notesSlides/notesSlide12.xml" Id="R4b98b78865aa41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447238ba4416c" /><Relationship Type="http://schemas.openxmlformats.org/officeDocument/2006/relationships/notesSlide" Target="/ppt/notesSlides/notesSlide13.xml" Id="Rc8ba1bbf4c4748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9aacac9704a8c" /><Relationship Type="http://schemas.openxmlformats.org/officeDocument/2006/relationships/notesSlide" Target="/ppt/notesSlides/notesSlide14.xml" Id="R2603311c6aa644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0b615868249a1" /><Relationship Type="http://schemas.openxmlformats.org/officeDocument/2006/relationships/notesSlide" Target="/ppt/notesSlides/notesSlide15.xml" Id="R35a06f2f79d249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bd0fc998e4a50" /><Relationship Type="http://schemas.openxmlformats.org/officeDocument/2006/relationships/notesSlide" Target="/ppt/notesSlides/notesSlide16.xml" Id="R22de0a13605f45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8cc5fb95c44f1" /><Relationship Type="http://schemas.openxmlformats.org/officeDocument/2006/relationships/notesSlide" Target="/ppt/notesSlides/notesSlide17.xml" Id="Rb63df36400b849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15e5ce19d47ee" /><Relationship Type="http://schemas.openxmlformats.org/officeDocument/2006/relationships/notesSlide" Target="/ppt/notesSlides/notesSlide18.xml" Id="R92214643a5a54e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e7fe6ab654baa" /><Relationship Type="http://schemas.openxmlformats.org/officeDocument/2006/relationships/notesSlide" Target="/ppt/notesSlides/notesSlide19.xml" Id="R15ac3769ae0e46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66626D9F-9CE3-4EFE-84D7-D992F8ED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8ED73FD-7432-43C8-A752-759221C9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9300"/>
            <a:ext cx="137160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76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DE5F08B-1B08-4F3A-A057-402BB0FB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9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can an extra feature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a model worse?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5D68B99-F58E-4CCF-B1C1-7BF8636E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 Multi-Objective Feature Selection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CDFE2C9B-3C78-4154-B17B-37B6D25B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77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D2463EB-0476-44CC-84D1-3F2E5DC2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2500"/>
            <a:ext cx="609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B7F361F-EFC9-4F3A-B4E7-53F265B9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032500"/>
            <a:ext cx="5969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73584F9-2B6F-4A36-99A0-25F33BE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5300"/>
            <a:ext cx="10160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</a:t>
            </a:r>
          </a:p>
        </p:txBody>
      </p:sp>
    </p:spTree>
    <p:extLst>
      <p:ext uri="{BB962C8B-B14F-4D97-AF65-F5344CB8AC3E}">
        <p14:creationId xmlns:p14="http://schemas.microsoft.com/office/powerpoint/2010/main" val="1175280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B0A1CADB-13AF-4A3B-BD7C-820E7B4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feature selection needs evidence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FD3A2AE5-2869-45CC-AF7C-D89A5DB1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875EC648-0E16-43F7-AC79-466E1B23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93F08376-CF3E-4A71-9DF9-3D086D3B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47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Example: a spam classifier uses many measurements of an email.</a:t>
            </a:r>
          </a:p>
        </p:txBody>
      </p:sp>
      <p:sp>
        <p:nvSpPr>
          <p:cNvPr id="5" name="stage-13">
            <a:extLst xmlns:a="http://schemas.openxmlformats.org/drawingml/2006/main">
              <a:ext uri="{FF2B5EF4-FFF2-40B4-BE49-F238E27FC236}">
                <a16:creationId xmlns:a16="http://schemas.microsoft.com/office/drawing/2014/main" id="{A6723891-7815-4D07-867B-32F954F8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3100"/>
            <a:ext cx="3937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FC56C1F0-8F19-4292-B0EF-6579DC7E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655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measurements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8913A5C5-0730-41BA-9305-8602C67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49700"/>
            <a:ext cx="3530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Word frequencies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Punctuation and capitals</a:t>
            </a:r>
          </a:p>
        </p:txBody>
      </p:sp>
      <p:sp>
        <p:nvSpPr>
          <p:cNvPr id="8" name="stage-16">
            <a:extLst xmlns:a="http://schemas.openxmlformats.org/drawingml/2006/main">
              <a:ext uri="{FF2B5EF4-FFF2-40B4-BE49-F238E27FC236}">
                <a16:creationId xmlns:a16="http://schemas.microsoft.com/office/drawing/2014/main" id="{8056F80D-F60C-449D-988B-FC7A921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213100"/>
            <a:ext cx="3683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F36B73B3-128C-409B-8C12-572CB15C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5500"/>
            <a:ext cx="3276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a model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378DBBA7-00CD-4E2B-BAD0-D9EAF991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9700"/>
            <a:ext cx="3276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 from emails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with known labels</a:t>
            </a:r>
          </a:p>
        </p:txBody>
      </p:sp>
      <p:sp>
        <p:nvSpPr>
          <p:cNvPr id="11" name="stage-19">
            <a:extLst xmlns:a="http://schemas.openxmlformats.org/drawingml/2006/main">
              <a:ext uri="{FF2B5EF4-FFF2-40B4-BE49-F238E27FC236}">
                <a16:creationId xmlns:a16="http://schemas.microsoft.com/office/drawing/2014/main" id="{021B82B6-DDCA-4CA2-894B-61F463DE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13100"/>
            <a:ext cx="40005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7759BBD7-B081-4673-AE82-89BDFEC2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365500"/>
            <a:ext cx="3594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76EFBFBB-8A02-4D6C-8B8A-DB84632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949700"/>
            <a:ext cx="35941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Spam or non-spam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99000" y="40830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3400" y="40830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680CE306-D97F-4E2E-82D7-B5DF2064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469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reduce inputs?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F802F5DD-6709-44FA-940C-7E1F5CDE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549900"/>
            <a:ext cx="889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Less measurement and model cost. Fewer redundant inputs.</a:t>
            </a:r>
          </a:p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a smaller model must still meet the prediction requirement.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EA4147FF-7041-4565-9159-98471CAC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research need: an inspectable reason to test a feature for removal.</a:t>
            </a:r>
          </a:p>
        </p:txBody>
      </p:sp>
    </p:spTree>
    <p:extLst>
      <p:ext uri="{BB962C8B-B14F-4D97-AF65-F5344CB8AC3E}">
        <p14:creationId xmlns:p14="http://schemas.microsoft.com/office/powerpoint/2010/main" val="1280965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AD7DAE85-D11B-40DE-B5DD-CC5A1CBA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question and scope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7A9F45E1-9939-4F15-9B43-BBF62DC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5D731DE2-E784-4978-AC12-8AD28844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8C2769C7-D600-420C-AFF3-C750036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 we find a feature combination in which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adding one input breaks the performance requirement?</a:t>
            </a:r>
          </a:p>
        </p:txBody>
      </p:sp>
      <p:sp>
        <p:nvSpPr>
          <p:cNvPr id="5" name="rule-29">
            <a:extLst xmlns:a="http://schemas.openxmlformats.org/drawingml/2006/main">
              <a:ext uri="{FF2B5EF4-FFF2-40B4-BE49-F238E27FC236}">
                <a16:creationId xmlns:a16="http://schemas.microsoft.com/office/drawing/2014/main" id="{E98DC311-8B34-4DCA-AA69-49184040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745FCD8B-3169-4FE3-87AA-5875243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4200"/>
            <a:ext cx="6540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What the method should provide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ED08BAEC-69AA-43DC-8D8C-D92E5AAC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654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input involved, the other inputs present, and both model scores.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CFDAA1D5-3361-471A-BC5F-07B0F094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942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What must be tested separately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36B125F1-EB1D-47EC-91E7-974B0AA9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0927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Whether removing flagged inputs gives a useful smaller model.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841724F9-0185-4BA2-A12F-E401628E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tasks remain supervised: labeled inputs predict a class or a numeric target.</a:t>
            </a:r>
          </a:p>
        </p:txBody>
      </p:sp>
    </p:spTree>
    <p:extLst>
      <p:ext uri="{BB962C8B-B14F-4D97-AF65-F5344CB8AC3E}">
        <p14:creationId xmlns:p14="http://schemas.microsoft.com/office/powerpoint/2010/main" val="1420797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A4570221-1C81-414A-8010-1C172DFB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example of the core idea</a:t>
            </a:r>
          </a:p>
        </p:txBody>
      </p:sp>
      <p:sp>
        <p:nvSpPr>
          <p:cNvPr id="2" name="rule-36">
            <a:extLst xmlns:a="http://schemas.openxmlformats.org/drawingml/2006/main">
              <a:ext uri="{FF2B5EF4-FFF2-40B4-BE49-F238E27FC236}">
                <a16:creationId xmlns:a16="http://schemas.microsoft.com/office/drawing/2014/main" id="{3CF8480A-60CF-4DF2-93E0-091F88AB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448E94C8-EC8D-4421-A508-ABF7AC6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3D34F23F-3102-4005-BB90-8B323AAD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Illustration only. Minimum acceptable validation score: 0.855</a:t>
            </a:r>
          </a:p>
        </p:txBody>
      </p:sp>
      <p:sp>
        <p:nvSpPr>
          <p:cNvPr id="5" name="stage-39">
            <a:extLst xmlns:a="http://schemas.openxmlformats.org/drawingml/2006/main">
              <a:ext uri="{FF2B5EF4-FFF2-40B4-BE49-F238E27FC236}">
                <a16:creationId xmlns:a16="http://schemas.microsoft.com/office/drawing/2014/main" id="{4C70250C-E888-4657-95F2-8A64885F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30E517DF-2EC5-4EAC-93C5-8F99B04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Model using a subset S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DD8506D6-53F7-4ED3-B96F-90197435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0.87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Meets the requirement</a:t>
            </a:r>
          </a:p>
        </p:txBody>
      </p:sp>
      <p:sp>
        <p:nvSpPr>
          <p:cNvPr id="8" name="stage-42">
            <a:extLst xmlns:a="http://schemas.openxmlformats.org/drawingml/2006/main">
              <a:ext uri="{FF2B5EF4-FFF2-40B4-BE49-F238E27FC236}">
                <a16:creationId xmlns:a16="http://schemas.microsoft.com/office/drawing/2014/main" id="{F4D0E69C-FF3E-4554-8A2B-9BE67A5D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D010535D-A373-4836-80AE-ED3762C8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Model using S plus input i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2FAAFA46-077A-42C0-80EA-DFC3A5B3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0.84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Falls below the requirement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43688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EC3FE03F-ED1E-498C-87B4-F3CD78C3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65500"/>
            <a:ext cx="25146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 input i</a:t>
            </a:r>
          </a:p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retrain</a:t>
            </a:r>
          </a:p>
        </p:txBody>
      </p:sp>
      <p:sp>
        <p:nvSpPr>
          <p:cNvPr id="13" name="text-46">
            <a:extLst xmlns:a="http://schemas.openxmlformats.org/drawingml/2006/main">
              <a:ext uri="{FF2B5EF4-FFF2-40B4-BE49-F238E27FC236}">
                <a16:creationId xmlns:a16="http://schemas.microsoft.com/office/drawing/2014/main" id="{6A21F5C2-03C7-4EA4-8078-B9BB6DB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Same training rows, learner settings and validation rows</a:t>
            </a:r>
          </a:p>
        </p:txBody>
      </p:sp>
      <p:sp>
        <p:nvSpPr>
          <p:cNvPr id="14" name="text-47">
            <a:extLst xmlns:a="http://schemas.openxmlformats.org/drawingml/2006/main">
              <a:ext uri="{FF2B5EF4-FFF2-40B4-BE49-F238E27FC236}">
                <a16:creationId xmlns:a16="http://schemas.microsoft.com/office/drawing/2014/main" id="{8F4236AE-A583-45D3-A4A7-3F56C5B8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2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This pair is a witness: a concrete failure that another person can check.</a:t>
            </a:r>
          </a:p>
        </p:txBody>
      </p:sp>
      <p:sp>
        <p:nvSpPr>
          <p:cNvPr id="15" name="text-48">
            <a:extLst xmlns:a="http://schemas.openxmlformats.org/drawingml/2006/main">
              <a:ext uri="{FF2B5EF4-FFF2-40B4-BE49-F238E27FC236}">
                <a16:creationId xmlns:a16="http://schemas.microsoft.com/office/drawing/2014/main" id="{53A478B8-20C1-468B-83D9-4CF17D19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It motivates a deletion test. It does not prove that joint deletion will help.</a:t>
            </a:r>
          </a:p>
        </p:txBody>
      </p:sp>
    </p:spTree>
    <p:extLst>
      <p:ext uri="{BB962C8B-B14F-4D97-AF65-F5344CB8AC3E}">
        <p14:creationId xmlns:p14="http://schemas.microsoft.com/office/powerpoint/2010/main" val="2080444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49">
            <a:extLst xmlns:a="http://schemas.openxmlformats.org/drawingml/2006/main">
              <a:ext uri="{FF2B5EF4-FFF2-40B4-BE49-F238E27FC236}">
                <a16:creationId xmlns:a16="http://schemas.microsoft.com/office/drawing/2014/main" id="{C6BD4C82-0226-46CC-A375-CAA796C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rule-50">
            <a:extLst xmlns:a="http://schemas.openxmlformats.org/drawingml/2006/main">
              <a:ext uri="{FF2B5EF4-FFF2-40B4-BE49-F238E27FC236}">
                <a16:creationId xmlns:a16="http://schemas.microsoft.com/office/drawing/2014/main" id="{F5C7649E-6712-4035-8BC8-A72E85A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6AE6D077-CD92-4287-AE1D-A15E759A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52">
            <a:extLst xmlns:a="http://schemas.openxmlformats.org/drawingml/2006/main">
              <a:ext uri="{FF2B5EF4-FFF2-40B4-BE49-F238E27FC236}">
                <a16:creationId xmlns:a16="http://schemas.microsoft.com/office/drawing/2014/main" id="{ACA972E0-8316-4D04-844C-934979E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Fixed supervised task: labeled data, learner, split and performance requirement</a:t>
            </a:r>
          </a:p>
        </p:txBody>
      </p:sp>
      <p:sp>
        <p:nvSpPr>
          <p:cNvPr id="5" name="stage-53">
            <a:extLst xmlns:a="http://schemas.openxmlformats.org/drawingml/2006/main">
              <a:ext uri="{FF2B5EF4-FFF2-40B4-BE49-F238E27FC236}">
                <a16:creationId xmlns:a16="http://schemas.microsoft.com/office/drawing/2014/main" id="{4D8FB035-2E70-45A1-B047-4D06E491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6062CC77-68D3-4FD8-B5B3-A36AF24D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1. Choose a context</a:t>
            </a:r>
          </a:p>
        </p:txBody>
      </p:sp>
      <p:sp>
        <p:nvSpPr>
          <p:cNvPr id="7" name="text-55">
            <a:extLst xmlns:a="http://schemas.openxmlformats.org/drawingml/2006/main">
              <a:ext uri="{FF2B5EF4-FFF2-40B4-BE49-F238E27FC236}">
                <a16:creationId xmlns:a16="http://schemas.microsoft.com/office/drawing/2014/main" id="{DEE651C3-A625-49A2-BB55-51C4341B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 input i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 inputs S</a:t>
            </a:r>
          </a:p>
        </p:txBody>
      </p:sp>
      <p:sp>
        <p:nvSpPr>
          <p:cNvPr id="8" name="stage-56">
            <a:extLst xmlns:a="http://schemas.openxmlformats.org/drawingml/2006/main">
              <a:ext uri="{FF2B5EF4-FFF2-40B4-BE49-F238E27FC236}">
                <a16:creationId xmlns:a16="http://schemas.microsoft.com/office/drawing/2014/main" id="{999696CA-EBDD-48E6-9FB3-75EDCBA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4500"/>
            <a:ext cx="4127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6E4048A8-48D1-4AF2-A359-5F68EDDF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1369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Test the addition</a:t>
            </a:r>
          </a:p>
        </p:txBody>
      </p:sp>
      <p:sp>
        <p:nvSpPr>
          <p:cNvPr id="10" name="text-58">
            <a:extLst xmlns:a="http://schemas.openxmlformats.org/drawingml/2006/main">
              <a:ext uri="{FF2B5EF4-FFF2-40B4-BE49-F238E27FC236}">
                <a16:creationId xmlns:a16="http://schemas.microsoft.com/office/drawing/2014/main" id="{062A4F2F-EB65-4767-BBFB-F13B9F02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721100"/>
            <a:ext cx="3721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on S and on S+i.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validation scores.</a:t>
            </a:r>
          </a:p>
        </p:txBody>
      </p:sp>
      <p:sp>
        <p:nvSpPr>
          <p:cNvPr id="11" name="stage-59">
            <a:extLst xmlns:a="http://schemas.openxmlformats.org/drawingml/2006/main">
              <a:ext uri="{FF2B5EF4-FFF2-40B4-BE49-F238E27FC236}">
                <a16:creationId xmlns:a16="http://schemas.microsoft.com/office/drawing/2014/main" id="{9C8D7B75-5704-4BA7-AC66-5F5D2900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A9D9ACB4-3CDA-4EB3-B114-B2CFEE9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3. Save the witness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F047DF5E-A195-4A1C-9B95-44423D7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Record i, S, both scores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the requirement.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3981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90100" y="39814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sp>
        <p:nvSpPr>
          <p:cNvPr id="16" name="text-62">
            <a:extLst xmlns:a="http://schemas.openxmlformats.org/drawingml/2006/main">
              <a:ext uri="{FF2B5EF4-FFF2-40B4-BE49-F238E27FC236}">
                <a16:creationId xmlns:a16="http://schemas.microsoft.com/office/drawing/2014/main" id="{CC8E600B-2990-403E-B7DA-B60ADA8F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FEATURE AUDIT</a:t>
            </a:r>
          </a:p>
        </p:txBody>
      </p:sp>
      <p:sp>
        <p:nvSpPr>
          <p:cNvPr id="17" name="stage-63">
            <a:extLst xmlns:a="http://schemas.openxmlformats.org/drawingml/2006/main">
              <a:ext uri="{FF2B5EF4-FFF2-40B4-BE49-F238E27FC236}">
                <a16:creationId xmlns:a16="http://schemas.microsoft.com/office/drawing/2014/main" id="{4C75EA2C-A615-4C4A-B13F-C40F230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8" name="text-64">
            <a:extLst xmlns:a="http://schemas.openxmlformats.org/drawingml/2006/main">
              <a:ext uri="{FF2B5EF4-FFF2-40B4-BE49-F238E27FC236}">
                <a16:creationId xmlns:a16="http://schemas.microsoft.com/office/drawing/2014/main" id="{6013B22C-EE83-42A4-BEC4-840A12DA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4. Propose removal</a:t>
            </a:r>
          </a:p>
        </p:txBody>
      </p:sp>
      <p:sp>
        <p:nvSpPr>
          <p:cNvPr id="19" name="text-65">
            <a:extLst xmlns:a="http://schemas.openxmlformats.org/drawingml/2006/main">
              <a:ext uri="{FF2B5EF4-FFF2-40B4-BE49-F238E27FC236}">
                <a16:creationId xmlns:a16="http://schemas.microsoft.com/office/drawing/2014/main" id="{8ECD0DF1-9A2C-44AB-A1C9-66DA55AD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one candidate.</a:t>
            </a:r>
          </a:p>
        </p:txBody>
      </p:sp>
      <p:sp>
        <p:nvSpPr>
          <p:cNvPr id="20" name="stage-66">
            <a:extLst xmlns:a="http://schemas.openxmlformats.org/drawingml/2006/main">
              <a:ext uri="{FF2B5EF4-FFF2-40B4-BE49-F238E27FC236}">
                <a16:creationId xmlns:a16="http://schemas.microsoft.com/office/drawing/2014/main" id="{941BE554-4C0A-431A-8389-3AF3EC0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70600"/>
            <a:ext cx="4127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1" name="text-67">
            <a:extLst xmlns:a="http://schemas.openxmlformats.org/drawingml/2006/main">
              <a:ext uri="{FF2B5EF4-FFF2-40B4-BE49-F238E27FC236}">
                <a16:creationId xmlns:a16="http://schemas.microsoft.com/office/drawing/2014/main" id="{26BBB29B-4B33-4DE3-B8F5-658B7E4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2230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5. Independent check</a:t>
            </a:r>
          </a:p>
        </p:txBody>
      </p:sp>
      <p:sp>
        <p:nvSpPr>
          <p:cNvPr id="22" name="text-68">
            <a:extLst xmlns:a="http://schemas.openxmlformats.org/drawingml/2006/main">
              <a:ext uri="{FF2B5EF4-FFF2-40B4-BE49-F238E27FC236}">
                <a16:creationId xmlns:a16="http://schemas.microsoft.com/office/drawing/2014/main" id="{63A36B5B-E074-42B9-A8DE-8D199FF9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807200"/>
            <a:ext cx="3721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it or keep all inputs.</a:t>
            </a:r>
          </a:p>
        </p:txBody>
      </p:sp>
      <p:sp>
        <p:nvSpPr>
          <p:cNvPr id="23" name="stage-69">
            <a:extLst xmlns:a="http://schemas.openxmlformats.org/drawingml/2006/main">
              <a:ext uri="{FF2B5EF4-FFF2-40B4-BE49-F238E27FC236}">
                <a16:creationId xmlns:a16="http://schemas.microsoft.com/office/drawing/2014/main" id="{827BA5DD-273C-45C9-B3DD-40D4B10A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4" name="text-70">
            <a:extLst xmlns:a="http://schemas.openxmlformats.org/drawingml/2006/main">
              <a:ext uri="{FF2B5EF4-FFF2-40B4-BE49-F238E27FC236}">
                <a16:creationId xmlns:a16="http://schemas.microsoft.com/office/drawing/2014/main" id="{2C61D64D-CA65-4F3D-B0BE-A2EFA35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6. Held-out test</a:t>
            </a:r>
          </a:p>
        </p:txBody>
      </p:sp>
      <p:sp>
        <p:nvSpPr>
          <p:cNvPr id="25" name="text-71">
            <a:extLst xmlns:a="http://schemas.openxmlformats.org/drawingml/2006/main">
              <a:ext uri="{FF2B5EF4-FFF2-40B4-BE49-F238E27FC236}">
                <a16:creationId xmlns:a16="http://schemas.microsoft.com/office/drawing/2014/main" id="{AF521596-9807-4425-B09E-A497F602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size, loss and cost.</a:t>
            </a:r>
          </a:p>
        </p:txBody>
      </p: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668250" y="4978400"/>
            <a:ext cx="0" cy="1092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90100" y="68008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381500" y="6800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sp>
        <p:nvSpPr>
          <p:cNvPr id="29" name="text-72">
            <a:extLst xmlns:a="http://schemas.openxmlformats.org/drawingml/2006/main">
              <a:ext uri="{FF2B5EF4-FFF2-40B4-BE49-F238E27FC236}">
                <a16:creationId xmlns:a16="http://schemas.microsoft.com/office/drawing/2014/main" id="{62F212F8-AD07-4C55-9919-10495198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6100"/>
            <a:ext cx="863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DELETION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3176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B581BE78-8A00-440A-A71B-9452DE7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theory behind MinPPI</a:t>
            </a:r>
          </a:p>
        </p:txBody>
      </p:sp>
      <p:sp>
        <p:nvSpPr>
          <p:cNvPr id="2" name="rule-74">
            <a:extLst xmlns:a="http://schemas.openxmlformats.org/drawingml/2006/main">
              <a:ext uri="{FF2B5EF4-FFF2-40B4-BE49-F238E27FC236}">
                <a16:creationId xmlns:a16="http://schemas.microsoft.com/office/drawing/2014/main" id="{D32DDF13-995E-4829-80B0-93796279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F3C36AC1-61D8-43DD-8576-827B7E57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Game-theoretic idea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for a prediction model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input column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group of columns used to train a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Marginal contribution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change after adding one column to that group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A815D051-D47D-4E18-8BAC-E378ED18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checks the worst threshold change across feature groups.</a:t>
            </a:r>
          </a:p>
        </p:txBody>
      </p:sp>
      <p:sp>
        <p:nvSpPr>
          <p:cNvPr id="6" name="text-77">
            <a:extLst xmlns:a="http://schemas.openxmlformats.org/drawingml/2006/main">
              <a:ext uri="{FF2B5EF4-FFF2-40B4-BE49-F238E27FC236}">
                <a16:creationId xmlns:a16="http://schemas.microsoft.com/office/drawing/2014/main" id="{DF5C0965-DC0C-4677-8124-A14DCBB4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86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any group changes from pass to fail, that input has a negative witness.</a:t>
            </a:r>
          </a:p>
        </p:txBody>
      </p:sp>
      <p:sp>
        <p:nvSpPr>
          <p:cNvPr id="7" name="text-78">
            <a:extLst xmlns:a="http://schemas.openxmlformats.org/drawingml/2006/main">
              <a:ext uri="{FF2B5EF4-FFF2-40B4-BE49-F238E27FC236}">
                <a16:creationId xmlns:a16="http://schemas.microsoft.com/office/drawing/2014/main" id="{17DD3502-44C1-416A-ABE2-948A657C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16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Minimum aggregation builds on prior work. Our focus is evidence at a fixed performance requirement.</a:t>
            </a:r>
          </a:p>
        </p:txBody>
      </p:sp>
    </p:spTree>
    <p:extLst>
      <p:ext uri="{BB962C8B-B14F-4D97-AF65-F5344CB8AC3E}">
        <p14:creationId xmlns:p14="http://schemas.microsoft.com/office/powerpoint/2010/main" val="384111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9">
            <a:extLst xmlns:a="http://schemas.openxmlformats.org/drawingml/2006/main">
              <a:ext uri="{FF2B5EF4-FFF2-40B4-BE49-F238E27FC236}">
                <a16:creationId xmlns:a16="http://schemas.microsoft.com/office/drawing/2014/main" id="{EAA33536-2FBD-4D68-8A9A-3D7C345E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Finding witnesses within a limited budget</a:t>
            </a:r>
          </a:p>
        </p:txBody>
      </p:sp>
      <p:sp>
        <p:nvSpPr>
          <p:cNvPr id="2" name="rule-80">
            <a:extLst xmlns:a="http://schemas.openxmlformats.org/drawingml/2006/main">
              <a:ext uri="{FF2B5EF4-FFF2-40B4-BE49-F238E27FC236}">
                <a16:creationId xmlns:a16="http://schemas.microsoft.com/office/drawing/2014/main" id="{DE317BEA-9EBE-49F1-A814-0D84930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1">
            <a:extLst xmlns:a="http://schemas.openxmlformats.org/drawingml/2006/main">
              <a:ext uri="{FF2B5EF4-FFF2-40B4-BE49-F238E27FC236}">
                <a16:creationId xmlns:a16="http://schemas.microsoft.com/office/drawing/2014/main" id="{5BB26251-B0CA-4717-81EB-D9A0AAC4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EBAB23DE-6151-4EA0-AF9D-DE075C9B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Checking every combination becomes expensive as inputs grow.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1A7D63B9-1F0E-49D8-906B-DAA87DE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44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A: random exploration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8D745B29-E816-445C-9752-903CB824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Try varied groups of inputs.</a:t>
            </a:r>
          </a:p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This is the reference search strategy.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F5F5A290-BCA2-4E5F-A495-2A14A77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544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B: guided exploration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14938342-655A-4A26-B8BD-EF1257EB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529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associations to propose groups worth testing.</a:t>
            </a:r>
          </a:p>
        </p:txBody>
      </p:sp>
      <p:sp>
        <p:nvSpPr>
          <p:cNvPr id="9" name="rule-87">
            <a:extLst xmlns:a="http://schemas.openxmlformats.org/drawingml/2006/main">
              <a:ext uri="{FF2B5EF4-FFF2-40B4-BE49-F238E27FC236}">
                <a16:creationId xmlns:a16="http://schemas.microsoft.com/office/drawing/2014/main" id="{A4AB15BA-79B3-445B-A1A1-70C7834A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3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46CE19F7-7FFD-4E56-80CC-A976368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87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Both use the same two-model check and the same query budget.</a:t>
            </a:r>
          </a:p>
        </p:txBody>
      </p:sp>
      <p:sp>
        <p:nvSpPr>
          <p:cNvPr id="11" name="text-89">
            <a:extLst xmlns:a="http://schemas.openxmlformats.org/drawingml/2006/main">
              <a:ext uri="{FF2B5EF4-FFF2-40B4-BE49-F238E27FC236}">
                <a16:creationId xmlns:a16="http://schemas.microsoft.com/office/drawing/2014/main" id="{DAF138E3-70D1-4B98-B868-F436C4A9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found witness is checkable. An unvisited group may still hide one.</a:t>
            </a:r>
          </a:p>
        </p:txBody>
      </p:sp>
    </p:spTree>
    <p:extLst>
      <p:ext uri="{BB962C8B-B14F-4D97-AF65-F5344CB8AC3E}">
        <p14:creationId xmlns:p14="http://schemas.microsoft.com/office/powerpoint/2010/main" val="9198336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62082C86-45DD-4DF3-94AC-E9490A05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datasets fit the research</a:t>
            </a:r>
          </a:p>
        </p:txBody>
      </p:sp>
      <p:sp>
        <p:nvSpPr>
          <p:cNvPr id="2" name="rule-91">
            <a:extLst xmlns:a="http://schemas.openxmlformats.org/drawingml/2006/main">
              <a:ext uri="{FF2B5EF4-FFF2-40B4-BE49-F238E27FC236}">
                <a16:creationId xmlns:a16="http://schemas.microsoft.com/office/drawing/2014/main" id="{A1F76962-5105-4FC1-966B-4BADD30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7568DA1D-09C9-43B5-8F09-F7C1EF23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93">
            <a:extLst xmlns:a="http://schemas.openxmlformats.org/drawingml/2006/main">
              <a:ext uri="{FF2B5EF4-FFF2-40B4-BE49-F238E27FC236}">
                <a16:creationId xmlns:a16="http://schemas.microsoft.com/office/drawing/2014/main" id="{72558E51-BDC6-4567-85A7-06567F5E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core studies need checkable cases, known structure and real prediction tasks.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410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 and target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for inclusion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predict ring count.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Eight inputs allow every subset to be checked. Covers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Signal, redundant and distractor columns predict a synthetic class.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generating structure challenges feature search.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 and character statistics predict spam.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Real inputs give interpretable classification examples.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PCA components and amount predict fraud.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Rare positive cases test a different classification setting.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94">
            <a:extLst xmlns:a="http://schemas.openxmlformats.org/drawingml/2006/main">
              <a:ext uri="{FF2B5EF4-FFF2-40B4-BE49-F238E27FC236}">
                <a16:creationId xmlns:a16="http://schemas.microsoft.com/office/drawing/2014/main" id="{4175BD17-7236-4E64-A5BD-565DE72C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four are supervised tasks. PCA describes inputs, not a change of learning task.</a:t>
            </a:r>
          </a:p>
        </p:txBody>
      </p:sp>
      <p:sp>
        <p:nvSpPr>
          <p:cNvPr id="7" name="text-95">
            <a:extLst xmlns:a="http://schemas.openxmlformats.org/drawingml/2006/main">
              <a:ext uri="{FF2B5EF4-FFF2-40B4-BE49-F238E27FC236}">
                <a16:creationId xmlns:a16="http://schemas.microsoft.com/office/drawing/2014/main" id="{4692FC8E-515D-4E8A-9E5A-E31FB3EA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40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 broader benchmark also includes Gisette and ISOLET. Details are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815576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96">
            <a:extLst xmlns:a="http://schemas.openxmlformats.org/drawingml/2006/main">
              <a:ext uri="{FF2B5EF4-FFF2-40B4-BE49-F238E27FC236}">
                <a16:creationId xmlns:a16="http://schemas.microsoft.com/office/drawing/2014/main" id="{9B85C438-8D63-4614-B6AF-6C60213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Three studies answer three different questions</a:t>
            </a:r>
          </a:p>
        </p:txBody>
      </p:sp>
      <p:sp>
        <p:nvSpPr>
          <p:cNvPr id="2" name="rule-97">
            <a:extLst xmlns:a="http://schemas.openxmlformats.org/drawingml/2006/main">
              <a:ext uri="{FF2B5EF4-FFF2-40B4-BE49-F238E27FC236}">
                <a16:creationId xmlns:a16="http://schemas.microsoft.com/office/drawing/2014/main" id="{9D48F3BE-1E37-4357-A045-8768EDC8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33034515-50F0-4297-99CE-D97D5098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BA08FD5F-A221-4604-A5C0-B63C9DE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3D4C39AC-9E04-45EC-8684-7EFD3891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46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Discovery: how much do we miss?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D983AFCE-859D-4476-B79C-93AC032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68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the search with all possible subsets in small problems.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05757DD2-F523-4006-A179-CFBB318B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8A6291B6-6C3D-41EB-98CA-3DA01A2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624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Mechanism: what makes discovery difficult?</a:t>
            </a:r>
          </a:p>
        </p:txBody>
      </p:sp>
      <p:sp>
        <p:nvSpPr>
          <p:cNvPr id="9" name="text-104">
            <a:extLst xmlns:a="http://schemas.openxmlformats.org/drawingml/2006/main">
              <a:ext uri="{FF2B5EF4-FFF2-40B4-BE49-F238E27FC236}">
                <a16:creationId xmlns:a16="http://schemas.microsoft.com/office/drawing/2014/main" id="{4297161F-F0E3-4804-8EE3-95FA4BD9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847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 signal, redundancy and interaction in synthetic data.</a:t>
            </a:r>
          </a:p>
        </p:txBody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3384816C-1049-43BD-80CC-25487AEC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06">
            <a:extLst xmlns:a="http://schemas.openxmlformats.org/drawingml/2006/main">
              <a:ext uri="{FF2B5EF4-FFF2-40B4-BE49-F238E27FC236}">
                <a16:creationId xmlns:a16="http://schemas.microsoft.com/office/drawing/2014/main" id="{E95F98D6-772B-4C03-B412-D9B2CED5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78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Decision: is removal worth doing?</a:t>
            </a:r>
          </a:p>
        </p:txBody>
      </p:sp>
      <p:sp>
        <p:nvSpPr>
          <p:cNvPr id="12" name="text-107">
            <a:extLst xmlns:a="http://schemas.openxmlformats.org/drawingml/2006/main">
              <a:ext uri="{FF2B5EF4-FFF2-40B4-BE49-F238E27FC236}">
                <a16:creationId xmlns:a16="http://schemas.microsoft.com/office/drawing/2014/main" id="{340ACAE4-1CC2-4324-9C3A-574E3950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00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Test smaller models on independent data and include the full cost.</a:t>
            </a:r>
          </a:p>
        </p:txBody>
      </p:sp>
    </p:spTree>
    <p:extLst>
      <p:ext uri="{BB962C8B-B14F-4D97-AF65-F5344CB8AC3E}">
        <p14:creationId xmlns:p14="http://schemas.microsoft.com/office/powerpoint/2010/main" val="430366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08">
            <a:extLst xmlns:a="http://schemas.openxmlformats.org/drawingml/2006/main">
              <a:ext uri="{FF2B5EF4-FFF2-40B4-BE49-F238E27FC236}">
                <a16:creationId xmlns:a16="http://schemas.microsoft.com/office/drawing/2014/main" id="{AFA88C45-B64D-40EE-BF11-E9009F6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1: measure what the search misses</a:t>
            </a:r>
          </a:p>
        </p:txBody>
      </p:sp>
      <p:sp>
        <p:nvSpPr>
          <p:cNvPr id="2" name="rule-109">
            <a:extLst xmlns:a="http://schemas.openxmlformats.org/drawingml/2006/main">
              <a:ext uri="{FF2B5EF4-FFF2-40B4-BE49-F238E27FC236}">
                <a16:creationId xmlns:a16="http://schemas.microsoft.com/office/drawing/2014/main" id="{6D823486-5D3D-41E0-BC48-7856EED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0">
            <a:extLst xmlns:a="http://schemas.openxmlformats.org/drawingml/2006/main">
              <a:ext uri="{FF2B5EF4-FFF2-40B4-BE49-F238E27FC236}">
                <a16:creationId xmlns:a16="http://schemas.microsoft.com/office/drawing/2014/main" id="{62ADFF9D-8BA5-466D-BD11-001B3E0B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11">
            <a:extLst xmlns:a="http://schemas.openxmlformats.org/drawingml/2006/main">
              <a:ext uri="{FF2B5EF4-FFF2-40B4-BE49-F238E27FC236}">
                <a16:creationId xmlns:a16="http://schemas.microsoft.com/office/drawing/2014/main" id="{59B93BC7-1EF8-4E61-844F-CEA9314C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Small problems let us establish a complete reference.</a:t>
            </a:r>
          </a:p>
        </p:txBody>
      </p:sp>
      <p:sp>
        <p:nvSpPr>
          <p:cNvPr id="5" name="stage-112">
            <a:extLst xmlns:a="http://schemas.openxmlformats.org/drawingml/2006/main">
              <a:ext uri="{FF2B5EF4-FFF2-40B4-BE49-F238E27FC236}">
                <a16:creationId xmlns:a16="http://schemas.microsoft.com/office/drawing/2014/main" id="{81E36D07-77A2-48FC-8AEE-7A261547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9300"/>
            <a:ext cx="393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13">
            <a:extLst xmlns:a="http://schemas.openxmlformats.org/drawingml/2006/main">
              <a:ext uri="{FF2B5EF4-FFF2-40B4-BE49-F238E27FC236}">
                <a16:creationId xmlns:a16="http://schemas.microsoft.com/office/drawing/2014/main" id="{8D079F91-F8AE-4600-A7AB-48C4D25A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417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8-input problem</a:t>
            </a:r>
          </a:p>
        </p:txBody>
      </p:sp>
      <p:sp>
        <p:nvSpPr>
          <p:cNvPr id="7" name="text-114">
            <a:extLst xmlns:a="http://schemas.openxmlformats.org/drawingml/2006/main">
              <a:ext uri="{FF2B5EF4-FFF2-40B4-BE49-F238E27FC236}">
                <a16:creationId xmlns:a16="http://schemas.microsoft.com/office/drawing/2014/main" id="{5196F8C2-4567-4B64-9CA6-CD768226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025900"/>
            <a:ext cx="3530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data split, model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performance requirement</a:t>
            </a:r>
          </a:p>
        </p:txBody>
      </p:sp>
      <p:sp>
        <p:nvSpPr>
          <p:cNvPr id="8" name="stage-115">
            <a:extLst xmlns:a="http://schemas.openxmlformats.org/drawingml/2006/main">
              <a:ext uri="{FF2B5EF4-FFF2-40B4-BE49-F238E27FC236}">
                <a16:creationId xmlns:a16="http://schemas.microsoft.com/office/drawing/2014/main" id="{84FFE248-F5AF-4A01-90EA-ED474D81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702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16">
            <a:extLst xmlns:a="http://schemas.openxmlformats.org/drawingml/2006/main">
              <a:ext uri="{FF2B5EF4-FFF2-40B4-BE49-F238E27FC236}">
                <a16:creationId xmlns:a16="http://schemas.microsoft.com/office/drawing/2014/main" id="{0B58C94C-5928-42F4-A4D2-BB536482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0226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Complete enumeration</a:t>
            </a:r>
          </a:p>
        </p:txBody>
      </p:sp>
      <p:sp>
        <p:nvSpPr>
          <p:cNvPr id="10" name="text-117">
            <a:extLst xmlns:a="http://schemas.openxmlformats.org/drawingml/2006/main">
              <a:ext uri="{FF2B5EF4-FFF2-40B4-BE49-F238E27FC236}">
                <a16:creationId xmlns:a16="http://schemas.microsoft.com/office/drawing/2014/main" id="{A18EEB14-A641-471C-AD14-3732427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6068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 all 256 subsets.</a:t>
            </a:r>
          </a:p>
        </p:txBody>
      </p:sp>
      <p:sp>
        <p:nvSpPr>
          <p:cNvPr id="11" name="stage-118">
            <a:extLst xmlns:a="http://schemas.openxmlformats.org/drawingml/2006/main">
              <a:ext uri="{FF2B5EF4-FFF2-40B4-BE49-F238E27FC236}">
                <a16:creationId xmlns:a16="http://schemas.microsoft.com/office/drawing/2014/main" id="{5EBB5C01-580B-4EC1-A6B4-A4CC6370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927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19">
            <a:extLst xmlns:a="http://schemas.openxmlformats.org/drawingml/2006/main">
              <a:ext uri="{FF2B5EF4-FFF2-40B4-BE49-F238E27FC236}">
                <a16:creationId xmlns:a16="http://schemas.microsoft.com/office/drawing/2014/main" id="{0BCDE54D-1749-4B03-9E0F-55E72CA8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2451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Limited-budget search</a:t>
            </a:r>
          </a:p>
        </p:txBody>
      </p:sp>
      <p:sp>
        <p:nvSpPr>
          <p:cNvPr id="13" name="text-120">
            <a:extLst xmlns:a="http://schemas.openxmlformats.org/drawingml/2006/main">
              <a:ext uri="{FF2B5EF4-FFF2-40B4-BE49-F238E27FC236}">
                <a16:creationId xmlns:a16="http://schemas.microsoft.com/office/drawing/2014/main" id="{0970C6C7-F22D-4749-BD1C-EA1673D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8293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Let A or B request subsets.</a:t>
            </a:r>
          </a:p>
        </p:txBody>
      </p:sp>
      <p:sp>
        <p:nvSpPr>
          <p:cNvPr id="14" name="stage-121">
            <a:extLst xmlns:a="http://schemas.openxmlformats.org/drawingml/2006/main">
              <a:ext uri="{FF2B5EF4-FFF2-40B4-BE49-F238E27FC236}">
                <a16:creationId xmlns:a16="http://schemas.microsoft.com/office/drawing/2014/main" id="{E74E24F4-7D72-42D5-9F75-D2F30E1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937000"/>
            <a:ext cx="3111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5" name="text-122">
            <a:extLst xmlns:a="http://schemas.openxmlformats.org/drawingml/2006/main">
              <a:ext uri="{FF2B5EF4-FFF2-40B4-BE49-F238E27FC236}">
                <a16:creationId xmlns:a16="http://schemas.microsoft.com/office/drawing/2014/main" id="{C0CA531F-D13C-4424-B72B-45C1DD52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089400"/>
            <a:ext cx="2705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text-123">
            <a:extLst xmlns:a="http://schemas.openxmlformats.org/drawingml/2006/main">
              <a:ext uri="{FF2B5EF4-FFF2-40B4-BE49-F238E27FC236}">
                <a16:creationId xmlns:a16="http://schemas.microsoft.com/office/drawing/2014/main" id="{E9173105-180E-41A3-9F85-44AA747F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673600"/>
            <a:ext cx="27051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How many harmful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inputs were found?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99000" y="3663950"/>
            <a:ext cx="1371600" cy="65405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99000" y="4318000"/>
            <a:ext cx="1371600" cy="156845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60000" y="3663950"/>
            <a:ext cx="12065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0160000" y="4959350"/>
            <a:ext cx="1206500" cy="9271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sp>
        <p:nvSpPr>
          <p:cNvPr id="21" name="text-124">
            <a:extLst xmlns:a="http://schemas.openxmlformats.org/drawingml/2006/main">
              <a:ext uri="{FF2B5EF4-FFF2-40B4-BE49-F238E27FC236}">
                <a16:creationId xmlns:a16="http://schemas.microsoft.com/office/drawing/2014/main" id="{5E6F343B-2F13-41C9-8063-7EAC1058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Success means finding more of the known harmful inputs at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17694047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5">
            <a:extLst xmlns:a="http://schemas.openxmlformats.org/drawingml/2006/main">
              <a:ext uri="{FF2B5EF4-FFF2-40B4-BE49-F238E27FC236}">
                <a16:creationId xmlns:a16="http://schemas.microsoft.com/office/drawing/2014/main" id="{286EEABF-3E4A-4636-99D5-DEE1CA1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2: explain why some witnesses are harder to find</a:t>
            </a:r>
          </a:p>
        </p:txBody>
      </p:sp>
      <p:sp>
        <p:nvSpPr>
          <p:cNvPr id="2" name="rule-126">
            <a:extLst xmlns:a="http://schemas.openxmlformats.org/drawingml/2006/main">
              <a:ext uri="{FF2B5EF4-FFF2-40B4-BE49-F238E27FC236}">
                <a16:creationId xmlns:a16="http://schemas.microsoft.com/office/drawing/2014/main" id="{7CFACC77-BB6A-46B2-9DF1-EF589AC2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7">
            <a:extLst xmlns:a="http://schemas.openxmlformats.org/drawingml/2006/main">
              <a:ext uri="{FF2B5EF4-FFF2-40B4-BE49-F238E27FC236}">
                <a16:creationId xmlns:a16="http://schemas.microsoft.com/office/drawing/2014/main" id="{96C73F7F-CA6F-4C76-9AF5-ACD4E9FD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A70A8A08-FE76-4EC5-B652-6CB335B3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85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controlled experiment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844800"/>
          <a:ext xmlns:a="http://schemas.openxmlformats.org/drawingml/2006/main" cx="13716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5397500"/>
                <a:gridCol w="46355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structure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 in the inputs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learn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 with distractors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Useful variables plus unrelated columns.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extra noise creates difficult contexts.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 noisy copies of informative variables.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overlapping information affects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target depends on a combination of variables.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the search reaches important combinations.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29">
            <a:extLst xmlns:a="http://schemas.openxmlformats.org/drawingml/2006/main">
              <a:ext uri="{FF2B5EF4-FFF2-40B4-BE49-F238E27FC236}">
                <a16:creationId xmlns:a16="http://schemas.microsoft.com/office/drawing/2014/main" id="{71258E37-31CB-4C77-857A-58DF8226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Keep the model and evaluation fixed. Change the data structure deliberately.</a:t>
            </a:r>
          </a:p>
        </p:txBody>
      </p:sp>
    </p:spTree>
    <p:extLst>
      <p:ext uri="{BB962C8B-B14F-4D97-AF65-F5344CB8AC3E}">
        <p14:creationId xmlns:p14="http://schemas.microsoft.com/office/powerpoint/2010/main" val="3640818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30">
            <a:extLst xmlns:a="http://schemas.openxmlformats.org/drawingml/2006/main">
              <a:ext uri="{FF2B5EF4-FFF2-40B4-BE49-F238E27FC236}">
                <a16:creationId xmlns:a16="http://schemas.microsoft.com/office/drawing/2014/main" id="{A4A6CD96-F653-47BE-956B-B5D70134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3: test whether removal is useful</a:t>
            </a:r>
          </a:p>
        </p:txBody>
      </p:sp>
      <p:sp>
        <p:nvSpPr>
          <p:cNvPr id="2" name="rule-131">
            <a:extLst xmlns:a="http://schemas.openxmlformats.org/drawingml/2006/main">
              <a:ext uri="{FF2B5EF4-FFF2-40B4-BE49-F238E27FC236}">
                <a16:creationId xmlns:a16="http://schemas.microsoft.com/office/drawing/2014/main" id="{D9FA264C-F7FF-47A0-88AF-6DA6A24B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2">
            <a:extLst xmlns:a="http://schemas.openxmlformats.org/drawingml/2006/main">
              <a:ext uri="{FF2B5EF4-FFF2-40B4-BE49-F238E27FC236}">
                <a16:creationId xmlns:a16="http://schemas.microsoft.com/office/drawing/2014/main" id="{CB6C91EB-D178-4C43-A353-F75F3784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33">
            <a:extLst xmlns:a="http://schemas.openxmlformats.org/drawingml/2006/main">
              <a:ext uri="{FF2B5EF4-FFF2-40B4-BE49-F238E27FC236}">
                <a16:creationId xmlns:a16="http://schemas.microsoft.com/office/drawing/2014/main" id="{5CDC650B-0599-42A3-B7E6-995677A9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decision experiment with separate data for each decision stage</a:t>
            </a:r>
          </a:p>
        </p:txBody>
      </p:sp>
      <p:sp>
        <p:nvSpPr>
          <p:cNvPr id="5" name="stage-134">
            <a:extLst xmlns:a="http://schemas.openxmlformats.org/drawingml/2006/main">
              <a:ext uri="{FF2B5EF4-FFF2-40B4-BE49-F238E27FC236}">
                <a16:creationId xmlns:a16="http://schemas.microsoft.com/office/drawing/2014/main" id="{39518050-F4B1-48E6-95F0-83E556E1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35">
            <a:extLst xmlns:a="http://schemas.openxmlformats.org/drawingml/2006/main">
              <a:ext uri="{FF2B5EF4-FFF2-40B4-BE49-F238E27FC236}">
                <a16:creationId xmlns:a16="http://schemas.microsoft.com/office/drawing/2014/main" id="{824DEF5E-ACA1-461D-B414-587A37B6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a candidate</a:t>
            </a:r>
          </a:p>
        </p:txBody>
      </p:sp>
      <p:sp>
        <p:nvSpPr>
          <p:cNvPr id="7" name="text-136">
            <a:extLst xmlns:a="http://schemas.openxmlformats.org/drawingml/2006/main">
              <a:ext uri="{FF2B5EF4-FFF2-40B4-BE49-F238E27FC236}">
                <a16:creationId xmlns:a16="http://schemas.microsoft.com/office/drawing/2014/main" id="{13C079C1-73DB-48E9-AE64-953D8CC7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selection-validation data.</a:t>
            </a:r>
          </a:p>
        </p:txBody>
      </p:sp>
      <p:sp>
        <p:nvSpPr>
          <p:cNvPr id="8" name="stage-137">
            <a:extLst xmlns:a="http://schemas.openxmlformats.org/drawingml/2006/main">
              <a:ext uri="{FF2B5EF4-FFF2-40B4-BE49-F238E27FC236}">
                <a16:creationId xmlns:a16="http://schemas.microsoft.com/office/drawing/2014/main" id="{2521A0EB-C427-4AEA-9025-597DA882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38">
            <a:extLst xmlns:a="http://schemas.openxmlformats.org/drawingml/2006/main">
              <a:ext uri="{FF2B5EF4-FFF2-40B4-BE49-F238E27FC236}">
                <a16:creationId xmlns:a16="http://schemas.microsoft.com/office/drawing/2014/main" id="{0787BAB4-64F0-4BD7-83AE-163DD4DD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Check independently</a:t>
            </a:r>
          </a:p>
        </p:txBody>
      </p:sp>
      <p:sp>
        <p:nvSpPr>
          <p:cNvPr id="10" name="text-139">
            <a:extLst xmlns:a="http://schemas.openxmlformats.org/drawingml/2006/main">
              <a:ext uri="{FF2B5EF4-FFF2-40B4-BE49-F238E27FC236}">
                <a16:creationId xmlns:a16="http://schemas.microsoft.com/office/drawing/2014/main" id="{0F4AFC3B-F485-4F3E-804F-A85D216E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within tolerance.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Otherwise keep all inputs.</a:t>
            </a:r>
          </a:p>
        </p:txBody>
      </p:sp>
      <p:sp>
        <p:nvSpPr>
          <p:cNvPr id="11" name="stage-140">
            <a:extLst xmlns:a="http://schemas.openxmlformats.org/drawingml/2006/main">
              <a:ext uri="{FF2B5EF4-FFF2-40B4-BE49-F238E27FC236}">
                <a16:creationId xmlns:a16="http://schemas.microsoft.com/office/drawing/2014/main" id="{70493A42-E909-4E02-AB43-5DEA6CEB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5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41">
            <a:extLst xmlns:a="http://schemas.openxmlformats.org/drawingml/2006/main">
              <a:ext uri="{FF2B5EF4-FFF2-40B4-BE49-F238E27FC236}">
                <a16:creationId xmlns:a16="http://schemas.microsoft.com/office/drawing/2014/main" id="{D39D00B9-D554-4417-8804-550E5312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Freeze and test</a:t>
            </a:r>
          </a:p>
        </p:txBody>
      </p:sp>
      <p:sp>
        <p:nvSpPr>
          <p:cNvPr id="13" name="text-142">
            <a:extLst xmlns:a="http://schemas.openxmlformats.org/drawingml/2006/main">
              <a:ext uri="{FF2B5EF4-FFF2-40B4-BE49-F238E27FC236}">
                <a16:creationId xmlns:a16="http://schemas.microsoft.com/office/drawing/2014/main" id="{FECD4419-9CF2-46B9-AEA5-02ABE1B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Refit the chosen model.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Evaluate on held-out data.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5500" y="44132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50400" y="44132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sp>
        <p:nvSpPr>
          <p:cNvPr id="16" name="text-143">
            <a:extLst xmlns:a="http://schemas.openxmlformats.org/drawingml/2006/main">
              <a:ext uri="{FF2B5EF4-FFF2-40B4-BE49-F238E27FC236}">
                <a16:creationId xmlns:a16="http://schemas.microsoft.com/office/drawing/2014/main" id="{BE8910FC-7F45-4FFB-8996-F03FE258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with established feature-ranking and elimination methods.</a:t>
            </a:r>
          </a:p>
        </p:txBody>
      </p:sp>
      <p:sp>
        <p:nvSpPr>
          <p:cNvPr id="17" name="text-144">
            <a:extLst xmlns:a="http://schemas.openxmlformats.org/drawingml/2006/main">
              <a:ext uri="{FF2B5EF4-FFF2-40B4-BE49-F238E27FC236}">
                <a16:creationId xmlns:a16="http://schemas.microsoft.com/office/drawing/2014/main" id="{97E32F28-F702-4625-AD5C-D806D758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Judge three outcomes together: fewer inputs, prediction loss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206188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45">
            <a:extLst xmlns:a="http://schemas.openxmlformats.org/drawingml/2006/main">
              <a:ext uri="{FF2B5EF4-FFF2-40B4-BE49-F238E27FC236}">
                <a16:creationId xmlns:a16="http://schemas.microsoft.com/office/drawing/2014/main" id="{48F4D48C-A10A-483F-99CA-E5B7DC50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what it means</a:t>
            </a:r>
          </a:p>
        </p:txBody>
      </p:sp>
      <p:sp>
        <p:nvSpPr>
          <p:cNvPr id="2" name="rule-146">
            <a:extLst xmlns:a="http://schemas.openxmlformats.org/drawingml/2006/main">
              <a:ext uri="{FF2B5EF4-FFF2-40B4-BE49-F238E27FC236}">
                <a16:creationId xmlns:a16="http://schemas.microsoft.com/office/drawing/2014/main" id="{F774D884-C0FD-4888-9DF3-5289223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7">
            <a:extLst xmlns:a="http://schemas.openxmlformats.org/drawingml/2006/main">
              <a:ext uri="{FF2B5EF4-FFF2-40B4-BE49-F238E27FC236}">
                <a16:creationId xmlns:a16="http://schemas.microsoft.com/office/drawing/2014/main" id="{79A6C57A-E6C6-408F-B300-875400C2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48">
            <a:extLst xmlns:a="http://schemas.openxmlformats.org/drawingml/2006/main">
              <a:ext uri="{FF2B5EF4-FFF2-40B4-BE49-F238E27FC236}">
                <a16:creationId xmlns:a16="http://schemas.microsoft.com/office/drawing/2014/main" id="{645E6D52-8145-45D6-923B-39B49DB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49">
            <a:extLst xmlns:a="http://schemas.openxmlformats.org/drawingml/2006/main">
              <a:ext uri="{FF2B5EF4-FFF2-40B4-BE49-F238E27FC236}">
                <a16:creationId xmlns:a16="http://schemas.microsoft.com/office/drawing/2014/main" id="{D0D6A6AF-F04B-4CE8-BEF0-081B593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59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reference audit is complete</a:t>
            </a:r>
          </a:p>
        </p:txBody>
      </p:sp>
      <p:sp>
        <p:nvSpPr>
          <p:cNvPr id="6" name="text-150">
            <a:extLst xmlns:a="http://schemas.openxmlformats.org/drawingml/2006/main">
              <a:ext uri="{FF2B5EF4-FFF2-40B4-BE49-F238E27FC236}">
                <a16:creationId xmlns:a16="http://schemas.microsoft.com/office/drawing/2014/main" id="{D5938562-55A5-408D-AFAB-F61CBE02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81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Small problems provide checkable witnesses and reveal missed cases.</a:t>
            </a:r>
          </a:p>
        </p:txBody>
      </p:sp>
      <p:sp>
        <p:nvSpPr>
          <p:cNvPr id="7" name="text-151">
            <a:extLst xmlns:a="http://schemas.openxmlformats.org/drawingml/2006/main">
              <a:ext uri="{FF2B5EF4-FFF2-40B4-BE49-F238E27FC236}">
                <a16:creationId xmlns:a16="http://schemas.microsoft.com/office/drawing/2014/main" id="{FCEB1661-5CE3-4EC9-ACE4-A011CBA1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51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52">
            <a:extLst xmlns:a="http://schemas.openxmlformats.org/drawingml/2006/main">
              <a:ext uri="{FF2B5EF4-FFF2-40B4-BE49-F238E27FC236}">
                <a16:creationId xmlns:a16="http://schemas.microsoft.com/office/drawing/2014/main" id="{7F33A2F1-10BE-41A2-B9A3-5311A798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751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Guidance has no stable advantage yet</a:t>
            </a:r>
          </a:p>
        </p:txBody>
      </p:sp>
      <p:sp>
        <p:nvSpPr>
          <p:cNvPr id="9" name="text-153">
            <a:extLst xmlns:a="http://schemas.openxmlformats.org/drawingml/2006/main">
              <a:ext uri="{FF2B5EF4-FFF2-40B4-BE49-F238E27FC236}">
                <a16:creationId xmlns:a16="http://schemas.microsoft.com/office/drawing/2014/main" id="{2A009DAB-AC28-4410-8247-A5E0AE8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974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Training associations do not consistently point toward failure contexts.</a:t>
            </a:r>
          </a:p>
        </p:txBody>
      </p:sp>
      <p:sp>
        <p:nvSpPr>
          <p:cNvPr id="10" name="text-154">
            <a:extLst xmlns:a="http://schemas.openxmlformats.org/drawingml/2006/main">
              <a:ext uri="{FF2B5EF4-FFF2-40B4-BE49-F238E27FC236}">
                <a16:creationId xmlns:a16="http://schemas.microsoft.com/office/drawing/2014/main" id="{7AAD0EAC-B2F6-42CB-9EC8-6D772BB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55">
            <a:extLst xmlns:a="http://schemas.openxmlformats.org/drawingml/2006/main">
              <a:ext uri="{FF2B5EF4-FFF2-40B4-BE49-F238E27FC236}">
                <a16:creationId xmlns:a16="http://schemas.microsoft.com/office/drawing/2014/main" id="{804ADE35-C291-497B-BB1F-F9DD8D0F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912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deletion value is still open</a:t>
            </a:r>
          </a:p>
        </p:txBody>
      </p:sp>
      <p:sp>
        <p:nvSpPr>
          <p:cNvPr id="12" name="text-156">
            <a:extLst xmlns:a="http://schemas.openxmlformats.org/drawingml/2006/main">
              <a:ext uri="{FF2B5EF4-FFF2-40B4-BE49-F238E27FC236}">
                <a16:creationId xmlns:a16="http://schemas.microsoft.com/office/drawing/2014/main" id="{F7E74F4D-51E0-4C58-9FF8-CDBFA0E8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135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Controlled mechanisms and independent removal tests are the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724048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57">
            <a:extLst xmlns:a="http://schemas.openxmlformats.org/drawingml/2006/main">
              <a:ext uri="{FF2B5EF4-FFF2-40B4-BE49-F238E27FC236}">
                <a16:creationId xmlns:a16="http://schemas.microsoft.com/office/drawing/2014/main" id="{1D7B153D-3FFD-4437-AF08-F4B033F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rule-158">
            <a:extLst xmlns:a="http://schemas.openxmlformats.org/drawingml/2006/main">
              <a:ext uri="{FF2B5EF4-FFF2-40B4-BE49-F238E27FC236}">
                <a16:creationId xmlns:a16="http://schemas.microsoft.com/office/drawing/2014/main" id="{882020E1-6F34-4795-B584-8A2C1E05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59">
            <a:extLst xmlns:a="http://schemas.openxmlformats.org/drawingml/2006/main">
              <a:ext uri="{FF2B5EF4-FFF2-40B4-BE49-F238E27FC236}">
                <a16:creationId xmlns:a16="http://schemas.microsoft.com/office/drawing/2014/main" id="{AED3F804-A434-4A9B-8C51-E8C8E597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60">
            <a:extLst xmlns:a="http://schemas.openxmlformats.org/drawingml/2006/main">
              <a:ext uri="{FF2B5EF4-FFF2-40B4-BE49-F238E27FC236}">
                <a16:creationId xmlns:a16="http://schemas.microsoft.com/office/drawing/2014/main" id="{293A09E1-8961-48C3-864D-E80A1454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157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feature-selection decision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that can be inspected.</a:t>
            </a:r>
          </a:p>
        </p:txBody>
      </p:sp>
      <p:sp>
        <p:nvSpPr>
          <p:cNvPr id="5" name="text-161">
            <a:extLst xmlns:a="http://schemas.openxmlformats.org/drawingml/2006/main">
              <a:ext uri="{FF2B5EF4-FFF2-40B4-BE49-F238E27FC236}">
                <a16:creationId xmlns:a16="http://schemas.microsoft.com/office/drawing/2014/main" id="{E5BCE0F3-2A0D-4010-AD5E-CF18800F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 concrete failure context explains what happened.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exact reference shows what the search missed.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independent test shows whether removal is worthwhile.</a:t>
            </a:r>
          </a:p>
        </p:txBody>
      </p:sp>
      <p:sp>
        <p:nvSpPr>
          <p:cNvPr id="6" name="rule-162">
            <a:extLst xmlns:a="http://schemas.openxmlformats.org/drawingml/2006/main">
              <a:ext uri="{FF2B5EF4-FFF2-40B4-BE49-F238E27FC236}">
                <a16:creationId xmlns:a16="http://schemas.microsoft.com/office/drawing/2014/main" id="{8DBCD77D-1B83-4E6E-86DE-A876358C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63">
            <a:extLst xmlns:a="http://schemas.openxmlformats.org/drawingml/2006/main">
              <a:ext uri="{FF2B5EF4-FFF2-40B4-BE49-F238E27FC236}">
                <a16:creationId xmlns:a16="http://schemas.microsoft.com/office/drawing/2014/main" id="{730EF74C-D4DC-419A-9D9E-57278FC8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controlled mechanisms, then independent deletion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8223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4A4F3625-C620-4F13-8CB4-00C76D5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(1/2)</a:t>
            </a:r>
          </a:p>
        </p:txBody>
      </p:sp>
      <p:sp>
        <p:nvSpPr>
          <p:cNvPr id="2" name="rule-165">
            <a:extLst xmlns:a="http://schemas.openxmlformats.org/drawingml/2006/main">
              <a:ext uri="{FF2B5EF4-FFF2-40B4-BE49-F238E27FC236}">
                <a16:creationId xmlns:a16="http://schemas.microsoft.com/office/drawing/2014/main" id="{D2FB7888-D8FC-41D3-9F1C-B7A5F7D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6">
            <a:extLst xmlns:a="http://schemas.openxmlformats.org/drawingml/2006/main">
              <a:ext uri="{FF2B5EF4-FFF2-40B4-BE49-F238E27FC236}">
                <a16:creationId xmlns:a16="http://schemas.microsoft.com/office/drawing/2014/main" id="{00FA181E-56C9-4ECF-AA1E-E17DFBD1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spam / non-spam. Observable text statistics make witnesses easier to interpret.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synthetic class ±1. Redundancy and distractors challenge discovery.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digit 4 / 9. High-dimensional inputs stress screening and cost. Outside the current 35-game study.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67">
            <a:extLst xmlns:a="http://schemas.openxmlformats.org/drawingml/2006/main">
              <a:ext uri="{FF2B5EF4-FFF2-40B4-BE49-F238E27FC236}">
                <a16:creationId xmlns:a16="http://schemas.microsoft.com/office/drawing/2014/main" id="{65C9A9BD-BA9D-4498-B7E9-83352653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1325280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68">
            <a:extLst xmlns:a="http://schemas.openxmlformats.org/drawingml/2006/main">
              <a:ext uri="{FF2B5EF4-FFF2-40B4-BE49-F238E27FC236}">
                <a16:creationId xmlns:a16="http://schemas.microsoft.com/office/drawing/2014/main" id="{FAB9CAFE-BE86-4D88-BDA6-27F4F50A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(2/2)</a:t>
            </a:r>
          </a:p>
        </p:txBody>
      </p:sp>
      <p:sp>
        <p:nvSpPr>
          <p:cNvPr id="2" name="rule-169">
            <a:extLst xmlns:a="http://schemas.openxmlformats.org/drawingml/2006/main">
              <a:ext uri="{FF2B5EF4-FFF2-40B4-BE49-F238E27FC236}">
                <a16:creationId xmlns:a16="http://schemas.microsoft.com/office/drawing/2014/main" id="{DCF4B3EB-D478-4F04-B630-D42C50FA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0">
            <a:extLst xmlns:a="http://schemas.openxmlformats.org/drawingml/2006/main">
              <a:ext uri="{FF2B5EF4-FFF2-40B4-BE49-F238E27FC236}">
                <a16:creationId xmlns:a16="http://schemas.microsoft.com/office/drawing/2014/main" id="{B453D605-6814-45FC-AE48-69CFA0E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71">
            <a:extLst xmlns:a="http://schemas.openxmlformats.org/drawingml/2006/main">
              <a:ext uri="{FF2B5EF4-FFF2-40B4-BE49-F238E27FC236}">
                <a16:creationId xmlns:a16="http://schemas.microsoft.com/office/drawing/2014/main" id="{7328904F-7EDE-4138-9731-CF098F1D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PCA describes the input representation. Fraud labels still define a supervised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7513594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72">
            <a:extLst xmlns:a="http://schemas.openxmlformats.org/drawingml/2006/main">
              <a:ext uri="{FF2B5EF4-FFF2-40B4-BE49-F238E27FC236}">
                <a16:creationId xmlns:a16="http://schemas.microsoft.com/office/drawing/2014/main" id="{7C761C1E-E038-4695-8C74-6F10B9A7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formal definition and assumptions</a:t>
            </a:r>
          </a:p>
        </p:txBody>
      </p:sp>
      <p:sp>
        <p:nvSpPr>
          <p:cNvPr id="2" name="rule-173">
            <a:extLst xmlns:a="http://schemas.openxmlformats.org/drawingml/2006/main">
              <a:ext uri="{FF2B5EF4-FFF2-40B4-BE49-F238E27FC236}">
                <a16:creationId xmlns:a16="http://schemas.microsoft.com/office/drawing/2014/main" id="{1AEA103A-C33E-4EC0-8C2A-541A3AB5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4">
            <a:extLst xmlns:a="http://schemas.openxmlformats.org/drawingml/2006/main">
              <a:ext uri="{FF2B5EF4-FFF2-40B4-BE49-F238E27FC236}">
                <a16:creationId xmlns:a16="http://schemas.microsoft.com/office/drawing/2014/main" id="{C1552A10-1CFF-43B7-B78D-F63BCB86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75">
            <a:extLst xmlns:a="http://schemas.openxmlformats.org/drawingml/2006/main">
              <a:ext uri="{FF2B5EF4-FFF2-40B4-BE49-F238E27FC236}">
                <a16:creationId xmlns:a16="http://schemas.microsoft.com/office/drawing/2014/main" id="{BA5536D6-62C1-427F-AACB-228906D0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424A3455-8472-4FB0-92B4-8B5FEC9B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96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177">
            <a:extLst xmlns:a="http://schemas.openxmlformats.org/drawingml/2006/main">
              <a:ext uri="{FF2B5EF4-FFF2-40B4-BE49-F238E27FC236}">
                <a16:creationId xmlns:a16="http://schemas.microsoft.com/office/drawing/2014/main" id="{67D36C33-732D-4608-B8A3-7EDDC1E7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D: analyzed input set. S: a subset without i. U: validation utility.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Default α = 0.95, with U(D) &gt; 0 and finite utilities.</a:t>
            </a:r>
          </a:p>
        </p:txBody>
      </p: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34D631AE-784C-4568-853F-25B9C0AA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−1: a negative witness exists.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0: no negative context, but at least one zero marginal.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+1: every context changes from fail to pass.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2ADFAAE6-D43E-4249-9771-B628432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49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Sampled minima bound the exact minimum from above. No sampled witness does not certify safety.</a:t>
            </a:r>
          </a:p>
        </p:txBody>
      </p:sp>
    </p:spTree>
    <p:extLst>
      <p:ext uri="{BB962C8B-B14F-4D97-AF65-F5344CB8AC3E}">
        <p14:creationId xmlns:p14="http://schemas.microsoft.com/office/powerpoint/2010/main" val="5069493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8EAECE99-D537-4481-81C0-D3A6E1EA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experimental protocol and evidence</a:t>
            </a:r>
          </a:p>
        </p:txBody>
      </p:sp>
      <p:sp>
        <p:nvSpPr>
          <p:cNvPr id="2" name="rule-181">
            <a:extLst xmlns:a="http://schemas.openxmlformats.org/drawingml/2006/main">
              <a:ext uri="{FF2B5EF4-FFF2-40B4-BE49-F238E27FC236}">
                <a16:creationId xmlns:a16="http://schemas.microsoft.com/office/drawing/2014/main" id="{A183A7AD-D0B1-4873-B3D7-2A82EC6D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2">
            <a:extLst xmlns:a="http://schemas.openxmlformats.org/drawingml/2006/main">
              <a:ext uri="{FF2B5EF4-FFF2-40B4-BE49-F238E27FC236}">
                <a16:creationId xmlns:a16="http://schemas.microsoft.com/office/drawing/2014/main" id="{4557DA32-2D48-4D05-B250-8B3BA456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97790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Prespecified design or current evidence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1: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eight-input games from 4 datasets. Full references, paired A/B search.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2: 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mechanisms × 5 instances. Each has 2,000 rows and 8 inputs.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3: 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games. Train / selection / gate / test = 64 / 8 / 8 / 20%.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Fixed learner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XGBoost: 100 rounds, depth 4, learning rate 0.1.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Decision tolerance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AUC loss ≤ 0.005 for classification. Raw R² loss ≤ 0.01 for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3">
            <a:extLst xmlns:a="http://schemas.openxmlformats.org/drawingml/2006/main">
              <a:ext uri="{FF2B5EF4-FFF2-40B4-BE49-F238E27FC236}">
                <a16:creationId xmlns:a16="http://schemas.microsoft.com/office/drawing/2014/main" id="{B211C1FA-8A83-4E69-A52C-D8DAD7ED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3400"/>
            <a:ext cx="1371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Study 1 recall area: A = 0.4012, B = 0.3718. No stable advantage for B.</a:t>
            </a:r>
          </a:p>
        </p:txBody>
      </p:sp>
      <p:sp>
        <p:nvSpPr>
          <p:cNvPr id="6" name="text-184">
            <a:extLst xmlns:a="http://schemas.openxmlformats.org/drawingml/2006/main">
              <a:ext uri="{FF2B5EF4-FFF2-40B4-BE49-F238E27FC236}">
                <a16:creationId xmlns:a16="http://schemas.microsoft.com/office/drawing/2014/main" id="{BF5804F3-7219-411A-B120-7C89B74D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22 of 35 games have harmful inputs. The other 13 have undefined recall.</a:t>
            </a:r>
          </a:p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These results describe small fixed games, not deletion benefit or high-dimensional truth.</a:t>
            </a:r>
          </a:p>
        </p:txBody>
      </p:sp>
    </p:spTree>
    <p:extLst>
      <p:ext uri="{BB962C8B-B14F-4D97-AF65-F5344CB8AC3E}">
        <p14:creationId xmlns:p14="http://schemas.microsoft.com/office/powerpoint/2010/main" val="13373701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85">
            <a:extLst xmlns:a="http://schemas.openxmlformats.org/drawingml/2006/main">
              <a:ext uri="{FF2B5EF4-FFF2-40B4-BE49-F238E27FC236}">
                <a16:creationId xmlns:a16="http://schemas.microsoft.com/office/drawing/2014/main" id="{3C58E874-984E-45EA-9DD1-7DF00D31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multi-objective selection as an extension</a:t>
            </a:r>
          </a:p>
        </p:txBody>
      </p:sp>
      <p:sp>
        <p:nvSpPr>
          <p:cNvPr id="2" name="rule-186">
            <a:extLst xmlns:a="http://schemas.openxmlformats.org/drawingml/2006/main">
              <a:ext uri="{FF2B5EF4-FFF2-40B4-BE49-F238E27FC236}">
                <a16:creationId xmlns:a16="http://schemas.microsoft.com/office/drawing/2014/main" id="{2EB34273-45FB-49D1-8C6F-212859D7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7">
            <a:extLst xmlns:a="http://schemas.openxmlformats.org/drawingml/2006/main">
              <a:ext uri="{FF2B5EF4-FFF2-40B4-BE49-F238E27FC236}">
                <a16:creationId xmlns:a16="http://schemas.microsoft.com/office/drawing/2014/main" id="{6A4181ED-EF19-4BD5-BE87-58418387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188">
            <a:extLst xmlns:a="http://schemas.openxmlformats.org/drawingml/2006/main">
              <a:ext uri="{FF2B5EF4-FFF2-40B4-BE49-F238E27FC236}">
                <a16:creationId xmlns:a16="http://schemas.microsoft.com/office/drawing/2014/main" id="{0AD5B1C4-7556-4F3E-8CED-4B3DFA9C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possible later use of the audit</a:t>
            </a:r>
          </a:p>
        </p:txBody>
      </p:sp>
      <p:sp>
        <p:nvSpPr>
          <p:cNvPr id="5" name="stage-189">
            <a:extLst xmlns:a="http://schemas.openxmlformats.org/drawingml/2006/main">
              <a:ext uri="{FF2B5EF4-FFF2-40B4-BE49-F238E27FC236}">
                <a16:creationId xmlns:a16="http://schemas.microsoft.com/office/drawing/2014/main" id="{3833A924-534F-4B8B-AA89-559C2B8C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90">
            <a:extLst xmlns:a="http://schemas.openxmlformats.org/drawingml/2006/main">
              <a:ext uri="{FF2B5EF4-FFF2-40B4-BE49-F238E27FC236}">
                <a16:creationId xmlns:a16="http://schemas.microsoft.com/office/drawing/2014/main" id="{38961DBD-899D-45F4-BB24-CF665BC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evidence</a:t>
            </a:r>
          </a:p>
        </p:txBody>
      </p:sp>
      <p:sp>
        <p:nvSpPr>
          <p:cNvPr id="7" name="text-191">
            <a:extLst xmlns:a="http://schemas.openxmlformats.org/drawingml/2006/main">
              <a:ext uri="{FF2B5EF4-FFF2-40B4-BE49-F238E27FC236}">
                <a16:creationId xmlns:a16="http://schemas.microsoft.com/office/drawing/2014/main" id="{DEED7672-85A8-4A74-918E-7174A123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Propose a smaller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search space.</a:t>
            </a:r>
          </a:p>
        </p:txBody>
      </p:sp>
      <p:sp>
        <p:nvSpPr>
          <p:cNvPr id="8" name="stage-192">
            <a:extLst xmlns:a="http://schemas.openxmlformats.org/drawingml/2006/main">
              <a:ext uri="{FF2B5EF4-FFF2-40B4-BE49-F238E27FC236}">
                <a16:creationId xmlns:a16="http://schemas.microsoft.com/office/drawing/2014/main" id="{A417E930-F140-4FBB-81CB-8C24BE79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93">
            <a:extLst xmlns:a="http://schemas.openxmlformats.org/drawingml/2006/main">
              <a:ext uri="{FF2B5EF4-FFF2-40B4-BE49-F238E27FC236}">
                <a16:creationId xmlns:a16="http://schemas.microsoft.com/office/drawing/2014/main" id="{16E6388E-453F-49E1-A1DA-0AE643CB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10" name="text-194">
            <a:extLst xmlns:a="http://schemas.openxmlformats.org/drawingml/2006/main">
              <a:ext uri="{FF2B5EF4-FFF2-40B4-BE49-F238E27FC236}">
                <a16:creationId xmlns:a16="http://schemas.microsoft.com/office/drawing/2014/main" id="{D23A0015-59B9-4BA6-80C8-00CA40A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Trade input count against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prediction performance.</a:t>
            </a:r>
          </a:p>
        </p:txBody>
      </p:sp>
      <p:sp>
        <p:nvSpPr>
          <p:cNvPr id="11" name="stage-195">
            <a:extLst xmlns:a="http://schemas.openxmlformats.org/drawingml/2006/main">
              <a:ext uri="{FF2B5EF4-FFF2-40B4-BE49-F238E27FC236}">
                <a16:creationId xmlns:a16="http://schemas.microsoft.com/office/drawing/2014/main" id="{9CE9DDD4-D00D-4E17-8380-FEFD591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96">
            <a:extLst xmlns:a="http://schemas.openxmlformats.org/drawingml/2006/main">
              <a:ext uri="{FF2B5EF4-FFF2-40B4-BE49-F238E27FC236}">
                <a16:creationId xmlns:a16="http://schemas.microsoft.com/office/drawing/2014/main" id="{61F0B252-758E-46CF-84CB-91D462D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Candidate models</a:t>
            </a:r>
          </a:p>
        </p:txBody>
      </p:sp>
      <p:sp>
        <p:nvSpPr>
          <p:cNvPr id="13" name="text-197">
            <a:extLst xmlns:a="http://schemas.openxmlformats.org/drawingml/2006/main">
              <a:ext uri="{FF2B5EF4-FFF2-40B4-BE49-F238E27FC236}">
                <a16:creationId xmlns:a16="http://schemas.microsoft.com/office/drawing/2014/main" id="{56D6FC2E-8079-4B57-A04F-A415A93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Offer different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size–performance choices.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72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25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headEnd type="triangle" w="med" len="med"/>
          </a:ln>
        </p:spPr>
      </p:cxnSp>
      <p:sp>
        <p:nvSpPr>
          <p:cNvPr id="16" name="text-198">
            <a:extLst xmlns:a="http://schemas.openxmlformats.org/drawingml/2006/main">
              <a:ext uri="{FF2B5EF4-FFF2-40B4-BE49-F238E27FC236}">
                <a16:creationId xmlns:a16="http://schemas.microsoft.com/office/drawing/2014/main" id="{202FE610-7CC9-4223-B195-EF0C6EC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4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supervised prediction task stays fixed throughout the search.</a:t>
            </a:r>
          </a:p>
        </p:txBody>
      </p:sp>
      <p:sp>
        <p:nvSpPr>
          <p:cNvPr id="17" name="text-199">
            <a:extLst xmlns:a="http://schemas.openxmlformats.org/drawingml/2006/main">
              <a:ext uri="{FF2B5EF4-FFF2-40B4-BE49-F238E27FC236}">
                <a16:creationId xmlns:a16="http://schemas.microsoft.com/office/drawing/2014/main" id="{847D3FC3-2538-4CD0-A1A4-FD138930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Any benefit must include the preceding audit cost. This extension is outside the core evidence.</a:t>
            </a:r>
          </a:p>
        </p:txBody>
      </p:sp>
    </p:spTree>
    <p:extLst>
      <p:ext uri="{BB962C8B-B14F-4D97-AF65-F5344CB8AC3E}">
        <p14:creationId xmlns:p14="http://schemas.microsoft.com/office/powerpoint/2010/main" val="1105483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2026-09-29T16:51:08.0320000Z</dcterms:created>
  <dcterms:modified xsi:type="dcterms:W3CDTF">2026-09-29T16:51:08.0320000Z</dcterms:modified>
</coreProperties>
</file>