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ef3fca9e5e4dec" /><Relationship Type="http://schemas.openxmlformats.org/officeDocument/2006/relationships/extended-properties" Target="/docProps/app.xml" Id="R3190866389a04966" /><Relationship Type="http://schemas.openxmlformats.org/officeDocument/2006/relationships/officeDocument" Target="/ppt/presentation.xml" Id="R49aa8a876cf847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cad58f71e247a4"/>
  </p:sldMasterIdLst>
  <p:notesMasterIdLst>
    <p:notesMasterId xmlns:r="http://schemas.openxmlformats.org/officeDocument/2006/relationships" r:id="R863a0bb904254bce"/>
  </p:notesMasterIdLst>
  <p:sldIdLst>
    <p:sldId xmlns:r="http://schemas.openxmlformats.org/officeDocument/2006/relationships" id="256" r:id="R9503dfe2913a4dad"/>
    <p:sldId xmlns:r="http://schemas.openxmlformats.org/officeDocument/2006/relationships" id="257" r:id="Rbbcb4ab125074fe1"/>
    <p:sldId xmlns:r="http://schemas.openxmlformats.org/officeDocument/2006/relationships" id="258" r:id="R3a5ac39fc970412f"/>
    <p:sldId xmlns:r="http://schemas.openxmlformats.org/officeDocument/2006/relationships" id="259" r:id="Rbf4ca85e76054806"/>
    <p:sldId xmlns:r="http://schemas.openxmlformats.org/officeDocument/2006/relationships" id="260" r:id="R2d9c153fa56a4680"/>
    <p:sldId xmlns:r="http://schemas.openxmlformats.org/officeDocument/2006/relationships" id="261" r:id="R48d3ee98503541ae"/>
    <p:sldId xmlns:r="http://schemas.openxmlformats.org/officeDocument/2006/relationships" id="262" r:id="R88d26d011a6d4fe0"/>
    <p:sldId xmlns:r="http://schemas.openxmlformats.org/officeDocument/2006/relationships" id="263" r:id="R791cf203a93d4d7f"/>
    <p:sldId xmlns:r="http://schemas.openxmlformats.org/officeDocument/2006/relationships" id="264" r:id="R0a84c8a170934f45"/>
    <p:sldId xmlns:r="http://schemas.openxmlformats.org/officeDocument/2006/relationships" id="265" r:id="R300b09a91a244b7c"/>
    <p:sldId xmlns:r="http://schemas.openxmlformats.org/officeDocument/2006/relationships" id="266" r:id="R6eefc7befe4a46f8"/>
    <p:sldId xmlns:r="http://schemas.openxmlformats.org/officeDocument/2006/relationships" id="267" r:id="Rc17876e8b9004429"/>
    <p:sldId xmlns:r="http://schemas.openxmlformats.org/officeDocument/2006/relationships" id="268" r:id="Rd8596b51a9544739"/>
    <p:sldId xmlns:r="http://schemas.openxmlformats.org/officeDocument/2006/relationships" id="269" r:id="Rdfadcaf39b6a40bd"/>
    <p:sldId xmlns:r="http://schemas.openxmlformats.org/officeDocument/2006/relationships" id="270" r:id="Rf119125287064cd7"/>
    <p:sldId xmlns:r="http://schemas.openxmlformats.org/officeDocument/2006/relationships" id="271" r:id="Rc36b18c6d51a4faa"/>
    <p:sldId xmlns:r="http://schemas.openxmlformats.org/officeDocument/2006/relationships" id="272" r:id="R6889d027f3254d4c"/>
    <p:sldId xmlns:r="http://schemas.openxmlformats.org/officeDocument/2006/relationships" id="273" r:id="R1eaf0546d17c4fd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d92550455b400a" /><Relationship Type="http://schemas.openxmlformats.org/officeDocument/2006/relationships/slideMaster" Target="/ppt/slideMasters/slideMaster1.xml" Id="Ra0cad58f71e247a4" /><Relationship Type="http://schemas.openxmlformats.org/officeDocument/2006/relationships/notesMaster" Target="/ppt/notesMasters/notesMaster1.xml" Id="R863a0bb904254bce" /><Relationship Type="http://schemas.openxmlformats.org/officeDocument/2006/relationships/presProps" Target="/ppt/presProps.xml" Id="R6d70d63f4217405a" /><Relationship Type="http://schemas.openxmlformats.org/officeDocument/2006/relationships/tableStyles" Target="/ppt/tableStyles.xml" Id="R6c3230d93f6d4143" /><Relationship Type="http://schemas.openxmlformats.org/officeDocument/2006/relationships/slide" Target="/ppt/slides/slide1.xml" Id="R9503dfe2913a4dad" /><Relationship Type="http://schemas.openxmlformats.org/officeDocument/2006/relationships/slide" Target="/ppt/slides/slide2.xml" Id="Rbbcb4ab125074fe1" /><Relationship Type="http://schemas.openxmlformats.org/officeDocument/2006/relationships/slide" Target="/ppt/slides/slide3.xml" Id="R3a5ac39fc970412f" /><Relationship Type="http://schemas.openxmlformats.org/officeDocument/2006/relationships/slide" Target="/ppt/slides/slide4.xml" Id="Rbf4ca85e76054806" /><Relationship Type="http://schemas.openxmlformats.org/officeDocument/2006/relationships/slide" Target="/ppt/slides/slide5.xml" Id="R2d9c153fa56a4680" /><Relationship Type="http://schemas.openxmlformats.org/officeDocument/2006/relationships/slide" Target="/ppt/slides/slide6.xml" Id="R48d3ee98503541ae" /><Relationship Type="http://schemas.openxmlformats.org/officeDocument/2006/relationships/slide" Target="/ppt/slides/slide7.xml" Id="R88d26d011a6d4fe0" /><Relationship Type="http://schemas.openxmlformats.org/officeDocument/2006/relationships/slide" Target="/ppt/slides/slide8.xml" Id="R791cf203a93d4d7f" /><Relationship Type="http://schemas.openxmlformats.org/officeDocument/2006/relationships/slide" Target="/ppt/slides/slide9.xml" Id="R0a84c8a170934f45" /><Relationship Type="http://schemas.openxmlformats.org/officeDocument/2006/relationships/slide" Target="/ppt/slides/slide10.xml" Id="R300b09a91a244b7c" /><Relationship Type="http://schemas.openxmlformats.org/officeDocument/2006/relationships/slide" Target="/ppt/slides/slide11.xml" Id="R6eefc7befe4a46f8" /><Relationship Type="http://schemas.openxmlformats.org/officeDocument/2006/relationships/slide" Target="/ppt/slides/slide12.xml" Id="Rc17876e8b9004429" /><Relationship Type="http://schemas.openxmlformats.org/officeDocument/2006/relationships/slide" Target="/ppt/slides/slide13.xml" Id="Rd8596b51a9544739" /><Relationship Type="http://schemas.openxmlformats.org/officeDocument/2006/relationships/slide" Target="/ppt/slides/slide14.xml" Id="Rdfadcaf39b6a40bd" /><Relationship Type="http://schemas.openxmlformats.org/officeDocument/2006/relationships/slide" Target="/ppt/slides/slide15.xml" Id="Rf119125287064cd7" /><Relationship Type="http://schemas.openxmlformats.org/officeDocument/2006/relationships/slide" Target="/ppt/slides/slide16.xml" Id="Rc36b18c6d51a4faa" /><Relationship Type="http://schemas.openxmlformats.org/officeDocument/2006/relationships/slide" Target="/ppt/slides/slide17.xml" Id="R6889d027f3254d4c" /><Relationship Type="http://schemas.openxmlformats.org/officeDocument/2006/relationships/slide" Target="/ppt/slides/slide18.xml" Id="R1eaf0546d17c4f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0406b6128b4d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d0c45d722f4bf9" /><Relationship Type="http://schemas.openxmlformats.org/officeDocument/2006/relationships/notesMaster" Target="/ppt/notesMasters/notesMaster1.xml" Id="R67e2797fe3dc4c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ed950c29b84b58" /><Relationship Type="http://schemas.openxmlformats.org/officeDocument/2006/relationships/notesMaster" Target="/ppt/notesMasters/notesMaster1.xml" Id="R057c2f16974e48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c61b0de3bd4a7e" /><Relationship Type="http://schemas.openxmlformats.org/officeDocument/2006/relationships/notesMaster" Target="/ppt/notesMasters/notesMaster1.xml" Id="R533f027cda3c4e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5665beabb247ba" /><Relationship Type="http://schemas.openxmlformats.org/officeDocument/2006/relationships/notesMaster" Target="/ppt/notesMasters/notesMaster1.xml" Id="R65d6c3fc298245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3719a44e544af7" /><Relationship Type="http://schemas.openxmlformats.org/officeDocument/2006/relationships/notesMaster" Target="/ppt/notesMasters/notesMaster1.xml" Id="R4ce716fc392444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b30a4e54c34ae6" /><Relationship Type="http://schemas.openxmlformats.org/officeDocument/2006/relationships/notesMaster" Target="/ppt/notesMasters/notesMaster1.xml" Id="R083ccde022cc40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1e84eb898e4c11" /><Relationship Type="http://schemas.openxmlformats.org/officeDocument/2006/relationships/notesMaster" Target="/ppt/notesMasters/notesMaster1.xml" Id="Rad36130e5b6c40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881ec0731e48e1" /><Relationship Type="http://schemas.openxmlformats.org/officeDocument/2006/relationships/notesMaster" Target="/ppt/notesMasters/notesMaster1.xml" Id="R2790b4bb6aa44e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294f092da34a9e" /><Relationship Type="http://schemas.openxmlformats.org/officeDocument/2006/relationships/notesMaster" Target="/ppt/notesMasters/notesMaster1.xml" Id="R9e3cc095e15348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273a34e92b40c1" /><Relationship Type="http://schemas.openxmlformats.org/officeDocument/2006/relationships/notesMaster" Target="/ppt/notesMasters/notesMaster1.xml" Id="R1ba518e19eaf41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57acd1fb974afa" /><Relationship Type="http://schemas.openxmlformats.org/officeDocument/2006/relationships/notesMaster" Target="/ppt/notesMasters/notesMaster1.xml" Id="R58f95c67e9964e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f0909fa05e4a0c" /><Relationship Type="http://schemas.openxmlformats.org/officeDocument/2006/relationships/notesMaster" Target="/ppt/notesMasters/notesMaster1.xml" Id="Rfb725a3b46364d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13675286e84d4e" /><Relationship Type="http://schemas.openxmlformats.org/officeDocument/2006/relationships/notesMaster" Target="/ppt/notesMasters/notesMaster1.xml" Id="R0a16698ec9a247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f1e3a8da2f4b03" /><Relationship Type="http://schemas.openxmlformats.org/officeDocument/2006/relationships/notesMaster" Target="/ppt/notesMasters/notesMaster1.xml" Id="R3d3acb3b01cc42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8a7f1387e9489b" /><Relationship Type="http://schemas.openxmlformats.org/officeDocument/2006/relationships/notesMaster" Target="/ppt/notesMasters/notesMaster1.xml" Id="R6f89847f98534e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19a3a9aa2f84679" /><Relationship Type="http://schemas.openxmlformats.org/officeDocument/2006/relationships/notesMaster" Target="/ppt/notesMasters/notesMaster1.xml" Id="R22bfcee5d52f485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4dfffc10f040e9" /><Relationship Type="http://schemas.openxmlformats.org/officeDocument/2006/relationships/notesMaster" Target="/ppt/notesMasters/notesMaster1.xml" Id="R09bd41114d904f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61068c4aa7645b6" /><Relationship Type="http://schemas.openxmlformats.org/officeDocument/2006/relationships/notesMaster" Target="/ppt/notesMasters/notesMaster1.xml" Id="R92d7f3b55bda45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30 秒。研究主题是 MinPPI：在给定模型、数据划分和效用门槛下寻找特征的上下文有害证据，并研究它能否支持特征选择。本次重点讲研究意义、理论和实验设计，实验结果仍在优化，不把阶段性观察当作最终优势。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</a:t>
            </a:r>
          </a:p>
          <a:p xmlns:a="http://schemas.openxmlformats.org/drawingml/2006/main">
            <a:r>
              <a:t>C:/work/学校/A.SPBU/paper/ZhaoCHI/Paper/Master-mr2/MAJOR_REVISION_WORKPLAN.md</a:t>
            </a:r>
          </a:p>
          <a:p xmlns:a="http://schemas.openxmlformats.org/drawingml/2006/main">
            <a:r>
              <a:t>Original presentation PDF, slide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先解释为什么“多一个特征”不一定更好：我们讨论的是有限数据和固定学习算法下，重新拟合不同子集的实际表现。平均重要性会概括许多上下文，而研究希望保留一个可具体复查的失败上下文。实际意义是为压缩、后续模型维护提供证据，但是否降低成本或改善预测需要单独实验。这里并不声称相关变量都必须删除，也不把负 SHAP 当成有害标签。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§1–3</a:t>
            </a:r>
          </a:p>
          <a:p xmlns:a="http://schemas.openxmlformats.org/drawingml/2006/main">
            <a:r>
              <a:t>C:/work/学校/A.SPBU/paper/ZhaoCHI/Paper/Master/conference-paper/paper/icomp2026_conference.tex 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项目的目标分为三个可检验的问题。第一，有限预算能找全多少有害见证；第二，删除策略在统一容忍度下是否值得；第三，给出的证据能否复查、代价是否透明。这三个问题互相联系，但第一个见证成立并不能直接推出联合删除安全。预期产出是配额条件下的审计方法、精确参照评价以及独立的删除决策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§1.1–1.3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秒。按用途介绍理论，不逐个念名词。合作博弈把特征看作参与者。Shapley 和 Banzhaf 的经典思想是平均边际贡献，而本研究问是否存在负向阈值翻转。最小聚合已有 MinShap 等直接前驱，因此不把 min 本身宣称为首创。本文将其特化为固定效用配额的二值博弈。概率论说明发现能力受见证概率限制；多目标优化用于后续的压缩与效用权衡。SHAP 对模型预测的归因与重新训练后的效用博弈需要区分。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§2–3</a:t>
            </a:r>
          </a:p>
          <a:p xmlns:a="http://schemas.openxmlformats.org/drawingml/2006/main">
            <a:r>
              <a:t>Shapley (1953), A Value for n-Person Games; Banzhaf (1965), Weighted Voting Doesn’t Work: A Mathematical Analysis.</a:t>
            </a:r>
          </a:p>
          <a:p xmlns:a="http://schemas.openxmlformats.org/drawingml/2006/main">
            <a:r>
              <a:t>Zheng &amp; Raskutti (2026), MinShap: https://arxiv.org/abs/2604.15107</a:t>
            </a:r>
          </a:p>
          <a:p xmlns:a="http://schemas.openxmlformats.org/drawingml/2006/main">
            <a:r>
              <a:t>Lundberg &amp; Lee (2017), SHAP: https://arxiv.org/abs/1705.07874</a:t>
            </a:r>
          </a:p>
          <a:p xmlns:a="http://schemas.openxmlformats.org/drawingml/2006/main">
            <a:r>
              <a:t>Deb et al. (2002), NSGA-II: https://doi.org/10.1109/4235.996017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秒。本页数字仅为教学示例。假设完整特征效用为 0.90，配额为它的 95%，即 0.855。集合 S 的效用 0.87 达标，加上 i 后效用 0.84 不达标，二元边际就是负一。保存特征集合、两侧模型效用和配额就能复查这次负翻转。注意，见证只说明在 S 这个上下文中出现过问题，并没有直接评价从完整集合删除 i 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All numerical utilities on this slide are explicitly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秒。固定数据划分、预处理、学习器、随机种子、效用和配额，才得到本研究讨论的一个固定博弈。这里 U 是验证集上的表现，训练仍只使用训练集。二元博弈可非单调，所以增加特征可能从达标变成不达标。三个值是精确枚举下的定义，0 并不意味着没有预测价值；+1 要求所有上下文都是正向决定，是非常强的条件。MinSS 与 MinBz 的最小值相同，因为各目标排除子集都能作为某种排列的前驱集合，这不意味着经典加权指数相同。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C:/work/学校/A.SPBU/paper/ZhaoCHI/Paper/Master/conference-paper/paper/icomp2026_conference.tex Method / Proposition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秒。算法 A 并不是对所有子集等概率，而是先等概率抽集合大小，再在该大小内等概率抽子集。算法 B 只使用训练侧的互信息和相关结构，不使用精确标签来指导寻找。采样最小值不低于真实最小值，所以负一一旦出现就有证据，但没有出现负一可能只是漏检。最新协议用总边际查询预算统一 A/B，找到了见证的特征会退出轮转。引导是否更好要看数据，不由理论公式自动保证。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§4.4–4.6</a:t>
            </a:r>
          </a:p>
          <a:p xmlns:a="http://schemas.openxmlformats.org/drawingml/2006/main">
            <a:r>
              <a:t>C:/work/学校/A.SPBU/paper/ZhaoCHI/Paper/Master-mr2/MR3_P3_FINDINGS.md §5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85 秒。这是重点页。数据集选择不是单纯堆数量，而是覆盖不同可检验条件：Spambase 的词频统计便于理解真实特征；Madelon 有已知非线性结构、冗余和大量干扰列，适合检验发现能力；Gisette 检验高维计算压力；ISOLET 覆盖 26 分类；Fraud 检验严重不平衡和大样本成本；Abalone 用八个原始变量提供回归与精确枚举参照。这里的“为什么有意义”是基于数据属性的研究设计解释，不是已经观察到算法优势。Madelon 2,600 和 Gisette 7,000 是项目合并有标签 train/validation 的样本数，不是官网包含无标签测试集的总数。Fraud 项目使用 V1–V28 和 Amount，排除 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Table: Datasets</a:t>
            </a:r>
          </a:p>
          <a:p xmlns:a="http://schemas.openxmlformats.org/drawingml/2006/main">
            <a:r>
              <a:t>C:/work/学校/A.SPBU/paper/ZhaoCHI/Paper/Master/configs/credit_card_fraud.yaml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https://archive.ics.uci.edu/dataset/170/gisette</a:t>
            </a:r>
          </a:p>
          <a:p xmlns:a="http://schemas.openxmlformats.org/drawingml/2006/main">
            <a:r>
              <a:t>https://archive.ics.uci.edu/dataset/54/isolet</a:t>
            </a:r>
          </a:p>
          <a:p xmlns:a="http://schemas.openxmlformats.org/drawingml/2006/main">
            <a:r>
              <a:t>https://archive.ics.uci.edu/dataset/1/abalone</a:t>
            </a:r>
          </a:p>
          <a:p xmlns:a="http://schemas.openxmlformats.org/drawingml/2006/main">
            <a:r>
              <a:t>https://www.kaggle.com/datasets/mlg-ulb/creditcardfraud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50 秒。必须区分两个层次：旧六数据集实验覆盖不同任务；最新精确发现实验只使用四个数据集的八维游戏，便于枚举 256 个子集。降维后的精确标签只属于所定义的面板，不能宣称得到 100 维全局真值。两个非 Abalone 面板规则是 MI top8 和 MI top4+random4，均只看训练数据；Abalone 保留全部八列。新八维参照只去掉训练方差为零的列，与旧正阈值筛选有协议区别。Communities &amp; Crime 的目标可由保留的结果成分列重构，所以已从发表范围移除；不能用泄漏产生的高分支撑研究。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§4.1</a:t>
            </a:r>
          </a:p>
          <a:p xmlns:a="http://schemas.openxmlformats.org/drawingml/2006/main">
            <a:r>
              <a:t>C:/work/学校/A.SPBU/paper/ZhaoCHI/Paper/Master/conference-paper/paper/icomp2026_conference.tex Experimental design</a:t>
            </a:r>
          </a:p>
          <a:p xmlns:a="http://schemas.openxmlformats.org/drawingml/2006/main">
            <a:r>
              <a:t>C:/work/学校/A.SPBU/paper/ZhaoCHI/Paper/Master/README.md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65 秒。E1 的 35 个游戏已经完成，这是当前最直接的发现能力评价。组成是 Abalone 1 面板、其余三个数据集各 2 面板，再乘 5 个划分。每个八维游戏完整计算 256 个效用，之后 A/B 通过盲查询接口采样，不能访问完整表或精确标签。每个游戏 30 次日程重复，总上限 800 个边际查询。主终点为每次查询后的召回率平均值，也就是归一化召回面积。没有 harmful 的游戏不是失败，召回应记 NA，并保留分母。30 次日程重复也不是 30 个独立数据集。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§2–4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65 秒。E2 尚未实施。真实数据很难解释哪些结构导致漏检，所以补三个受控机制。S1 是 logistic(x1+x2) 的二元任务；S2 额外加入 x3=x1+0.1e3、x4=x2+0.1e4；S3 是两变量符号的 XOR，再独立翻转 10% 的标签。每种五个固定实例，各 2,000 行八列。仍用同一模型和完整枚举，避免把生成角色当成审计真值：生成上无关不等于固定样本、模型、配额下有害。所有 15 个槽位都保留，不根据效果更换 seed。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§22.3 and §23</a:t>
            </a:r>
          </a:p>
          <a:p xmlns:a="http://schemas.openxmlformats.org/drawingml/2006/main">
            <a:r>
              <a:t>C:/work/学校/A.SPBU/paper/ZhaoCHI/Paper/Master-mr2/MR3_E2_PLAN.md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70 秒。这是应用层面最关键的改进，而且尚未完成。旧方案反复用同一验证集寻找见证和做 gate，新 E4 把验证部分分成独立的选择集与 gate。每种策略只能提交一个候选，gate 不通过就回 full，不能继续尝试直到通过。子集冻结后，统一在非测试 80% 上重新拟合模型，预处理参数仍来自原 64% train。分类允许损失 0.005 AUC，回归 0.01 raw R²。这只是预先固定的有限样本点估计规则，不等于统计上的无损或非劣保证。首批为四数据集各五划分，共 20 个八维决策游戏。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§7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秒。不能只赢过随机删除就认为有实用价值，因此引入简单、可解释的强对照。MI 按互信息，TreeSHAP 按平均绝对归因，静态 LOFO 逐一去掉特征后只计算一次得分，RFE 是同一 XGBoost 上的递归特征消除。portfolio 在选择验证集上合并三种排名的可行前缀，取最大压缩，并计入三个排名的全成本。主比较预先固定为 A 对 portfolio，不能看到 B 的效果后换主比较。逐数据集报告测试效用差，不将 AUC 和 R² 的原始差值直接平均成总体结论。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§7.3–7.4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50 秒。题目中的多目标特征选择由两个目标构成：保留特征比例和预测损失。一个解只有在至少一项更好、另一项不更差时才支配另一个解，所以最终得到多个折中解。NSGA-II 通过非支配排序和拥挤距离保持这些解的多样性。MinPPI 可在搜索前给出候选过滤，但这是次要应用。p0 必须使用过滤前相同的维数分母。旧实验的种群是 40、每个变体 800 evaluations，超体积参照点 (1.1,1.1)。相同搜索评价次数不代表同端到端耗时，重新比较前要把审计成本纳入。最新路线先完成发现和独立删除实验，再决定是否扩展搜索。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Experimental design</a:t>
            </a:r>
          </a:p>
          <a:p xmlns:a="http://schemas.openxmlformats.org/drawingml/2006/main">
            <a:r>
              <a:t>C:/work/学校/A.SPBU/paper/ZhaoCHI/Paper/Master-mr2/MAJOR_REVISION_PROTOCOL.md §7</a:t>
            </a:r>
          </a:p>
          <a:p xmlns:a="http://schemas.openxmlformats.org/drawingml/2006/main">
            <a:r>
              <a:t>Deb et al. (2002), https://doi.org/10.1109/4235.996017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秒。按用户要求结果简要带过。以 9 月 26 日最新台账为准：35 个游戏完整完成，其中 22 个有 harmful，13 个为空；A/B 宏平均召回面积为 0.4012/0.3718，不能宣称 B 更优。该宏平均先在同游戏平均 30 日程，再到面板、数据集，最后四数据集等权，仅有定义游戏进入召回，空游戏仍保留覆盖分母。冷缓存六次检查只表明已访问的效用及轨迹可重现，不证明稳定加速。旧六数据集结果也不建立普遍选择优势。下一步的 E2 和独立 gate/test 决策实验仍未完成。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C:/work/学校/A.SPBU/paper/ZhaoCHI/Paper/Master-mr2/MR3_P3_FINDINGS.md §1–6</a:t>
            </a:r>
          </a:p>
          <a:p xmlns:a="http://schemas.openxmlformats.org/drawingml/2006/main">
            <a:r>
              <a:t>C:/work/学校/A.SPBU/paper/ZhaoCHI/Paper/Master-mr2/MAJOR_REVISION_WORKPLAN.md Latest recovery entry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35 秒。结尾回到意义：提供一个可以复查的负向阈值翻转上下文，让特征选择的理由更具体；用精确参照衡量遗漏；再独立评价删除收益与成本。预期贡献不依赖必须证明 B 胜过 A，也不承诺通用选择优势。接下来按固定计划完成合成机制和独立决策实验。主讲至此结束，附录只在提问时使用。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 and §22</a:t>
            </a:r>
          </a:p>
          <a:p xmlns:a="http://schemas.openxmlformats.org/drawingml/2006/main">
            <a:r>
              <a:t>C:/work/学校/A.SPBU/paper/ZhaoCHI/Paper/Master-mr2/MR3_P3_FINDINGS.md Next steps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备用页。第一个结论只针对 support-level minimum，不针对经典带权平均 Shapley–Shubik 与 Banzhaf 指数。对于第二个结论，有限采样子集上的最小值大于等于全域最小值。若固定指导条件下，某个负见证每次被抽到的概率是 rho，独立 K 次至少命中它的概率为 1-(1-rho)^K，因此发现任意负见证的概率至少是这个值。若 rho=0 就没有正的发现保证。条件概率公式不保证引导 B 的 rho 高于随机 A，也不能把自适应全局轮转预算 Q 直接替代局部 IID 次数 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C:/work/学校/A.SPBU/paper/ZhaoCHI/Paper/Master-mr2/MR3_P3_FINDINGS.md §5</a:t>
            </a:r>
          </a:p>
          <a:p xmlns:a="http://schemas.openxmlformats.org/drawingml/2006/main">
            <a:r>
              <a:t>C:/work/学校/A.SPBU/paper/ZhaoCHI/Paper/Master/conference-paper/paper/icomp2026_conference.tex Proposition 1 and finite-budget estimation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备用页。正文数据集属性参考原始发布方；实验数字和状态参考当前项目文件。精确参照游戏使用 64/16/20 划分但不访问 test；计划中的决策实验为 64/8/8/20，两者不是同一个效用博弈。新审计中回归效用为 max(raw R²,0)，同时保存 raw R²，删除 gate 和测试评价使用 raw R²。全部引用和每页中文提示在备注中。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</a:t>
            </a:r>
          </a:p>
          <a:p xmlns:a="http://schemas.openxmlformats.org/drawingml/2006/main">
            <a:r>
              <a:t>C:/work/学校/A.SPBU/paper/ZhaoCHI/Paper/Master-mr2/MAJOR_REVISION_WORKPLAN.md</a:t>
            </a:r>
          </a:p>
          <a:p xmlns:a="http://schemas.openxmlformats.org/drawingml/2006/main">
            <a:r>
              <a:t>C:/work/学校/A.SPBU/paper/ZhaoCHI/Paper/Master-mr2/MR3_P3_FINDINGS.md</a:t>
            </a:r>
          </a:p>
          <a:p xmlns:a="http://schemas.openxmlformats.org/drawingml/2006/main">
            <a:r>
              <a:t>C:/work/学校/A.SPBU/paper/ZhaoCHI/Paper/Master/conference-paper/paper/icomp2026_conference.tex</a:t>
            </a:r>
          </a:p>
          <a:p xmlns:a="http://schemas.openxmlformats.org/drawingml/2006/main">
            <a:r>
              <a:t>https://arxiv.org/abs/1705.07874</a:t>
            </a:r>
          </a:p>
          <a:p xmlns:a="http://schemas.openxmlformats.org/drawingml/2006/main">
            <a:r>
              <a:t>https://arxiv.org/abs/2604.15107</a:t>
            </a:r>
          </a:p>
          <a:p xmlns:a="http://schemas.openxmlformats.org/drawingml/2006/main">
            <a:r>
              <a:t>https://doi.org/10.1109/4235.996017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https://archive.ics.uci.edu/dataset/170/gisette</a:t>
            </a:r>
          </a:p>
          <a:p xmlns:a="http://schemas.openxmlformats.org/drawingml/2006/main">
            <a:r>
              <a:t>https://archive.ics.uci.edu/dataset/54/isolet</a:t>
            </a:r>
          </a:p>
          <a:p xmlns:a="http://schemas.openxmlformats.org/drawingml/2006/main">
            <a:r>
              <a:t>https://archive.ics.uci.edu/dataset/1/abalone</a:t>
            </a:r>
          </a:p>
          <a:p xmlns:a="http://schemas.openxmlformats.org/drawingml/2006/main">
            <a:r>
              <a:t>https://www.kaggle.com/datasets/mlg-ulb/creditcardfraud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585eede3f4b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834e84338e43ca" /><Relationship Type="http://schemas.openxmlformats.org/officeDocument/2006/relationships/slideLayout" Target="/ppt/slideLayouts/slideLayout1.xml" Id="Rb0aebd0d2aa248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aebd0d2aa248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010e0ccd24349" /><Relationship Type="http://schemas.openxmlformats.org/officeDocument/2006/relationships/notesSlide" Target="/ppt/notesSlides/notesSlide1.xml" Id="Re61ff0c74db748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78edc0b734a19" /><Relationship Type="http://schemas.openxmlformats.org/officeDocument/2006/relationships/notesSlide" Target="/ppt/notesSlides/notesSlide2.xml" Id="R85767c4710d647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7bba28de948ca" /><Relationship Type="http://schemas.openxmlformats.org/officeDocument/2006/relationships/notesSlide" Target="/ppt/notesSlides/notesSlide3.xml" Id="R4e568e4e963f48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115fba3464e5d" /><Relationship Type="http://schemas.openxmlformats.org/officeDocument/2006/relationships/notesSlide" Target="/ppt/notesSlides/notesSlide4.xml" Id="R7564ce4660c24c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b8878a3b84dfb" /><Relationship Type="http://schemas.openxmlformats.org/officeDocument/2006/relationships/notesSlide" Target="/ppt/notesSlides/notesSlide5.xml" Id="R2b3440145a8647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aa42e59934689" /><Relationship Type="http://schemas.openxmlformats.org/officeDocument/2006/relationships/notesSlide" Target="/ppt/notesSlides/notesSlide6.xml" Id="Rfa174f3e232642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9f91657774d1b" /><Relationship Type="http://schemas.openxmlformats.org/officeDocument/2006/relationships/notesSlide" Target="/ppt/notesSlides/notesSlide7.xml" Id="R0088e1a7e7994e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8ec0078e64e6d" /><Relationship Type="http://schemas.openxmlformats.org/officeDocument/2006/relationships/notesSlide" Target="/ppt/notesSlides/notesSlide8.xml" Id="R81d09fdbce8745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fa4e48134422c" /><Relationship Type="http://schemas.openxmlformats.org/officeDocument/2006/relationships/notesSlide" Target="/ppt/notesSlides/notesSlide9.xml" Id="R2b2d2a94fdea4a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e20cd76914297" /><Relationship Type="http://schemas.openxmlformats.org/officeDocument/2006/relationships/notesSlide" Target="/ppt/notesSlides/notesSlide10.xml" Id="R3aa38796fb1141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ed8d1eaf443c1" /><Relationship Type="http://schemas.openxmlformats.org/officeDocument/2006/relationships/notesSlide" Target="/ppt/notesSlides/notesSlide11.xml" Id="R32478948b56e4f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ae7f8d82640cb" /><Relationship Type="http://schemas.openxmlformats.org/officeDocument/2006/relationships/notesSlide" Target="/ppt/notesSlides/notesSlide12.xml" Id="Rc67e90d437a640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8d4b035eb4e8f" /><Relationship Type="http://schemas.openxmlformats.org/officeDocument/2006/relationships/notesSlide" Target="/ppt/notesSlides/notesSlide13.xml" Id="Rb4c44c77aae94a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91b0d44804fe7" /><Relationship Type="http://schemas.openxmlformats.org/officeDocument/2006/relationships/notesSlide" Target="/ppt/notesSlides/notesSlide14.xml" Id="R60a64e4d649c463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bf89245bb4ac9" /><Relationship Type="http://schemas.openxmlformats.org/officeDocument/2006/relationships/notesSlide" Target="/ppt/notesSlides/notesSlide15.xml" Id="R4dcea090f56246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908a1b76d4145" /><Relationship Type="http://schemas.openxmlformats.org/officeDocument/2006/relationships/notesSlide" Target="/ppt/notesSlides/notesSlide16.xml" Id="Rc0a97d93756249b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77e9fec744b7f" /><Relationship Type="http://schemas.openxmlformats.org/officeDocument/2006/relationships/notesSlide" Target="/ppt/notesSlides/notesSlide17.xml" Id="R470dfff670b64c1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90895e1c74feb" /><Relationship Type="http://schemas.openxmlformats.org/officeDocument/2006/relationships/notesSlide" Target="/ppt/notesSlides/notesSlide18.xml" Id="R610bfbc88cf047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12CC8437-9E4E-4470-ABC3-8BF6A114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D8FCC41-D0C4-43E1-9214-210DE75D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3462000" cy="123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00" b="1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7600" b="1">
                <a:solidFill>
                  <a:srgbClr val="75D0C9"/>
                </a:solidFill>
                <a:latin typeface="Arial"/>
                <a:ea typeface="Arial"/>
                <a:cs typeface="Arial"/>
              </a:rPr>
              <a:t>MinPPI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935AE84-50B9-4DDF-8B15-4BD81DB1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3716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Min-Marginal Power Indices for</a:t>
            </a:r>
          </a:p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Multi-Objective Feature Selection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043EECF-64F8-4908-B786-D98E43C5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38430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D2DEE4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D2DEE4"/>
                </a:solidFill>
                <a:latin typeface="Arial"/>
                <a:ea typeface="Arial"/>
                <a:cs typeface="Arial"/>
              </a:rPr>
              <a:t>Research motivation, theoretical basis and experimental design</a:t>
            </a:r>
          </a:p>
        </p:txBody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AEC77FEF-7D25-41C2-AA5E-163A025B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DE0F43D4-5DA6-4DB0-8689-1FF24D14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6300"/>
            <a:ext cx="6731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Wenjie SHI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9E06C8F2-1158-47FF-8D08-5D553340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54800"/>
            <a:ext cx="91440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Saint Petersburg State University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93EAFF1C-EBBB-4929-998D-24716383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7400"/>
            <a:ext cx="11557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Applied Mathematics and Control Processes (AMCP)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D15FE35C-A157-42D8-BB1E-B7673D97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500" y="6070600"/>
            <a:ext cx="4127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2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Research in progress</a:t>
            </a:r>
          </a:p>
        </p:txBody>
      </p:sp>
    </p:spTree>
    <p:extLst>
      <p:ext uri="{BB962C8B-B14F-4D97-AF65-F5344CB8AC3E}">
        <p14:creationId xmlns:p14="http://schemas.microsoft.com/office/powerpoint/2010/main" val="2219109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C5D8C2D-727D-48C1-877C-4B5893BA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Why study contextual harm?</a:t>
            </a:r>
          </a:p>
        </p:txBody>
      </p:sp>
      <p:sp>
        <p:nvSpPr>
          <p:cNvPr id="2" name="rule-11">
            <a:extLst xmlns:a="http://schemas.openxmlformats.org/drawingml/2006/main">
              <a:ext uri="{FF2B5EF4-FFF2-40B4-BE49-F238E27FC236}">
                <a16:creationId xmlns:a16="http://schemas.microsoft.com/office/drawing/2014/main" id="{1A316DBA-8CDA-465C-B77D-FEF31235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2">
            <a:extLst xmlns:a="http://schemas.openxmlformats.org/drawingml/2006/main">
              <a:ext uri="{FF2B5EF4-FFF2-40B4-BE49-F238E27FC236}">
                <a16:creationId xmlns:a16="http://schemas.microsoft.com/office/drawing/2014/main" id="{746EBBF1-96FC-4CFB-B6B3-86808BD9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-13">
            <a:extLst xmlns:a="http://schemas.openxmlformats.org/drawingml/2006/main">
              <a:ext uri="{FF2B5EF4-FFF2-40B4-BE49-F238E27FC236}">
                <a16:creationId xmlns:a16="http://schemas.microsoft.com/office/drawing/2014/main" id="{75D1D9D1-0FAA-4F82-82E7-24A1E553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13716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feature can help on average and still break</a:t>
            </a:r>
          </a:p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an acceptable model in a particular subset.</a:t>
            </a:r>
          </a:p>
        </p:txBody>
      </p:sp>
      <p:sp>
        <p:nvSpPr>
          <p:cNvPr id="5" name="rule-14">
            <a:extLst xmlns:a="http://schemas.openxmlformats.org/drawingml/2006/main">
              <a:ext uri="{FF2B5EF4-FFF2-40B4-BE49-F238E27FC236}">
                <a16:creationId xmlns:a16="http://schemas.microsoft.com/office/drawing/2014/main" id="{9691E23D-5DA9-41D9-BF67-E77D91A1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1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6" name="text-15">
            <a:extLst xmlns:a="http://schemas.openxmlformats.org/drawingml/2006/main">
              <a:ext uri="{FF2B5EF4-FFF2-40B4-BE49-F238E27FC236}">
                <a16:creationId xmlns:a16="http://schemas.microsoft.com/office/drawing/2014/main" id="{10B3D0F8-BE3C-451F-813C-4F8724F8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6413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Scientific motivation</a:t>
            </a:r>
          </a:p>
        </p:txBody>
      </p:sp>
      <p:sp>
        <p:nvSpPr>
          <p:cNvPr id="7" name="text-16">
            <a:extLst xmlns:a="http://schemas.openxmlformats.org/drawingml/2006/main">
              <a:ext uri="{FF2B5EF4-FFF2-40B4-BE49-F238E27FC236}">
                <a16:creationId xmlns:a16="http://schemas.microsoft.com/office/drawing/2014/main" id="{15478B06-FC4E-49AF-91C9-6411AA20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4300"/>
            <a:ext cx="641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Feature interactions make the value of a variable depend on the other variables in the model.</a:t>
            </a:r>
          </a:p>
        </p:txBody>
      </p:sp>
      <p:sp>
        <p:nvSpPr>
          <p:cNvPr id="8" name="text-17">
            <a:extLst xmlns:a="http://schemas.openxmlformats.org/drawingml/2006/main">
              <a:ext uri="{FF2B5EF4-FFF2-40B4-BE49-F238E27FC236}">
                <a16:creationId xmlns:a16="http://schemas.microsoft.com/office/drawing/2014/main" id="{5C80CC3F-43CF-4C14-9EE4-BF5211A0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6286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Practical motivation</a:t>
            </a:r>
          </a:p>
        </p:txBody>
      </p:sp>
      <p:sp>
        <p:nvSpPr>
          <p:cNvPr id="9" name="text-18">
            <a:extLst xmlns:a="http://schemas.openxmlformats.org/drawingml/2006/main">
              <a:ext uri="{FF2B5EF4-FFF2-40B4-BE49-F238E27FC236}">
                <a16:creationId xmlns:a16="http://schemas.microsoft.com/office/drawing/2014/main" id="{710C5A3C-2B77-41F3-849D-69B85A7D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943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concrete failure context can guide a review of feature removal and its cost.</a:t>
            </a:r>
          </a:p>
        </p:txBody>
      </p:sp>
      <p:sp>
        <p:nvSpPr>
          <p:cNvPr id="10" name="text-19">
            <a:extLst xmlns:a="http://schemas.openxmlformats.org/drawingml/2006/main">
              <a:ext uri="{FF2B5EF4-FFF2-40B4-BE49-F238E27FC236}">
                <a16:creationId xmlns:a16="http://schemas.microsoft.com/office/drawing/2014/main" id="{A3CC5A4F-96C6-4F05-BD7B-D2EF79E2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24700"/>
            <a:ext cx="135255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Potential value: traceable evidence for a selection decision, with utility loss checked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514115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0">
            <a:extLst xmlns:a="http://schemas.openxmlformats.org/drawingml/2006/main">
              <a:ext uri="{FF2B5EF4-FFF2-40B4-BE49-F238E27FC236}">
                <a16:creationId xmlns:a16="http://schemas.microsoft.com/office/drawing/2014/main" id="{944D7171-913C-4690-B9C5-63E186D4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Research objective and questions</a:t>
            </a:r>
          </a:p>
        </p:txBody>
      </p:sp>
      <p:sp>
        <p:nvSpPr>
          <p:cNvPr id="2" name="rule-21">
            <a:extLst xmlns:a="http://schemas.openxmlformats.org/drawingml/2006/main">
              <a:ext uri="{FF2B5EF4-FFF2-40B4-BE49-F238E27FC236}">
                <a16:creationId xmlns:a16="http://schemas.microsoft.com/office/drawing/2014/main" id="{7FE0881E-03DD-4922-986C-F3C0C0F8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22">
            <a:extLst xmlns:a="http://schemas.openxmlformats.org/drawingml/2006/main">
              <a:ext uri="{FF2B5EF4-FFF2-40B4-BE49-F238E27FC236}">
                <a16:creationId xmlns:a16="http://schemas.microsoft.com/office/drawing/2014/main" id="{461D16D3-5D71-436D-AD4D-CA15D4FD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-23">
            <a:extLst xmlns:a="http://schemas.openxmlformats.org/drawingml/2006/main">
              <a:ext uri="{FF2B5EF4-FFF2-40B4-BE49-F238E27FC236}">
                <a16:creationId xmlns:a16="http://schemas.microsoft.com/office/drawing/2014/main" id="{2EC3D1DB-584F-49E2-A3F8-3A6BD407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8200"/>
            <a:ext cx="13716000" cy="1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Find verifiable harmful contexts under a limited budget,</a:t>
            </a:r>
          </a:p>
          <a:p xmlns:a="http://schemas.openxmlformats.org/drawingml/2006/main">
            <a:pPr algn="l">
              <a:defRPr sz="33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then test whether they support useful removal decisions.</a:t>
            </a:r>
          </a:p>
        </p:txBody>
      </p:sp>
      <p:sp>
        <p:nvSpPr>
          <p:cNvPr id="5" name="text-24">
            <a:extLst xmlns:a="http://schemas.openxmlformats.org/drawingml/2006/main">
              <a:ext uri="{FF2B5EF4-FFF2-40B4-BE49-F238E27FC236}">
                <a16:creationId xmlns:a16="http://schemas.microsoft.com/office/drawing/2014/main" id="{24A8EE56-EF04-4944-88A4-9878ED16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03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25">
            <a:extLst xmlns:a="http://schemas.openxmlformats.org/drawingml/2006/main">
              <a:ext uri="{FF2B5EF4-FFF2-40B4-BE49-F238E27FC236}">
                <a16:creationId xmlns:a16="http://schemas.microsoft.com/office/drawing/2014/main" id="{A63FAE51-2163-44D7-9E8F-05723A8C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6703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Discovery completeness</a:t>
            </a:r>
          </a:p>
        </p:txBody>
      </p:sp>
      <p:sp>
        <p:nvSpPr>
          <p:cNvPr id="7" name="text-26">
            <a:extLst xmlns:a="http://schemas.openxmlformats.org/drawingml/2006/main">
              <a:ext uri="{FF2B5EF4-FFF2-40B4-BE49-F238E27FC236}">
                <a16:creationId xmlns:a16="http://schemas.microsoft.com/office/drawing/2014/main" id="{C539016F-E23E-4FE2-914E-AB657CFB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2926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How many true harmful features can finite sampling recover?</a:t>
            </a:r>
          </a:p>
        </p:txBody>
      </p:sp>
      <p:sp>
        <p:nvSpPr>
          <p:cNvPr id="8" name="text-27">
            <a:extLst xmlns:a="http://schemas.openxmlformats.org/drawingml/2006/main">
              <a:ext uri="{FF2B5EF4-FFF2-40B4-BE49-F238E27FC236}">
                <a16:creationId xmlns:a16="http://schemas.microsoft.com/office/drawing/2014/main" id="{D8A352C3-E497-469A-8038-53596130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8">
            <a:extLst xmlns:a="http://schemas.openxmlformats.org/drawingml/2006/main">
              <a:ext uri="{FF2B5EF4-FFF2-40B4-BE49-F238E27FC236}">
                <a16:creationId xmlns:a16="http://schemas.microsoft.com/office/drawing/2014/main" id="{B651DCEB-ED54-4D9A-8A3B-46679840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0800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Decision value</a:t>
            </a:r>
          </a:p>
        </p:txBody>
      </p:sp>
      <p:sp>
        <p:nvSpPr>
          <p:cNvPr id="10" name="text-29">
            <a:extLst xmlns:a="http://schemas.openxmlformats.org/drawingml/2006/main">
              <a:ext uri="{FF2B5EF4-FFF2-40B4-BE49-F238E27FC236}">
                <a16:creationId xmlns:a16="http://schemas.microsoft.com/office/drawing/2014/main" id="{FF4988D7-0094-49DB-80F2-E16B3E3D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7023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How much compression remains within a prespecified utility tolerance?</a:t>
            </a:r>
          </a:p>
        </p:txBody>
      </p:sp>
      <p:sp>
        <p:nvSpPr>
          <p:cNvPr id="11" name="text-30">
            <a:extLst xmlns:a="http://schemas.openxmlformats.org/drawingml/2006/main">
              <a:ext uri="{FF2B5EF4-FFF2-40B4-BE49-F238E27FC236}">
                <a16:creationId xmlns:a16="http://schemas.microsoft.com/office/drawing/2014/main" id="{D7CA6CFE-950F-414D-8EEE-2CE41FB1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97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31">
            <a:extLst xmlns:a="http://schemas.openxmlformats.org/drawingml/2006/main">
              <a:ext uri="{FF2B5EF4-FFF2-40B4-BE49-F238E27FC236}">
                <a16:creationId xmlns:a16="http://schemas.microsoft.com/office/drawing/2014/main" id="{844BD361-1B40-49F7-9948-24791057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64897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Explanation and cost</a:t>
            </a:r>
          </a:p>
        </p:txBody>
      </p:sp>
      <p:sp>
        <p:nvSpPr>
          <p:cNvPr id="13" name="text-32">
            <a:extLst xmlns:a="http://schemas.openxmlformats.org/drawingml/2006/main">
              <a:ext uri="{FF2B5EF4-FFF2-40B4-BE49-F238E27FC236}">
                <a16:creationId xmlns:a16="http://schemas.microsoft.com/office/drawing/2014/main" id="{3B49A5CC-4B0A-4F08-B886-6A8675C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71120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Which contexts explain the finding, and what does the full procedure cost?</a:t>
            </a:r>
          </a:p>
        </p:txBody>
      </p:sp>
    </p:spTree>
    <p:extLst>
      <p:ext uri="{BB962C8B-B14F-4D97-AF65-F5344CB8AC3E}">
        <p14:creationId xmlns:p14="http://schemas.microsoft.com/office/powerpoint/2010/main" val="2013035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33">
            <a:extLst xmlns:a="http://schemas.openxmlformats.org/drawingml/2006/main">
              <a:ext uri="{FF2B5EF4-FFF2-40B4-BE49-F238E27FC236}">
                <a16:creationId xmlns:a16="http://schemas.microsoft.com/office/drawing/2014/main" id="{A3D9394B-26E2-4D61-9A22-955F836E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Theoretical foundations</a:t>
            </a:r>
          </a:p>
        </p:txBody>
      </p:sp>
      <p:sp>
        <p:nvSpPr>
          <p:cNvPr id="2" name="rule-34">
            <a:extLst xmlns:a="http://schemas.openxmlformats.org/drawingml/2006/main">
              <a:ext uri="{FF2B5EF4-FFF2-40B4-BE49-F238E27FC236}">
                <a16:creationId xmlns:a16="http://schemas.microsoft.com/office/drawing/2014/main" id="{B6449EA4-448C-472A-B33E-5A42A287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35">
            <a:extLst xmlns:a="http://schemas.openxmlformats.org/drawingml/2006/main">
              <a:ext uri="{FF2B5EF4-FFF2-40B4-BE49-F238E27FC236}">
                <a16:creationId xmlns:a16="http://schemas.microsoft.com/office/drawing/2014/main" id="{FF3E09A2-D85F-492D-863B-E963C042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247900"/>
          <a:ext xmlns:a="http://schemas.openxmlformats.org/drawingml/2006/main" cx="13716000" cy="4533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54500"/>
                <a:gridCol w="9461500"/>
              </a:tblGrid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Foundation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 in this project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Cooperative games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Features are players. A coalition is a feature subset.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Shapley / Banzhaf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Mean marginal effects motivate a different audit question.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Minimum aggregation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MinShap is a direct predecessor. MinPPI uses a binary quota game.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Probability and sampling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Witness probability controls finite-budget discovery.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Pareto optimization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NSGA-II studies the trade-off between subset size and utility.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36">
            <a:extLst xmlns:a="http://schemas.openxmlformats.org/drawingml/2006/main">
              <a:ext uri="{FF2B5EF4-FFF2-40B4-BE49-F238E27FC236}">
                <a16:creationId xmlns:a16="http://schemas.microsoft.com/office/drawing/2014/main" id="{5FE66292-AA97-4116-8D7F-62970537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86600"/>
            <a:ext cx="134620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Contribution focus: quota-conditioned witness semantics and an auditable evaluation procedure.</a:t>
            </a:r>
          </a:p>
        </p:txBody>
      </p:sp>
    </p:spTree>
    <p:extLst>
      <p:ext uri="{BB962C8B-B14F-4D97-AF65-F5344CB8AC3E}">
        <p14:creationId xmlns:p14="http://schemas.microsoft.com/office/powerpoint/2010/main" val="4698105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37">
            <a:extLst xmlns:a="http://schemas.openxmlformats.org/drawingml/2006/main">
              <a:ext uri="{FF2B5EF4-FFF2-40B4-BE49-F238E27FC236}">
                <a16:creationId xmlns:a16="http://schemas.microsoft.com/office/drawing/2014/main" id="{E1AC1AAD-0F40-49F2-B7A5-04E44A00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concrete witness of harm</a:t>
            </a:r>
          </a:p>
        </p:txBody>
      </p:sp>
      <p:sp>
        <p:nvSpPr>
          <p:cNvPr id="2" name="rule-38">
            <a:extLst xmlns:a="http://schemas.openxmlformats.org/drawingml/2006/main">
              <a:ext uri="{FF2B5EF4-FFF2-40B4-BE49-F238E27FC236}">
                <a16:creationId xmlns:a16="http://schemas.microsoft.com/office/drawing/2014/main" id="{8565E536-021B-4F75-971B-6B2C4F34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39">
            <a:extLst xmlns:a="http://schemas.openxmlformats.org/drawingml/2006/main">
              <a:ext uri="{FF2B5EF4-FFF2-40B4-BE49-F238E27FC236}">
                <a16:creationId xmlns:a16="http://schemas.microsoft.com/office/drawing/2014/main" id="{054C7AA6-BBCF-41F9-9421-061B25B3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-40">
            <a:extLst xmlns:a="http://schemas.openxmlformats.org/drawingml/2006/main">
              <a:ext uri="{FF2B5EF4-FFF2-40B4-BE49-F238E27FC236}">
                <a16:creationId xmlns:a16="http://schemas.microsoft.com/office/drawing/2014/main" id="{79BC77E7-EA5F-43EB-86E7-0FFBDA02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0100"/>
            <a:ext cx="137160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Illustrative values, not an experimental result</a:t>
            </a:r>
          </a:p>
        </p:txBody>
      </p:sp>
      <p:sp>
        <p:nvSpPr>
          <p:cNvPr id="5" name="text-41">
            <a:extLst xmlns:a="http://schemas.openxmlformats.org/drawingml/2006/main">
              <a:ext uri="{FF2B5EF4-FFF2-40B4-BE49-F238E27FC236}">
                <a16:creationId xmlns:a16="http://schemas.microsoft.com/office/drawing/2014/main" id="{10181D61-91C7-453D-908B-7A93BC39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5900"/>
            <a:ext cx="138430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Full-set utility = 0.90       α = 0.95       Quota q = 0.855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3911600"/>
          <a:ext xmlns:a="http://schemas.openxmlformats.org/drawingml/2006/main" cx="13716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302500"/>
                <a:gridCol w="2222500"/>
                <a:gridCol w="419100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Evaluated subset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Utility U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Quota outcome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S, before adding feature i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0.87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Pass: v(S) = 1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 ∪ {i}, after adding i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0.84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Fail: v(S ∪ {i}) = 0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7" name="text-42">
            <a:extLst xmlns:a="http://schemas.openxmlformats.org/drawingml/2006/main">
              <a:ext uri="{FF2B5EF4-FFF2-40B4-BE49-F238E27FC236}">
                <a16:creationId xmlns:a16="http://schemas.microsoft.com/office/drawing/2014/main" id="{C81007F8-65BD-46C4-9B7A-616CEBEB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65900"/>
            <a:ext cx="13716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C63E40"/>
                </a:solidFill>
                <a:latin typeface="Arial"/>
                <a:ea typeface="Arial"/>
                <a:cs typeface="Arial"/>
              </a:defRPr>
            </a:pPr>
            <a:r>
              <a:rPr sz="3500" b="1">
                <a:solidFill>
                  <a:srgbClr val="C63E40"/>
                </a:solidFill>
                <a:latin typeface="Arial"/>
                <a:ea typeface="Arial"/>
                <a:cs typeface="Arial"/>
              </a:rPr>
              <a:t>Marginal change: 0 − 1 = −1</a:t>
            </a:r>
          </a:p>
        </p:txBody>
      </p:sp>
      <p:sp>
        <p:nvSpPr>
          <p:cNvPr id="8" name="text-43">
            <a:extLst xmlns:a="http://schemas.openxmlformats.org/drawingml/2006/main">
              <a:ext uri="{FF2B5EF4-FFF2-40B4-BE49-F238E27FC236}">
                <a16:creationId xmlns:a16="http://schemas.microsoft.com/office/drawing/2014/main" id="{C8F2B5F9-F51D-4AF1-B018-70F0ED90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66000"/>
            <a:ext cx="137160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two evaluated subsets form a witness that can be checked again.</a:t>
            </a:r>
          </a:p>
        </p:txBody>
      </p:sp>
    </p:spTree>
    <p:extLst>
      <p:ext uri="{BB962C8B-B14F-4D97-AF65-F5344CB8AC3E}">
        <p14:creationId xmlns:p14="http://schemas.microsoft.com/office/powerpoint/2010/main" val="15795006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44">
            <a:extLst xmlns:a="http://schemas.openxmlformats.org/drawingml/2006/main">
              <a:ext uri="{FF2B5EF4-FFF2-40B4-BE49-F238E27FC236}">
                <a16:creationId xmlns:a16="http://schemas.microsoft.com/office/drawing/2014/main" id="{A138F9E9-F0F6-484C-96AD-C02F1D16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MinPPI in a fixed utility game</a:t>
            </a:r>
          </a:p>
        </p:txBody>
      </p:sp>
      <p:sp>
        <p:nvSpPr>
          <p:cNvPr id="2" name="rule-45">
            <a:extLst xmlns:a="http://schemas.openxmlformats.org/drawingml/2006/main">
              <a:ext uri="{FF2B5EF4-FFF2-40B4-BE49-F238E27FC236}">
                <a16:creationId xmlns:a16="http://schemas.microsoft.com/office/drawing/2014/main" id="{FBF73569-8177-480F-A304-8178E2BF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46">
            <a:extLst xmlns:a="http://schemas.openxmlformats.org/drawingml/2006/main">
              <a:ext uri="{FF2B5EF4-FFF2-40B4-BE49-F238E27FC236}">
                <a16:creationId xmlns:a16="http://schemas.microsoft.com/office/drawing/2014/main" id="{8BE2995A-CA64-4021-A340-0642CFB4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-47">
            <a:extLst xmlns:a="http://schemas.openxmlformats.org/drawingml/2006/main">
              <a:ext uri="{FF2B5EF4-FFF2-40B4-BE49-F238E27FC236}">
                <a16:creationId xmlns:a16="http://schemas.microsoft.com/office/drawing/2014/main" id="{488ED11E-0778-4AC9-93A9-BF432800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09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q = α U(D)       vα(S) = 1[U(S) ≥ q]</a:t>
            </a:r>
          </a:p>
        </p:txBody>
      </p:sp>
      <p:sp>
        <p:nvSpPr>
          <p:cNvPr id="5" name="text-48">
            <a:extLst xmlns:a="http://schemas.openxmlformats.org/drawingml/2006/main">
              <a:ext uri="{FF2B5EF4-FFF2-40B4-BE49-F238E27FC236}">
                <a16:creationId xmlns:a16="http://schemas.microsoft.com/office/drawing/2014/main" id="{4A52E696-94D3-4D52-8EC7-0DF3E9EB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Mi = min { vα(S ∪ {i}) − vα(S) : S ⊆ D \ {i} }</a:t>
            </a:r>
          </a:p>
        </p:txBody>
      </p:sp>
      <p:sp>
        <p:nvSpPr>
          <p:cNvPr id="6" name="text-49">
            <a:extLst xmlns:a="http://schemas.openxmlformats.org/drawingml/2006/main">
              <a:ext uri="{FF2B5EF4-FFF2-40B4-BE49-F238E27FC236}">
                <a16:creationId xmlns:a16="http://schemas.microsoft.com/office/drawing/2014/main" id="{39B7769D-85D7-46C0-B500-375DA463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1300"/>
            <a:ext cx="137160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D is the analyzed feature set. U(D) &gt; 0. The default quota is α = 0.95.</a:t>
            </a:r>
          </a:p>
        </p:txBody>
      </p:sp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C97A3D32-AE16-4406-A8C6-6A74F2B8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4700"/>
            <a:ext cx="1371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U: ROC AUC (binary), macro OVR AUC (multiclass), max(R², 0) (regression).</a:t>
            </a:r>
          </a:p>
        </p:txBody>
      </p:sp>
      <p:sp>
        <p:nvSpPr>
          <p:cNvPr id="8" name="text-51">
            <a:extLst xmlns:a="http://schemas.openxmlformats.org/drawingml/2006/main">
              <a:ext uri="{FF2B5EF4-FFF2-40B4-BE49-F238E27FC236}">
                <a16:creationId xmlns:a16="http://schemas.microsoft.com/office/drawing/2014/main" id="{938C99B4-9D91-4DA0-B184-913F7765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1900"/>
            <a:ext cx="4064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00" b="1">
                <a:solidFill>
                  <a:srgbClr val="C63E40"/>
                </a:solidFill>
                <a:latin typeface="Arial"/>
                <a:ea typeface="Arial"/>
                <a:cs typeface="Arial"/>
              </a:defRPr>
            </a:pPr>
            <a:r>
              <a:rPr sz="4900" b="1">
                <a:solidFill>
                  <a:srgbClr val="C63E40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9" name="text-52">
            <a:extLst xmlns:a="http://schemas.openxmlformats.org/drawingml/2006/main">
              <a:ext uri="{FF2B5EF4-FFF2-40B4-BE49-F238E27FC236}">
                <a16:creationId xmlns:a16="http://schemas.microsoft.com/office/drawing/2014/main" id="{AE99E4F6-BD17-4F4D-A9C5-466E6C23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2800"/>
            <a:ext cx="412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Harmful</a:t>
            </a:r>
          </a:p>
        </p:txBody>
      </p:sp>
      <p:sp>
        <p:nvSpPr>
          <p:cNvPr id="10" name="text-53">
            <a:extLst xmlns:a="http://schemas.openxmlformats.org/drawingml/2006/main">
              <a:ext uri="{FF2B5EF4-FFF2-40B4-BE49-F238E27FC236}">
                <a16:creationId xmlns:a16="http://schemas.microsoft.com/office/drawing/2014/main" id="{9CEF4391-8748-4609-BC50-E243C85A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53200"/>
            <a:ext cx="412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At least one context changes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from pass to fail.</a:t>
            </a:r>
          </a:p>
        </p:txBody>
      </p:sp>
      <p:sp>
        <p:nvSpPr>
          <p:cNvPr id="11" name="text-54">
            <a:extLst xmlns:a="http://schemas.openxmlformats.org/drawingml/2006/main">
              <a:ext uri="{FF2B5EF4-FFF2-40B4-BE49-F238E27FC236}">
                <a16:creationId xmlns:a16="http://schemas.microsoft.com/office/drawing/2014/main" id="{6AF385D9-3A6D-4535-ABB8-8774D9D4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5041900"/>
            <a:ext cx="4064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00" b="1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4900" b="1">
                <a:solidFill>
                  <a:srgbClr val="52667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text-55">
            <a:extLst xmlns:a="http://schemas.openxmlformats.org/drawingml/2006/main">
              <a:ext uri="{FF2B5EF4-FFF2-40B4-BE49-F238E27FC236}">
                <a16:creationId xmlns:a16="http://schemas.microsoft.com/office/drawing/2014/main" id="{078B827D-3B2F-45E1-A550-56F28C24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5892800"/>
            <a:ext cx="412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Neutral at the minimum</a:t>
            </a:r>
          </a:p>
        </p:txBody>
      </p:sp>
      <p:sp>
        <p:nvSpPr>
          <p:cNvPr id="13" name="text-56">
            <a:extLst xmlns:a="http://schemas.openxmlformats.org/drawingml/2006/main">
              <a:ext uri="{FF2B5EF4-FFF2-40B4-BE49-F238E27FC236}">
                <a16:creationId xmlns:a16="http://schemas.microsoft.com/office/drawing/2014/main" id="{76EA93B5-0C1B-4FB4-9A56-BBA8E1CE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6553200"/>
            <a:ext cx="412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No negative context exists,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but not every context is positive.</a:t>
            </a:r>
          </a:p>
        </p:txBody>
      </p:sp>
      <p:sp>
        <p:nvSpPr>
          <p:cNvPr id="14" name="text-57">
            <a:extLst xmlns:a="http://schemas.openxmlformats.org/drawingml/2006/main">
              <a:ext uri="{FF2B5EF4-FFF2-40B4-BE49-F238E27FC236}">
                <a16:creationId xmlns:a16="http://schemas.microsoft.com/office/drawing/2014/main" id="{0537A099-8E7B-4471-B8BA-8599716D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5041900"/>
            <a:ext cx="4064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49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+1</a:t>
            </a:r>
          </a:p>
        </p:txBody>
      </p:sp>
      <p:sp>
        <p:nvSpPr>
          <p:cNvPr id="15" name="text-58">
            <a:extLst xmlns:a="http://schemas.openxmlformats.org/drawingml/2006/main">
              <a:ext uri="{FF2B5EF4-FFF2-40B4-BE49-F238E27FC236}">
                <a16:creationId xmlns:a16="http://schemas.microsoft.com/office/drawing/2014/main" id="{A1381F22-26BB-4EF7-BE0C-05D8A073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5892800"/>
            <a:ext cx="412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Universally decisive</a:t>
            </a:r>
          </a:p>
        </p:txBody>
      </p:sp>
      <p:sp>
        <p:nvSpPr>
          <p:cNvPr id="16" name="text-59">
            <a:extLst xmlns:a="http://schemas.openxmlformats.org/drawingml/2006/main">
              <a:ext uri="{FF2B5EF4-FFF2-40B4-BE49-F238E27FC236}">
                <a16:creationId xmlns:a16="http://schemas.microsoft.com/office/drawing/2014/main" id="{D50CF206-4A4B-46D7-BA71-E29E4655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53200"/>
            <a:ext cx="412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Every context changes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from fail to pass.</a:t>
            </a:r>
          </a:p>
        </p:txBody>
      </p:sp>
    </p:spTree>
    <p:extLst>
      <p:ext uri="{BB962C8B-B14F-4D97-AF65-F5344CB8AC3E}">
        <p14:creationId xmlns:p14="http://schemas.microsoft.com/office/powerpoint/2010/main" val="487376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60">
            <a:extLst xmlns:a="http://schemas.openxmlformats.org/drawingml/2006/main">
              <a:ext uri="{FF2B5EF4-FFF2-40B4-BE49-F238E27FC236}">
                <a16:creationId xmlns:a16="http://schemas.microsoft.com/office/drawing/2014/main" id="{F50DD512-7AE5-42D7-A181-A3CC8F08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Finite-budget witness search</a:t>
            </a:r>
          </a:p>
        </p:txBody>
      </p:sp>
      <p:sp>
        <p:nvSpPr>
          <p:cNvPr id="2" name="rule-61">
            <a:extLst xmlns:a="http://schemas.openxmlformats.org/drawingml/2006/main">
              <a:ext uri="{FF2B5EF4-FFF2-40B4-BE49-F238E27FC236}">
                <a16:creationId xmlns:a16="http://schemas.microsoft.com/office/drawing/2014/main" id="{2CE293D7-06B9-4DA0-AC8E-508C5D0A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62">
            <a:extLst xmlns:a="http://schemas.openxmlformats.org/drawingml/2006/main">
              <a:ext uri="{FF2B5EF4-FFF2-40B4-BE49-F238E27FC236}">
                <a16:creationId xmlns:a16="http://schemas.microsoft.com/office/drawing/2014/main" id="{3EFEFDBF-F3CC-4C58-A9C0-4B381263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-63">
            <a:extLst xmlns:a="http://schemas.openxmlformats.org/drawingml/2006/main">
              <a:ext uri="{FF2B5EF4-FFF2-40B4-BE49-F238E27FC236}">
                <a16:creationId xmlns:a16="http://schemas.microsoft.com/office/drawing/2014/main" id="{BD363447-3459-49AB-9B57-B5196935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635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Algorithm A: random contexts</a:t>
            </a:r>
          </a:p>
        </p:txBody>
      </p:sp>
      <p:sp>
        <p:nvSpPr>
          <p:cNvPr id="5" name="text-64">
            <a:extLst xmlns:a="http://schemas.openxmlformats.org/drawingml/2006/main">
              <a:ext uri="{FF2B5EF4-FFF2-40B4-BE49-F238E27FC236}">
                <a16:creationId xmlns:a16="http://schemas.microsoft.com/office/drawing/2014/main" id="{430F3E39-D4EF-49A6-83D8-27FA2288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0200"/>
            <a:ext cx="635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Sample a subset size uniformly, then sample a subset of that size.</a:t>
            </a:r>
          </a:p>
        </p:txBody>
      </p:sp>
      <p:sp>
        <p:nvSpPr>
          <p:cNvPr id="6" name="text-65">
            <a:extLst xmlns:a="http://schemas.openxmlformats.org/drawingml/2006/main">
              <a:ext uri="{FF2B5EF4-FFF2-40B4-BE49-F238E27FC236}">
                <a16:creationId xmlns:a16="http://schemas.microsoft.com/office/drawing/2014/main" id="{1AF04177-89E1-4064-9C01-84ECC012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71700"/>
            <a:ext cx="6286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Algorithm B: guided contexts</a:t>
            </a:r>
          </a:p>
        </p:txBody>
      </p:sp>
      <p:sp>
        <p:nvSpPr>
          <p:cNvPr id="7" name="text-66">
            <a:extLst xmlns:a="http://schemas.openxmlformats.org/drawingml/2006/main">
              <a:ext uri="{FF2B5EF4-FFF2-40B4-BE49-F238E27FC236}">
                <a16:creationId xmlns:a16="http://schemas.microsoft.com/office/drawing/2014/main" id="{C926B622-A82D-46EF-89C6-E4B5E34F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02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Build a seed using training mutual information (MI) and correlations, then perturb it.</a:t>
            </a:r>
          </a:p>
        </p:txBody>
      </p:sp>
      <p:sp>
        <p:nvSpPr>
          <p:cNvPr id="8" name="rule-67">
            <a:extLst xmlns:a="http://schemas.openxmlformats.org/drawingml/2006/main">
              <a:ext uri="{FF2B5EF4-FFF2-40B4-BE49-F238E27FC236}">
                <a16:creationId xmlns:a16="http://schemas.microsoft.com/office/drawing/2014/main" id="{492DA0C8-28DE-4A0F-B56D-6A497359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9" name="text-68">
            <a:extLst xmlns:a="http://schemas.openxmlformats.org/drawingml/2006/main">
              <a:ext uri="{FF2B5EF4-FFF2-40B4-BE49-F238E27FC236}">
                <a16:creationId xmlns:a16="http://schemas.microsoft.com/office/drawing/2014/main" id="{6B3EB33B-0EBE-4DB0-A94C-11A950E5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2700"/>
            <a:ext cx="41910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63E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C63E40"/>
                </a:solidFill>
                <a:latin typeface="Arial"/>
                <a:ea typeface="Arial"/>
                <a:cs typeface="Arial"/>
              </a:rPr>
              <a:t>Observed −1</a:t>
            </a:r>
          </a:p>
        </p:txBody>
      </p:sp>
      <p:sp>
        <p:nvSpPr>
          <p:cNvPr id="10" name="text-69">
            <a:extLst xmlns:a="http://schemas.openxmlformats.org/drawingml/2006/main">
              <a:ext uri="{FF2B5EF4-FFF2-40B4-BE49-F238E27FC236}">
                <a16:creationId xmlns:a16="http://schemas.microsoft.com/office/drawing/2014/main" id="{0CEC1AC1-0DA2-4276-B5C7-3EFF2152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5105400"/>
            <a:ext cx="9017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checked negative crossing certifies this fixed game.</a:t>
            </a:r>
          </a:p>
        </p:txBody>
      </p:sp>
      <p:sp>
        <p:nvSpPr>
          <p:cNvPr id="11" name="text-70">
            <a:extLst xmlns:a="http://schemas.openxmlformats.org/drawingml/2006/main">
              <a:ext uri="{FF2B5EF4-FFF2-40B4-BE49-F238E27FC236}">
                <a16:creationId xmlns:a16="http://schemas.microsoft.com/office/drawing/2014/main" id="{79E8B5BD-CA97-4900-B275-7EF875E8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1900"/>
            <a:ext cx="41910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No observed −1</a:t>
            </a:r>
          </a:p>
        </p:txBody>
      </p:sp>
      <p:sp>
        <p:nvSpPr>
          <p:cNvPr id="12" name="text-71">
            <a:extLst xmlns:a="http://schemas.openxmlformats.org/drawingml/2006/main">
              <a:ext uri="{FF2B5EF4-FFF2-40B4-BE49-F238E27FC236}">
                <a16:creationId xmlns:a16="http://schemas.microsoft.com/office/drawing/2014/main" id="{4FCF5870-0D56-454E-AC4D-8F8C4B8F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6324600"/>
            <a:ext cx="9017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An unvisited context may still contain a harmful witness.</a:t>
            </a:r>
          </a:p>
        </p:txBody>
      </p:sp>
      <p:sp>
        <p:nvSpPr>
          <p:cNvPr id="13" name="text-72">
            <a:extLst xmlns:a="http://schemas.openxmlformats.org/drawingml/2006/main">
              <a:ext uri="{FF2B5EF4-FFF2-40B4-BE49-F238E27FC236}">
                <a16:creationId xmlns:a16="http://schemas.microsoft.com/office/drawing/2014/main" id="{F727EC82-2CEF-40A7-A4CF-BB67BFB5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4100"/>
            <a:ext cx="1352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Compare A and B at the same total query cap. Guidance is a hypothesis to test.</a:t>
            </a:r>
          </a:p>
        </p:txBody>
      </p:sp>
    </p:spTree>
    <p:extLst>
      <p:ext uri="{BB962C8B-B14F-4D97-AF65-F5344CB8AC3E}">
        <p14:creationId xmlns:p14="http://schemas.microsoft.com/office/powerpoint/2010/main" val="19527030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73">
            <a:extLst xmlns:a="http://schemas.openxmlformats.org/drawingml/2006/main">
              <a:ext uri="{FF2B5EF4-FFF2-40B4-BE49-F238E27FC236}">
                <a16:creationId xmlns:a16="http://schemas.microsoft.com/office/drawing/2014/main" id="{9746590B-8314-4130-A6A4-0449A191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Why these six benchmark datasets?</a:t>
            </a:r>
          </a:p>
        </p:txBody>
      </p:sp>
      <p:sp>
        <p:nvSpPr>
          <p:cNvPr id="2" name="rule-74">
            <a:extLst xmlns:a="http://schemas.openxmlformats.org/drawingml/2006/main">
              <a:ext uri="{FF2B5EF4-FFF2-40B4-BE49-F238E27FC236}">
                <a16:creationId xmlns:a16="http://schemas.microsoft.com/office/drawing/2014/main" id="{7984109A-5C6F-4C94-910D-77E5FFF7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75">
            <a:extLst xmlns:a="http://schemas.openxmlformats.org/drawingml/2006/main">
              <a:ext uri="{FF2B5EF4-FFF2-40B4-BE49-F238E27FC236}">
                <a16:creationId xmlns:a16="http://schemas.microsoft.com/office/drawing/2014/main" id="{B2845B65-18F1-4E5F-BE62-B176510C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2133600"/>
          <a:ext xmlns:a="http://schemas.openxmlformats.org/drawingml/2006/main" cx="13716000" cy="471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84500"/>
                <a:gridCol w="3175000"/>
                <a:gridCol w="7556500"/>
              </a:tblGrid>
              <a:tr h="673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Samples / inputs¹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it is informative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673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4,601 / 57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Interpretable word statistics in a real binary task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673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2,600 / 500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Nonlinear signal with redundant features and 480 probes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673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Gisette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7,000 / 5,000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High dimensional digit recognition with distractor variables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673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ISOLET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7,797 / 617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26-class speech task broadens the utility setting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673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Credit-Card-Fraud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284,807 / 29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Large, highly imbalanced task tests cost and robustness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673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4,177 / 8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Regression plus a native size suitable for exact enumeration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5" name="text-76">
            <a:extLst xmlns:a="http://schemas.openxmlformats.org/drawingml/2006/main">
              <a:ext uri="{FF2B5EF4-FFF2-40B4-BE49-F238E27FC236}">
                <a16:creationId xmlns:a16="http://schemas.microsoft.com/office/drawing/2014/main" id="{625897F0-112E-4F7A-A359-601AE982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23100"/>
            <a:ext cx="137160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Selection logic: task diversity, feature structure, scale and an exact reference.</a:t>
            </a:r>
          </a:p>
        </p:txBody>
      </p:sp>
      <p:sp>
        <p:nvSpPr>
          <p:cNvPr id="6" name="text-77">
            <a:extLst xmlns:a="http://schemas.openxmlformats.org/drawingml/2006/main">
              <a:ext uri="{FF2B5EF4-FFF2-40B4-BE49-F238E27FC236}">
                <a16:creationId xmlns:a16="http://schemas.microsoft.com/office/drawing/2014/main" id="{076FAA06-C04B-46F2-9D67-9FB8BA05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0730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¹ Project inputs. Madelon/Gisette use labeled train + validation data. Fraud excludes Time.</a:t>
            </a:r>
          </a:p>
        </p:txBody>
      </p:sp>
    </p:spTree>
    <p:extLst>
      <p:ext uri="{BB962C8B-B14F-4D97-AF65-F5344CB8AC3E}">
        <p14:creationId xmlns:p14="http://schemas.microsoft.com/office/powerpoint/2010/main" val="19734728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78">
            <a:extLst xmlns:a="http://schemas.openxmlformats.org/drawingml/2006/main">
              <a:ext uri="{FF2B5EF4-FFF2-40B4-BE49-F238E27FC236}">
                <a16:creationId xmlns:a16="http://schemas.microsoft.com/office/drawing/2014/main" id="{49C09D03-4949-4C8B-8689-60EF6FC9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Two evaluation scales, with explicit boundaries</a:t>
            </a:r>
          </a:p>
        </p:txBody>
      </p:sp>
      <p:sp>
        <p:nvSpPr>
          <p:cNvPr id="2" name="rule-79">
            <a:extLst xmlns:a="http://schemas.openxmlformats.org/drawingml/2006/main">
              <a:ext uri="{FF2B5EF4-FFF2-40B4-BE49-F238E27FC236}">
                <a16:creationId xmlns:a16="http://schemas.microsoft.com/office/drawing/2014/main" id="{6E00C200-6FB2-49B3-8161-9C461DF2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80">
            <a:extLst xmlns:a="http://schemas.openxmlformats.org/drawingml/2006/main">
              <a:ext uri="{FF2B5EF4-FFF2-40B4-BE49-F238E27FC236}">
                <a16:creationId xmlns:a16="http://schemas.microsoft.com/office/drawing/2014/main" id="{5DD85C6D-81B0-4562-9D9B-F3478B60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text-81">
            <a:extLst xmlns:a="http://schemas.openxmlformats.org/drawingml/2006/main">
              <a:ext uri="{FF2B5EF4-FFF2-40B4-BE49-F238E27FC236}">
                <a16:creationId xmlns:a16="http://schemas.microsoft.com/office/drawing/2014/main" id="{C18C86B5-1A3C-4A93-B74B-1039C50B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8200"/>
            <a:ext cx="6477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Broad benchmark scope</a:t>
            </a:r>
          </a:p>
        </p:txBody>
      </p:sp>
      <p:sp>
        <p:nvSpPr>
          <p:cNvPr id="5" name="text-82">
            <a:extLst xmlns:a="http://schemas.openxmlformats.org/drawingml/2006/main">
              <a:ext uri="{FF2B5EF4-FFF2-40B4-BE49-F238E27FC236}">
                <a16:creationId xmlns:a16="http://schemas.microsoft.com/office/drawing/2014/main" id="{3FDB016C-C463-446E-B915-9879B062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6700"/>
            <a:ext cx="647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Six datasets test different tasks and dimensions.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Training-only MI limits large feature pools to at most 100 columns.</a:t>
            </a:r>
          </a:p>
        </p:txBody>
      </p:sp>
      <p:sp>
        <p:nvSpPr>
          <p:cNvPr id="6" name="text-83">
            <a:extLst xmlns:a="http://schemas.openxmlformats.org/drawingml/2006/main">
              <a:ext uri="{FF2B5EF4-FFF2-40B4-BE49-F238E27FC236}">
                <a16:creationId xmlns:a16="http://schemas.microsoft.com/office/drawing/2014/main" id="{55F13291-0B2C-43C6-ACF8-AF45F5FC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08200"/>
            <a:ext cx="6286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Exact reference scope</a:t>
            </a:r>
          </a:p>
        </p:txBody>
      </p:sp>
      <p:sp>
        <p:nvSpPr>
          <p:cNvPr id="7" name="text-84">
            <a:extLst xmlns:a="http://schemas.openxmlformats.org/drawingml/2006/main">
              <a:ext uri="{FF2B5EF4-FFF2-40B4-BE49-F238E27FC236}">
                <a16:creationId xmlns:a16="http://schemas.microsoft.com/office/drawing/2014/main" id="{CEAF29E8-A022-4BB6-9993-E1BC2797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67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Four datasets provide fixed 8-feature games.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All 256 subsets are feasible to evaluate.</a:t>
            </a:r>
          </a:p>
        </p:txBody>
      </p:sp>
      <p:sp>
        <p:nvSpPr>
          <p:cNvPr id="8" name="rule-85">
            <a:extLst xmlns:a="http://schemas.openxmlformats.org/drawingml/2006/main">
              <a:ext uri="{FF2B5EF4-FFF2-40B4-BE49-F238E27FC236}">
                <a16:creationId xmlns:a16="http://schemas.microsoft.com/office/drawing/2014/main" id="{CE894954-C50F-4CF3-9530-F5A8275D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95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9" name="text-86">
            <a:extLst xmlns:a="http://schemas.openxmlformats.org/drawingml/2006/main">
              <a:ext uri="{FF2B5EF4-FFF2-40B4-BE49-F238E27FC236}">
                <a16:creationId xmlns:a16="http://schemas.microsoft.com/office/drawing/2014/main" id="{6841DFBA-D513-4234-86EC-390DE647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5143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Why smaller games?</a:t>
            </a:r>
          </a:p>
        </p:txBody>
      </p:sp>
      <p:sp>
        <p:nvSpPr>
          <p:cNvPr id="10" name="text-87">
            <a:extLst xmlns:a="http://schemas.openxmlformats.org/drawingml/2006/main">
              <a:ext uri="{FF2B5EF4-FFF2-40B4-BE49-F238E27FC236}">
                <a16:creationId xmlns:a16="http://schemas.microsoft.com/office/drawing/2014/main" id="{3555A477-F4FB-4C0D-8C86-32E331A5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500" y="5194300"/>
            <a:ext cx="84455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Exact labels make missed witnesses measurable. Labels apply to the selected panel, not the original high dimensional problem.</a:t>
            </a:r>
          </a:p>
        </p:txBody>
      </p:sp>
      <p:sp>
        <p:nvSpPr>
          <p:cNvPr id="11" name="text-88">
            <a:extLst xmlns:a="http://schemas.openxmlformats.org/drawingml/2006/main">
              <a:ext uri="{FF2B5EF4-FFF2-40B4-BE49-F238E27FC236}">
                <a16:creationId xmlns:a16="http://schemas.microsoft.com/office/drawing/2014/main" id="{66F02BBA-0D7D-44E8-94E1-F6E80F77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32600"/>
            <a:ext cx="5143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Data integrity</a:t>
            </a:r>
          </a:p>
        </p:txBody>
      </p:sp>
      <p:sp>
        <p:nvSpPr>
          <p:cNvPr id="12" name="text-89">
            <a:extLst xmlns:a="http://schemas.openxmlformats.org/drawingml/2006/main">
              <a:ext uri="{FF2B5EF4-FFF2-40B4-BE49-F238E27FC236}">
                <a16:creationId xmlns:a16="http://schemas.microsoft.com/office/drawing/2014/main" id="{78BC3E87-5B68-47C6-AA6B-9029A898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500" y="6807200"/>
            <a:ext cx="844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Fit preprocessing on training data only. Exclude Communities &amp; Crime after the target-leakage audit.</a:t>
            </a:r>
          </a:p>
        </p:txBody>
      </p:sp>
    </p:spTree>
    <p:extLst>
      <p:ext uri="{BB962C8B-B14F-4D97-AF65-F5344CB8AC3E}">
        <p14:creationId xmlns:p14="http://schemas.microsoft.com/office/powerpoint/2010/main" val="20906068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90">
            <a:extLst xmlns:a="http://schemas.openxmlformats.org/drawingml/2006/main">
              <a:ext uri="{FF2B5EF4-FFF2-40B4-BE49-F238E27FC236}">
                <a16:creationId xmlns:a16="http://schemas.microsoft.com/office/drawing/2014/main" id="{6504643A-93CB-439D-977A-2EE8635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Experiment 1: discovery against exact references</a:t>
            </a:r>
          </a:p>
        </p:txBody>
      </p:sp>
      <p:sp>
        <p:nvSpPr>
          <p:cNvPr id="2" name="rule-91">
            <a:extLst xmlns:a="http://schemas.openxmlformats.org/drawingml/2006/main">
              <a:ext uri="{FF2B5EF4-FFF2-40B4-BE49-F238E27FC236}">
                <a16:creationId xmlns:a16="http://schemas.microsoft.com/office/drawing/2014/main" id="{2BE826E2-2EBA-4071-8F8B-B7EF14F2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2">
            <a:extLst xmlns:a="http://schemas.openxmlformats.org/drawingml/2006/main">
              <a:ext uri="{FF2B5EF4-FFF2-40B4-BE49-F238E27FC236}">
                <a16:creationId xmlns:a16="http://schemas.microsoft.com/office/drawing/2014/main" id="{36B471E6-64B0-4DE1-8A25-43D4925E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ext-93">
            <a:extLst xmlns:a="http://schemas.openxmlformats.org/drawingml/2006/main">
              <a:ext uri="{FF2B5EF4-FFF2-40B4-BE49-F238E27FC236}">
                <a16:creationId xmlns:a16="http://schemas.microsoft.com/office/drawing/2014/main" id="{DAE5F3B7-AAF7-42E7-8984-E8751369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66675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35 fixed games</a:t>
            </a:r>
          </a:p>
        </p:txBody>
      </p:sp>
      <p:sp>
        <p:nvSpPr>
          <p:cNvPr id="5" name="text-94">
            <a:extLst xmlns:a="http://schemas.openxmlformats.org/drawingml/2006/main">
              <a:ext uri="{FF2B5EF4-FFF2-40B4-BE49-F238E27FC236}">
                <a16:creationId xmlns:a16="http://schemas.microsoft.com/office/drawing/2014/main" id="{A5F2E4AB-CC4F-45A8-9A5B-0FE659F3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6985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4 datasets, 7 panels, 5 data splits</a:t>
            </a:r>
          </a:p>
        </p:txBody>
      </p:sp>
      <p:sp>
        <p:nvSpPr>
          <p:cNvPr id="6" name="text-95">
            <a:extLst xmlns:a="http://schemas.openxmlformats.org/drawingml/2006/main">
              <a:ext uri="{FF2B5EF4-FFF2-40B4-BE49-F238E27FC236}">
                <a16:creationId xmlns:a16="http://schemas.microsoft.com/office/drawing/2014/main" id="{AA0E68C5-48AD-4B8D-943A-13C1ABC4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6500"/>
            <a:ext cx="717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256 subset utilities per game</a:t>
            </a:r>
          </a:p>
        </p:txBody>
      </p:sp>
      <p:sp>
        <p:nvSpPr>
          <p:cNvPr id="7" name="text-96">
            <a:extLst xmlns:a="http://schemas.openxmlformats.org/drawingml/2006/main">
              <a:ext uri="{FF2B5EF4-FFF2-40B4-BE49-F238E27FC236}">
                <a16:creationId xmlns:a16="http://schemas.microsoft.com/office/drawing/2014/main" id="{5DF39DEF-38A1-427C-9278-F52A26D2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6858000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Enumerate all subsets and retain every negative witness.</a:t>
            </a:r>
          </a:p>
        </p:txBody>
      </p:sp>
      <p:sp>
        <p:nvSpPr>
          <p:cNvPr id="8" name="text-97">
            <a:extLst xmlns:a="http://schemas.openxmlformats.org/drawingml/2006/main">
              <a:ext uri="{FF2B5EF4-FFF2-40B4-BE49-F238E27FC236}">
                <a16:creationId xmlns:a16="http://schemas.microsoft.com/office/drawing/2014/main" id="{292E5EF9-5153-466E-B7DC-61115D96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59055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Fair A/B comparison</a:t>
            </a:r>
          </a:p>
        </p:txBody>
      </p:sp>
      <p:sp>
        <p:nvSpPr>
          <p:cNvPr id="9" name="text-98">
            <a:extLst xmlns:a="http://schemas.openxmlformats.org/drawingml/2006/main">
              <a:ext uri="{FF2B5EF4-FFF2-40B4-BE49-F238E27FC236}">
                <a16:creationId xmlns:a16="http://schemas.microsoft.com/office/drawing/2014/main" id="{123F40DF-2469-47C3-9A24-A753B5B9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5778500" cy="191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30 paired sampling schedules per game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Total marginal-query cap Q = 800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Sampler sees only its requested utilities</a:t>
            </a:r>
          </a:p>
        </p:txBody>
      </p:sp>
      <p:sp>
        <p:nvSpPr>
          <p:cNvPr id="10" name="rule-99">
            <a:extLst xmlns:a="http://schemas.openxmlformats.org/drawingml/2006/main">
              <a:ext uri="{FF2B5EF4-FFF2-40B4-BE49-F238E27FC236}">
                <a16:creationId xmlns:a16="http://schemas.microsoft.com/office/drawing/2014/main" id="{0D2B5F68-3590-498C-805E-7FF08006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82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11" name="text-100">
            <a:extLst xmlns:a="http://schemas.openxmlformats.org/drawingml/2006/main">
              <a:ext uri="{FF2B5EF4-FFF2-40B4-BE49-F238E27FC236}">
                <a16:creationId xmlns:a16="http://schemas.microsoft.com/office/drawing/2014/main" id="{529C7474-A07E-4127-913C-19A412D9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7600"/>
            <a:ext cx="48895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Primary endpoint</a:t>
            </a:r>
          </a:p>
        </p:txBody>
      </p:sp>
      <p:sp>
        <p:nvSpPr>
          <p:cNvPr id="12" name="text-101">
            <a:extLst xmlns:a="http://schemas.openxmlformats.org/drawingml/2006/main">
              <a:ext uri="{FF2B5EF4-FFF2-40B4-BE49-F238E27FC236}">
                <a16:creationId xmlns:a16="http://schemas.microsoft.com/office/drawing/2014/main" id="{27054362-DD9B-4D79-BB55-9D5E011B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6197600"/>
            <a:ext cx="8636000" cy="93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Recall across the full query budget, summarized by recall area.</a:t>
            </a:r>
          </a:p>
        </p:txBody>
      </p:sp>
      <p:sp>
        <p:nvSpPr>
          <p:cNvPr id="13" name="text-102">
            <a:extLst xmlns:a="http://schemas.openxmlformats.org/drawingml/2006/main">
              <a:ext uri="{FF2B5EF4-FFF2-40B4-BE49-F238E27FC236}">
                <a16:creationId xmlns:a16="http://schemas.microsoft.com/office/drawing/2014/main" id="{E26C2877-9DA9-465D-8FEE-4E7CE64D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4100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Empty harmful sets remain in coverage reports. Their recall is undefined.</a:t>
            </a:r>
          </a:p>
        </p:txBody>
      </p:sp>
    </p:spTree>
    <p:extLst>
      <p:ext uri="{BB962C8B-B14F-4D97-AF65-F5344CB8AC3E}">
        <p14:creationId xmlns:p14="http://schemas.microsoft.com/office/powerpoint/2010/main" val="16209796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03">
            <a:extLst xmlns:a="http://schemas.openxmlformats.org/drawingml/2006/main">
              <a:ext uri="{FF2B5EF4-FFF2-40B4-BE49-F238E27FC236}">
                <a16:creationId xmlns:a16="http://schemas.microsoft.com/office/drawing/2014/main" id="{5EAD9F1E-0BC4-4367-884C-F80E326E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Planned experiment 2: controlled mechanisms</a:t>
            </a:r>
          </a:p>
        </p:txBody>
      </p:sp>
      <p:sp>
        <p:nvSpPr>
          <p:cNvPr id="2" name="rule-104">
            <a:extLst xmlns:a="http://schemas.openxmlformats.org/drawingml/2006/main">
              <a:ext uri="{FF2B5EF4-FFF2-40B4-BE49-F238E27FC236}">
                <a16:creationId xmlns:a16="http://schemas.microsoft.com/office/drawing/2014/main" id="{CC22E2D2-1976-48E8-96BD-E0EA65A8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05">
            <a:extLst xmlns:a="http://schemas.openxmlformats.org/drawingml/2006/main">
              <a:ext uri="{FF2B5EF4-FFF2-40B4-BE49-F238E27FC236}">
                <a16:creationId xmlns:a16="http://schemas.microsoft.com/office/drawing/2014/main" id="{A2A79D9B-197F-426B-9257-2036601E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text-106">
            <a:extLst xmlns:a="http://schemas.openxmlformats.org/drawingml/2006/main">
              <a:ext uri="{FF2B5EF4-FFF2-40B4-BE49-F238E27FC236}">
                <a16:creationId xmlns:a16="http://schemas.microsoft.com/office/drawing/2014/main" id="{0AB28C89-2BBB-48BD-B580-BDC77EFE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137160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15 prespecified instances: 3 mechanisms × 5 instances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3098800"/>
          <a:ext xmlns:a="http://schemas.openxmlformats.org/drawingml/2006/main" cx="13716000" cy="359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75000"/>
                <a:gridCol w="5397500"/>
                <a:gridCol w="5143500"/>
              </a:tblGrid>
              <a:tr h="898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Construction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it isolates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898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Additive signal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Two signal variables + six irrelevant variables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Does irrelevant input produce harmful contexts?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898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Correlated redundancy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Two signal variables + two noisy proxies + four irrelevant variables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How does redundancy change witness discovery?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898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Interaction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Noisy XOR of two variables + six irrelevant variables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Can sampling recover contexts driven by interactions?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6" name="text-107">
            <a:extLst xmlns:a="http://schemas.openxmlformats.org/drawingml/2006/main">
              <a:ext uri="{FF2B5EF4-FFF2-40B4-BE49-F238E27FC236}">
                <a16:creationId xmlns:a16="http://schemas.microsoft.com/office/drawing/2014/main" id="{EB133070-2579-42FA-BF6E-C5487CF6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72300"/>
            <a:ext cx="13716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Each instance: 2,000 rows, 8 features, full enumeration and the same A/B budget.</a:t>
            </a:r>
          </a:p>
        </p:txBody>
      </p:sp>
      <p:sp>
        <p:nvSpPr>
          <p:cNvPr id="7" name="text-108">
            <a:extLst xmlns:a="http://schemas.openxmlformats.org/drawingml/2006/main">
              <a:ext uri="{FF2B5EF4-FFF2-40B4-BE49-F238E27FC236}">
                <a16:creationId xmlns:a16="http://schemas.microsoft.com/office/drawing/2014/main" id="{40D47F81-5F4D-43E0-B768-2021BCB1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58100"/>
            <a:ext cx="13716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A variable’s generating role does not determine its MinPPI label.</a:t>
            </a:r>
          </a:p>
        </p:txBody>
      </p:sp>
    </p:spTree>
    <p:extLst>
      <p:ext uri="{BB962C8B-B14F-4D97-AF65-F5344CB8AC3E}">
        <p14:creationId xmlns:p14="http://schemas.microsoft.com/office/powerpoint/2010/main" val="497175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09">
            <a:extLst xmlns:a="http://schemas.openxmlformats.org/drawingml/2006/main">
              <a:ext uri="{FF2B5EF4-FFF2-40B4-BE49-F238E27FC236}">
                <a16:creationId xmlns:a16="http://schemas.microsoft.com/office/drawing/2014/main" id="{5E3C2EAF-8383-4F6A-8858-EE4727AC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Planned experiment 3: removal decisions</a:t>
            </a:r>
          </a:p>
        </p:txBody>
      </p:sp>
      <p:sp>
        <p:nvSpPr>
          <p:cNvPr id="2" name="rule-110">
            <a:extLst xmlns:a="http://schemas.openxmlformats.org/drawingml/2006/main">
              <a:ext uri="{FF2B5EF4-FFF2-40B4-BE49-F238E27FC236}">
                <a16:creationId xmlns:a16="http://schemas.microsoft.com/office/drawing/2014/main" id="{B24E5454-6BCB-448D-9FA8-EC664465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1">
            <a:extLst xmlns:a="http://schemas.openxmlformats.org/drawingml/2006/main">
              <a:ext uri="{FF2B5EF4-FFF2-40B4-BE49-F238E27FC236}">
                <a16:creationId xmlns:a16="http://schemas.microsoft.com/office/drawing/2014/main" id="{85FB4DB3-BE97-4D58-9232-ADF0BD21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2159000"/>
          <a:ext xmlns:a="http://schemas.openxmlformats.org/drawingml/2006/main" cx="13716000" cy="393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37000"/>
                <a:gridCol w="1778000"/>
                <a:gridCol w="8001000"/>
              </a:tblGrid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 role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Permitted use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64%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Fit preprocessing, models and feature rankings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Selection validation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8%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Audit contexts and choose one candidate per strategy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Independent gate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8%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Accept the candidate or revert to the full set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Held-out test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Evaluate the frozen decision after refitting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5" name="text-112">
            <a:extLst xmlns:a="http://schemas.openxmlformats.org/drawingml/2006/main">
              <a:ext uri="{FF2B5EF4-FFF2-40B4-BE49-F238E27FC236}">
                <a16:creationId xmlns:a16="http://schemas.microsoft.com/office/drawing/2014/main" id="{32B6FFEA-94CC-44BB-9916-093FB37A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6200"/>
            <a:ext cx="13716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Gate rule: candidate loss ≤ 0.005 AUC or ≤ 0.01 raw R²</a:t>
            </a:r>
          </a:p>
        </p:txBody>
      </p:sp>
      <p:sp>
        <p:nvSpPr>
          <p:cNvPr id="6" name="text-113">
            <a:extLst xmlns:a="http://schemas.openxmlformats.org/drawingml/2006/main">
              <a:ext uri="{FF2B5EF4-FFF2-40B4-BE49-F238E27FC236}">
                <a16:creationId xmlns:a16="http://schemas.microsoft.com/office/drawing/2014/main" id="{BD239030-B486-4306-9D77-D34FA1EE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53300"/>
            <a:ext cx="1371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verified local witness alone does not establish that joint removal is useful.</a:t>
            </a:r>
          </a:p>
        </p:txBody>
      </p:sp>
    </p:spTree>
    <p:extLst>
      <p:ext uri="{BB962C8B-B14F-4D97-AF65-F5344CB8AC3E}">
        <p14:creationId xmlns:p14="http://schemas.microsoft.com/office/powerpoint/2010/main" val="4572674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14">
            <a:extLst xmlns:a="http://schemas.openxmlformats.org/drawingml/2006/main">
              <a:ext uri="{FF2B5EF4-FFF2-40B4-BE49-F238E27FC236}">
                <a16:creationId xmlns:a16="http://schemas.microsoft.com/office/drawing/2014/main" id="{AE9A93E1-798C-47B5-87D8-45B37928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Practical baselines and success criteria</a:t>
            </a:r>
          </a:p>
        </p:txBody>
      </p:sp>
      <p:sp>
        <p:nvSpPr>
          <p:cNvPr id="2" name="rule-115">
            <a:extLst xmlns:a="http://schemas.openxmlformats.org/drawingml/2006/main">
              <a:ext uri="{FF2B5EF4-FFF2-40B4-BE49-F238E27FC236}">
                <a16:creationId xmlns:a16="http://schemas.microsoft.com/office/drawing/2014/main" id="{B31DB53B-5C72-49CD-B3F6-76287291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6">
            <a:extLst xmlns:a="http://schemas.openxmlformats.org/drawingml/2006/main">
              <a:ext uri="{FF2B5EF4-FFF2-40B4-BE49-F238E27FC236}">
                <a16:creationId xmlns:a16="http://schemas.microsoft.com/office/drawing/2014/main" id="{D7ED5CFC-1358-4CEF-BF75-E3A4AC7D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text-117">
            <a:extLst xmlns:a="http://schemas.openxmlformats.org/drawingml/2006/main">
              <a:ext uri="{FF2B5EF4-FFF2-40B4-BE49-F238E27FC236}">
                <a16:creationId xmlns:a16="http://schemas.microsoft.com/office/drawing/2014/main" id="{487A3EEF-CE45-415D-989D-BA6F08B5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371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Primary comparison: MinPPI-A versus a validation-only portfolio</a:t>
            </a:r>
          </a:p>
        </p:txBody>
      </p:sp>
      <p:sp>
        <p:nvSpPr>
          <p:cNvPr id="5" name="text-118">
            <a:extLst xmlns:a="http://schemas.openxmlformats.org/drawingml/2006/main">
              <a:ext uri="{FF2B5EF4-FFF2-40B4-BE49-F238E27FC236}">
                <a16:creationId xmlns:a16="http://schemas.microsoft.com/office/drawing/2014/main" id="{A4980C99-2DC2-4714-96DA-32D70E05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6413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Eight strategies</a:t>
            </a:r>
          </a:p>
        </p:txBody>
      </p:sp>
      <p:sp>
        <p:nvSpPr>
          <p:cNvPr id="6" name="text-119">
            <a:extLst xmlns:a="http://schemas.openxmlformats.org/drawingml/2006/main">
              <a:ext uri="{FF2B5EF4-FFF2-40B4-BE49-F238E27FC236}">
                <a16:creationId xmlns:a16="http://schemas.microsoft.com/office/drawing/2014/main" id="{16286ADA-A45F-477B-9359-EFB7C9E3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641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Full, MinPPI-A, MinPPI-B, MI, TreeSHAP, static LOFO, RFE and the portfolio.</a:t>
            </a:r>
          </a:p>
        </p:txBody>
      </p:sp>
      <p:sp>
        <p:nvSpPr>
          <p:cNvPr id="7" name="text-120">
            <a:extLst xmlns:a="http://schemas.openxmlformats.org/drawingml/2006/main">
              <a:ext uri="{FF2B5EF4-FFF2-40B4-BE49-F238E27FC236}">
                <a16:creationId xmlns:a16="http://schemas.microsoft.com/office/drawing/2014/main" id="{B0FDD876-5466-4FEB-9845-FCCA7A7E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6286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 demanding practical control</a:t>
            </a:r>
          </a:p>
        </p:txBody>
      </p:sp>
      <p:sp>
        <p:nvSpPr>
          <p:cNvPr id="8" name="text-121">
            <a:extLst xmlns:a="http://schemas.openxmlformats.org/drawingml/2006/main">
              <a:ext uri="{FF2B5EF4-FFF2-40B4-BE49-F238E27FC236}">
                <a16:creationId xmlns:a16="http://schemas.microsoft.com/office/drawing/2014/main" id="{7024DFC8-F0DA-4192-8E4C-44011FD6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75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portfolio selects among MI, TreeSHAP and LOFO candidates using selection validation only.</a:t>
            </a:r>
          </a:p>
        </p:txBody>
      </p:sp>
      <p:sp>
        <p:nvSpPr>
          <p:cNvPr id="9" name="rule-122">
            <a:extLst xmlns:a="http://schemas.openxmlformats.org/drawingml/2006/main">
              <a:ext uri="{FF2B5EF4-FFF2-40B4-BE49-F238E27FC236}">
                <a16:creationId xmlns:a16="http://schemas.microsoft.com/office/drawing/2014/main" id="{F68D8B2C-2C84-4C63-8CB1-B146656F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42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10" name="text-123">
            <a:extLst xmlns:a="http://schemas.openxmlformats.org/drawingml/2006/main">
              <a:ext uri="{FF2B5EF4-FFF2-40B4-BE49-F238E27FC236}">
                <a16:creationId xmlns:a16="http://schemas.microsoft.com/office/drawing/2014/main" id="{24EF8312-D7D6-4879-8C7E-FB1B14BD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9000"/>
            <a:ext cx="5270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Measure decision value</a:t>
            </a:r>
          </a:p>
        </p:txBody>
      </p:sp>
      <p:sp>
        <p:nvSpPr>
          <p:cNvPr id="11" name="text-124">
            <a:extLst xmlns:a="http://schemas.openxmlformats.org/drawingml/2006/main">
              <a:ext uri="{FF2B5EF4-FFF2-40B4-BE49-F238E27FC236}">
                <a16:creationId xmlns:a16="http://schemas.microsoft.com/office/drawing/2014/main" id="{32C69D16-7452-4DD1-88FC-532D13B6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969000"/>
            <a:ext cx="83820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Compression, test utility loss, tolerance violations and gate rejection.</a:t>
            </a:r>
          </a:p>
        </p:txBody>
      </p:sp>
      <p:sp>
        <p:nvSpPr>
          <p:cNvPr id="12" name="text-125">
            <a:extLst xmlns:a="http://schemas.openxmlformats.org/drawingml/2006/main">
              <a:ext uri="{FF2B5EF4-FFF2-40B4-BE49-F238E27FC236}">
                <a16:creationId xmlns:a16="http://schemas.microsoft.com/office/drawing/2014/main" id="{3307658A-9D25-453C-9FF5-2BDDD892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75500"/>
            <a:ext cx="5270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Measure actual cost</a:t>
            </a:r>
          </a:p>
        </p:txBody>
      </p:sp>
      <p:sp>
        <p:nvSpPr>
          <p:cNvPr id="13" name="text-126">
            <a:extLst xmlns:a="http://schemas.openxmlformats.org/drawingml/2006/main">
              <a:ext uri="{FF2B5EF4-FFF2-40B4-BE49-F238E27FC236}">
                <a16:creationId xmlns:a16="http://schemas.microsoft.com/office/drawing/2014/main" id="{731063BA-D1FF-4FA9-A271-9197934C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137400"/>
            <a:ext cx="8382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Count queries and model fits. Include guidance, selection, gate and refit time.</a:t>
            </a:r>
          </a:p>
        </p:txBody>
      </p:sp>
    </p:spTree>
    <p:extLst>
      <p:ext uri="{BB962C8B-B14F-4D97-AF65-F5344CB8AC3E}">
        <p14:creationId xmlns:p14="http://schemas.microsoft.com/office/powerpoint/2010/main" val="15983323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27">
            <a:extLst xmlns:a="http://schemas.openxmlformats.org/drawingml/2006/main">
              <a:ext uri="{FF2B5EF4-FFF2-40B4-BE49-F238E27FC236}">
                <a16:creationId xmlns:a16="http://schemas.microsoft.com/office/drawing/2014/main" id="{340DE670-373B-46D3-8CA8-88672DBA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Multi-objective feature selection</a:t>
            </a:r>
          </a:p>
        </p:txBody>
      </p:sp>
      <p:sp>
        <p:nvSpPr>
          <p:cNvPr id="2" name="rule-128">
            <a:extLst xmlns:a="http://schemas.openxmlformats.org/drawingml/2006/main">
              <a:ext uri="{FF2B5EF4-FFF2-40B4-BE49-F238E27FC236}">
                <a16:creationId xmlns:a16="http://schemas.microsoft.com/office/drawing/2014/main" id="{C8C3F669-B3E6-46A2-8393-34B738E5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29">
            <a:extLst xmlns:a="http://schemas.openxmlformats.org/drawingml/2006/main">
              <a:ext uri="{FF2B5EF4-FFF2-40B4-BE49-F238E27FC236}">
                <a16:creationId xmlns:a16="http://schemas.microsoft.com/office/drawing/2014/main" id="{B235CC1A-29AA-4AC0-9EB2-01ADF121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text-130">
            <a:extLst xmlns:a="http://schemas.openxmlformats.org/drawingml/2006/main">
              <a:ext uri="{FF2B5EF4-FFF2-40B4-BE49-F238E27FC236}">
                <a16:creationId xmlns:a16="http://schemas.microsoft.com/office/drawing/2014/main" id="{A24BB81D-0FD7-4287-9A34-D1B24B6F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4400"/>
            <a:ext cx="1371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Two competing objectives</a:t>
            </a:r>
          </a:p>
        </p:txBody>
      </p:sp>
      <p:sp>
        <p:nvSpPr>
          <p:cNvPr id="5" name="text-131">
            <a:extLst xmlns:a="http://schemas.openxmlformats.org/drawingml/2006/main">
              <a:ext uri="{FF2B5EF4-FFF2-40B4-BE49-F238E27FC236}">
                <a16:creationId xmlns:a16="http://schemas.microsoft.com/office/drawing/2014/main" id="{4D7B581E-5F4E-4C4D-BD3F-E1F4FBA2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88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Minimize the retained feature fraction:  |S| / p₀</a:t>
            </a:r>
          </a:p>
        </p:txBody>
      </p:sp>
      <p:sp>
        <p:nvSpPr>
          <p:cNvPr id="6" name="text-132">
            <a:extLst xmlns:a="http://schemas.openxmlformats.org/drawingml/2006/main">
              <a:ext uri="{FF2B5EF4-FFF2-40B4-BE49-F238E27FC236}">
                <a16:creationId xmlns:a16="http://schemas.microsoft.com/office/drawing/2014/main" id="{CDED4854-7554-4E2B-957F-96BB0E66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13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Minimize predictive loss:  1 − clip(U(S), 0, 1)</a:t>
            </a:r>
          </a:p>
        </p:txBody>
      </p:sp>
      <p:sp>
        <p:nvSpPr>
          <p:cNvPr id="7" name="rule-133">
            <a:extLst xmlns:a="http://schemas.openxmlformats.org/drawingml/2006/main">
              <a:ext uri="{FF2B5EF4-FFF2-40B4-BE49-F238E27FC236}">
                <a16:creationId xmlns:a16="http://schemas.microsoft.com/office/drawing/2014/main" id="{16C10D72-66EC-4A6C-A3A2-B1F6C32D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4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8" name="text-134">
            <a:extLst xmlns:a="http://schemas.openxmlformats.org/drawingml/2006/main">
              <a:ext uri="{FF2B5EF4-FFF2-40B4-BE49-F238E27FC236}">
                <a16:creationId xmlns:a16="http://schemas.microsoft.com/office/drawing/2014/main" id="{DD9EE571-F311-4D2D-81E3-9B319B5F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0"/>
            <a:ext cx="6477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NSGA-II search</a:t>
            </a:r>
          </a:p>
        </p:txBody>
      </p:sp>
      <p:sp>
        <p:nvSpPr>
          <p:cNvPr id="9" name="text-135">
            <a:extLst xmlns:a="http://schemas.openxmlformats.org/drawingml/2006/main">
              <a:ext uri="{FF2B5EF4-FFF2-40B4-BE49-F238E27FC236}">
                <a16:creationId xmlns:a16="http://schemas.microsoft.com/office/drawing/2014/main" id="{4FE2A95B-9C8C-4ADE-A0F0-9F185A41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647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nondominated set offers different compression–utility trade-offs.</a:t>
            </a:r>
          </a:p>
        </p:txBody>
      </p:sp>
      <p:sp>
        <p:nvSpPr>
          <p:cNvPr id="10" name="text-136">
            <a:extLst xmlns:a="http://schemas.openxmlformats.org/drawingml/2006/main">
              <a:ext uri="{FF2B5EF4-FFF2-40B4-BE49-F238E27FC236}">
                <a16:creationId xmlns:a16="http://schemas.microsoft.com/office/drawing/2014/main" id="{01851AF9-F8A7-41B5-B6DB-C872CED3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88000"/>
            <a:ext cx="6286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MinPPI as a possible prefilter</a:t>
            </a:r>
          </a:p>
        </p:txBody>
      </p:sp>
      <p:sp>
        <p:nvSpPr>
          <p:cNvPr id="11" name="text-137">
            <a:extLst xmlns:a="http://schemas.openxmlformats.org/drawingml/2006/main">
              <a:ext uri="{FF2B5EF4-FFF2-40B4-BE49-F238E27FC236}">
                <a16:creationId xmlns:a16="http://schemas.microsoft.com/office/drawing/2014/main" id="{7AF259F0-1142-48BF-96AB-387AF914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2865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search quality and full cost, including the preceding audit.</a:t>
            </a:r>
          </a:p>
        </p:txBody>
      </p:sp>
    </p:spTree>
    <p:extLst>
      <p:ext uri="{BB962C8B-B14F-4D97-AF65-F5344CB8AC3E}">
        <p14:creationId xmlns:p14="http://schemas.microsoft.com/office/powerpoint/2010/main" val="5507650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38">
            <a:extLst xmlns:a="http://schemas.openxmlformats.org/drawingml/2006/main">
              <a:ext uri="{FF2B5EF4-FFF2-40B4-BE49-F238E27FC236}">
                <a16:creationId xmlns:a16="http://schemas.microsoft.com/office/drawing/2014/main" id="{D99A5FD1-8F86-44AC-91EC-02F0C422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Current evidence and remaining experiments</a:t>
            </a:r>
          </a:p>
        </p:txBody>
      </p:sp>
      <p:sp>
        <p:nvSpPr>
          <p:cNvPr id="2" name="rule-139">
            <a:extLst xmlns:a="http://schemas.openxmlformats.org/drawingml/2006/main">
              <a:ext uri="{FF2B5EF4-FFF2-40B4-BE49-F238E27FC236}">
                <a16:creationId xmlns:a16="http://schemas.microsoft.com/office/drawing/2014/main" id="{B7C2A2CB-DB18-4345-A64C-E70799D4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40">
            <a:extLst xmlns:a="http://schemas.openxmlformats.org/drawingml/2006/main">
              <a:ext uri="{FF2B5EF4-FFF2-40B4-BE49-F238E27FC236}">
                <a16:creationId xmlns:a16="http://schemas.microsoft.com/office/drawing/2014/main" id="{CE85DA21-E9E0-439C-81BF-A33D35D5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text-141">
            <a:extLst xmlns:a="http://schemas.openxmlformats.org/drawingml/2006/main">
              <a:ext uri="{FF2B5EF4-FFF2-40B4-BE49-F238E27FC236}">
                <a16:creationId xmlns:a16="http://schemas.microsoft.com/office/drawing/2014/main" id="{EEBEE475-4CC6-4DCD-9D15-D3700DBA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75600"/>
            <a:ext cx="12700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Project evidence status: 26 September 2026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444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37000"/>
                <a:gridCol w="3111500"/>
                <a:gridCol w="6667500"/>
              </a:tblGrid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layer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currently supports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Exact reference audit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35 games complete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22 contain harmful features. 13 contain none.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Finite-budget A/B comparison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Recall area: A 0.4012, B 0.3718. No stable B advantage.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Cold-cache checks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Six checks complete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Queried utilities and traces reproduced in these checks.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Controlled mechanisms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15 instances will examine failure mechanisms.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Independent deletion decisions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20 games will test utility, compression and full cost.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6" name="text-142">
            <a:extLst xmlns:a="http://schemas.openxmlformats.org/drawingml/2006/main">
              <a:ext uri="{FF2B5EF4-FFF2-40B4-BE49-F238E27FC236}">
                <a16:creationId xmlns:a16="http://schemas.microsoft.com/office/drawing/2014/main" id="{4FC8714A-6613-43E8-A52B-6EF1B92D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85000"/>
            <a:ext cx="13462000" cy="77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The evidence supports verifiable witnesses. Practical selection value remains under evaluation.</a:t>
            </a:r>
          </a:p>
        </p:txBody>
      </p:sp>
    </p:spTree>
    <p:extLst>
      <p:ext uri="{BB962C8B-B14F-4D97-AF65-F5344CB8AC3E}">
        <p14:creationId xmlns:p14="http://schemas.microsoft.com/office/powerpoint/2010/main" val="9899081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43">
            <a:extLst xmlns:a="http://schemas.openxmlformats.org/drawingml/2006/main">
              <a:ext uri="{FF2B5EF4-FFF2-40B4-BE49-F238E27FC236}">
                <a16:creationId xmlns:a16="http://schemas.microsoft.com/office/drawing/2014/main" id="{C57BFB18-169B-46D2-B30E-CD7728D1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contribution and next steps</a:t>
            </a:r>
          </a:p>
        </p:txBody>
      </p:sp>
      <p:sp>
        <p:nvSpPr>
          <p:cNvPr id="2" name="rule-144">
            <a:extLst xmlns:a="http://schemas.openxmlformats.org/drawingml/2006/main">
              <a:ext uri="{FF2B5EF4-FFF2-40B4-BE49-F238E27FC236}">
                <a16:creationId xmlns:a16="http://schemas.microsoft.com/office/drawing/2014/main" id="{C9F2BD84-2C45-4F3E-892D-294FA6FC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5D0C9"/>
            </a:solidFill>
          </a:ln>
        </p:spPr>
      </p:sp>
      <p:sp>
        <p:nvSpPr>
          <p:cNvPr id="3" name="text-145">
            <a:extLst xmlns:a="http://schemas.openxmlformats.org/drawingml/2006/main">
              <a:ext uri="{FF2B5EF4-FFF2-40B4-BE49-F238E27FC236}">
                <a16:creationId xmlns:a16="http://schemas.microsoft.com/office/drawing/2014/main" id="{1393EE47-7878-4E3F-89CA-BEBF4442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text-146">
            <a:extLst xmlns:a="http://schemas.openxmlformats.org/drawingml/2006/main">
              <a:ext uri="{FF2B5EF4-FFF2-40B4-BE49-F238E27FC236}">
                <a16:creationId xmlns:a16="http://schemas.microsoft.com/office/drawing/2014/main" id="{F1C1A86A-6614-41D2-AFC0-3EAB8CDE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1400"/>
            <a:ext cx="1358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feature audit that explains where a variable</a:t>
            </a:r>
          </a:p>
          <a:p xmlns:a="http://schemas.openxmlformats.org/drawingml/2006/main">
            <a:pPr algn="l">
              <a:defRPr sz="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breaks a defined utility requirement.</a:t>
            </a:r>
          </a:p>
        </p:txBody>
      </p:sp>
      <p:sp>
        <p:nvSpPr>
          <p:cNvPr id="5" name="text-147">
            <a:extLst xmlns:a="http://schemas.openxmlformats.org/drawingml/2006/main">
              <a:ext uri="{FF2B5EF4-FFF2-40B4-BE49-F238E27FC236}">
                <a16:creationId xmlns:a16="http://schemas.microsoft.com/office/drawing/2014/main" id="{ACB8F577-0007-446A-9B8F-20A13CC7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0700"/>
            <a:ext cx="13716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Exact references quantify what the audit misses.</a:t>
            </a:r>
          </a:p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Independent decisions test whether removal is worth the cost.</a:t>
            </a:r>
          </a:p>
        </p:txBody>
      </p:sp>
      <p:sp>
        <p:nvSpPr>
          <p:cNvPr id="6" name="rule-148">
            <a:extLst xmlns:a="http://schemas.openxmlformats.org/drawingml/2006/main">
              <a:ext uri="{FF2B5EF4-FFF2-40B4-BE49-F238E27FC236}">
                <a16:creationId xmlns:a16="http://schemas.microsoft.com/office/drawing/2014/main" id="{C79E90B9-52FC-45A1-80B1-AAD74377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7" name="text-149">
            <a:extLst xmlns:a="http://schemas.openxmlformats.org/drawingml/2006/main">
              <a:ext uri="{FF2B5EF4-FFF2-40B4-BE49-F238E27FC236}">
                <a16:creationId xmlns:a16="http://schemas.microsoft.com/office/drawing/2014/main" id="{44C7D175-3AB1-43C1-9448-DE7EABB0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8300"/>
            <a:ext cx="431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75D0C9"/>
                </a:solidFill>
                <a:latin typeface="Arial"/>
                <a:ea typeface="Arial"/>
                <a:cs typeface="Arial"/>
              </a:rPr>
              <a:t>Next evidence</a:t>
            </a:r>
          </a:p>
        </p:txBody>
      </p:sp>
      <p:sp>
        <p:nvSpPr>
          <p:cNvPr id="8" name="text-150">
            <a:extLst xmlns:a="http://schemas.openxmlformats.org/drawingml/2006/main">
              <a:ext uri="{FF2B5EF4-FFF2-40B4-BE49-F238E27FC236}">
                <a16:creationId xmlns:a16="http://schemas.microsoft.com/office/drawing/2014/main" id="{762F7950-A159-4EE2-9656-2E0B7C5F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6705600"/>
            <a:ext cx="9017000" cy="10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Controlled mechanisms, followed by independent gate and test evaluation.</a:t>
            </a:r>
          </a:p>
        </p:txBody>
      </p:sp>
    </p:spTree>
    <p:extLst>
      <p:ext uri="{BB962C8B-B14F-4D97-AF65-F5344CB8AC3E}">
        <p14:creationId xmlns:p14="http://schemas.microsoft.com/office/powerpoint/2010/main" val="11641459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51">
            <a:extLst xmlns:a="http://schemas.openxmlformats.org/drawingml/2006/main">
              <a:ext uri="{FF2B5EF4-FFF2-40B4-BE49-F238E27FC236}">
                <a16:creationId xmlns:a16="http://schemas.microsoft.com/office/drawing/2014/main" id="{D5BC8BF6-38C3-4F27-9C22-60031546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exact and sampled guarantees</a:t>
            </a:r>
          </a:p>
        </p:txBody>
      </p:sp>
      <p:sp>
        <p:nvSpPr>
          <p:cNvPr id="2" name="rule-152">
            <a:extLst xmlns:a="http://schemas.openxmlformats.org/drawingml/2006/main">
              <a:ext uri="{FF2B5EF4-FFF2-40B4-BE49-F238E27FC236}">
                <a16:creationId xmlns:a16="http://schemas.microsoft.com/office/drawing/2014/main" id="{54E916BB-F5DF-4533-92D2-53A82848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53">
            <a:extLst xmlns:a="http://schemas.openxmlformats.org/drawingml/2006/main">
              <a:ext uri="{FF2B5EF4-FFF2-40B4-BE49-F238E27FC236}">
                <a16:creationId xmlns:a16="http://schemas.microsoft.com/office/drawing/2014/main" id="{580A88DB-5022-413E-B0B0-C5E01A64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text-154">
            <a:extLst xmlns:a="http://schemas.openxmlformats.org/drawingml/2006/main">
              <a:ext uri="{FF2B5EF4-FFF2-40B4-BE49-F238E27FC236}">
                <a16:creationId xmlns:a16="http://schemas.microsoft.com/office/drawing/2014/main" id="{8F21BA92-52FD-4EB2-A0B7-6004FC66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09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155">
            <a:extLst xmlns:a="http://schemas.openxmlformats.org/drawingml/2006/main">
              <a:ext uri="{FF2B5EF4-FFF2-40B4-BE49-F238E27FC236}">
                <a16:creationId xmlns:a16="http://schemas.microsoft.com/office/drawing/2014/main" id="{BEDA186C-583A-410F-ADEC-EF60A6DE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1209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Support-level equality</a:t>
            </a:r>
          </a:p>
        </p:txBody>
      </p:sp>
      <p:sp>
        <p:nvSpPr>
          <p:cNvPr id="6" name="text-156">
            <a:extLst xmlns:a="http://schemas.openxmlformats.org/drawingml/2006/main">
              <a:ext uri="{FF2B5EF4-FFF2-40B4-BE49-F238E27FC236}">
                <a16:creationId xmlns:a16="http://schemas.microsoft.com/office/drawing/2014/main" id="{4CFB654C-6F33-4D56-A643-C9C54973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7432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Every target-excluding subset can precede that feature in a permutation.</a:t>
            </a:r>
          </a:p>
        </p:txBody>
      </p:sp>
      <p:sp>
        <p:nvSpPr>
          <p:cNvPr id="7" name="text-157">
            <a:extLst xmlns:a="http://schemas.openxmlformats.org/drawingml/2006/main">
              <a:ext uri="{FF2B5EF4-FFF2-40B4-BE49-F238E27FC236}">
                <a16:creationId xmlns:a16="http://schemas.microsoft.com/office/drawing/2014/main" id="{C057938A-1FBD-4589-9762-B8D85EFA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429000"/>
            <a:ext cx="1257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MinSSᵢ = MinBzᵢ = Mᵢ</a:t>
            </a:r>
          </a:p>
        </p:txBody>
      </p:sp>
      <p:sp>
        <p:nvSpPr>
          <p:cNvPr id="8" name="text-158">
            <a:extLst xmlns:a="http://schemas.openxmlformats.org/drawingml/2006/main">
              <a:ext uri="{FF2B5EF4-FFF2-40B4-BE49-F238E27FC236}">
                <a16:creationId xmlns:a16="http://schemas.microsoft.com/office/drawing/2014/main" id="{89D71478-593B-4148-B05B-BB4EC0E5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159">
            <a:extLst xmlns:a="http://schemas.openxmlformats.org/drawingml/2006/main">
              <a:ext uri="{FF2B5EF4-FFF2-40B4-BE49-F238E27FC236}">
                <a16:creationId xmlns:a16="http://schemas.microsoft.com/office/drawing/2014/main" id="{2C01D6D2-5128-4DD5-AAC9-5D0B8315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3815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Sample minimum is an upper bound</a:t>
            </a:r>
          </a:p>
        </p:txBody>
      </p:sp>
      <p:sp>
        <p:nvSpPr>
          <p:cNvPr id="10" name="text-160">
            <a:extLst xmlns:a="http://schemas.openxmlformats.org/drawingml/2006/main">
              <a:ext uri="{FF2B5EF4-FFF2-40B4-BE49-F238E27FC236}">
                <a16:creationId xmlns:a16="http://schemas.microsoft.com/office/drawing/2014/main" id="{CB7531A3-F563-484F-84E1-B8714F83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0038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A sample visits only part of the domain. An observed −1 is conclusive.</a:t>
            </a:r>
          </a:p>
        </p:txBody>
      </p:sp>
      <p:sp>
        <p:nvSpPr>
          <p:cNvPr id="11" name="text-161">
            <a:extLst xmlns:a="http://schemas.openxmlformats.org/drawingml/2006/main">
              <a:ext uri="{FF2B5EF4-FFF2-40B4-BE49-F238E27FC236}">
                <a16:creationId xmlns:a16="http://schemas.microsoft.com/office/drawing/2014/main" id="{8C7FC647-C04A-45A9-ACD1-2B207426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7300"/>
            <a:ext cx="137160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If a fixed witness has probability ρ &gt; 0 in K independent draws:</a:t>
            </a:r>
          </a:p>
        </p:txBody>
      </p:sp>
      <p:sp>
        <p:nvSpPr>
          <p:cNvPr id="12" name="text-162">
            <a:extLst xmlns:a="http://schemas.openxmlformats.org/drawingml/2006/main">
              <a:ext uri="{FF2B5EF4-FFF2-40B4-BE49-F238E27FC236}">
                <a16:creationId xmlns:a16="http://schemas.microsoft.com/office/drawing/2014/main" id="{31EF5938-6BC5-4501-9D9E-B95EF14E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850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P(detect a harmful witness) ≥ 1 − (1 − ρ)ᴷ</a:t>
            </a:r>
          </a:p>
        </p:txBody>
      </p:sp>
    </p:spTree>
    <p:extLst>
      <p:ext uri="{BB962C8B-B14F-4D97-AF65-F5344CB8AC3E}">
        <p14:creationId xmlns:p14="http://schemas.microsoft.com/office/powerpoint/2010/main" val="19819440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63">
            <a:extLst xmlns:a="http://schemas.openxmlformats.org/drawingml/2006/main">
              <a:ext uri="{FF2B5EF4-FFF2-40B4-BE49-F238E27FC236}">
                <a16:creationId xmlns:a16="http://schemas.microsoft.com/office/drawing/2014/main" id="{3CF57313-E6A7-4235-A011-7B9EB780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sources and protocol details</a:t>
            </a:r>
          </a:p>
        </p:txBody>
      </p:sp>
      <p:sp>
        <p:nvSpPr>
          <p:cNvPr id="2" name="rule-164">
            <a:extLst xmlns:a="http://schemas.openxmlformats.org/drawingml/2006/main">
              <a:ext uri="{FF2B5EF4-FFF2-40B4-BE49-F238E27FC236}">
                <a16:creationId xmlns:a16="http://schemas.microsoft.com/office/drawing/2014/main" id="{F9564D9F-F376-4720-A376-9E84312A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65">
            <a:extLst xmlns:a="http://schemas.openxmlformats.org/drawingml/2006/main">
              <a:ext uri="{FF2B5EF4-FFF2-40B4-BE49-F238E27FC236}">
                <a16:creationId xmlns:a16="http://schemas.microsoft.com/office/drawing/2014/main" id="{75950FAE-81E7-45C4-8507-78745DDE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text-166">
            <a:extLst xmlns:a="http://schemas.openxmlformats.org/drawingml/2006/main">
              <a:ext uri="{FF2B5EF4-FFF2-40B4-BE49-F238E27FC236}">
                <a16:creationId xmlns:a16="http://schemas.microsoft.com/office/drawing/2014/main" id="{1F926A69-8627-4A98-9CB0-95488EF5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3048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Theory</a:t>
            </a:r>
          </a:p>
        </p:txBody>
      </p:sp>
      <p:sp>
        <p:nvSpPr>
          <p:cNvPr id="5" name="text-167">
            <a:extLst xmlns:a="http://schemas.openxmlformats.org/drawingml/2006/main">
              <a:ext uri="{FF2B5EF4-FFF2-40B4-BE49-F238E27FC236}">
                <a16:creationId xmlns:a16="http://schemas.microsoft.com/office/drawing/2014/main" id="{8685B8CB-66B2-454F-AAC5-9DE36658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2159000"/>
            <a:ext cx="10541000" cy="298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Shapley (1953), A Value for n-Person Games</a:t>
            </a:r>
          </a:p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Banzhaf (1965), Weighted Voting Doesn’t Work</a:t>
            </a:r>
          </a:p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Lundberg &amp; Lee (2017), A Unified Approach to Interpreting Model Predictions</a:t>
            </a:r>
          </a:p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Zheng &amp; Raskutti (2026), MinShap: A Shapley-Based Framework for Feature Redundancy</a:t>
            </a:r>
          </a:p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Deb et al. (2002), A Fast and Elitist Multiobjective Genetic Algorithm: NSGA-II</a:t>
            </a:r>
          </a:p>
        </p:txBody>
      </p:sp>
      <p:sp>
        <p:nvSpPr>
          <p:cNvPr id="6" name="rule-168">
            <a:extLst xmlns:a="http://schemas.openxmlformats.org/drawingml/2006/main">
              <a:ext uri="{FF2B5EF4-FFF2-40B4-BE49-F238E27FC236}">
                <a16:creationId xmlns:a16="http://schemas.microsoft.com/office/drawing/2014/main" id="{370EAD6A-7AB9-4BDB-BA9E-26F8F1FE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7" name="text-169">
            <a:extLst xmlns:a="http://schemas.openxmlformats.org/drawingml/2006/main">
              <a:ext uri="{FF2B5EF4-FFF2-40B4-BE49-F238E27FC236}">
                <a16:creationId xmlns:a16="http://schemas.microsoft.com/office/drawing/2014/main" id="{8FCDC1A0-463F-47D0-B980-C5480347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3048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Data and protocol</a:t>
            </a:r>
          </a:p>
        </p:txBody>
      </p:sp>
      <p:sp>
        <p:nvSpPr>
          <p:cNvPr id="8" name="text-170">
            <a:extLst xmlns:a="http://schemas.openxmlformats.org/drawingml/2006/main">
              <a:ext uri="{FF2B5EF4-FFF2-40B4-BE49-F238E27FC236}">
                <a16:creationId xmlns:a16="http://schemas.microsoft.com/office/drawing/2014/main" id="{C9FE7160-C0EB-4BF3-9369-F7B7AB51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5778500"/>
            <a:ext cx="10541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UCI dataset documentation and the ULB credit-card dataset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Local revision protocol and the 35-game P3 findings, 26 September 2026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XGBoost: 100 rounds, depth 4, learning rate 0.1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Five split identifiers: 42, 123, 456, 789, 1024</a:t>
            </a:r>
          </a:p>
        </p:txBody>
      </p:sp>
    </p:spTree>
    <p:extLst>
      <p:ext uri="{BB962C8B-B14F-4D97-AF65-F5344CB8AC3E}">
        <p14:creationId xmlns:p14="http://schemas.microsoft.com/office/powerpoint/2010/main" val="20659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2026-09-28T09:51:43.8470000Z</dcterms:created>
  <dcterms:modified xsi:type="dcterms:W3CDTF">2026-09-28T09:51:43.8470000Z</dcterms:modified>
</coreProperties>
</file>