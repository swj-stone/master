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c9778c148bd49c4" /><Relationship Type="http://schemas.openxmlformats.org/officeDocument/2006/relationships/extended-properties" Target="/docProps/app.xml" Id="R3090dbeacdc04712" /><Relationship Type="http://schemas.openxmlformats.org/officeDocument/2006/relationships/officeDocument" Target="/ppt/presentation.xml" Id="R2d74e2b851c946a9" /></Relationships>
</file>

<file path=ppt/presentation.xml><?xml version="1.0" encoding="utf-8"?>
<p:presentation xmlns:p="http://schemas.openxmlformats.org/presentationml/2006/main">
  <p:sldMasterIdLst>
    <p:sldMasterId xmlns:r="http://schemas.openxmlformats.org/officeDocument/2006/relationships" id="2147483648" r:id="R477fb5e943424eea"/>
  </p:sldMasterIdLst>
  <p:notesMasterIdLst>
    <p:notesMasterId xmlns:r="http://schemas.openxmlformats.org/officeDocument/2006/relationships" r:id="R13853652c7c74438"/>
  </p:notesMasterIdLst>
  <p:sldIdLst>
    <p:sldId xmlns:r="http://schemas.openxmlformats.org/officeDocument/2006/relationships" id="256" r:id="Ra19d52604ffa4b64"/>
  </p:sldIdLst>
  <p:sldSz cx="42805350" cy="30279975"/>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3a6043c807243c7" /><Relationship Type="http://schemas.openxmlformats.org/officeDocument/2006/relationships/slideMaster" Target="/ppt/slideMasters/slideMaster1.xml" Id="R477fb5e943424eea" /><Relationship Type="http://schemas.openxmlformats.org/officeDocument/2006/relationships/notesMaster" Target="/ppt/notesMasters/notesMaster1.xml" Id="R13853652c7c74438" /><Relationship Type="http://schemas.openxmlformats.org/officeDocument/2006/relationships/presProps" Target="/ppt/presProps.xml" Id="R2ccb8696c4cc47af" /><Relationship Type="http://schemas.openxmlformats.org/officeDocument/2006/relationships/tableStyles" Target="/ppt/tableStyles.xml" Id="Ra392f5c9931f4ecc" /><Relationship Type="http://schemas.openxmlformats.org/officeDocument/2006/relationships/slide" Target="/ppt/slides/slide1.xml" Id="Ra19d52604ffa4b6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ff5d09a77944fc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d51d7833ffd44c7" /><Relationship Type="http://schemas.openxmlformats.org/officeDocument/2006/relationships/notesMaster" Target="/ppt/notesMasters/notesMaster1.xml" Id="R8b403e304fde4ee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conference-paper/paper/icomp2026_conference.pdf</a:t>
            </a:r>
          </a:p>
          <a:p xmlns:a="http://schemas.openxmlformats.org/drawingml/2006/main">
            <a:r>
              <a:t>- results/icomp2026_formal/icomp2026-formal-v1/tables/publication/aggregate_metrics.csv</a:t>
            </a:r>
          </a:p>
          <a:p xmlns:a="http://schemas.openxmlformats.org/drawingml/2006/main">
            <a:r>
              <a:t>- results/icomp2026_formal/icomp2026-formal-v1/tables/publication/paired_comparisons.csv</a:t>
            </a:r>
          </a:p>
          <a:p xmlns:a="http://schemas.openxmlformats.org/drawingml/2006/main">
            <a:r>
              <a:t>- results/icomp2026_formal/icomp2026-formal-v1/tables/publication/latex_macros_provenance.json</a:t>
            </a:r>
          </a:p>
          <a:p xmlns:a="http://schemas.openxmlformats.org/drawingml/2006/main">
            <a:r>
              <a:t>[/Sources]</a:t>
            </a:r>
          </a:p>
          <a:p xmlns:a="http://schemas.openxmlformats.org/drawingml/2006/main">
            <a:r>
              <a:t>[Evidence details]</a:t>
            </a:r>
          </a:p>
          <a:p xmlns:a="http://schemas.openxmlformats.org/drawingml/2006/main">
            <a:r>
              <a:t>- Main campaign: six retained benchmarks x five frozen seeds.</a:t>
            </a:r>
          </a:p>
          <a:p xmlns:a="http://schemas.openxmlformats.org/drawingml/2006/main">
            <a:r>
              <a:t>- Mean compression: 12.53%; mean held-out delta utility: -0.000313 (descriptive).</a:t>
            </a:r>
          </a:p>
          <a:p xmlns:a="http://schemas.openxmlformats.org/drawingml/2006/main">
            <a:r>
              <a:t>- Madelon: 43.60% mean compression; held-out delta utility +0.00469.</a:t>
            </a:r>
          </a:p>
          <a:p xmlns:a="http://schemas.openxmlformats.org/drawingml/2006/main">
            <a:r>
              <a:t>- Abalone: 27.50% mean compression; held-out delta utility -0.00565.</a:t>
            </a:r>
          </a:p>
          <a:p xmlns:a="http://schemas.openxmlformats.org/drawingml/2006/main">
            <a:r>
              <a:t>- Prefiltered and full NSGA-II used the same 800-evaluation budget; the pooled held-out HV comparison was not significant after Holm correction (adjusted p=.4375).</a:t>
            </a:r>
          </a:p>
          <a:p xmlns:a="http://schemas.openxmlformats.org/drawingml/2006/main">
            <a:r>
              <a:t>- A found -1 certifies a witnessed threshold flip; finite sampling does not make sampled 0/+1 complete.</a:t>
            </a:r>
          </a:p>
          <a:p xmlns:a="http://schemas.openxmlformats.org/drawingml/2006/main">
            <a:r>
              <a:t>[/Evidence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c8ffcc8f2444d3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3860bdd7ae84fdb" /><Relationship Type="http://schemas.openxmlformats.org/officeDocument/2006/relationships/slideLayout" Target="/ppt/slideLayouts/slideLayout1.xml" Id="R193a8157607944f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93a8157607944f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9276b9141994271" /><Relationship Type="http://schemas.openxmlformats.org/officeDocument/2006/relationships/notesSlide" Target="/ppt/notesSlides/notesSlide1.xml" Id="R4fbc586f59094b2e" /></Relationships>
</file>

<file path=ppt/slides/slide1.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02" name="">
            <a:extLst xmlns:a="http://schemas.openxmlformats.org/drawingml/2006/main">
              <a:ext uri="{FF2B5EF4-FFF2-40B4-BE49-F238E27FC236}">
                <a16:creationId xmlns:a16="http://schemas.microsoft.com/office/drawing/2014/main" id="{58C56B69-6874-4A02-B5D3-7F46CD4CDE50}"/>
              </a:ext>
            </a:extLst>
          </p:cNvPr>
          <p:cNvSpPr>
            <a:spLocks xmlns:a="http://schemas.openxmlformats.org/drawingml/2006/main" noGrp="1"/>
          </p:cNvSpPr>
          <p:nvPr/>
        </p:nvSpPr>
        <p:spPr>
          <a:xfrm xmlns:a="http://schemas.openxmlformats.org/drawingml/2006/main">
            <a:off x="0" y="0"/>
            <a:ext cx="42805350" cy="5286375"/>
          </a:xfrm>
          <a:prstGeom xmlns:a="http://schemas.openxmlformats.org/drawingml/2006/main" prst="rect">
            <a:avLst/>
          </a:prstGeom>
          <a:solidFill xmlns:a="http://schemas.openxmlformats.org/drawingml/2006/main">
            <a:srgbClr val="0B1F3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10433DA-696D-45CC-B4F0-39A7F40516C8}"/>
              </a:ext>
            </a:extLst>
          </p:cNvPr>
          <p:cNvSpPr>
            <a:spLocks xmlns:a="http://schemas.openxmlformats.org/drawingml/2006/main" noGrp="1"/>
          </p:cNvSpPr>
          <p:nvPr/>
        </p:nvSpPr>
        <p:spPr>
          <a:xfrm xmlns:a="http://schemas.openxmlformats.org/drawingml/2006/main">
            <a:off x="0" y="0"/>
            <a:ext cx="323850" cy="5286375"/>
          </a:xfrm>
          <a:prstGeom xmlns:a="http://schemas.openxmlformats.org/drawingml/2006/main" prst="rect">
            <a:avLst/>
          </a:prstGeom>
          <a:solidFill xmlns:a="http://schemas.openxmlformats.org/drawingml/2006/main">
            <a:srgbClr val="C43D3D"/>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7B68FE8-502D-461B-836A-E5174DAAC3F3}"/>
              </a:ext>
            </a:extLst>
          </p:cNvPr>
          <p:cNvSpPr>
            <a:spLocks xmlns:a="http://schemas.openxmlformats.org/drawingml/2006/main" noGrp="1"/>
          </p:cNvSpPr>
          <p:nvPr/>
        </p:nvSpPr>
        <p:spPr>
          <a:xfrm xmlns:a="http://schemas.openxmlformats.org/drawingml/2006/main">
            <a:off x="1571625" y="495300"/>
            <a:ext cx="27432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3000" b="1">
                <a:solidFill>
                  <a:srgbClr val="75D2C8"/>
                </a:solidFill>
                <a:latin typeface="Arial"/>
                <a:ea typeface="Arial"/>
                <a:cs typeface="Arial"/>
              </a:defRPr>
            </a:pPr>
            <a:r>
              <a:rPr sz="3000" b="1">
                <a:solidFill>
                  <a:srgbClr val="75D2C8"/>
                </a:solidFill>
                <a:latin typeface="Arial"/>
                <a:ea typeface="Arial"/>
                <a:cs typeface="Arial"/>
              </a:rPr>
              <a:t>MINPPI · MULTI-OBJECTIVE FEATURE SELECTION</a:t>
            </a:r>
          </a:p>
        </p:txBody>
      </p:sp>
      <p:sp>
        <p:nvSpPr>
          <p:cNvPr id="4" name="">
            <a:extLst xmlns:a="http://schemas.openxmlformats.org/drawingml/2006/main">
              <a:ext uri="{FF2B5EF4-FFF2-40B4-BE49-F238E27FC236}">
                <a16:creationId xmlns:a16="http://schemas.microsoft.com/office/drawing/2014/main" id="{BE49FEBA-44B1-4F23-B9C6-F20DF3ECD8C5}"/>
              </a:ext>
            </a:extLst>
          </p:cNvPr>
          <p:cNvSpPr>
            <a:spLocks xmlns:a="http://schemas.openxmlformats.org/drawingml/2006/main" noGrp="1"/>
          </p:cNvSpPr>
          <p:nvPr/>
        </p:nvSpPr>
        <p:spPr>
          <a:xfrm xmlns:a="http://schemas.openxmlformats.org/drawingml/2006/main">
            <a:off x="1524000" y="1200150"/>
            <a:ext cx="2800350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nSpc>
                <a:spcPct val="92000"/>
              </a:lnSpc>
              <a:buNone/>
              <a:defRPr sz="7800" b="1">
                <a:solidFill>
                  <a:srgbClr val="FFFFFF"/>
                </a:solidFill>
                <a:latin typeface="Arial"/>
                <a:ea typeface="Arial"/>
                <a:cs typeface="Arial"/>
              </a:defRPr>
            </a:pPr>
            <a:r>
              <a:rPr sz="7800" b="1">
                <a:solidFill>
                  <a:srgbClr val="FFFFFF"/>
                </a:solidFill>
                <a:latin typeface="Arial"/>
                <a:ea typeface="Arial"/>
                <a:cs typeface="Arial"/>
              </a:rPr>
              <a:t>When average feature importance hides</a:t>
            </a:r>
          </a:p>
          <a:p xmlns:a="http://schemas.openxmlformats.org/drawingml/2006/main">
            <a:pPr>
              <a:lnSpc>
                <a:spcPct val="92000"/>
              </a:lnSpc>
              <a:buNone/>
              <a:defRPr sz="7800" b="1">
                <a:solidFill>
                  <a:srgbClr val="FFFFFF"/>
                </a:solidFill>
                <a:latin typeface="Arial"/>
                <a:ea typeface="Arial"/>
                <a:cs typeface="Arial"/>
              </a:defRPr>
            </a:pPr>
            <a:r>
              <a:rPr sz="7800" b="1">
                <a:solidFill>
                  <a:srgbClr val="FFFFFF"/>
                </a:solidFill>
                <a:latin typeface="Arial"/>
                <a:ea typeface="Arial"/>
                <a:cs typeface="Arial"/>
              </a:rPr>
              <a:t>context-dependent harm</a:t>
            </a:r>
          </a:p>
        </p:txBody>
      </p:sp>
      <p:sp>
        <p:nvSpPr>
          <p:cNvPr id="5" name="">
            <a:extLst xmlns:a="http://schemas.openxmlformats.org/drawingml/2006/main">
              <a:ext uri="{FF2B5EF4-FFF2-40B4-BE49-F238E27FC236}">
                <a16:creationId xmlns:a16="http://schemas.microsoft.com/office/drawing/2014/main" id="{A5DAC366-1E80-4183-B202-213F4140552F}"/>
              </a:ext>
            </a:extLst>
          </p:cNvPr>
          <p:cNvSpPr>
            <a:spLocks xmlns:a="http://schemas.openxmlformats.org/drawingml/2006/main" noGrp="1"/>
          </p:cNvSpPr>
          <p:nvPr/>
        </p:nvSpPr>
        <p:spPr>
          <a:xfrm xmlns:a="http://schemas.openxmlformats.org/drawingml/2006/main">
            <a:off x="1571625" y="3676650"/>
            <a:ext cx="27432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nSpc>
                <a:spcPct val="104000"/>
              </a:lnSpc>
              <a:buNone/>
              <a:defRPr sz="3000">
                <a:solidFill>
                  <a:srgbClr val="DCE7ED"/>
                </a:solidFill>
                <a:latin typeface="Arial"/>
                <a:ea typeface="Arial"/>
                <a:cs typeface="Arial"/>
              </a:defRPr>
            </a:pPr>
            <a:r>
              <a:rPr sz="3000">
                <a:solidFill>
                  <a:srgbClr val="DCE7ED"/>
                </a:solidFill>
                <a:latin typeface="Arial"/>
                <a:ea typeface="Arial"/>
                <a:cs typeface="Arial"/>
              </a:rPr>
              <a:t>When MinPPI returns −1, it records a concrete coalition where adding one feature makes an acceptable model fail the utility quota; a prespecified validation rule decides whether to use the proposed removal set.</a:t>
            </a:r>
          </a:p>
        </p:txBody>
      </p:sp>
      <p:sp>
        <p:nvSpPr>
          <p:cNvPr id="6" name="">
            <a:extLst xmlns:a="http://schemas.openxmlformats.org/drawingml/2006/main">
              <a:ext uri="{FF2B5EF4-FFF2-40B4-BE49-F238E27FC236}">
                <a16:creationId xmlns:a16="http://schemas.microsoft.com/office/drawing/2014/main" id="{DF95EEEF-FAD3-4678-80F2-C8E790F29884}"/>
              </a:ext>
            </a:extLst>
          </p:cNvPr>
          <p:cNvSpPr>
            <a:spLocks xmlns:a="http://schemas.openxmlformats.org/drawingml/2006/main" noGrp="1"/>
          </p:cNvSpPr>
          <p:nvPr/>
        </p:nvSpPr>
        <p:spPr>
          <a:xfrm xmlns:a="http://schemas.openxmlformats.org/drawingml/2006/main">
            <a:off x="30384750" y="742950"/>
            <a:ext cx="38100" cy="3524250"/>
          </a:xfrm>
          <a:prstGeom xmlns:a="http://schemas.openxmlformats.org/drawingml/2006/main" prst="rect">
            <a:avLst/>
          </a:prstGeom>
          <a:solidFill xmlns:a="http://schemas.openxmlformats.org/drawingml/2006/main">
            <a:srgbClr val="5B718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9CA1E24-80DE-4171-AF08-73E855DCEC35}"/>
              </a:ext>
            </a:extLst>
          </p:cNvPr>
          <p:cNvSpPr>
            <a:spLocks xmlns:a="http://schemas.openxmlformats.org/drawingml/2006/main" noGrp="1"/>
          </p:cNvSpPr>
          <p:nvPr/>
        </p:nvSpPr>
        <p:spPr>
          <a:xfrm xmlns:a="http://schemas.openxmlformats.org/drawingml/2006/main">
            <a:off x="31146750" y="876300"/>
            <a:ext cx="10001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4350" b="1">
                <a:solidFill>
                  <a:srgbClr val="FFFFFF"/>
                </a:solidFill>
                <a:latin typeface="Arial"/>
                <a:ea typeface="Arial"/>
                <a:cs typeface="Arial"/>
              </a:defRPr>
            </a:pPr>
            <a:r>
              <a:rPr sz="4350" b="1">
                <a:solidFill>
                  <a:srgbClr val="FFFFFF"/>
                </a:solidFill>
                <a:latin typeface="Arial"/>
                <a:ea typeface="Arial"/>
                <a:cs typeface="Arial"/>
              </a:rPr>
              <a:t>Wenjie SHI</a:t>
            </a:r>
          </a:p>
        </p:txBody>
      </p:sp>
      <p:sp>
        <p:nvSpPr>
          <p:cNvPr id="8" name="">
            <a:extLst xmlns:a="http://schemas.openxmlformats.org/drawingml/2006/main">
              <a:ext uri="{FF2B5EF4-FFF2-40B4-BE49-F238E27FC236}">
                <a16:creationId xmlns:a16="http://schemas.microsoft.com/office/drawing/2014/main" id="{0F8D65C6-229C-4A81-988A-FDF53D1F67C6}"/>
              </a:ext>
            </a:extLst>
          </p:cNvPr>
          <p:cNvSpPr>
            <a:spLocks xmlns:a="http://schemas.openxmlformats.org/drawingml/2006/main" noGrp="1"/>
          </p:cNvSpPr>
          <p:nvPr/>
        </p:nvSpPr>
        <p:spPr>
          <a:xfrm xmlns:a="http://schemas.openxmlformats.org/drawingml/2006/main">
            <a:off x="31146750" y="1781175"/>
            <a:ext cx="10144125"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150">
                <a:solidFill>
                  <a:srgbClr val="DCE7ED"/>
                </a:solidFill>
                <a:latin typeface="Arial"/>
                <a:ea typeface="Arial"/>
                <a:cs typeface="Arial"/>
              </a:defRPr>
            </a:pPr>
            <a:r>
              <a:rPr sz="3150">
                <a:solidFill>
                  <a:srgbClr val="DCE7ED"/>
                </a:solidFill>
                <a:latin typeface="Arial"/>
                <a:ea typeface="Arial"/>
                <a:cs typeface="Arial"/>
              </a:rPr>
              <a:t>Saint Petersburg State University</a:t>
            </a:r>
          </a:p>
        </p:txBody>
      </p:sp>
      <p:sp>
        <p:nvSpPr>
          <p:cNvPr id="9" name="">
            <a:extLst xmlns:a="http://schemas.openxmlformats.org/drawingml/2006/main">
              <a:ext uri="{FF2B5EF4-FFF2-40B4-BE49-F238E27FC236}">
                <a16:creationId xmlns:a16="http://schemas.microsoft.com/office/drawing/2014/main" id="{5AB0CCEC-F7AC-4EB8-BF15-4A240A83FA2F}"/>
              </a:ext>
            </a:extLst>
          </p:cNvPr>
          <p:cNvSpPr>
            <a:spLocks xmlns:a="http://schemas.openxmlformats.org/drawingml/2006/main" noGrp="1"/>
          </p:cNvSpPr>
          <p:nvPr/>
        </p:nvSpPr>
        <p:spPr>
          <a:xfrm xmlns:a="http://schemas.openxmlformats.org/drawingml/2006/main">
            <a:off x="31146750" y="2571750"/>
            <a:ext cx="10144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550" b="1">
                <a:solidFill>
                  <a:srgbClr val="75D2C8"/>
                </a:solidFill>
                <a:latin typeface="Arial"/>
                <a:ea typeface="Arial"/>
                <a:cs typeface="Arial"/>
              </a:defRPr>
            </a:pPr>
            <a:r>
              <a:rPr sz="2550" b="1">
                <a:solidFill>
                  <a:srgbClr val="75D2C8"/>
                </a:solidFill>
                <a:latin typeface="Arial"/>
                <a:ea typeface="Arial"/>
                <a:cs typeface="Arial"/>
              </a:rPr>
              <a:t>Applied Mathematics and Control Processes (AMCP)</a:t>
            </a:r>
          </a:p>
        </p:txBody>
      </p:sp>
      <p:sp>
        <p:nvSpPr>
          <p:cNvPr id="10" name="">
            <a:extLst xmlns:a="http://schemas.openxmlformats.org/drawingml/2006/main">
              <a:ext uri="{FF2B5EF4-FFF2-40B4-BE49-F238E27FC236}">
                <a16:creationId xmlns:a16="http://schemas.microsoft.com/office/drawing/2014/main" id="{9D3988ED-6525-4A8E-8598-89A285245CB2}"/>
              </a:ext>
            </a:extLst>
          </p:cNvPr>
          <p:cNvSpPr>
            <a:spLocks xmlns:a="http://schemas.openxmlformats.org/drawingml/2006/main" noGrp="1"/>
          </p:cNvSpPr>
          <p:nvPr/>
        </p:nvSpPr>
        <p:spPr>
          <a:xfrm xmlns:a="http://schemas.openxmlformats.org/drawingml/2006/main">
            <a:off x="31146750" y="3390900"/>
            <a:ext cx="10144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850">
                <a:solidFill>
                  <a:srgbClr val="FFFFFF"/>
                </a:solidFill>
                <a:latin typeface="Arial"/>
                <a:ea typeface="Arial"/>
                <a:cs typeface="Arial"/>
              </a:defRPr>
            </a:pPr>
            <a:r>
              <a:rPr sz="2850">
                <a:solidFill>
                  <a:srgbClr val="FFFFFF"/>
                </a:solidFill>
                <a:latin typeface="Arial"/>
                <a:ea typeface="Arial"/>
                <a:cs typeface="Arial"/>
              </a:rPr>
              <a:t>st147487@student.spbu.ru</a:t>
            </a:r>
          </a:p>
        </p:txBody>
      </p:sp>
      <p:sp>
        <p:nvSpPr>
          <p:cNvPr id="11" name="">
            <a:extLst xmlns:a="http://schemas.openxmlformats.org/drawingml/2006/main">
              <a:ext uri="{FF2B5EF4-FFF2-40B4-BE49-F238E27FC236}">
                <a16:creationId xmlns:a16="http://schemas.microsoft.com/office/drawing/2014/main" id="{02758DB5-47E6-4240-94F9-4B7BD6FCD04E}"/>
              </a:ext>
            </a:extLst>
          </p:cNvPr>
          <p:cNvSpPr>
            <a:spLocks xmlns:a="http://schemas.openxmlformats.org/drawingml/2006/main" noGrp="1"/>
          </p:cNvSpPr>
          <p:nvPr/>
        </p:nvSpPr>
        <p:spPr>
          <a:xfrm xmlns:a="http://schemas.openxmlformats.org/drawingml/2006/main">
            <a:off x="31146750" y="4143375"/>
            <a:ext cx="1014412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nSpc>
                <a:spcPct val="104000"/>
              </a:lnSpc>
              <a:buNone/>
              <a:defRPr sz="2400" b="1">
                <a:solidFill>
                  <a:srgbClr val="C7D5DD"/>
                </a:solidFill>
                <a:latin typeface="Arial"/>
                <a:ea typeface="Arial"/>
                <a:cs typeface="Arial"/>
              </a:defRPr>
            </a:pPr>
            <a:r>
              <a:rPr sz="2400" b="1">
                <a:solidFill>
                  <a:srgbClr val="C7D5DD"/>
                </a:solidFill>
                <a:latin typeface="Arial"/>
                <a:ea typeface="Arial"/>
                <a:cs typeface="Arial"/>
              </a:rPr>
              <a:t>APPLICATION FOR PARTICIPATION</a:t>
            </a:r>
          </a:p>
          <a:p xmlns:a="http://schemas.openxmlformats.org/drawingml/2006/main">
            <a:pPr>
              <a:lnSpc>
                <a:spcPct val="104000"/>
              </a:lnSpc>
              <a:buNone/>
              <a:defRPr sz="2400" b="1">
                <a:solidFill>
                  <a:srgbClr val="C7D5DD"/>
                </a:solidFill>
                <a:latin typeface="Arial"/>
                <a:ea typeface="Arial"/>
                <a:cs typeface="Arial"/>
              </a:defRPr>
            </a:pPr>
            <a:r>
              <a:rPr sz="2400" b="1">
                <a:solidFill>
                  <a:srgbClr val="C7D5DD"/>
                </a:solidFill>
                <a:latin typeface="Arial"/>
                <a:ea typeface="Arial"/>
                <a:cs typeface="Arial"/>
              </a:rPr>
              <a:t>IN THE ASCOMP GRADUATE SCHOOL</a:t>
            </a:r>
          </a:p>
        </p:txBody>
      </p:sp>
      <p:sp>
        <p:nvSpPr>
          <p:cNvPr id="12" name="">
            <a:extLst xmlns:a="http://schemas.openxmlformats.org/drawingml/2006/main">
              <a:ext uri="{FF2B5EF4-FFF2-40B4-BE49-F238E27FC236}">
                <a16:creationId xmlns:a16="http://schemas.microsoft.com/office/drawing/2014/main" id="{C62C3BC5-3BF1-42F1-9B8D-4240A7FCFD69}"/>
              </a:ext>
            </a:extLst>
          </p:cNvPr>
          <p:cNvSpPr>
            <a:spLocks xmlns:a="http://schemas.openxmlformats.org/drawingml/2006/main" noGrp="1"/>
          </p:cNvSpPr>
          <p:nvPr/>
        </p:nvSpPr>
        <p:spPr>
          <a:xfrm xmlns:a="http://schemas.openxmlformats.org/drawingml/2006/main">
            <a:off x="0" y="5286375"/>
            <a:ext cx="42805350" cy="25717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D12FFFA-0DEE-44A6-8FBD-8468FF7F64B9}"/>
              </a:ext>
            </a:extLst>
          </p:cNvPr>
          <p:cNvSpPr>
            <a:spLocks xmlns:a="http://schemas.openxmlformats.org/drawingml/2006/main" noGrp="1"/>
          </p:cNvSpPr>
          <p:nvPr/>
        </p:nvSpPr>
        <p:spPr>
          <a:xfrm xmlns:a="http://schemas.openxmlformats.org/drawingml/2006/main">
            <a:off x="1524000" y="5810250"/>
            <a:ext cx="514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0F766E"/>
                </a:solidFill>
                <a:latin typeface="Arial"/>
                <a:ea typeface="Arial"/>
                <a:cs typeface="Arial"/>
              </a:defRPr>
            </a:pPr>
            <a:r>
              <a:rPr sz="2400" b="1">
                <a:solidFill>
                  <a:srgbClr val="0F766E"/>
                </a:solidFill>
                <a:latin typeface="Arial"/>
                <a:ea typeface="Arial"/>
                <a:cs typeface="Arial"/>
              </a:rPr>
              <a:t>THE RESEARCH QUESTION</a:t>
            </a:r>
          </a:p>
        </p:txBody>
      </p:sp>
      <p:sp>
        <p:nvSpPr>
          <p:cNvPr id="14" name="">
            <a:extLst xmlns:a="http://schemas.openxmlformats.org/drawingml/2006/main">
              <a:ext uri="{FF2B5EF4-FFF2-40B4-BE49-F238E27FC236}">
                <a16:creationId xmlns:a16="http://schemas.microsoft.com/office/drawing/2014/main" id="{5E92ED2A-B64F-453C-AB20-B84F9AC8D416}"/>
              </a:ext>
            </a:extLst>
          </p:cNvPr>
          <p:cNvSpPr>
            <a:spLocks xmlns:a="http://schemas.openxmlformats.org/drawingml/2006/main" noGrp="1"/>
          </p:cNvSpPr>
          <p:nvPr/>
        </p:nvSpPr>
        <p:spPr>
          <a:xfrm xmlns:a="http://schemas.openxmlformats.org/drawingml/2006/main">
            <a:off x="1524000" y="6324600"/>
            <a:ext cx="26860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nSpc>
                <a:spcPct val="104000"/>
              </a:lnSpc>
              <a:buNone/>
              <a:defRPr sz="3525" b="1">
                <a:solidFill>
                  <a:srgbClr val="0B1F33"/>
                </a:solidFill>
                <a:latin typeface="Arial"/>
                <a:ea typeface="Arial"/>
                <a:cs typeface="Arial"/>
              </a:defRPr>
            </a:pPr>
            <a:r>
              <a:rPr sz="3525" b="1">
                <a:solidFill>
                  <a:srgbClr val="0B1F33"/>
                </a:solidFill>
                <a:latin typeface="Arial"/>
                <a:ea typeface="Arial"/>
                <a:cs typeface="Arial"/>
              </a:rPr>
              <a:t>Can a feature be harmful only in context, and can it be removed without consulting the test set?</a:t>
            </a:r>
          </a:p>
        </p:txBody>
      </p:sp>
      <p:sp>
        <p:nvSpPr>
          <p:cNvPr id="15" name="">
            <a:extLst xmlns:a="http://schemas.openxmlformats.org/drawingml/2006/main">
              <a:ext uri="{FF2B5EF4-FFF2-40B4-BE49-F238E27FC236}">
                <a16:creationId xmlns:a16="http://schemas.microsoft.com/office/drawing/2014/main" id="{C488F69D-7C3E-4E52-AEDD-B040FE50A0A4}"/>
              </a:ext>
            </a:extLst>
          </p:cNvPr>
          <p:cNvSpPr>
            <a:spLocks xmlns:a="http://schemas.openxmlformats.org/drawingml/2006/main" noGrp="1"/>
          </p:cNvSpPr>
          <p:nvPr/>
        </p:nvSpPr>
        <p:spPr>
          <a:xfrm xmlns:a="http://schemas.openxmlformats.org/drawingml/2006/main">
            <a:off x="29698950" y="5791200"/>
            <a:ext cx="28575" cy="1581150"/>
          </a:xfrm>
          <a:prstGeom xmlns:a="http://schemas.openxmlformats.org/drawingml/2006/main" prst="rect">
            <a:avLst/>
          </a:prstGeom>
          <a:solidFill xmlns:a="http://schemas.openxmlformats.org/drawingml/2006/main">
            <a:srgbClr val="CBD5D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8834AD42-769B-49A7-ABC6-E94C21E1B166}"/>
              </a:ext>
            </a:extLst>
          </p:cNvPr>
          <p:cNvSpPr>
            <a:spLocks xmlns:a="http://schemas.openxmlformats.org/drawingml/2006/main" noGrp="1"/>
          </p:cNvSpPr>
          <p:nvPr/>
        </p:nvSpPr>
        <p:spPr>
          <a:xfrm xmlns:a="http://schemas.openxmlformats.org/drawingml/2006/main">
            <a:off x="30432375" y="5781675"/>
            <a:ext cx="1000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0F766E"/>
                </a:solidFill>
                <a:latin typeface="Arial"/>
                <a:ea typeface="Arial"/>
                <a:cs typeface="Arial"/>
              </a:defRPr>
            </a:pPr>
            <a:r>
              <a:rPr sz="2325" b="1">
                <a:solidFill>
                  <a:srgbClr val="0F766E"/>
                </a:solidFill>
                <a:latin typeface="Arial"/>
                <a:ea typeface="Arial"/>
                <a:cs typeface="Arial"/>
              </a:rPr>
              <a:t>STUDY SCOPE</a:t>
            </a:r>
          </a:p>
        </p:txBody>
      </p:sp>
      <p:sp>
        <p:nvSpPr>
          <p:cNvPr id="17" name="">
            <a:extLst xmlns:a="http://schemas.openxmlformats.org/drawingml/2006/main">
              <a:ext uri="{FF2B5EF4-FFF2-40B4-BE49-F238E27FC236}">
                <a16:creationId xmlns:a16="http://schemas.microsoft.com/office/drawing/2014/main" id="{CF39F516-0F79-4C39-B898-3EB6189436EA}"/>
              </a:ext>
            </a:extLst>
          </p:cNvPr>
          <p:cNvSpPr>
            <a:spLocks xmlns:a="http://schemas.openxmlformats.org/drawingml/2006/main" noGrp="1"/>
          </p:cNvSpPr>
          <p:nvPr/>
        </p:nvSpPr>
        <p:spPr>
          <a:xfrm xmlns:a="http://schemas.openxmlformats.org/drawingml/2006/main">
            <a:off x="30432375" y="6305550"/>
            <a:ext cx="1000125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nSpc>
                <a:spcPct val="100000"/>
              </a:lnSpc>
              <a:buNone/>
              <a:defRPr sz="2550" b="1">
                <a:solidFill>
                  <a:srgbClr val="0B1F33"/>
                </a:solidFill>
                <a:latin typeface="Arial"/>
                <a:ea typeface="Arial"/>
                <a:cs typeface="Arial"/>
              </a:defRPr>
            </a:pPr>
            <a:r>
              <a:rPr sz="2550" b="1">
                <a:solidFill>
                  <a:srgbClr val="0B1F33"/>
                </a:solidFill>
                <a:latin typeface="Arial"/>
                <a:ea typeface="Arial"/>
                <a:cs typeface="Arial"/>
              </a:rPr>
              <a:t>Six retained benchmarks</a:t>
            </a:r>
          </a:p>
          <a:p xmlns:a="http://schemas.openxmlformats.org/drawingml/2006/main">
            <a:pPr>
              <a:lnSpc>
                <a:spcPct val="100000"/>
              </a:lnSpc>
              <a:buNone/>
              <a:defRPr sz="2550" b="1">
                <a:solidFill>
                  <a:srgbClr val="0B1F33"/>
                </a:solidFill>
                <a:latin typeface="Arial"/>
                <a:ea typeface="Arial"/>
                <a:cs typeface="Arial"/>
              </a:defRPr>
            </a:pPr>
            <a:r>
              <a:rPr sz="2550" b="1">
                <a:solidFill>
                  <a:srgbClr val="0B1F33"/>
                </a:solidFill>
                <a:latin typeface="Arial"/>
                <a:ea typeface="Arial"/>
                <a:cs typeface="Arial"/>
              </a:rPr>
              <a:t>Five frozen seeds</a:t>
            </a:r>
          </a:p>
          <a:p xmlns:a="http://schemas.openxmlformats.org/drawingml/2006/main">
            <a:pPr>
              <a:lnSpc>
                <a:spcPct val="100000"/>
              </a:lnSpc>
              <a:buNone/>
              <a:defRPr sz="2550" b="1">
                <a:solidFill>
                  <a:srgbClr val="0B1F33"/>
                </a:solidFill>
                <a:latin typeface="Arial"/>
                <a:ea typeface="Arial"/>
                <a:cs typeface="Arial"/>
              </a:defRPr>
            </a:pPr>
            <a:r>
              <a:rPr sz="2550" b="1">
                <a:solidFill>
                  <a:srgbClr val="0B1F33"/>
                </a:solidFill>
                <a:latin typeface="Arial"/>
                <a:ea typeface="Arial"/>
                <a:cs typeface="Arial"/>
              </a:rPr>
              <a:t>One model family</a:t>
            </a:r>
          </a:p>
        </p:txBody>
      </p:sp>
      <p:sp>
        <p:nvSpPr>
          <p:cNvPr id="18" name="">
            <a:extLst xmlns:a="http://schemas.openxmlformats.org/drawingml/2006/main">
              <a:ext uri="{FF2B5EF4-FFF2-40B4-BE49-F238E27FC236}">
                <a16:creationId xmlns:a16="http://schemas.microsoft.com/office/drawing/2014/main" id="{BFCD1870-9A28-42A6-BD73-2F3C32820314}"/>
              </a:ext>
            </a:extLst>
          </p:cNvPr>
          <p:cNvSpPr>
            <a:spLocks xmlns:a="http://schemas.openxmlformats.org/drawingml/2006/main" noGrp="1"/>
          </p:cNvSpPr>
          <p:nvPr/>
        </p:nvSpPr>
        <p:spPr>
          <a:xfrm xmlns:a="http://schemas.openxmlformats.org/drawingml/2006/main">
            <a:off x="1476375" y="8420100"/>
            <a:ext cx="609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2325" b="1">
                <a:solidFill>
                  <a:srgbClr val="0F766E"/>
                </a:solidFill>
                <a:latin typeface="Arial"/>
                <a:ea typeface="Arial"/>
                <a:cs typeface="Arial"/>
              </a:defRPr>
            </a:pPr>
            <a:r>
              <a:rPr sz="2325" b="1">
                <a:solidFill>
                  <a:srgbClr val="0F766E"/>
                </a:solidFill>
                <a:latin typeface="Arial"/>
                <a:ea typeface="Arial"/>
                <a:cs typeface="Arial"/>
              </a:rPr>
              <a:t>01</a:t>
            </a:r>
          </a:p>
        </p:txBody>
      </p:sp>
      <p:sp>
        <p:nvSpPr>
          <p:cNvPr id="19" name="">
            <a:extLst xmlns:a="http://schemas.openxmlformats.org/drawingml/2006/main">
              <a:ext uri="{FF2B5EF4-FFF2-40B4-BE49-F238E27FC236}">
                <a16:creationId xmlns:a16="http://schemas.microsoft.com/office/drawing/2014/main" id="{62383835-CD60-4046-92C8-66F2F42EE126}"/>
              </a:ext>
            </a:extLst>
          </p:cNvPr>
          <p:cNvSpPr>
            <a:spLocks xmlns:a="http://schemas.openxmlformats.org/drawingml/2006/main" noGrp="1"/>
          </p:cNvSpPr>
          <p:nvPr/>
        </p:nvSpPr>
        <p:spPr>
          <a:xfrm xmlns:a="http://schemas.openxmlformats.org/drawingml/2006/main">
            <a:off x="2124075" y="8401050"/>
            <a:ext cx="11544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3525" b="1">
                <a:solidFill>
                  <a:srgbClr val="0B1F33"/>
                </a:solidFill>
                <a:latin typeface="Arial"/>
                <a:ea typeface="Arial"/>
                <a:cs typeface="Arial"/>
              </a:defRPr>
            </a:pPr>
            <a:r>
              <a:rPr sz="3525" b="1">
                <a:solidFill>
                  <a:srgbClr val="0B1F33"/>
                </a:solidFill>
                <a:latin typeface="Arial"/>
                <a:ea typeface="Arial"/>
                <a:cs typeface="Arial"/>
              </a:rPr>
              <a:t>Why averages can miss harm</a:t>
            </a:r>
          </a:p>
        </p:txBody>
      </p:sp>
      <p:sp>
        <p:nvSpPr>
          <p:cNvPr id="20" name="">
            <a:extLst xmlns:a="http://schemas.openxmlformats.org/drawingml/2006/main">
              <a:ext uri="{FF2B5EF4-FFF2-40B4-BE49-F238E27FC236}">
                <a16:creationId xmlns:a16="http://schemas.microsoft.com/office/drawing/2014/main" id="{32257545-3D61-49EC-860C-BE352E1B2D14}"/>
              </a:ext>
            </a:extLst>
          </p:cNvPr>
          <p:cNvSpPr>
            <a:spLocks xmlns:a="http://schemas.openxmlformats.org/drawingml/2006/main" noGrp="1"/>
          </p:cNvSpPr>
          <p:nvPr/>
        </p:nvSpPr>
        <p:spPr>
          <a:xfrm xmlns:a="http://schemas.openxmlformats.org/drawingml/2006/main">
            <a:off x="1476375" y="9134475"/>
            <a:ext cx="12192000" cy="3810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3274A077-7F68-4C10-87CF-4C0DF7B3D1C3}"/>
              </a:ext>
            </a:extLst>
          </p:cNvPr>
          <p:cNvSpPr>
            <a:spLocks xmlns:a="http://schemas.openxmlformats.org/drawingml/2006/main" noGrp="1"/>
          </p:cNvSpPr>
          <p:nvPr/>
        </p:nvSpPr>
        <p:spPr>
          <a:xfrm xmlns:a="http://schemas.openxmlformats.org/drawingml/2006/main">
            <a:off x="1476375" y="9429750"/>
            <a:ext cx="121920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nSpc>
                <a:spcPct val="109000"/>
              </a:lnSpc>
              <a:buNone/>
              <a:defRPr sz="2550">
                <a:solidFill>
                  <a:srgbClr val="17212B"/>
                </a:solidFill>
                <a:latin typeface="Arial"/>
                <a:ea typeface="Arial"/>
                <a:cs typeface="Arial"/>
              </a:defRPr>
            </a:pPr>
            <a:r>
              <a:rPr sz="2550">
                <a:solidFill>
                  <a:srgbClr val="17212B"/>
                </a:solidFill>
                <a:latin typeface="Arial"/>
                <a:ea typeface="Arial"/>
                <a:cs typeface="Arial"/>
              </a:rPr>
              <a:t>A feature can look harmless on average yet make one otherwise acceptable coalition fail the utility quota. MinPPI searches for that concrete counterexample.</a:t>
            </a:r>
          </a:p>
        </p:txBody>
      </p:sp>
      <p:sp>
        <p:nvSpPr>
          <p:cNvPr id="22" name="">
            <a:extLst xmlns:a="http://schemas.openxmlformats.org/drawingml/2006/main">
              <a:ext uri="{FF2B5EF4-FFF2-40B4-BE49-F238E27FC236}">
                <a16:creationId xmlns:a16="http://schemas.microsoft.com/office/drawing/2014/main" id="{F7CC4302-0159-4EFB-9FCF-61FA7571403D}"/>
              </a:ext>
            </a:extLst>
          </p:cNvPr>
          <p:cNvSpPr>
            <a:spLocks xmlns:a="http://schemas.openxmlformats.org/drawingml/2006/main" noGrp="1"/>
          </p:cNvSpPr>
          <p:nvPr/>
        </p:nvSpPr>
        <p:spPr>
          <a:xfrm xmlns:a="http://schemas.openxmlformats.org/drawingml/2006/main">
            <a:off x="1476375" y="10972800"/>
            <a:ext cx="12192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0F766E"/>
                </a:solidFill>
                <a:latin typeface="Arial"/>
                <a:ea typeface="Arial"/>
                <a:cs typeface="Arial"/>
              </a:defRPr>
            </a:pPr>
            <a:r>
              <a:rPr sz="2325" b="1">
                <a:solidFill>
                  <a:srgbClr val="0F766E"/>
                </a:solidFill>
                <a:latin typeface="Arial"/>
                <a:ea typeface="Arial"/>
                <a:cs typeface="Arial"/>
              </a:rPr>
              <a:t>ONE FOUND COALITION CERTIFIES HARM</a:t>
            </a:r>
          </a:p>
        </p:txBody>
      </p:sp>
      <p:sp>
        <p:nvSpPr>
          <p:cNvPr id="23" name="">
            <a:extLst xmlns:a="http://schemas.openxmlformats.org/drawingml/2006/main">
              <a:ext uri="{FF2B5EF4-FFF2-40B4-BE49-F238E27FC236}">
                <a16:creationId xmlns:a16="http://schemas.microsoft.com/office/drawing/2014/main" id="{9DAEC220-C694-46AD-A0D7-AA76E0416556}"/>
              </a:ext>
            </a:extLst>
          </p:cNvPr>
          <p:cNvSpPr>
            <a:spLocks xmlns:a="http://schemas.openxmlformats.org/drawingml/2006/main" noGrp="1"/>
          </p:cNvSpPr>
          <p:nvPr/>
        </p:nvSpPr>
        <p:spPr>
          <a:xfrm xmlns:a="http://schemas.openxmlformats.org/drawingml/2006/main">
            <a:off x="1476375" y="11591925"/>
            <a:ext cx="3238500" cy="1066800"/>
          </a:xfrm>
          <a:prstGeom xmlns:a="http://schemas.openxmlformats.org/drawingml/2006/main" prst="roundRect">
            <a:avLst>
              <a:gd name="adj" fmla="val 7143"/>
            </a:avLst>
          </a:prstGeom>
          <a:solidFill xmlns:a="http://schemas.openxmlformats.org/drawingml/2006/main">
            <a:srgbClr val="0F766E"/>
          </a:solidFill>
          <a:ln xmlns:a="http://schemas.openxmlformats.org/drawingml/2006/main" w="0">
            <a:solidFill>
              <a:srgbClr val="0F766E"/>
            </a:solidFill>
            <a:prstDash val="solid"/>
          </a:ln>
        </p:spPr>
      </p:sp>
      <p:sp>
        <p:nvSpPr>
          <p:cNvPr id="24" name="">
            <a:extLst xmlns:a="http://schemas.openxmlformats.org/drawingml/2006/main">
              <a:ext uri="{FF2B5EF4-FFF2-40B4-BE49-F238E27FC236}">
                <a16:creationId xmlns:a16="http://schemas.microsoft.com/office/drawing/2014/main" id="{7D299C37-7B34-41B5-9828-919CD39EEDE9}"/>
              </a:ext>
            </a:extLst>
          </p:cNvPr>
          <p:cNvSpPr>
            <a:spLocks xmlns:a="http://schemas.openxmlformats.org/drawingml/2006/main" noGrp="1"/>
          </p:cNvSpPr>
          <p:nvPr/>
        </p:nvSpPr>
        <p:spPr>
          <a:xfrm xmlns:a="http://schemas.openxmlformats.org/drawingml/2006/main">
            <a:off x="1476375" y="11591925"/>
            <a:ext cx="3238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325" b="1">
                <a:solidFill>
                  <a:srgbClr val="FFFFFF"/>
                </a:solidFill>
                <a:latin typeface="Arial"/>
                <a:ea typeface="Arial"/>
                <a:cs typeface="Arial"/>
              </a:defRPr>
            </a:pPr>
            <a:r>
              <a:rPr sz="2325" b="1">
                <a:solidFill>
                  <a:srgbClr val="FFFFFF"/>
                </a:solidFill>
                <a:latin typeface="Arial"/>
                <a:ea typeface="Arial"/>
                <a:cs typeface="Arial"/>
              </a:rPr>
              <a:t>ACCEPTABLE</a:t>
            </a:r>
          </a:p>
          <a:p xmlns:a="http://schemas.openxmlformats.org/drawingml/2006/main">
            <a:pPr algn="ctr">
              <a:lnSpc>
                <a:spcPct val="100000"/>
              </a:lnSpc>
              <a:buNone/>
              <a:defRPr sz="2325" b="1">
                <a:solidFill>
                  <a:srgbClr val="FFFFFF"/>
                </a:solidFill>
                <a:latin typeface="Arial"/>
                <a:ea typeface="Arial"/>
                <a:cs typeface="Arial"/>
              </a:defRPr>
            </a:pPr>
            <a:r>
              <a:rPr sz="2325" b="1">
                <a:solidFill>
                  <a:srgbClr val="FFFFFF"/>
                </a:solidFill>
                <a:latin typeface="Arial"/>
                <a:ea typeface="Arial"/>
                <a:cs typeface="Arial"/>
              </a:rPr>
              <a:t>COALITION</a:t>
            </a:r>
          </a:p>
        </p:txBody>
      </p:sp>
      <p:sp>
        <p:nvSpPr>
          <p:cNvPr id="25" name="">
            <a:extLst xmlns:a="http://schemas.openxmlformats.org/drawingml/2006/main">
              <a:ext uri="{FF2B5EF4-FFF2-40B4-BE49-F238E27FC236}">
                <a16:creationId xmlns:a16="http://schemas.microsoft.com/office/drawing/2014/main" id="{D0559F9D-3171-479D-951C-6E252F83273F}"/>
              </a:ext>
            </a:extLst>
          </p:cNvPr>
          <p:cNvSpPr>
            <a:spLocks xmlns:a="http://schemas.openxmlformats.org/drawingml/2006/main" noGrp="1"/>
          </p:cNvSpPr>
          <p:nvPr/>
        </p:nvSpPr>
        <p:spPr>
          <a:xfrm xmlns:a="http://schemas.openxmlformats.org/drawingml/2006/main">
            <a:off x="4857750" y="11687175"/>
            <a:ext cx="80962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4200" b="1">
                <a:solidFill>
                  <a:srgbClr val="73818B"/>
                </a:solidFill>
                <a:latin typeface="Arial"/>
                <a:ea typeface="Arial"/>
                <a:cs typeface="Arial"/>
              </a:defRPr>
            </a:pPr>
            <a:r>
              <a:rPr sz="4200" b="1">
                <a:solidFill>
                  <a:srgbClr val="73818B"/>
                </a:solidFill>
                <a:latin typeface="Arial"/>
                <a:ea typeface="Arial"/>
                <a:cs typeface="Arial"/>
              </a:rPr>
              <a:t>→</a:t>
            </a:r>
          </a:p>
        </p:txBody>
      </p:sp>
      <p:sp>
        <p:nvSpPr>
          <p:cNvPr id="26" name="">
            <a:extLst xmlns:a="http://schemas.openxmlformats.org/drawingml/2006/main">
              <a:ext uri="{FF2B5EF4-FFF2-40B4-BE49-F238E27FC236}">
                <a16:creationId xmlns:a16="http://schemas.microsoft.com/office/drawing/2014/main" id="{09589F60-FBFA-4009-BF8A-09BA0E0DC5C1}"/>
              </a:ext>
            </a:extLst>
          </p:cNvPr>
          <p:cNvSpPr>
            <a:spLocks xmlns:a="http://schemas.openxmlformats.org/drawingml/2006/main" noGrp="1"/>
          </p:cNvSpPr>
          <p:nvPr/>
        </p:nvSpPr>
        <p:spPr>
          <a:xfrm xmlns:a="http://schemas.openxmlformats.org/drawingml/2006/main">
            <a:off x="5800725" y="11591925"/>
            <a:ext cx="2724150" cy="1066800"/>
          </a:xfrm>
          <a:prstGeom xmlns:a="http://schemas.openxmlformats.org/drawingml/2006/main" prst="roundRect">
            <a:avLst>
              <a:gd name="adj" fmla="val 7143"/>
            </a:avLst>
          </a:prstGeom>
          <a:solidFill xmlns:a="http://schemas.openxmlformats.org/drawingml/2006/main">
            <a:srgbClr val="F9E7E5"/>
          </a:solidFill>
          <a:ln xmlns:a="http://schemas.openxmlformats.org/drawingml/2006/main" w="19050">
            <a:solidFill>
              <a:srgbClr val="C43D3D"/>
            </a:solidFill>
            <a:prstDash val="solid"/>
          </a:ln>
        </p:spPr>
      </p:sp>
      <p:sp>
        <p:nvSpPr>
          <p:cNvPr id="27" name="">
            <a:extLst xmlns:a="http://schemas.openxmlformats.org/drawingml/2006/main">
              <a:ext uri="{FF2B5EF4-FFF2-40B4-BE49-F238E27FC236}">
                <a16:creationId xmlns:a16="http://schemas.microsoft.com/office/drawing/2014/main" id="{E68FA3DA-94B2-496C-B475-7D7709E2A552}"/>
              </a:ext>
            </a:extLst>
          </p:cNvPr>
          <p:cNvSpPr>
            <a:spLocks xmlns:a="http://schemas.openxmlformats.org/drawingml/2006/main" noGrp="1"/>
          </p:cNvSpPr>
          <p:nvPr/>
        </p:nvSpPr>
        <p:spPr>
          <a:xfrm xmlns:a="http://schemas.openxmlformats.org/drawingml/2006/main">
            <a:off x="5800725" y="11591925"/>
            <a:ext cx="27241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250" b="1">
                <a:solidFill>
                  <a:srgbClr val="C43D3D"/>
                </a:solidFill>
                <a:latin typeface="Arial"/>
                <a:ea typeface="Arial"/>
                <a:cs typeface="Arial"/>
              </a:defRPr>
            </a:pPr>
            <a:r>
              <a:rPr sz="2250" b="1">
                <a:solidFill>
                  <a:srgbClr val="C43D3D"/>
                </a:solidFill>
                <a:latin typeface="Arial"/>
                <a:ea typeface="Arial"/>
                <a:cs typeface="Arial"/>
              </a:rPr>
              <a:t>ADD THE</a:t>
            </a:r>
          </a:p>
          <a:p xmlns:a="http://schemas.openxmlformats.org/drawingml/2006/main">
            <a:pPr algn="ctr">
              <a:lnSpc>
                <a:spcPct val="100000"/>
              </a:lnSpc>
              <a:buNone/>
              <a:defRPr sz="2250" b="1">
                <a:solidFill>
                  <a:srgbClr val="C43D3D"/>
                </a:solidFill>
                <a:latin typeface="Arial"/>
                <a:ea typeface="Arial"/>
                <a:cs typeface="Arial"/>
              </a:defRPr>
            </a:pPr>
            <a:r>
              <a:rPr sz="2250" b="1">
                <a:solidFill>
                  <a:srgbClr val="C43D3D"/>
                </a:solidFill>
                <a:latin typeface="Arial"/>
                <a:ea typeface="Arial"/>
                <a:cs typeface="Arial"/>
              </a:rPr>
              <a:t>FEATURE</a:t>
            </a:r>
          </a:p>
        </p:txBody>
      </p:sp>
      <p:sp>
        <p:nvSpPr>
          <p:cNvPr id="28" name="">
            <a:extLst xmlns:a="http://schemas.openxmlformats.org/drawingml/2006/main">
              <a:ext uri="{FF2B5EF4-FFF2-40B4-BE49-F238E27FC236}">
                <a16:creationId xmlns:a16="http://schemas.microsoft.com/office/drawing/2014/main" id="{6C1D1977-C876-4694-9958-430AB3751E18}"/>
              </a:ext>
            </a:extLst>
          </p:cNvPr>
          <p:cNvSpPr>
            <a:spLocks xmlns:a="http://schemas.openxmlformats.org/drawingml/2006/main" noGrp="1"/>
          </p:cNvSpPr>
          <p:nvPr/>
        </p:nvSpPr>
        <p:spPr>
          <a:xfrm xmlns:a="http://schemas.openxmlformats.org/drawingml/2006/main">
            <a:off x="8648700" y="11687175"/>
            <a:ext cx="80962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4200" b="1">
                <a:solidFill>
                  <a:srgbClr val="73818B"/>
                </a:solidFill>
                <a:latin typeface="Arial"/>
                <a:ea typeface="Arial"/>
                <a:cs typeface="Arial"/>
              </a:defRPr>
            </a:pPr>
            <a:r>
              <a:rPr sz="4200" b="1">
                <a:solidFill>
                  <a:srgbClr val="73818B"/>
                </a:solidFill>
                <a:latin typeface="Arial"/>
                <a:ea typeface="Arial"/>
                <a:cs typeface="Arial"/>
              </a:rPr>
              <a:t>→</a:t>
            </a:r>
          </a:p>
        </p:txBody>
      </p:sp>
      <p:sp>
        <p:nvSpPr>
          <p:cNvPr id="29" name="">
            <a:extLst xmlns:a="http://schemas.openxmlformats.org/drawingml/2006/main">
              <a:ext uri="{FF2B5EF4-FFF2-40B4-BE49-F238E27FC236}">
                <a16:creationId xmlns:a16="http://schemas.microsoft.com/office/drawing/2014/main" id="{A4035EE3-D746-4E3E-9932-75880FE72A93}"/>
              </a:ext>
            </a:extLst>
          </p:cNvPr>
          <p:cNvSpPr>
            <a:spLocks xmlns:a="http://schemas.openxmlformats.org/drawingml/2006/main" noGrp="1"/>
          </p:cNvSpPr>
          <p:nvPr/>
        </p:nvSpPr>
        <p:spPr>
          <a:xfrm xmlns:a="http://schemas.openxmlformats.org/drawingml/2006/main">
            <a:off x="9591675" y="11591925"/>
            <a:ext cx="3714750" cy="1066800"/>
          </a:xfrm>
          <a:prstGeom xmlns:a="http://schemas.openxmlformats.org/drawingml/2006/main" prst="roundRect">
            <a:avLst>
              <a:gd name="adj" fmla="val 7143"/>
            </a:avLst>
          </a:prstGeom>
          <a:solidFill xmlns:a="http://schemas.openxmlformats.org/drawingml/2006/main">
            <a:srgbClr val="C43D3D"/>
          </a:solidFill>
          <a:ln xmlns:a="http://schemas.openxmlformats.org/drawingml/2006/main" w="0">
            <a:solidFill>
              <a:srgbClr val="C43D3D"/>
            </a:solidFill>
            <a:prstDash val="solid"/>
          </a:ln>
        </p:spPr>
      </p:sp>
      <p:sp>
        <p:nvSpPr>
          <p:cNvPr id="30" name="">
            <a:extLst xmlns:a="http://schemas.openxmlformats.org/drawingml/2006/main">
              <a:ext uri="{FF2B5EF4-FFF2-40B4-BE49-F238E27FC236}">
                <a16:creationId xmlns:a16="http://schemas.microsoft.com/office/drawing/2014/main" id="{5262D1BF-4946-42DB-8756-48114E693B3D}"/>
              </a:ext>
            </a:extLst>
          </p:cNvPr>
          <p:cNvSpPr>
            <a:spLocks xmlns:a="http://schemas.openxmlformats.org/drawingml/2006/main" noGrp="1"/>
          </p:cNvSpPr>
          <p:nvPr/>
        </p:nvSpPr>
        <p:spPr>
          <a:xfrm xmlns:a="http://schemas.openxmlformats.org/drawingml/2006/main">
            <a:off x="9591675" y="11591925"/>
            <a:ext cx="3714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175" b="1">
                <a:solidFill>
                  <a:srgbClr val="FFFFFF"/>
                </a:solidFill>
                <a:latin typeface="Arial"/>
                <a:ea typeface="Arial"/>
                <a:cs typeface="Arial"/>
              </a:defRPr>
            </a:pPr>
            <a:r>
              <a:rPr sz="2175" b="1">
                <a:solidFill>
                  <a:srgbClr val="FFFFFF"/>
                </a:solidFill>
                <a:latin typeface="Arial"/>
                <a:ea typeface="Arial"/>
                <a:cs typeface="Arial"/>
              </a:rPr>
              <a:t>BELOW THE</a:t>
            </a:r>
          </a:p>
          <a:p xmlns:a="http://schemas.openxmlformats.org/drawingml/2006/main">
            <a:pPr algn="ctr">
              <a:lnSpc>
                <a:spcPct val="100000"/>
              </a:lnSpc>
              <a:buNone/>
              <a:defRPr sz="2175" b="1">
                <a:solidFill>
                  <a:srgbClr val="FFFFFF"/>
                </a:solidFill>
                <a:latin typeface="Arial"/>
                <a:ea typeface="Arial"/>
                <a:cs typeface="Arial"/>
              </a:defRPr>
            </a:pPr>
            <a:r>
              <a:rPr sz="2175" b="1">
                <a:solidFill>
                  <a:srgbClr val="FFFFFF"/>
                </a:solidFill>
                <a:latin typeface="Arial"/>
                <a:ea typeface="Arial"/>
                <a:cs typeface="Arial"/>
              </a:rPr>
              <a:t>UTILITY THRESHOLD</a:t>
            </a:r>
          </a:p>
        </p:txBody>
      </p:sp>
      <p:sp>
        <p:nvSpPr>
          <p:cNvPr id="31" name="">
            <a:extLst xmlns:a="http://schemas.openxmlformats.org/drawingml/2006/main">
              <a:ext uri="{FF2B5EF4-FFF2-40B4-BE49-F238E27FC236}">
                <a16:creationId xmlns:a16="http://schemas.microsoft.com/office/drawing/2014/main" id="{375CC34B-555D-4419-8C49-C41E1EF13E70}"/>
              </a:ext>
            </a:extLst>
          </p:cNvPr>
          <p:cNvSpPr>
            <a:spLocks xmlns:a="http://schemas.openxmlformats.org/drawingml/2006/main" noGrp="1"/>
          </p:cNvSpPr>
          <p:nvPr/>
        </p:nvSpPr>
        <p:spPr>
          <a:xfrm xmlns:a="http://schemas.openxmlformats.org/drawingml/2006/main">
            <a:off x="1476375" y="12992100"/>
            <a:ext cx="12192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nSpc>
                <a:spcPct val="108000"/>
              </a:lnSpc>
              <a:buNone/>
              <a:defRPr sz="2475">
                <a:solidFill>
                  <a:srgbClr val="17212B"/>
                </a:solidFill>
                <a:latin typeface="Arial"/>
                <a:ea typeface="Arial"/>
                <a:cs typeface="Arial"/>
              </a:defRPr>
            </a:pPr>
            <a:r>
              <a:rPr sz="2475">
                <a:solidFill>
                  <a:srgbClr val="17212B"/>
                </a:solidFill>
                <a:latin typeface="Arial"/>
                <a:ea typeface="Arial"/>
                <a:cs typeface="Arial"/>
              </a:rPr>
              <a:t>The observed threshold flip is the witness: it explains exactly why the feature entered the removal candidate set.</a:t>
            </a:r>
          </a:p>
        </p:txBody>
      </p:sp>
      <p:sp>
        <p:nvSpPr>
          <p:cNvPr id="32" name="">
            <a:extLst xmlns:a="http://schemas.openxmlformats.org/drawingml/2006/main">
              <a:ext uri="{FF2B5EF4-FFF2-40B4-BE49-F238E27FC236}">
                <a16:creationId xmlns:a16="http://schemas.microsoft.com/office/drawing/2014/main" id="{C90C88BC-79AA-4A74-8163-7F2A6F581171}"/>
              </a:ext>
            </a:extLst>
          </p:cNvPr>
          <p:cNvSpPr>
            <a:spLocks xmlns:a="http://schemas.openxmlformats.org/drawingml/2006/main" noGrp="1"/>
          </p:cNvSpPr>
          <p:nvPr/>
        </p:nvSpPr>
        <p:spPr>
          <a:xfrm xmlns:a="http://schemas.openxmlformats.org/drawingml/2006/main">
            <a:off x="1476375" y="14382750"/>
            <a:ext cx="12192000" cy="3562350"/>
          </a:xfrm>
          <a:prstGeom xmlns:a="http://schemas.openxmlformats.org/drawingml/2006/main" prst="roundRect">
            <a:avLst>
              <a:gd name="adj" fmla="val 2139"/>
            </a:avLst>
          </a:prstGeom>
          <a:solidFill xmlns:a="http://schemas.openxmlformats.org/drawingml/2006/main">
            <a:srgbClr val="E3F1EE"/>
          </a:solidFill>
          <a:ln xmlns:a="http://schemas.openxmlformats.org/drawingml/2006/main" w="19050">
            <a:solidFill>
              <a:srgbClr val="B7D8D2"/>
            </a:solidFill>
            <a:prstDash val="solid"/>
          </a:ln>
        </p:spPr>
      </p:sp>
      <p:sp>
        <p:nvSpPr>
          <p:cNvPr id="33" name="">
            <a:extLst xmlns:a="http://schemas.openxmlformats.org/drawingml/2006/main">
              <a:ext uri="{FF2B5EF4-FFF2-40B4-BE49-F238E27FC236}">
                <a16:creationId xmlns:a16="http://schemas.microsoft.com/office/drawing/2014/main" id="{642B58E3-F8A0-45FE-9363-04A35E0BFDE0}"/>
              </a:ext>
            </a:extLst>
          </p:cNvPr>
          <p:cNvSpPr>
            <a:spLocks xmlns:a="http://schemas.openxmlformats.org/drawingml/2006/main" noGrp="1"/>
          </p:cNvSpPr>
          <p:nvPr/>
        </p:nvSpPr>
        <p:spPr>
          <a:xfrm xmlns:a="http://schemas.openxmlformats.org/drawingml/2006/main">
            <a:off x="1838325" y="14630400"/>
            <a:ext cx="11468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250" b="1">
                <a:solidFill>
                  <a:srgbClr val="0F766E"/>
                </a:solidFill>
                <a:latin typeface="Arial"/>
                <a:ea typeface="Arial"/>
                <a:cs typeface="Arial"/>
              </a:defRPr>
            </a:pPr>
            <a:r>
              <a:rPr sz="2250" b="1">
                <a:solidFill>
                  <a:srgbClr val="0F766E"/>
                </a:solidFill>
                <a:latin typeface="Arial"/>
                <a:ea typeface="Arial"/>
                <a:cs typeface="Arial"/>
              </a:rPr>
              <a:t>EXACT FORM · BANZHAF REPRESENTATION</a:t>
            </a:r>
          </a:p>
        </p:txBody>
      </p:sp>
      <p:sp>
        <p:nvSpPr>
          <p:cNvPr id="34" name="">
            <a:extLst xmlns:a="http://schemas.openxmlformats.org/drawingml/2006/main">
              <a:ext uri="{FF2B5EF4-FFF2-40B4-BE49-F238E27FC236}">
                <a16:creationId xmlns:a16="http://schemas.microsoft.com/office/drawing/2014/main" id="{AEECAED0-72B8-416B-A233-D7B72967BF70}"/>
              </a:ext>
            </a:extLst>
          </p:cNvPr>
          <p:cNvSpPr>
            <a:spLocks xmlns:a="http://schemas.openxmlformats.org/drawingml/2006/main" noGrp="1"/>
          </p:cNvSpPr>
          <p:nvPr/>
        </p:nvSpPr>
        <p:spPr>
          <a:xfrm xmlns:a="http://schemas.openxmlformats.org/drawingml/2006/main">
            <a:off x="1838325" y="15049500"/>
            <a:ext cx="11468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700">
                <a:solidFill>
                  <a:srgbClr val="0B1F33"/>
                </a:solidFill>
                <a:latin typeface="Cambria Math"/>
                <a:ea typeface="Cambria Math"/>
                <a:cs typeface="Cambria Math"/>
              </a:defRPr>
            </a:pPr>
            <a14:m xmlns:a14="http://schemas.microsoft.com/office/drawing/2010/main">
              <m:oMathPara xmlns:m="http://schemas.openxmlformats.org/officeDocument/2006/math">
                <m:oMathParaPr>
                  <m:jc m:val="centerGroup"/>
                </m:oMathParaPr>
                <m:oMath>
                  <m:sSub>
                    <m:e>
                      <m:r>
                        <m:t>v</m:t>
                      </m:r>
                    </m:e>
                    <m:sub>
                      <m:r>
                        <m:t>α</m:t>
                      </m:r>
                    </m:sub>
                  </m:sSub>
                  <m:r>
                    <m:t>(</m:t>
                  </m:r>
                  <m:r>
                    <m:t>S</m:t>
                  </m:r>
                  <m:r>
                    <m:t>)</m:t>
                  </m:r>
                  <m:r>
                    <m:t>=</m:t>
                  </m:r>
                  <m:r>
                    <m:t>𝟙</m:t>
                  </m:r>
                  <m:r>
                    <m:t>[</m:t>
                  </m:r>
                  <m:r>
                    <m:t>U</m:t>
                  </m:r>
                  <m:r>
                    <m:t>(</m:t>
                  </m:r>
                  <m:sSub>
                    <m:e>
                      <m:r>
                        <m:t>𝓜</m:t>
                      </m:r>
                    </m:e>
                    <m:sub>
                      <m:r>
                        <m:t>S</m:t>
                      </m:r>
                    </m:sub>
                  </m:sSub>
                  <m:r>
                    <m:t>)</m:t>
                  </m:r>
                  <m:r>
                    <m:t>≥</m:t>
                  </m:r>
                  <m:r>
                    <m:t>α</m:t>
                  </m:r>
                  <m:sSub>
                    <m:e>
                      <m:r>
                        <m:t>U</m:t>
                      </m:r>
                    </m:e>
                    <m:sub>
                      <m:r>
                        <m:t>full</m:t>
                      </m:r>
                    </m:sub>
                  </m:sSub>
                  <m:r>
                    <m:t>]</m:t>
                  </m:r>
                  <m:r>
                    <m:t>,</m:t>
                  </m:r>
                  <m:sSub>
                    <m:e>
                      <m:r>
                        <m:t>U</m:t>
                      </m:r>
                    </m:e>
                    <m:sub>
                      <m:r>
                        <m:t>full</m:t>
                      </m:r>
                    </m:sub>
                  </m:sSub>
                  <m:r>
                    <m:t>=</m:t>
                  </m:r>
                  <m:r>
                    <m:t>U</m:t>
                  </m:r>
                  <m:r>
                    <m:t>(</m:t>
                  </m:r>
                  <m:sSub>
                    <m:e>
                      <m:r>
                        <m:t>𝓜</m:t>
                      </m:r>
                    </m:e>
                    <m:sub>
                      <m:r>
                        <m:t>N</m:t>
                      </m:r>
                    </m:sub>
                  </m:sSub>
                  <m:r>
                    <m:t>)</m:t>
                  </m:r>
                  <m:r>
                    <m:t>,</m:t>
                  </m:r>
                  <m:r>
                    <m:t>α</m:t>
                  </m:r>
                  <m:r>
                    <m:t>∈</m:t>
                  </m:r>
                  <m:r>
                    <m:t>(</m:t>
                  </m:r>
                  <m:r>
                    <m:t>0</m:t>
                  </m:r>
                  <m:r>
                    <m:t>,</m:t>
                  </m:r>
                  <m:r>
                    <m:t>1</m:t>
                  </m:r>
                  <m:r>
                    <m:t>]</m:t>
                  </m:r>
                </m:oMath>
              </m:oMathPara>
            </a14:m>
          </a:p>
        </p:txBody>
      </p:sp>
      <p:sp>
        <p:nvSpPr>
          <p:cNvPr id="35" name="">
            <a:extLst xmlns:a="http://schemas.openxmlformats.org/drawingml/2006/main">
              <a:ext uri="{FF2B5EF4-FFF2-40B4-BE49-F238E27FC236}">
                <a16:creationId xmlns:a16="http://schemas.microsoft.com/office/drawing/2014/main" id="{5FC02D5C-76E9-426E-AD96-2D53E2FB3460}"/>
              </a:ext>
            </a:extLst>
          </p:cNvPr>
          <p:cNvSpPr>
            <a:spLocks xmlns:a="http://schemas.openxmlformats.org/drawingml/2006/main" noGrp="1"/>
          </p:cNvSpPr>
          <p:nvPr/>
        </p:nvSpPr>
        <p:spPr>
          <a:xfrm xmlns:a="http://schemas.openxmlformats.org/drawingml/2006/main">
            <a:off x="1838325" y="15678150"/>
            <a:ext cx="11468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550">
                <a:solidFill>
                  <a:srgbClr val="0B1F33"/>
                </a:solidFill>
                <a:latin typeface="Cambria Math"/>
                <a:ea typeface="Cambria Math"/>
                <a:cs typeface="Cambria Math"/>
              </a:defRPr>
            </a:pPr>
            <a14:m xmlns:a14="http://schemas.microsoft.com/office/drawing/2010/main">
              <m:oMathPara xmlns:m="http://schemas.openxmlformats.org/officeDocument/2006/math">
                <m:oMathParaPr>
                  <m:jc m:val="centerGroup"/>
                </m:oMathParaPr>
                <m:oMath>
                  <m:sSub>
                    <m:e>
                      <m:r>
                        <m:t>MinPPI</m:t>
                      </m:r>
                    </m:e>
                    <m:sub>
                      <m:r>
                        <m:t>i</m:t>
                      </m:r>
                    </m:sub>
                  </m:sSub>
                  <m:r>
                    <m:t>≡</m:t>
                  </m:r>
                  <m:sSub>
                    <m:e>
                      <m:r>
                        <m:t>MinBz</m:t>
                      </m:r>
                    </m:e>
                    <m:sub>
                      <m:r>
                        <m:t>i</m:t>
                      </m:r>
                    </m:sub>
                  </m:sSub>
                  <m:r>
                    <m:t>=</m:t>
                  </m:r>
                  <m:nary>
                    <m:naryPr>
                      <m:chr m:val="min"/>
                      <m:limLoc m:val="undOvr"/>
                    </m:naryPr>
                    <m:sub>
                      <m:r>
                        <m:t>S</m:t>
                      </m:r>
                      <m:r>
                        <m:t>⊆</m:t>
                      </m:r>
                      <m:r>
                        <m:t>N</m:t>
                      </m:r>
                      <m:r>
                        <m:t>∖</m:t>
                      </m:r>
                      <m:r>
                        <m:t>{</m:t>
                      </m:r>
                      <m:r>
                        <m:t>i</m:t>
                      </m:r>
                      <m:r>
                        <m:t>}</m:t>
                      </m:r>
                    </m:sub>
                    <m:e>
                      <m:r>
                        <m:t>[</m:t>
                      </m:r>
                      <m:sSub>
                        <m:e>
                          <m:r>
                            <m:t>v</m:t>
                          </m:r>
                        </m:e>
                        <m:sub>
                          <m:r>
                            <m:t>α</m:t>
                          </m:r>
                        </m:sub>
                      </m:sSub>
                      <m:r>
                        <m:t>(</m:t>
                      </m:r>
                      <m:r>
                        <m:t>S</m:t>
                      </m:r>
                      <m:r>
                        <m:t>∪</m:t>
                      </m:r>
                      <m:r>
                        <m:t>{</m:t>
                      </m:r>
                      <m:r>
                        <m:t>i</m:t>
                      </m:r>
                      <m:r>
                        <m:t>}</m:t>
                      </m:r>
                      <m:r>
                        <m:t>)</m:t>
                      </m:r>
                      <m:r>
                        <m:t>−</m:t>
                      </m:r>
                      <m:sSub>
                        <m:e>
                          <m:r>
                            <m:t>v</m:t>
                          </m:r>
                        </m:e>
                        <m:sub>
                          <m:r>
                            <m:t>α</m:t>
                          </m:r>
                        </m:sub>
                      </m:sSub>
                      <m:r>
                        <m:t>(</m:t>
                      </m:r>
                      <m:r>
                        <m:t>S</m:t>
                      </m:r>
                      <m:r>
                        <m:t>)</m:t>
                      </m:r>
                      <m:r>
                        <m:t>]</m:t>
                      </m:r>
                    </m:e>
                  </m:nary>
                </m:oMath>
              </m:oMathPara>
            </a14:m>
          </a:p>
        </p:txBody>
      </p:sp>
      <p:sp>
        <p:nvSpPr>
          <p:cNvPr id="36" name="">
            <a:extLst xmlns:a="http://schemas.openxmlformats.org/drawingml/2006/main">
              <a:ext uri="{FF2B5EF4-FFF2-40B4-BE49-F238E27FC236}">
                <a16:creationId xmlns:a16="http://schemas.microsoft.com/office/drawing/2014/main" id="{35CD37A0-D36C-410E-9AD1-D6057ED52CDF}"/>
              </a:ext>
            </a:extLst>
          </p:cNvPr>
          <p:cNvSpPr>
            <a:spLocks xmlns:a="http://schemas.openxmlformats.org/drawingml/2006/main" noGrp="1"/>
          </p:cNvSpPr>
          <p:nvPr/>
        </p:nvSpPr>
        <p:spPr>
          <a:xfrm xmlns:a="http://schemas.openxmlformats.org/drawingml/2006/main">
            <a:off x="1857375" y="16421100"/>
            <a:ext cx="11430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175">
                <a:solidFill>
                  <a:srgbClr val="0F766E"/>
                </a:solidFill>
                <a:latin typeface="Arial"/>
                <a:ea typeface="Arial"/>
                <a:cs typeface="Arial"/>
              </a:defRPr>
            </a:pPr>
            <a:r>
              <a:rPr sz="2175">
                <a:solidFill>
                  <a:srgbClr val="0F766E"/>
                </a:solidFill>
                <a:latin typeface="Arial"/>
                <a:ea typeface="Arial"/>
                <a:cs typeface="Arial"/>
              </a:rPr>
              <a:t>S = feature coalition · U = validation utility · α = quota · 𝟙[·] = 1 if quota met, 0 otherwise</a:t>
            </a:r>
          </a:p>
        </p:txBody>
      </p:sp>
      <p:sp>
        <p:nvSpPr>
          <p:cNvPr id="37" name="">
            <a:extLst xmlns:a="http://schemas.openxmlformats.org/drawingml/2006/main">
              <a:ext uri="{FF2B5EF4-FFF2-40B4-BE49-F238E27FC236}">
                <a16:creationId xmlns:a16="http://schemas.microsoft.com/office/drawing/2014/main" id="{883F2AA0-4AFE-42CD-9B3F-7FC473F68DE0}"/>
              </a:ext>
            </a:extLst>
          </p:cNvPr>
          <p:cNvSpPr>
            <a:spLocks xmlns:a="http://schemas.openxmlformats.org/drawingml/2006/main" noGrp="1"/>
          </p:cNvSpPr>
          <p:nvPr/>
        </p:nvSpPr>
        <p:spPr>
          <a:xfrm xmlns:a="http://schemas.openxmlformats.org/drawingml/2006/main">
            <a:off x="1914525" y="16973550"/>
            <a:ext cx="113157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2175">
                <a:solidFill>
                  <a:srgbClr val="536472"/>
                </a:solidFill>
                <a:latin typeface="Arial"/>
                <a:ea typeface="Arial"/>
                <a:cs typeface="Arial"/>
              </a:defRPr>
            </a:pPr>
            <a:r>
              <a:rPr sz="2175">
                <a:solidFill>
                  <a:srgbClr val="536472"/>
                </a:solidFill>
                <a:latin typeface="Arial"/>
                <a:ea typeface="Arial"/>
                <a:cs typeface="Arial"/>
              </a:rPr>
              <a:t>A found −1 certifies a threshold flip; sampled 0 or +1 may still miss a witness. Deletion requires the prespecified validation gate.</a:t>
            </a:r>
          </a:p>
        </p:txBody>
      </p:sp>
      <p:sp>
        <p:nvSpPr>
          <p:cNvPr id="38" name="">
            <a:extLst xmlns:a="http://schemas.openxmlformats.org/drawingml/2006/main">
              <a:ext uri="{FF2B5EF4-FFF2-40B4-BE49-F238E27FC236}">
                <a16:creationId xmlns:a16="http://schemas.microsoft.com/office/drawing/2014/main" id="{5ED1A46F-0AD4-4028-91CC-29E95A2B437D}"/>
              </a:ext>
            </a:extLst>
          </p:cNvPr>
          <p:cNvSpPr>
            <a:spLocks xmlns:a="http://schemas.openxmlformats.org/drawingml/2006/main" noGrp="1"/>
          </p:cNvSpPr>
          <p:nvPr/>
        </p:nvSpPr>
        <p:spPr>
          <a:xfrm xmlns:a="http://schemas.openxmlformats.org/drawingml/2006/main">
            <a:off x="1476375" y="18211800"/>
            <a:ext cx="12192000" cy="4219575"/>
          </a:xfrm>
          <a:prstGeom xmlns:a="http://schemas.openxmlformats.org/drawingml/2006/main" prst="roundRect">
            <a:avLst>
              <a:gd name="adj" fmla="val 1806"/>
            </a:avLst>
          </a:prstGeom>
          <a:solidFill xmlns:a="http://schemas.openxmlformats.org/drawingml/2006/main">
            <a:srgbClr val="FCFBF8"/>
          </a:solidFill>
          <a:ln xmlns:a="http://schemas.openxmlformats.org/drawingml/2006/main" w="19050">
            <a:solidFill>
              <a:srgbClr val="CBD5DA"/>
            </a:solidFill>
            <a:prstDash val="solid"/>
          </a:ln>
        </p:spPr>
      </p:sp>
      <p:sp>
        <p:nvSpPr>
          <p:cNvPr id="39" name="">
            <a:extLst xmlns:a="http://schemas.openxmlformats.org/drawingml/2006/main">
              <a:ext uri="{FF2B5EF4-FFF2-40B4-BE49-F238E27FC236}">
                <a16:creationId xmlns:a16="http://schemas.microsoft.com/office/drawing/2014/main" id="{0D9A0BA4-2C56-4AC8-ACD4-AC0E963466D4}"/>
              </a:ext>
            </a:extLst>
          </p:cNvPr>
          <p:cNvSpPr>
            <a:spLocks xmlns:a="http://schemas.openxmlformats.org/drawingml/2006/main" noGrp="1"/>
          </p:cNvSpPr>
          <p:nvPr/>
        </p:nvSpPr>
        <p:spPr>
          <a:xfrm xmlns:a="http://schemas.openxmlformats.org/drawingml/2006/main">
            <a:off x="1838325" y="18516600"/>
            <a:ext cx="11468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550" b="1">
                <a:solidFill>
                  <a:srgbClr val="0B1F33"/>
                </a:solidFill>
                <a:latin typeface="Arial"/>
                <a:ea typeface="Arial"/>
                <a:cs typeface="Arial"/>
              </a:defRPr>
            </a:pPr>
            <a:r>
              <a:rPr sz="2550" b="1">
                <a:solidFill>
                  <a:srgbClr val="0B1F33"/>
                </a:solidFill>
                <a:latin typeface="Arial"/>
                <a:ea typeface="Arial"/>
                <a:cs typeface="Arial"/>
              </a:rPr>
              <a:t>WHY THE DECISION IS AUDITABLE</a:t>
            </a:r>
          </a:p>
        </p:txBody>
      </p:sp>
      <p:sp>
        <p:nvSpPr>
          <p:cNvPr id="40" name="">
            <a:extLst xmlns:a="http://schemas.openxmlformats.org/drawingml/2006/main">
              <a:ext uri="{FF2B5EF4-FFF2-40B4-BE49-F238E27FC236}">
                <a16:creationId xmlns:a16="http://schemas.microsoft.com/office/drawing/2014/main" id="{E4B09E8F-09E6-42C5-9552-D859FDD6C698}"/>
              </a:ext>
            </a:extLst>
          </p:cNvPr>
          <p:cNvSpPr>
            <a:spLocks xmlns:a="http://schemas.openxmlformats.org/drawingml/2006/main" noGrp="1"/>
          </p:cNvSpPr>
          <p:nvPr/>
        </p:nvSpPr>
        <p:spPr>
          <a:xfrm xmlns:a="http://schemas.openxmlformats.org/drawingml/2006/main">
            <a:off x="1838325" y="19116675"/>
            <a:ext cx="114681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nSpc>
                <a:spcPct val="128000"/>
              </a:lnSpc>
              <a:buNone/>
              <a:defRPr sz="2475">
                <a:solidFill>
                  <a:srgbClr val="17212B"/>
                </a:solidFill>
                <a:latin typeface="Arial"/>
                <a:ea typeface="Arial"/>
                <a:cs typeface="Arial"/>
              </a:defRPr>
            </a:pPr>
            <a:r>
              <a:rPr sz="2475">
                <a:solidFill>
                  <a:srgbClr val="17212B"/>
                </a:solidFill>
                <a:latin typeface="Arial"/>
                <a:ea typeface="Arial"/>
                <a:cs typeface="Arial"/>
              </a:rPr>
              <a:t>• The witness is a concrete evaluated coalition.</a:t>
            </a:r>
          </a:p>
          <a:p xmlns:a="http://schemas.openxmlformats.org/drawingml/2006/main">
            <a:pPr>
              <a:lnSpc>
                <a:spcPct val="128000"/>
              </a:lnSpc>
              <a:buNone/>
              <a:defRPr sz="2475">
                <a:solidFill>
                  <a:srgbClr val="17212B"/>
                </a:solidFill>
                <a:latin typeface="Arial"/>
                <a:ea typeface="Arial"/>
                <a:cs typeface="Arial"/>
              </a:defRPr>
            </a:pPr>
            <a:r>
              <a:rPr sz="2475">
                <a:solidFill>
                  <a:srgbClr val="17212B"/>
                </a:solidFill>
                <a:latin typeface="Arial"/>
                <a:ea typeface="Arial"/>
                <a:cs typeface="Arial"/>
              </a:rPr>
              <a:t>• Harm is relative to the fixed model family, split, utility, and quota.</a:t>
            </a:r>
          </a:p>
          <a:p xmlns:a="http://schemas.openxmlformats.org/drawingml/2006/main">
            <a:pPr>
              <a:lnSpc>
                <a:spcPct val="128000"/>
              </a:lnSpc>
              <a:buNone/>
              <a:defRPr sz="2475">
                <a:solidFill>
                  <a:srgbClr val="17212B"/>
                </a:solidFill>
                <a:latin typeface="Arial"/>
                <a:ea typeface="Arial"/>
                <a:cs typeface="Arial"/>
              </a:defRPr>
            </a:pPr>
            <a:r>
              <a:rPr sz="2475">
                <a:solidFill>
                  <a:srgbClr val="17212B"/>
                </a:solidFill>
                <a:latin typeface="Arial"/>
                <a:ea typeface="Arial"/>
                <a:cs typeface="Arial"/>
              </a:rPr>
              <a:t>• A removal candidate is proposed, not automatically deleted.</a:t>
            </a:r>
          </a:p>
        </p:txBody>
      </p:sp>
      <p:sp>
        <p:nvSpPr>
          <p:cNvPr id="41" name="">
            <a:extLst xmlns:a="http://schemas.openxmlformats.org/drawingml/2006/main">
              <a:ext uri="{FF2B5EF4-FFF2-40B4-BE49-F238E27FC236}">
                <a16:creationId xmlns:a16="http://schemas.microsoft.com/office/drawing/2014/main" id="{B1D23DB1-D3B0-4642-8EBA-DC374FF79274}"/>
              </a:ext>
            </a:extLst>
          </p:cNvPr>
          <p:cNvSpPr>
            <a:spLocks xmlns:a="http://schemas.openxmlformats.org/drawingml/2006/main" noGrp="1"/>
          </p:cNvSpPr>
          <p:nvPr/>
        </p:nvSpPr>
        <p:spPr>
          <a:xfrm xmlns:a="http://schemas.openxmlformats.org/drawingml/2006/main">
            <a:off x="14639925" y="8420100"/>
            <a:ext cx="609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2325" b="1">
                <a:solidFill>
                  <a:srgbClr val="0F766E"/>
                </a:solidFill>
                <a:latin typeface="Arial"/>
                <a:ea typeface="Arial"/>
                <a:cs typeface="Arial"/>
              </a:defRPr>
            </a:pPr>
            <a:r>
              <a:rPr sz="2325" b="1">
                <a:solidFill>
                  <a:srgbClr val="0F766E"/>
                </a:solidFill>
                <a:latin typeface="Arial"/>
                <a:ea typeface="Arial"/>
                <a:cs typeface="Arial"/>
              </a:rPr>
              <a:t>02</a:t>
            </a:r>
          </a:p>
        </p:txBody>
      </p:sp>
      <p:sp>
        <p:nvSpPr>
          <p:cNvPr id="42" name="">
            <a:extLst xmlns:a="http://schemas.openxmlformats.org/drawingml/2006/main">
              <a:ext uri="{FF2B5EF4-FFF2-40B4-BE49-F238E27FC236}">
                <a16:creationId xmlns:a16="http://schemas.microsoft.com/office/drawing/2014/main" id="{2B53D1E6-C2E8-4800-9600-7DA3EAEAE51C}"/>
              </a:ext>
            </a:extLst>
          </p:cNvPr>
          <p:cNvSpPr>
            <a:spLocks xmlns:a="http://schemas.openxmlformats.org/drawingml/2006/main" noGrp="1"/>
          </p:cNvSpPr>
          <p:nvPr/>
        </p:nvSpPr>
        <p:spPr>
          <a:xfrm xmlns:a="http://schemas.openxmlformats.org/drawingml/2006/main">
            <a:off x="15287625" y="8401050"/>
            <a:ext cx="11925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3525" b="1">
                <a:solidFill>
                  <a:srgbClr val="0B1F33"/>
                </a:solidFill>
                <a:latin typeface="Arial"/>
                <a:ea typeface="Arial"/>
                <a:cs typeface="Arial"/>
              </a:defRPr>
            </a:pPr>
            <a:r>
              <a:rPr sz="3525" b="1">
                <a:solidFill>
                  <a:srgbClr val="0B1F33"/>
                </a:solidFill>
                <a:latin typeface="Arial"/>
                <a:ea typeface="Arial"/>
                <a:cs typeface="Arial"/>
              </a:rPr>
              <a:t>How the decision is made</a:t>
            </a:r>
          </a:p>
        </p:txBody>
      </p:sp>
      <p:sp>
        <p:nvSpPr>
          <p:cNvPr id="43" name="">
            <a:extLst xmlns:a="http://schemas.openxmlformats.org/drawingml/2006/main">
              <a:ext uri="{FF2B5EF4-FFF2-40B4-BE49-F238E27FC236}">
                <a16:creationId xmlns:a16="http://schemas.microsoft.com/office/drawing/2014/main" id="{5C187E6F-142F-4F33-AD51-8918583DC64B}"/>
              </a:ext>
            </a:extLst>
          </p:cNvPr>
          <p:cNvSpPr>
            <a:spLocks xmlns:a="http://schemas.openxmlformats.org/drawingml/2006/main" noGrp="1"/>
          </p:cNvSpPr>
          <p:nvPr/>
        </p:nvSpPr>
        <p:spPr>
          <a:xfrm xmlns:a="http://schemas.openxmlformats.org/drawingml/2006/main">
            <a:off x="14639925" y="9134475"/>
            <a:ext cx="12573000" cy="3810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490DF27A-0110-462B-828C-BA16E696BA41}"/>
              </a:ext>
            </a:extLst>
          </p:cNvPr>
          <p:cNvSpPr>
            <a:spLocks xmlns:a="http://schemas.openxmlformats.org/drawingml/2006/main" noGrp="1"/>
          </p:cNvSpPr>
          <p:nvPr/>
        </p:nvSpPr>
        <p:spPr>
          <a:xfrm xmlns:a="http://schemas.openxmlformats.org/drawingml/2006/main">
            <a:off x="14639925" y="9429750"/>
            <a:ext cx="12573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nSpc>
                <a:spcPct val="108000"/>
              </a:lnSpc>
              <a:buNone/>
              <a:defRPr sz="2550">
                <a:solidFill>
                  <a:srgbClr val="17212B"/>
                </a:solidFill>
                <a:latin typeface="Arial"/>
                <a:ea typeface="Arial"/>
                <a:cs typeface="Arial"/>
              </a:defRPr>
            </a:pPr>
            <a:r>
              <a:rPr sz="2550">
                <a:solidFill>
                  <a:srgbClr val="17212B"/>
                </a:solidFill>
                <a:latin typeface="Arial"/>
                <a:ea typeface="Arial"/>
                <a:cs typeface="Arial"/>
              </a:rPr>
              <a:t>MinPPI separates finding evidence from deciding whether to act on it.</a:t>
            </a:r>
          </a:p>
        </p:txBody>
      </p:sp>
      <p:sp>
        <p:nvSpPr>
          <p:cNvPr id="45" name="">
            <a:extLst xmlns:a="http://schemas.openxmlformats.org/drawingml/2006/main">
              <a:ext uri="{FF2B5EF4-FFF2-40B4-BE49-F238E27FC236}">
                <a16:creationId xmlns:a16="http://schemas.microsoft.com/office/drawing/2014/main" id="{C681C2C2-90E7-49FE-BB71-1C0000A18A52}"/>
              </a:ext>
            </a:extLst>
          </p:cNvPr>
          <p:cNvSpPr>
            <a:spLocks xmlns:a="http://schemas.openxmlformats.org/drawingml/2006/main" noGrp="1"/>
          </p:cNvSpPr>
          <p:nvPr/>
        </p:nvSpPr>
        <p:spPr>
          <a:xfrm xmlns:a="http://schemas.openxmlformats.org/drawingml/2006/main">
            <a:off x="14935200" y="10668000"/>
            <a:ext cx="38100" cy="6953250"/>
          </a:xfrm>
          <a:prstGeom xmlns:a="http://schemas.openxmlformats.org/drawingml/2006/main" prst="rect">
            <a:avLst/>
          </a:prstGeom>
          <a:solidFill xmlns:a="http://schemas.openxmlformats.org/drawingml/2006/main">
            <a:srgbClr val="A8C4C8"/>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B2F2CB71-DF72-4EC3-80BD-4C1ECF15B922}"/>
              </a:ext>
            </a:extLst>
          </p:cNvPr>
          <p:cNvSpPr>
            <a:spLocks xmlns:a="http://schemas.openxmlformats.org/drawingml/2006/main" noGrp="1"/>
          </p:cNvSpPr>
          <p:nvPr/>
        </p:nvSpPr>
        <p:spPr>
          <a:xfrm xmlns:a="http://schemas.openxmlformats.org/drawingml/2006/main">
            <a:off x="14639925" y="10525125"/>
            <a:ext cx="628650" cy="628650"/>
          </a:xfrm>
          <a:prstGeom xmlns:a="http://schemas.openxmlformats.org/drawingml/2006/main" prst="ellipse">
            <a:avLst/>
          </a:prstGeom>
          <a:solidFill xmlns:a="http://schemas.openxmlformats.org/drawingml/2006/main">
            <a:srgbClr val="0B1F33"/>
          </a:solidFill>
          <a:ln xmlns:a="http://schemas.openxmlformats.org/drawingml/2006/main" w="0">
            <a:solidFill>
              <a:srgbClr val="0B1F33"/>
            </a:solidFill>
            <a:prstDash val="solid"/>
          </a:ln>
        </p:spPr>
      </p:sp>
      <p:sp>
        <p:nvSpPr>
          <p:cNvPr id="47" name="">
            <a:extLst xmlns:a="http://schemas.openxmlformats.org/drawingml/2006/main">
              <a:ext uri="{FF2B5EF4-FFF2-40B4-BE49-F238E27FC236}">
                <a16:creationId xmlns:a16="http://schemas.microsoft.com/office/drawing/2014/main" id="{6DFA3E27-6F48-4E15-82E1-FC7BF6BF9D9B}"/>
              </a:ext>
            </a:extLst>
          </p:cNvPr>
          <p:cNvSpPr>
            <a:spLocks xmlns:a="http://schemas.openxmlformats.org/drawingml/2006/main" noGrp="1"/>
          </p:cNvSpPr>
          <p:nvPr/>
        </p:nvSpPr>
        <p:spPr>
          <a:xfrm xmlns:a="http://schemas.openxmlformats.org/drawingml/2006/main">
            <a:off x="14639925" y="10525125"/>
            <a:ext cx="6286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325" b="1">
                <a:solidFill>
                  <a:srgbClr val="FFFFFF"/>
                </a:solidFill>
                <a:latin typeface="Arial"/>
                <a:ea typeface="Arial"/>
                <a:cs typeface="Arial"/>
              </a:defRPr>
            </a:pPr>
            <a:r>
              <a:rPr sz="2325" b="1">
                <a:solidFill>
                  <a:srgbClr val="FFFFFF"/>
                </a:solidFill>
                <a:latin typeface="Arial"/>
                <a:ea typeface="Arial"/>
                <a:cs typeface="Arial"/>
              </a:rPr>
              <a:t>1</a:t>
            </a:r>
          </a:p>
        </p:txBody>
      </p:sp>
      <p:sp>
        <p:nvSpPr>
          <p:cNvPr id="48" name="">
            <a:extLst xmlns:a="http://schemas.openxmlformats.org/drawingml/2006/main">
              <a:ext uri="{FF2B5EF4-FFF2-40B4-BE49-F238E27FC236}">
                <a16:creationId xmlns:a16="http://schemas.microsoft.com/office/drawing/2014/main" id="{3843669D-93D9-43FF-9151-4C9A4630DE75}"/>
              </a:ext>
            </a:extLst>
          </p:cNvPr>
          <p:cNvSpPr>
            <a:spLocks xmlns:a="http://schemas.openxmlformats.org/drawingml/2006/main" noGrp="1"/>
          </p:cNvSpPr>
          <p:nvPr/>
        </p:nvSpPr>
        <p:spPr>
          <a:xfrm xmlns:a="http://schemas.openxmlformats.org/drawingml/2006/main">
            <a:off x="15516225" y="10496550"/>
            <a:ext cx="11696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625" b="1">
                <a:solidFill>
                  <a:srgbClr val="0B1F33"/>
                </a:solidFill>
                <a:latin typeface="Arial"/>
                <a:ea typeface="Arial"/>
                <a:cs typeface="Arial"/>
              </a:defRPr>
            </a:pPr>
            <a:r>
              <a:rPr sz="2625" b="1">
                <a:solidFill>
                  <a:srgbClr val="0B1F33"/>
                </a:solidFill>
                <a:latin typeface="Arial"/>
                <a:ea typeface="Arial"/>
                <a:cs typeface="Arial"/>
              </a:rPr>
              <a:t>Freeze the decision rule</a:t>
            </a:r>
          </a:p>
        </p:txBody>
      </p:sp>
      <p:sp>
        <p:nvSpPr>
          <p:cNvPr id="49" name="">
            <a:extLst xmlns:a="http://schemas.openxmlformats.org/drawingml/2006/main">
              <a:ext uri="{FF2B5EF4-FFF2-40B4-BE49-F238E27FC236}">
                <a16:creationId xmlns:a16="http://schemas.microsoft.com/office/drawing/2014/main" id="{48F98362-2ECD-412C-B7B6-A64A29FCADD7}"/>
              </a:ext>
            </a:extLst>
          </p:cNvPr>
          <p:cNvSpPr>
            <a:spLocks xmlns:a="http://schemas.openxmlformats.org/drawingml/2006/main" noGrp="1"/>
          </p:cNvSpPr>
          <p:nvPr/>
        </p:nvSpPr>
        <p:spPr>
          <a:xfrm xmlns:a="http://schemas.openxmlformats.org/drawingml/2006/main">
            <a:off x="15516225" y="11049000"/>
            <a:ext cx="116967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nSpc>
                <a:spcPct val="110000"/>
              </a:lnSpc>
              <a:buNone/>
              <a:defRPr sz="2400">
                <a:solidFill>
                  <a:srgbClr val="536472"/>
                </a:solidFill>
                <a:latin typeface="Arial"/>
                <a:ea typeface="Arial"/>
                <a:cs typeface="Arial"/>
              </a:defRPr>
            </a:pPr>
            <a:r>
              <a:rPr sz="2400">
                <a:solidFill>
                  <a:srgbClr val="536472"/>
                </a:solidFill>
                <a:latin typeface="Arial"/>
                <a:ea typeface="Arial"/>
                <a:cs typeface="Arial"/>
              </a:rPr>
              <a:t>Fix the model, split, utility, quota, and validation tolerance before selection.</a:t>
            </a:r>
          </a:p>
        </p:txBody>
      </p:sp>
      <p:sp>
        <p:nvSpPr>
          <p:cNvPr id="50" name="">
            <a:extLst xmlns:a="http://schemas.openxmlformats.org/drawingml/2006/main">
              <a:ext uri="{FF2B5EF4-FFF2-40B4-BE49-F238E27FC236}">
                <a16:creationId xmlns:a16="http://schemas.microsoft.com/office/drawing/2014/main" id="{E91071E4-C561-4C45-AC48-F4456F1D5B31}"/>
              </a:ext>
            </a:extLst>
          </p:cNvPr>
          <p:cNvSpPr>
            <a:spLocks xmlns:a="http://schemas.openxmlformats.org/drawingml/2006/main" noGrp="1"/>
          </p:cNvSpPr>
          <p:nvPr/>
        </p:nvSpPr>
        <p:spPr>
          <a:xfrm xmlns:a="http://schemas.openxmlformats.org/drawingml/2006/main">
            <a:off x="14639925" y="12382500"/>
            <a:ext cx="628650" cy="628650"/>
          </a:xfrm>
          <a:prstGeom xmlns:a="http://schemas.openxmlformats.org/drawingml/2006/main" prst="ellipse">
            <a:avLst/>
          </a:prstGeom>
          <a:solidFill xmlns:a="http://schemas.openxmlformats.org/drawingml/2006/main">
            <a:srgbClr val="0B1F33"/>
          </a:solidFill>
          <a:ln xmlns:a="http://schemas.openxmlformats.org/drawingml/2006/main" w="0">
            <a:solidFill>
              <a:srgbClr val="0B1F33"/>
            </a:solidFill>
            <a:prstDash val="solid"/>
          </a:ln>
        </p:spPr>
      </p:sp>
      <p:sp>
        <p:nvSpPr>
          <p:cNvPr id="51" name="">
            <a:extLst xmlns:a="http://schemas.openxmlformats.org/drawingml/2006/main">
              <a:ext uri="{FF2B5EF4-FFF2-40B4-BE49-F238E27FC236}">
                <a16:creationId xmlns:a16="http://schemas.microsoft.com/office/drawing/2014/main" id="{19D16F80-48AE-4493-9E4E-88B4A05678BC}"/>
              </a:ext>
            </a:extLst>
          </p:cNvPr>
          <p:cNvSpPr>
            <a:spLocks xmlns:a="http://schemas.openxmlformats.org/drawingml/2006/main" noGrp="1"/>
          </p:cNvSpPr>
          <p:nvPr/>
        </p:nvSpPr>
        <p:spPr>
          <a:xfrm xmlns:a="http://schemas.openxmlformats.org/drawingml/2006/main">
            <a:off x="14639925" y="12382500"/>
            <a:ext cx="6286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325" b="1">
                <a:solidFill>
                  <a:srgbClr val="FFFFFF"/>
                </a:solidFill>
                <a:latin typeface="Arial"/>
                <a:ea typeface="Arial"/>
                <a:cs typeface="Arial"/>
              </a:defRPr>
            </a:pPr>
            <a:r>
              <a:rPr sz="2325" b="1">
                <a:solidFill>
                  <a:srgbClr val="FFFFFF"/>
                </a:solidFill>
                <a:latin typeface="Arial"/>
                <a:ea typeface="Arial"/>
                <a:cs typeface="Arial"/>
              </a:rPr>
              <a:t>2</a:t>
            </a:r>
          </a:p>
        </p:txBody>
      </p:sp>
      <p:sp>
        <p:nvSpPr>
          <p:cNvPr id="52" name="">
            <a:extLst xmlns:a="http://schemas.openxmlformats.org/drawingml/2006/main">
              <a:ext uri="{FF2B5EF4-FFF2-40B4-BE49-F238E27FC236}">
                <a16:creationId xmlns:a16="http://schemas.microsoft.com/office/drawing/2014/main" id="{7F62AD32-3478-4C51-BB9C-301A4F3E977A}"/>
              </a:ext>
            </a:extLst>
          </p:cNvPr>
          <p:cNvSpPr>
            <a:spLocks xmlns:a="http://schemas.openxmlformats.org/drawingml/2006/main" noGrp="1"/>
          </p:cNvSpPr>
          <p:nvPr/>
        </p:nvSpPr>
        <p:spPr>
          <a:xfrm xmlns:a="http://schemas.openxmlformats.org/drawingml/2006/main">
            <a:off x="15516225" y="12353925"/>
            <a:ext cx="11696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625" b="1">
                <a:solidFill>
                  <a:srgbClr val="0B1F33"/>
                </a:solidFill>
                <a:latin typeface="Arial"/>
                <a:ea typeface="Arial"/>
                <a:cs typeface="Arial"/>
              </a:defRPr>
            </a:pPr>
            <a:r>
              <a:rPr sz="2625" b="1">
                <a:solidFill>
                  <a:srgbClr val="0B1F33"/>
                </a:solidFill>
                <a:latin typeface="Arial"/>
                <a:ea typeface="Arial"/>
                <a:cs typeface="Arial"/>
              </a:rPr>
              <a:t>Find a harm witness</a:t>
            </a:r>
          </a:p>
        </p:txBody>
      </p:sp>
      <p:sp>
        <p:nvSpPr>
          <p:cNvPr id="53" name="">
            <a:extLst xmlns:a="http://schemas.openxmlformats.org/drawingml/2006/main">
              <a:ext uri="{FF2B5EF4-FFF2-40B4-BE49-F238E27FC236}">
                <a16:creationId xmlns:a16="http://schemas.microsoft.com/office/drawing/2014/main" id="{514673E3-B05E-49BA-870F-DE549BBFFA8A}"/>
              </a:ext>
            </a:extLst>
          </p:cNvPr>
          <p:cNvSpPr>
            <a:spLocks xmlns:a="http://schemas.openxmlformats.org/drawingml/2006/main" noGrp="1"/>
          </p:cNvSpPr>
          <p:nvPr/>
        </p:nvSpPr>
        <p:spPr>
          <a:xfrm xmlns:a="http://schemas.openxmlformats.org/drawingml/2006/main">
            <a:off x="15516225" y="12906375"/>
            <a:ext cx="116967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nSpc>
                <a:spcPct val="110000"/>
              </a:lnSpc>
              <a:buNone/>
              <a:defRPr sz="2400">
                <a:solidFill>
                  <a:srgbClr val="536472"/>
                </a:solidFill>
                <a:latin typeface="Arial"/>
                <a:ea typeface="Arial"/>
                <a:cs typeface="Arial"/>
              </a:defRPr>
            </a:pPr>
            <a:r>
              <a:rPr sz="2400">
                <a:solidFill>
                  <a:srgbClr val="536472"/>
                </a:solidFill>
                <a:latin typeface="Arial"/>
                <a:ea typeface="Arial"/>
                <a:cs typeface="Arial"/>
              </a:rPr>
              <a:t>Find a coalition that meets the quota before feature i is added and falls below it afterwards.</a:t>
            </a:r>
          </a:p>
        </p:txBody>
      </p:sp>
      <p:sp>
        <p:nvSpPr>
          <p:cNvPr id="54" name="">
            <a:extLst xmlns:a="http://schemas.openxmlformats.org/drawingml/2006/main">
              <a:ext uri="{FF2B5EF4-FFF2-40B4-BE49-F238E27FC236}">
                <a16:creationId xmlns:a16="http://schemas.microsoft.com/office/drawing/2014/main" id="{24E736C8-6F7F-432C-BF73-18D147EA647F}"/>
              </a:ext>
            </a:extLst>
          </p:cNvPr>
          <p:cNvSpPr>
            <a:spLocks xmlns:a="http://schemas.openxmlformats.org/drawingml/2006/main" noGrp="1"/>
          </p:cNvSpPr>
          <p:nvPr/>
        </p:nvSpPr>
        <p:spPr>
          <a:xfrm xmlns:a="http://schemas.openxmlformats.org/drawingml/2006/main">
            <a:off x="14639925" y="14239875"/>
            <a:ext cx="628650" cy="628650"/>
          </a:xfrm>
          <a:prstGeom xmlns:a="http://schemas.openxmlformats.org/drawingml/2006/main" prst="ellipse">
            <a:avLst/>
          </a:prstGeom>
          <a:solidFill xmlns:a="http://schemas.openxmlformats.org/drawingml/2006/main">
            <a:srgbClr val="0B1F33"/>
          </a:solidFill>
          <a:ln xmlns:a="http://schemas.openxmlformats.org/drawingml/2006/main" w="0">
            <a:solidFill>
              <a:srgbClr val="0B1F33"/>
            </a:solidFill>
            <a:prstDash val="solid"/>
          </a:ln>
        </p:spPr>
      </p:sp>
      <p:sp>
        <p:nvSpPr>
          <p:cNvPr id="55" name="">
            <a:extLst xmlns:a="http://schemas.openxmlformats.org/drawingml/2006/main">
              <a:ext uri="{FF2B5EF4-FFF2-40B4-BE49-F238E27FC236}">
                <a16:creationId xmlns:a16="http://schemas.microsoft.com/office/drawing/2014/main" id="{BFAB4FAD-1922-4570-9368-ABB91F9D11E0}"/>
              </a:ext>
            </a:extLst>
          </p:cNvPr>
          <p:cNvSpPr>
            <a:spLocks xmlns:a="http://schemas.openxmlformats.org/drawingml/2006/main" noGrp="1"/>
          </p:cNvSpPr>
          <p:nvPr/>
        </p:nvSpPr>
        <p:spPr>
          <a:xfrm xmlns:a="http://schemas.openxmlformats.org/drawingml/2006/main">
            <a:off x="14639925" y="14239875"/>
            <a:ext cx="6286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325" b="1">
                <a:solidFill>
                  <a:srgbClr val="FFFFFF"/>
                </a:solidFill>
                <a:latin typeface="Arial"/>
                <a:ea typeface="Arial"/>
                <a:cs typeface="Arial"/>
              </a:defRPr>
            </a:pPr>
            <a:r>
              <a:rPr sz="2325" b="1">
                <a:solidFill>
                  <a:srgbClr val="FFFFFF"/>
                </a:solidFill>
                <a:latin typeface="Arial"/>
                <a:ea typeface="Arial"/>
                <a:cs typeface="Arial"/>
              </a:rPr>
              <a:t>3</a:t>
            </a:r>
          </a:p>
        </p:txBody>
      </p:sp>
      <p:sp>
        <p:nvSpPr>
          <p:cNvPr id="56" name="">
            <a:extLst xmlns:a="http://schemas.openxmlformats.org/drawingml/2006/main">
              <a:ext uri="{FF2B5EF4-FFF2-40B4-BE49-F238E27FC236}">
                <a16:creationId xmlns:a16="http://schemas.microsoft.com/office/drawing/2014/main" id="{AA8CDE7B-DBFA-4F32-A592-EBC542585B5D}"/>
              </a:ext>
            </a:extLst>
          </p:cNvPr>
          <p:cNvSpPr>
            <a:spLocks xmlns:a="http://schemas.openxmlformats.org/drawingml/2006/main" noGrp="1"/>
          </p:cNvSpPr>
          <p:nvPr/>
        </p:nvSpPr>
        <p:spPr>
          <a:xfrm xmlns:a="http://schemas.openxmlformats.org/drawingml/2006/main">
            <a:off x="15516225" y="14211300"/>
            <a:ext cx="11696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625" b="1">
                <a:solidFill>
                  <a:srgbClr val="0B1F33"/>
                </a:solidFill>
                <a:latin typeface="Arial"/>
                <a:ea typeface="Arial"/>
                <a:cs typeface="Arial"/>
              </a:defRPr>
            </a:pPr>
            <a:r>
              <a:rPr sz="2625" b="1">
                <a:solidFill>
                  <a:srgbClr val="0B1F33"/>
                </a:solidFill>
                <a:latin typeface="Arial"/>
                <a:ea typeface="Arial"/>
                <a:cs typeface="Arial"/>
              </a:rPr>
              <a:t>Apply the validation rule</a:t>
            </a:r>
          </a:p>
        </p:txBody>
      </p:sp>
      <p:sp>
        <p:nvSpPr>
          <p:cNvPr id="57" name="">
            <a:extLst xmlns:a="http://schemas.openxmlformats.org/drawingml/2006/main">
              <a:ext uri="{FF2B5EF4-FFF2-40B4-BE49-F238E27FC236}">
                <a16:creationId xmlns:a16="http://schemas.microsoft.com/office/drawing/2014/main" id="{B56EAFCD-C5EB-4B57-A26D-AAD7B3137394}"/>
              </a:ext>
            </a:extLst>
          </p:cNvPr>
          <p:cNvSpPr>
            <a:spLocks xmlns:a="http://schemas.openxmlformats.org/drawingml/2006/main" noGrp="1"/>
          </p:cNvSpPr>
          <p:nvPr/>
        </p:nvSpPr>
        <p:spPr>
          <a:xfrm xmlns:a="http://schemas.openxmlformats.org/drawingml/2006/main">
            <a:off x="15516225" y="14763750"/>
            <a:ext cx="116967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nSpc>
                <a:spcPct val="110000"/>
              </a:lnSpc>
              <a:buNone/>
              <a:defRPr sz="2400">
                <a:solidFill>
                  <a:srgbClr val="536472"/>
                </a:solidFill>
                <a:latin typeface="Arial"/>
                <a:ea typeface="Arial"/>
                <a:cs typeface="Arial"/>
              </a:defRPr>
            </a:pPr>
            <a:r>
              <a:rPr sz="2400">
                <a:solidFill>
                  <a:srgbClr val="536472"/>
                </a:solidFill>
                <a:latin typeface="Arial"/>
                <a:ea typeface="Arial"/>
                <a:cs typeface="Arial"/>
              </a:rPr>
              <a:t>Accept or veto the entire proposed removal set under the prespecified validation-utility tolerance.</a:t>
            </a:r>
          </a:p>
        </p:txBody>
      </p:sp>
      <p:sp>
        <p:nvSpPr>
          <p:cNvPr id="58" name="">
            <a:extLst xmlns:a="http://schemas.openxmlformats.org/drawingml/2006/main">
              <a:ext uri="{FF2B5EF4-FFF2-40B4-BE49-F238E27FC236}">
                <a16:creationId xmlns:a16="http://schemas.microsoft.com/office/drawing/2014/main" id="{225CC68D-EC8D-43C4-BC27-70B5ACE9A3DC}"/>
              </a:ext>
            </a:extLst>
          </p:cNvPr>
          <p:cNvSpPr>
            <a:spLocks xmlns:a="http://schemas.openxmlformats.org/drawingml/2006/main" noGrp="1"/>
          </p:cNvSpPr>
          <p:nvPr/>
        </p:nvSpPr>
        <p:spPr>
          <a:xfrm xmlns:a="http://schemas.openxmlformats.org/drawingml/2006/main">
            <a:off x="14639925" y="16097250"/>
            <a:ext cx="628650" cy="628650"/>
          </a:xfrm>
          <a:prstGeom xmlns:a="http://schemas.openxmlformats.org/drawingml/2006/main" prst="ellipse">
            <a:avLst/>
          </a:prstGeom>
          <a:solidFill xmlns:a="http://schemas.openxmlformats.org/drawingml/2006/main">
            <a:srgbClr val="0B1F33"/>
          </a:solidFill>
          <a:ln xmlns:a="http://schemas.openxmlformats.org/drawingml/2006/main" w="0">
            <a:solidFill>
              <a:srgbClr val="0B1F33"/>
            </a:solidFill>
            <a:prstDash val="solid"/>
          </a:ln>
        </p:spPr>
      </p:sp>
      <p:sp>
        <p:nvSpPr>
          <p:cNvPr id="59" name="">
            <a:extLst xmlns:a="http://schemas.openxmlformats.org/drawingml/2006/main">
              <a:ext uri="{FF2B5EF4-FFF2-40B4-BE49-F238E27FC236}">
                <a16:creationId xmlns:a16="http://schemas.microsoft.com/office/drawing/2014/main" id="{280B4BE6-8A07-450F-8A25-58BDEAF0012F}"/>
              </a:ext>
            </a:extLst>
          </p:cNvPr>
          <p:cNvSpPr>
            <a:spLocks xmlns:a="http://schemas.openxmlformats.org/drawingml/2006/main" noGrp="1"/>
          </p:cNvSpPr>
          <p:nvPr/>
        </p:nvSpPr>
        <p:spPr>
          <a:xfrm xmlns:a="http://schemas.openxmlformats.org/drawingml/2006/main">
            <a:off x="14639925" y="16097250"/>
            <a:ext cx="6286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325" b="1">
                <a:solidFill>
                  <a:srgbClr val="FFFFFF"/>
                </a:solidFill>
                <a:latin typeface="Arial"/>
                <a:ea typeface="Arial"/>
                <a:cs typeface="Arial"/>
              </a:defRPr>
            </a:pPr>
            <a:r>
              <a:rPr sz="2325" b="1">
                <a:solidFill>
                  <a:srgbClr val="FFFFFF"/>
                </a:solidFill>
                <a:latin typeface="Arial"/>
                <a:ea typeface="Arial"/>
                <a:cs typeface="Arial"/>
              </a:rPr>
              <a:t>4</a:t>
            </a:r>
          </a:p>
        </p:txBody>
      </p:sp>
      <p:sp>
        <p:nvSpPr>
          <p:cNvPr id="60" name="">
            <a:extLst xmlns:a="http://schemas.openxmlformats.org/drawingml/2006/main">
              <a:ext uri="{FF2B5EF4-FFF2-40B4-BE49-F238E27FC236}">
                <a16:creationId xmlns:a16="http://schemas.microsoft.com/office/drawing/2014/main" id="{CB47392D-113A-48F5-8318-FC519CEDFA17}"/>
              </a:ext>
            </a:extLst>
          </p:cNvPr>
          <p:cNvSpPr>
            <a:spLocks xmlns:a="http://schemas.openxmlformats.org/drawingml/2006/main" noGrp="1"/>
          </p:cNvSpPr>
          <p:nvPr/>
        </p:nvSpPr>
        <p:spPr>
          <a:xfrm xmlns:a="http://schemas.openxmlformats.org/drawingml/2006/main">
            <a:off x="15516225" y="16068675"/>
            <a:ext cx="11696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625" b="1">
                <a:solidFill>
                  <a:srgbClr val="0B1F33"/>
                </a:solidFill>
                <a:latin typeface="Arial"/>
                <a:ea typeface="Arial"/>
                <a:cs typeface="Arial"/>
              </a:defRPr>
            </a:pPr>
            <a:r>
              <a:rPr sz="2625" b="1">
                <a:solidFill>
                  <a:srgbClr val="0B1F33"/>
                </a:solidFill>
                <a:latin typeface="Arial"/>
                <a:ea typeface="Arial"/>
                <a:cs typeface="Arial"/>
              </a:rPr>
              <a:t>Open the held-out test last</a:t>
            </a:r>
          </a:p>
        </p:txBody>
      </p:sp>
      <p:sp>
        <p:nvSpPr>
          <p:cNvPr id="61" name="">
            <a:extLst xmlns:a="http://schemas.openxmlformats.org/drawingml/2006/main">
              <a:ext uri="{FF2B5EF4-FFF2-40B4-BE49-F238E27FC236}">
                <a16:creationId xmlns:a16="http://schemas.microsoft.com/office/drawing/2014/main" id="{7ED4B1DA-9410-456C-9DEE-3C6DCA58185B}"/>
              </a:ext>
            </a:extLst>
          </p:cNvPr>
          <p:cNvSpPr>
            <a:spLocks xmlns:a="http://schemas.openxmlformats.org/drawingml/2006/main" noGrp="1"/>
          </p:cNvSpPr>
          <p:nvPr/>
        </p:nvSpPr>
        <p:spPr>
          <a:xfrm xmlns:a="http://schemas.openxmlformats.org/drawingml/2006/main">
            <a:off x="15516225" y="16621125"/>
            <a:ext cx="116967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nSpc>
                <a:spcPct val="110000"/>
              </a:lnSpc>
              <a:buNone/>
              <a:defRPr sz="2400">
                <a:solidFill>
                  <a:srgbClr val="536472"/>
                </a:solidFill>
                <a:latin typeface="Arial"/>
                <a:ea typeface="Arial"/>
                <a:cs typeface="Arial"/>
              </a:defRPr>
            </a:pPr>
            <a:r>
              <a:rPr sz="2400">
                <a:solidFill>
                  <a:srgbClr val="536472"/>
                </a:solidFill>
                <a:latin typeface="Arial"/>
                <a:ea typeface="Arial"/>
                <a:cs typeface="Arial"/>
              </a:rPr>
              <a:t>Measure the frozen decision only after selection is complete.</a:t>
            </a:r>
          </a:p>
        </p:txBody>
      </p:sp>
      <p:sp>
        <p:nvSpPr>
          <p:cNvPr id="62" name="">
            <a:extLst xmlns:a="http://schemas.openxmlformats.org/drawingml/2006/main">
              <a:ext uri="{FF2B5EF4-FFF2-40B4-BE49-F238E27FC236}">
                <a16:creationId xmlns:a16="http://schemas.microsoft.com/office/drawing/2014/main" id="{83F9E413-96E0-4E37-A622-59117B2C6CFC}"/>
              </a:ext>
            </a:extLst>
          </p:cNvPr>
          <p:cNvSpPr>
            <a:spLocks xmlns:a="http://schemas.openxmlformats.org/drawingml/2006/main" noGrp="1"/>
          </p:cNvSpPr>
          <p:nvPr/>
        </p:nvSpPr>
        <p:spPr>
          <a:xfrm xmlns:a="http://schemas.openxmlformats.org/drawingml/2006/main">
            <a:off x="14639925" y="18307050"/>
            <a:ext cx="12573000" cy="4572000"/>
          </a:xfrm>
          <a:prstGeom xmlns:a="http://schemas.openxmlformats.org/drawingml/2006/main" prst="roundRect">
            <a:avLst>
              <a:gd name="adj" fmla="val 1667"/>
            </a:avLst>
          </a:prstGeom>
          <a:solidFill xmlns:a="http://schemas.openxmlformats.org/drawingml/2006/main">
            <a:srgbClr val="FCFBF8"/>
          </a:solidFill>
          <a:ln xmlns:a="http://schemas.openxmlformats.org/drawingml/2006/main" w="19050">
            <a:solidFill>
              <a:srgbClr val="CBD5DA"/>
            </a:solidFill>
            <a:prstDash val="solid"/>
          </a:ln>
        </p:spPr>
      </p:sp>
      <p:sp>
        <p:nvSpPr>
          <p:cNvPr id="63" name="">
            <a:extLst xmlns:a="http://schemas.openxmlformats.org/drawingml/2006/main">
              <a:ext uri="{FF2B5EF4-FFF2-40B4-BE49-F238E27FC236}">
                <a16:creationId xmlns:a16="http://schemas.microsoft.com/office/drawing/2014/main" id="{F882A77D-79EE-40BC-AEB2-4B1B074B8385}"/>
              </a:ext>
            </a:extLst>
          </p:cNvPr>
          <p:cNvSpPr>
            <a:spLocks xmlns:a="http://schemas.openxmlformats.org/drawingml/2006/main" noGrp="1"/>
          </p:cNvSpPr>
          <p:nvPr/>
        </p:nvSpPr>
        <p:spPr>
          <a:xfrm xmlns:a="http://schemas.openxmlformats.org/drawingml/2006/main">
            <a:off x="15039975" y="18611850"/>
            <a:ext cx="11772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75" b="1">
                <a:solidFill>
                  <a:srgbClr val="0F766E"/>
                </a:solidFill>
                <a:latin typeface="Arial"/>
                <a:ea typeface="Arial"/>
                <a:cs typeface="Arial"/>
              </a:defRPr>
            </a:pPr>
            <a:r>
              <a:rPr sz="2475" b="1">
                <a:solidFill>
                  <a:srgbClr val="0F766E"/>
                </a:solidFill>
                <a:latin typeface="Arial"/>
                <a:ea typeface="Arial"/>
                <a:cs typeface="Arial"/>
              </a:rPr>
              <a:t>SEPARATION OF ROLES</a:t>
            </a:r>
          </a:p>
        </p:txBody>
      </p:sp>
      <p:sp>
        <p:nvSpPr>
          <p:cNvPr id="64" name="">
            <a:extLst xmlns:a="http://schemas.openxmlformats.org/drawingml/2006/main">
              <a:ext uri="{FF2B5EF4-FFF2-40B4-BE49-F238E27FC236}">
                <a16:creationId xmlns:a16="http://schemas.microsoft.com/office/drawing/2014/main" id="{D6255CC3-FCDA-4630-8D28-DFF863B07F24}"/>
              </a:ext>
            </a:extLst>
          </p:cNvPr>
          <p:cNvSpPr>
            <a:spLocks xmlns:a="http://schemas.openxmlformats.org/drawingml/2006/main" noGrp="1"/>
          </p:cNvSpPr>
          <p:nvPr/>
        </p:nvSpPr>
        <p:spPr>
          <a:xfrm xmlns:a="http://schemas.openxmlformats.org/drawingml/2006/main">
            <a:off x="15039975" y="19278600"/>
            <a:ext cx="117729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nSpc>
                <a:spcPct val="130000"/>
              </a:lnSpc>
              <a:buNone/>
              <a:defRPr sz="2700" b="1">
                <a:solidFill>
                  <a:srgbClr val="0B1F33"/>
                </a:solidFill>
                <a:latin typeface="Arial"/>
                <a:ea typeface="Arial"/>
                <a:cs typeface="Arial"/>
              </a:defRPr>
            </a:pPr>
            <a:r>
              <a:rPr sz="2700" b="1">
                <a:solidFill>
                  <a:srgbClr val="0B1F33"/>
                </a:solidFill>
                <a:latin typeface="Arial"/>
                <a:ea typeface="Arial"/>
                <a:cs typeface="Arial"/>
              </a:rPr>
              <a:t>Witness search asks what can be harmful.</a:t>
            </a:r>
          </a:p>
          <a:p xmlns:a="http://schemas.openxmlformats.org/drawingml/2006/main">
            <a:pPr>
              <a:lnSpc>
                <a:spcPct val="130000"/>
              </a:lnSpc>
              <a:buNone/>
              <a:defRPr sz="2700" b="1">
                <a:solidFill>
                  <a:srgbClr val="0B1F33"/>
                </a:solidFill>
                <a:latin typeface="Arial"/>
                <a:ea typeface="Arial"/>
                <a:cs typeface="Arial"/>
              </a:defRPr>
            </a:pPr>
            <a:r>
              <a:rPr sz="2700" b="1">
                <a:solidFill>
                  <a:srgbClr val="0B1F33"/>
                </a:solidFill>
                <a:latin typeface="Arial"/>
                <a:ea typeface="Arial"/>
                <a:cs typeface="Arial"/>
              </a:rPr>
              <a:t>Validation asks whether removal is acceptable.</a:t>
            </a:r>
          </a:p>
          <a:p xmlns:a="http://schemas.openxmlformats.org/drawingml/2006/main">
            <a:pPr>
              <a:lnSpc>
                <a:spcPct val="130000"/>
              </a:lnSpc>
              <a:buNone/>
              <a:defRPr sz="2700" b="1">
                <a:solidFill>
                  <a:srgbClr val="0B1F33"/>
                </a:solidFill>
                <a:latin typeface="Arial"/>
                <a:ea typeface="Arial"/>
                <a:cs typeface="Arial"/>
              </a:defRPr>
            </a:pPr>
            <a:r>
              <a:rPr sz="2700" b="1">
                <a:solidFill>
                  <a:srgbClr val="0B1F33"/>
                </a:solidFill>
                <a:latin typeface="Arial"/>
                <a:ea typeface="Arial"/>
                <a:cs typeface="Arial"/>
              </a:rPr>
              <a:t>Held-out data asks what happened after the decision.</a:t>
            </a:r>
          </a:p>
        </p:txBody>
      </p:sp>
      <p:sp>
        <p:nvSpPr>
          <p:cNvPr id="65" name="">
            <a:extLst xmlns:a="http://schemas.openxmlformats.org/drawingml/2006/main">
              <a:ext uri="{FF2B5EF4-FFF2-40B4-BE49-F238E27FC236}">
                <a16:creationId xmlns:a16="http://schemas.microsoft.com/office/drawing/2014/main" id="{53383BB0-F1BC-4059-85B5-E229C192E4F0}"/>
              </a:ext>
            </a:extLst>
          </p:cNvPr>
          <p:cNvSpPr>
            <a:spLocks xmlns:a="http://schemas.openxmlformats.org/drawingml/2006/main" noGrp="1"/>
          </p:cNvSpPr>
          <p:nvPr/>
        </p:nvSpPr>
        <p:spPr>
          <a:xfrm xmlns:a="http://schemas.openxmlformats.org/drawingml/2006/main">
            <a:off x="28174950" y="8420100"/>
            <a:ext cx="609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2325" b="1">
                <a:solidFill>
                  <a:srgbClr val="0F766E"/>
                </a:solidFill>
                <a:latin typeface="Arial"/>
                <a:ea typeface="Arial"/>
                <a:cs typeface="Arial"/>
              </a:defRPr>
            </a:pPr>
            <a:r>
              <a:rPr sz="2325" b="1">
                <a:solidFill>
                  <a:srgbClr val="0F766E"/>
                </a:solidFill>
                <a:latin typeface="Arial"/>
                <a:ea typeface="Arial"/>
                <a:cs typeface="Arial"/>
              </a:rPr>
              <a:t>03</a:t>
            </a:r>
          </a:p>
        </p:txBody>
      </p:sp>
      <p:sp>
        <p:nvSpPr>
          <p:cNvPr id="66" name="">
            <a:extLst xmlns:a="http://schemas.openxmlformats.org/drawingml/2006/main">
              <a:ext uri="{FF2B5EF4-FFF2-40B4-BE49-F238E27FC236}">
                <a16:creationId xmlns:a16="http://schemas.microsoft.com/office/drawing/2014/main" id="{2D0E39D1-1F99-43D0-8CD9-9FB857EC1EBE}"/>
              </a:ext>
            </a:extLst>
          </p:cNvPr>
          <p:cNvSpPr>
            <a:spLocks xmlns:a="http://schemas.openxmlformats.org/drawingml/2006/main" noGrp="1"/>
          </p:cNvSpPr>
          <p:nvPr/>
        </p:nvSpPr>
        <p:spPr>
          <a:xfrm xmlns:a="http://schemas.openxmlformats.org/drawingml/2006/main">
            <a:off x="28822650" y="8401050"/>
            <a:ext cx="124587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3525" b="1">
                <a:solidFill>
                  <a:srgbClr val="0B1F33"/>
                </a:solidFill>
                <a:latin typeface="Arial"/>
                <a:ea typeface="Arial"/>
                <a:cs typeface="Arial"/>
              </a:defRPr>
            </a:pPr>
            <a:r>
              <a:rPr sz="3525" b="1">
                <a:solidFill>
                  <a:srgbClr val="0B1F33"/>
                </a:solidFill>
                <a:latin typeface="Arial"/>
                <a:ea typeface="Arial"/>
                <a:cs typeface="Arial"/>
              </a:rPr>
              <a:t>Results were selective and dataset-dependent</a:t>
            </a:r>
          </a:p>
        </p:txBody>
      </p:sp>
      <p:sp>
        <p:nvSpPr>
          <p:cNvPr id="67" name="">
            <a:extLst xmlns:a="http://schemas.openxmlformats.org/drawingml/2006/main">
              <a:ext uri="{FF2B5EF4-FFF2-40B4-BE49-F238E27FC236}">
                <a16:creationId xmlns:a16="http://schemas.microsoft.com/office/drawing/2014/main" id="{2DE6A070-D984-4B2F-A824-8DD3F9CBDA65}"/>
              </a:ext>
            </a:extLst>
          </p:cNvPr>
          <p:cNvSpPr>
            <a:spLocks xmlns:a="http://schemas.openxmlformats.org/drawingml/2006/main" noGrp="1"/>
          </p:cNvSpPr>
          <p:nvPr/>
        </p:nvSpPr>
        <p:spPr>
          <a:xfrm xmlns:a="http://schemas.openxmlformats.org/drawingml/2006/main">
            <a:off x="28174950" y="9134475"/>
            <a:ext cx="13106400" cy="3810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68" name="">
            <a:extLst xmlns:a="http://schemas.openxmlformats.org/drawingml/2006/main">
              <a:ext uri="{FF2B5EF4-FFF2-40B4-BE49-F238E27FC236}">
                <a16:creationId xmlns:a16="http://schemas.microsoft.com/office/drawing/2014/main" id="{9C8FBE51-F4A1-4291-B7FD-1A79B0FEFCA3}"/>
              </a:ext>
            </a:extLst>
          </p:cNvPr>
          <p:cNvSpPr>
            <a:spLocks xmlns:a="http://schemas.openxmlformats.org/drawingml/2006/main" noGrp="1"/>
          </p:cNvSpPr>
          <p:nvPr/>
        </p:nvSpPr>
        <p:spPr>
          <a:xfrm xmlns:a="http://schemas.openxmlformats.org/drawingml/2006/main">
            <a:off x="28174950" y="9505950"/>
            <a:ext cx="13106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0F766E"/>
                </a:solidFill>
                <a:latin typeface="Arial"/>
                <a:ea typeface="Arial"/>
                <a:cs typeface="Arial"/>
              </a:defRPr>
            </a:pPr>
            <a:r>
              <a:rPr sz="2325" b="1">
                <a:solidFill>
                  <a:srgbClr val="0F766E"/>
                </a:solidFill>
                <a:latin typeface="Arial"/>
                <a:ea typeface="Arial"/>
                <a:cs typeface="Arial"/>
              </a:rPr>
              <a:t>OVERALL PATTERN</a:t>
            </a:r>
          </a:p>
        </p:txBody>
      </p:sp>
      <p:sp>
        <p:nvSpPr>
          <p:cNvPr id="69" name="">
            <a:extLst xmlns:a="http://schemas.openxmlformats.org/drawingml/2006/main">
              <a:ext uri="{FF2B5EF4-FFF2-40B4-BE49-F238E27FC236}">
                <a16:creationId xmlns:a16="http://schemas.microsoft.com/office/drawing/2014/main" id="{4D5C19E9-C206-4F2D-BB8E-7C9400F51B7F}"/>
              </a:ext>
            </a:extLst>
          </p:cNvPr>
          <p:cNvSpPr>
            <a:spLocks xmlns:a="http://schemas.openxmlformats.org/drawingml/2006/main" noGrp="1"/>
          </p:cNvSpPr>
          <p:nvPr/>
        </p:nvSpPr>
        <p:spPr>
          <a:xfrm xmlns:a="http://schemas.openxmlformats.org/drawingml/2006/main">
            <a:off x="28174950" y="10058400"/>
            <a:ext cx="131064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nSpc>
                <a:spcPct val="112000"/>
              </a:lnSpc>
              <a:buNone/>
              <a:defRPr sz="2850" b="1">
                <a:solidFill>
                  <a:srgbClr val="0B1F33"/>
                </a:solidFill>
                <a:latin typeface="Arial"/>
                <a:ea typeface="Arial"/>
                <a:cs typeface="Arial"/>
              </a:defRPr>
            </a:pPr>
            <a:r>
              <a:rPr sz="2850" b="1">
                <a:solidFill>
                  <a:srgbClr val="0B1F33"/>
                </a:solidFill>
                <a:latin typeface="Arial"/>
                <a:ea typeface="Arial"/>
                <a:cs typeface="Arial"/>
              </a:rPr>
              <a:t>Descriptively, average reductions were modest, while held-out utility stayed close to that of the full model. Effects nevertheless differed substantially by dataset.</a:t>
            </a:r>
          </a:p>
        </p:txBody>
      </p:sp>
      <p:sp>
        <p:nvSpPr>
          <p:cNvPr id="70" name="">
            <a:extLst xmlns:a="http://schemas.openxmlformats.org/drawingml/2006/main">
              <a:ext uri="{FF2B5EF4-FFF2-40B4-BE49-F238E27FC236}">
                <a16:creationId xmlns:a16="http://schemas.microsoft.com/office/drawing/2014/main" id="{E1C391A5-F74F-47DE-82C9-34D49156BCE5}"/>
              </a:ext>
            </a:extLst>
          </p:cNvPr>
          <p:cNvSpPr>
            <a:spLocks xmlns:a="http://schemas.openxmlformats.org/drawingml/2006/main" noGrp="1"/>
          </p:cNvSpPr>
          <p:nvPr/>
        </p:nvSpPr>
        <p:spPr>
          <a:xfrm xmlns:a="http://schemas.openxmlformats.org/drawingml/2006/main">
            <a:off x="28174950" y="12115800"/>
            <a:ext cx="13106400" cy="19050"/>
          </a:xfrm>
          <a:prstGeom xmlns:a="http://schemas.openxmlformats.org/drawingml/2006/main" prst="rect">
            <a:avLst/>
          </a:prstGeom>
          <a:solidFill xmlns:a="http://schemas.openxmlformats.org/drawingml/2006/main">
            <a:srgbClr val="CBD5DA"/>
          </a:solidFill>
          <a:ln xmlns:a="http://schemas.openxmlformats.org/drawingml/2006/main" w="0">
            <a:noFill/>
            <a:prstDash val="solid"/>
          </a:ln>
        </p:spPr>
      </p:sp>
      <p:sp>
        <p:nvSpPr>
          <p:cNvPr id="71" name="">
            <a:extLst xmlns:a="http://schemas.openxmlformats.org/drawingml/2006/main">
              <a:ext uri="{FF2B5EF4-FFF2-40B4-BE49-F238E27FC236}">
                <a16:creationId xmlns:a16="http://schemas.microsoft.com/office/drawing/2014/main" id="{A5F42113-AF5D-4679-B534-533315BE99B0}"/>
              </a:ext>
            </a:extLst>
          </p:cNvPr>
          <p:cNvSpPr>
            <a:spLocks xmlns:a="http://schemas.openxmlformats.org/drawingml/2006/main" noGrp="1"/>
          </p:cNvSpPr>
          <p:nvPr/>
        </p:nvSpPr>
        <p:spPr>
          <a:xfrm xmlns:a="http://schemas.openxmlformats.org/drawingml/2006/main">
            <a:off x="28174950" y="12401550"/>
            <a:ext cx="13106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75" b="1">
                <a:solidFill>
                  <a:srgbClr val="0F766E"/>
                </a:solidFill>
                <a:latin typeface="Arial"/>
                <a:ea typeface="Arial"/>
                <a:cs typeface="Arial"/>
              </a:defRPr>
            </a:pPr>
            <a:r>
              <a:rPr sz="2475" b="1">
                <a:solidFill>
                  <a:srgbClr val="0F766E"/>
                </a:solidFill>
                <a:latin typeface="Arial"/>
                <a:ea typeface="Arial"/>
                <a:cs typeface="Arial"/>
              </a:rPr>
              <a:t>FIVE-SEED CASE CONTRAST</a:t>
            </a:r>
          </a:p>
        </p:txBody>
      </p:sp>
      <p:sp>
        <p:nvSpPr>
          <p:cNvPr id="72" name="">
            <a:extLst xmlns:a="http://schemas.openxmlformats.org/drawingml/2006/main">
              <a:ext uri="{FF2B5EF4-FFF2-40B4-BE49-F238E27FC236}">
                <a16:creationId xmlns:a16="http://schemas.microsoft.com/office/drawing/2014/main" id="{DCD2F6EA-17A7-4417-AF8A-8A18749A650A}"/>
              </a:ext>
            </a:extLst>
          </p:cNvPr>
          <p:cNvSpPr>
            <a:spLocks xmlns:a="http://schemas.openxmlformats.org/drawingml/2006/main" noGrp="1"/>
          </p:cNvSpPr>
          <p:nvPr/>
        </p:nvSpPr>
        <p:spPr>
          <a:xfrm xmlns:a="http://schemas.openxmlformats.org/drawingml/2006/main">
            <a:off x="30365700" y="12973050"/>
            <a:ext cx="657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75" b="1">
                <a:solidFill>
                  <a:srgbClr val="73818B"/>
                </a:solidFill>
                <a:latin typeface="Arial"/>
                <a:ea typeface="Arial"/>
                <a:cs typeface="Arial"/>
              </a:defRPr>
            </a:pPr>
            <a:r>
              <a:rPr sz="2175" b="1">
                <a:solidFill>
                  <a:srgbClr val="73818B"/>
                </a:solidFill>
                <a:latin typeface="Arial"/>
                <a:ea typeface="Arial"/>
                <a:cs typeface="Arial"/>
              </a:rPr>
              <a:t>MEAN FEATURE-SET REDUCTION</a:t>
            </a:r>
          </a:p>
        </p:txBody>
      </p:sp>
      <p:sp>
        <p:nvSpPr>
          <p:cNvPr id="73" name="">
            <a:extLst xmlns:a="http://schemas.openxmlformats.org/drawingml/2006/main">
              <a:ext uri="{FF2B5EF4-FFF2-40B4-BE49-F238E27FC236}">
                <a16:creationId xmlns:a16="http://schemas.microsoft.com/office/drawing/2014/main" id="{AE4513FD-8F07-4B6B-A22E-13224346EBEA}"/>
              </a:ext>
            </a:extLst>
          </p:cNvPr>
          <p:cNvSpPr>
            <a:spLocks xmlns:a="http://schemas.openxmlformats.org/drawingml/2006/main" noGrp="1"/>
          </p:cNvSpPr>
          <p:nvPr/>
        </p:nvSpPr>
        <p:spPr>
          <a:xfrm xmlns:a="http://schemas.openxmlformats.org/drawingml/2006/main">
            <a:off x="37223700" y="12973050"/>
            <a:ext cx="4057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75" b="1">
                <a:solidFill>
                  <a:srgbClr val="73818B"/>
                </a:solidFill>
                <a:latin typeface="Arial"/>
                <a:ea typeface="Arial"/>
                <a:cs typeface="Arial"/>
              </a:defRPr>
            </a:pPr>
            <a:r>
              <a:rPr sz="2175" b="1">
                <a:solidFill>
                  <a:srgbClr val="73818B"/>
                </a:solidFill>
                <a:latin typeface="Arial"/>
                <a:ea typeface="Arial"/>
                <a:cs typeface="Arial"/>
              </a:rPr>
              <a:t>HELD-OUT UTILITY</a:t>
            </a:r>
          </a:p>
        </p:txBody>
      </p:sp>
      <p:sp>
        <p:nvSpPr>
          <p:cNvPr id="74" name="">
            <a:extLst xmlns:a="http://schemas.openxmlformats.org/drawingml/2006/main">
              <a:ext uri="{FF2B5EF4-FFF2-40B4-BE49-F238E27FC236}">
                <a16:creationId xmlns:a16="http://schemas.microsoft.com/office/drawing/2014/main" id="{797844C4-8400-46D1-AA6B-AAEDF21DA2F3}"/>
              </a:ext>
            </a:extLst>
          </p:cNvPr>
          <p:cNvSpPr>
            <a:spLocks xmlns:a="http://schemas.openxmlformats.org/drawingml/2006/main" noGrp="1"/>
          </p:cNvSpPr>
          <p:nvPr/>
        </p:nvSpPr>
        <p:spPr>
          <a:xfrm xmlns:a="http://schemas.openxmlformats.org/drawingml/2006/main">
            <a:off x="28174950" y="13601700"/>
            <a:ext cx="19526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2550" b="1">
                <a:solidFill>
                  <a:srgbClr val="0B1F33"/>
                </a:solidFill>
                <a:latin typeface="Arial"/>
                <a:ea typeface="Arial"/>
                <a:cs typeface="Arial"/>
              </a:defRPr>
            </a:pPr>
            <a:r>
              <a:rPr sz="2550" b="1">
                <a:solidFill>
                  <a:srgbClr val="0B1F33"/>
                </a:solidFill>
                <a:latin typeface="Arial"/>
                <a:ea typeface="Arial"/>
                <a:cs typeface="Arial"/>
              </a:rPr>
              <a:t>MADELON</a:t>
            </a:r>
          </a:p>
        </p:txBody>
      </p:sp>
      <p:sp>
        <p:nvSpPr>
          <p:cNvPr id="75" name="">
            <a:extLst xmlns:a="http://schemas.openxmlformats.org/drawingml/2006/main">
              <a:ext uri="{FF2B5EF4-FFF2-40B4-BE49-F238E27FC236}">
                <a16:creationId xmlns:a16="http://schemas.microsoft.com/office/drawing/2014/main" id="{2ECF8CE2-5C1A-4168-AB5F-66EF335FD2B8}"/>
              </a:ext>
            </a:extLst>
          </p:cNvPr>
          <p:cNvSpPr>
            <a:spLocks xmlns:a="http://schemas.openxmlformats.org/drawingml/2006/main" noGrp="1"/>
          </p:cNvSpPr>
          <p:nvPr/>
        </p:nvSpPr>
        <p:spPr>
          <a:xfrm xmlns:a="http://schemas.openxmlformats.org/drawingml/2006/main">
            <a:off x="30365700" y="13735050"/>
            <a:ext cx="3810000" cy="400050"/>
          </a:xfrm>
          <a:prstGeom xmlns:a="http://schemas.openxmlformats.org/drawingml/2006/main" prst="roundRect">
            <a:avLst>
              <a:gd name="adj" fmla="val 19048"/>
            </a:avLst>
          </a:prstGeom>
          <a:solidFill xmlns:a="http://schemas.openxmlformats.org/drawingml/2006/main">
            <a:srgbClr val="E1E7E9"/>
          </a:solidFill>
          <a:ln xmlns:a="http://schemas.openxmlformats.org/drawingml/2006/main" w="9525">
            <a:solidFill>
              <a:srgbClr val="D2DBDE"/>
            </a:solidFill>
            <a:prstDash val="solid"/>
          </a:ln>
        </p:spPr>
      </p:sp>
      <p:sp>
        <p:nvSpPr>
          <p:cNvPr id="76" name="">
            <a:extLst xmlns:a="http://schemas.openxmlformats.org/drawingml/2006/main">
              <a:ext uri="{FF2B5EF4-FFF2-40B4-BE49-F238E27FC236}">
                <a16:creationId xmlns:a16="http://schemas.microsoft.com/office/drawing/2014/main" id="{62705606-AB1F-43EC-AB17-AF35284540D1}"/>
              </a:ext>
            </a:extLst>
          </p:cNvPr>
          <p:cNvSpPr>
            <a:spLocks xmlns:a="http://schemas.openxmlformats.org/drawingml/2006/main" noGrp="1"/>
          </p:cNvSpPr>
          <p:nvPr/>
        </p:nvSpPr>
        <p:spPr>
          <a:xfrm xmlns:a="http://schemas.openxmlformats.org/drawingml/2006/main">
            <a:off x="30365700" y="13735050"/>
            <a:ext cx="1676400" cy="400050"/>
          </a:xfrm>
          <a:prstGeom xmlns:a="http://schemas.openxmlformats.org/drawingml/2006/main" prst="roundRect">
            <a:avLst>
              <a:gd name="adj" fmla="val 19048"/>
            </a:avLst>
          </a:prstGeom>
          <a:solidFill xmlns:a="http://schemas.openxmlformats.org/drawingml/2006/main">
            <a:srgbClr val="0F766E"/>
          </a:solidFill>
          <a:ln xmlns:a="http://schemas.openxmlformats.org/drawingml/2006/main" w="0">
            <a:solidFill>
              <a:srgbClr val="0F766E"/>
            </a:solidFill>
            <a:prstDash val="solid"/>
          </a:ln>
        </p:spPr>
      </p:sp>
      <p:sp>
        <p:nvSpPr>
          <p:cNvPr id="77" name="">
            <a:extLst xmlns:a="http://schemas.openxmlformats.org/drawingml/2006/main">
              <a:ext uri="{FF2B5EF4-FFF2-40B4-BE49-F238E27FC236}">
                <a16:creationId xmlns:a16="http://schemas.microsoft.com/office/drawing/2014/main" id="{6BAF2F91-6FF0-4A41-9042-9B04BF3257E2}"/>
              </a:ext>
            </a:extLst>
          </p:cNvPr>
          <p:cNvSpPr>
            <a:spLocks xmlns:a="http://schemas.openxmlformats.org/drawingml/2006/main" noGrp="1"/>
          </p:cNvSpPr>
          <p:nvPr/>
        </p:nvSpPr>
        <p:spPr>
          <a:xfrm xmlns:a="http://schemas.openxmlformats.org/drawingml/2006/main">
            <a:off x="34461450" y="13525500"/>
            <a:ext cx="24288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2325" b="1">
                <a:solidFill>
                  <a:srgbClr val="0F766E"/>
                </a:solidFill>
                <a:latin typeface="Arial"/>
                <a:ea typeface="Arial"/>
                <a:cs typeface="Arial"/>
              </a:defRPr>
            </a:pPr>
            <a:r>
              <a:rPr sz="2325" b="1">
                <a:solidFill>
                  <a:srgbClr val="0F766E"/>
                </a:solidFill>
                <a:latin typeface="Arial"/>
                <a:ea typeface="Arial"/>
                <a:cs typeface="Arial"/>
              </a:rPr>
              <a:t>44% fewer features</a:t>
            </a:r>
          </a:p>
        </p:txBody>
      </p:sp>
      <p:sp>
        <p:nvSpPr>
          <p:cNvPr id="78" name="">
            <a:extLst xmlns:a="http://schemas.openxmlformats.org/drawingml/2006/main">
              <a:ext uri="{FF2B5EF4-FFF2-40B4-BE49-F238E27FC236}">
                <a16:creationId xmlns:a16="http://schemas.microsoft.com/office/drawing/2014/main" id="{E6A1A5CB-88FC-451C-98F3-BEBEC73C372F}"/>
              </a:ext>
            </a:extLst>
          </p:cNvPr>
          <p:cNvSpPr>
            <a:spLocks xmlns:a="http://schemas.openxmlformats.org/drawingml/2006/main" noGrp="1"/>
          </p:cNvSpPr>
          <p:nvPr/>
        </p:nvSpPr>
        <p:spPr>
          <a:xfrm xmlns:a="http://schemas.openxmlformats.org/drawingml/2006/main">
            <a:off x="37223700" y="13411200"/>
            <a:ext cx="40576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nSpc>
                <a:spcPct val="108000"/>
              </a:lnSpc>
              <a:buNone/>
              <a:defRPr sz="2250" b="1">
                <a:solidFill>
                  <a:srgbClr val="0B1F33"/>
                </a:solidFill>
                <a:latin typeface="Arial"/>
                <a:ea typeface="Arial"/>
                <a:cs typeface="Arial"/>
              </a:defRPr>
            </a:pPr>
            <a:r>
              <a:rPr sz="2250" b="1">
                <a:solidFill>
                  <a:srgbClr val="0B1F33"/>
                </a:solidFill>
                <a:latin typeface="Arial"/>
                <a:ea typeface="Arial"/>
                <a:cs typeface="Arial"/>
              </a:rPr>
              <a:t>Held-out utility remained close to the full model.</a:t>
            </a:r>
          </a:p>
        </p:txBody>
      </p:sp>
      <p:sp>
        <p:nvSpPr>
          <p:cNvPr id="79" name="">
            <a:extLst xmlns:a="http://schemas.openxmlformats.org/drawingml/2006/main">
              <a:ext uri="{FF2B5EF4-FFF2-40B4-BE49-F238E27FC236}">
                <a16:creationId xmlns:a16="http://schemas.microsoft.com/office/drawing/2014/main" id="{FA20F13A-6828-4936-BDA9-C4CB79B3CC13}"/>
              </a:ext>
            </a:extLst>
          </p:cNvPr>
          <p:cNvSpPr>
            <a:spLocks xmlns:a="http://schemas.openxmlformats.org/drawingml/2006/main" noGrp="1"/>
          </p:cNvSpPr>
          <p:nvPr/>
        </p:nvSpPr>
        <p:spPr>
          <a:xfrm xmlns:a="http://schemas.openxmlformats.org/drawingml/2006/main">
            <a:off x="28174950" y="14611350"/>
            <a:ext cx="13106400" cy="19050"/>
          </a:xfrm>
          <a:prstGeom xmlns:a="http://schemas.openxmlformats.org/drawingml/2006/main" prst="rect">
            <a:avLst/>
          </a:prstGeom>
          <a:solidFill xmlns:a="http://schemas.openxmlformats.org/drawingml/2006/main">
            <a:srgbClr val="CBD5DA"/>
          </a:solidFill>
          <a:ln xmlns:a="http://schemas.openxmlformats.org/drawingml/2006/main" w="0">
            <a:noFill/>
            <a:prstDash val="solid"/>
          </a:ln>
        </p:spPr>
      </p:sp>
      <p:sp>
        <p:nvSpPr>
          <p:cNvPr id="80" name="">
            <a:extLst xmlns:a="http://schemas.openxmlformats.org/drawingml/2006/main">
              <a:ext uri="{FF2B5EF4-FFF2-40B4-BE49-F238E27FC236}">
                <a16:creationId xmlns:a16="http://schemas.microsoft.com/office/drawing/2014/main" id="{7E7ABCA9-7E7D-4146-9DAC-66BE7EFF42FC}"/>
              </a:ext>
            </a:extLst>
          </p:cNvPr>
          <p:cNvSpPr>
            <a:spLocks xmlns:a="http://schemas.openxmlformats.org/drawingml/2006/main" noGrp="1"/>
          </p:cNvSpPr>
          <p:nvPr/>
        </p:nvSpPr>
        <p:spPr>
          <a:xfrm xmlns:a="http://schemas.openxmlformats.org/drawingml/2006/main">
            <a:off x="28174950" y="15259050"/>
            <a:ext cx="19526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2550" b="1">
                <a:solidFill>
                  <a:srgbClr val="0B1F33"/>
                </a:solidFill>
                <a:latin typeface="Arial"/>
                <a:ea typeface="Arial"/>
                <a:cs typeface="Arial"/>
              </a:defRPr>
            </a:pPr>
            <a:r>
              <a:rPr sz="2550" b="1">
                <a:solidFill>
                  <a:srgbClr val="0B1F33"/>
                </a:solidFill>
                <a:latin typeface="Arial"/>
                <a:ea typeface="Arial"/>
                <a:cs typeface="Arial"/>
              </a:rPr>
              <a:t>ABALONE</a:t>
            </a:r>
          </a:p>
        </p:txBody>
      </p:sp>
      <p:sp>
        <p:nvSpPr>
          <p:cNvPr id="81" name="">
            <a:extLst xmlns:a="http://schemas.openxmlformats.org/drawingml/2006/main">
              <a:ext uri="{FF2B5EF4-FFF2-40B4-BE49-F238E27FC236}">
                <a16:creationId xmlns:a16="http://schemas.microsoft.com/office/drawing/2014/main" id="{C5002A1A-6D3D-4E74-BCB4-3251D607A990}"/>
              </a:ext>
            </a:extLst>
          </p:cNvPr>
          <p:cNvSpPr>
            <a:spLocks xmlns:a="http://schemas.openxmlformats.org/drawingml/2006/main" noGrp="1"/>
          </p:cNvSpPr>
          <p:nvPr/>
        </p:nvSpPr>
        <p:spPr>
          <a:xfrm xmlns:a="http://schemas.openxmlformats.org/drawingml/2006/main">
            <a:off x="30365700" y="15392400"/>
            <a:ext cx="3810000" cy="400050"/>
          </a:xfrm>
          <a:prstGeom xmlns:a="http://schemas.openxmlformats.org/drawingml/2006/main" prst="roundRect">
            <a:avLst>
              <a:gd name="adj" fmla="val 19048"/>
            </a:avLst>
          </a:prstGeom>
          <a:solidFill xmlns:a="http://schemas.openxmlformats.org/drawingml/2006/main">
            <a:srgbClr val="E1E7E9"/>
          </a:solidFill>
          <a:ln xmlns:a="http://schemas.openxmlformats.org/drawingml/2006/main" w="9525">
            <a:solidFill>
              <a:srgbClr val="D2DBDE"/>
            </a:solidFill>
            <a:prstDash val="solid"/>
          </a:ln>
        </p:spPr>
      </p:sp>
      <p:sp>
        <p:nvSpPr>
          <p:cNvPr id="82" name="">
            <a:extLst xmlns:a="http://schemas.openxmlformats.org/drawingml/2006/main">
              <a:ext uri="{FF2B5EF4-FFF2-40B4-BE49-F238E27FC236}">
                <a16:creationId xmlns:a16="http://schemas.microsoft.com/office/drawing/2014/main" id="{73AF2860-ACB7-447E-9A40-23C0F466307D}"/>
              </a:ext>
            </a:extLst>
          </p:cNvPr>
          <p:cNvSpPr>
            <a:spLocks xmlns:a="http://schemas.openxmlformats.org/drawingml/2006/main" noGrp="1"/>
          </p:cNvSpPr>
          <p:nvPr/>
        </p:nvSpPr>
        <p:spPr>
          <a:xfrm xmlns:a="http://schemas.openxmlformats.org/drawingml/2006/main">
            <a:off x="30365700" y="15392400"/>
            <a:ext cx="1066800" cy="400050"/>
          </a:xfrm>
          <a:prstGeom xmlns:a="http://schemas.openxmlformats.org/drawingml/2006/main" prst="roundRect">
            <a:avLst>
              <a:gd name="adj" fmla="val 19048"/>
            </a:avLst>
          </a:prstGeom>
          <a:solidFill xmlns:a="http://schemas.openxmlformats.org/drawingml/2006/main">
            <a:srgbClr val="D18B1F"/>
          </a:solidFill>
          <a:ln xmlns:a="http://schemas.openxmlformats.org/drawingml/2006/main" w="0">
            <a:solidFill>
              <a:srgbClr val="D18B1F"/>
            </a:solidFill>
            <a:prstDash val="solid"/>
          </a:ln>
        </p:spPr>
      </p:sp>
      <p:sp>
        <p:nvSpPr>
          <p:cNvPr id="83" name="">
            <a:extLst xmlns:a="http://schemas.openxmlformats.org/drawingml/2006/main">
              <a:ext uri="{FF2B5EF4-FFF2-40B4-BE49-F238E27FC236}">
                <a16:creationId xmlns:a16="http://schemas.microsoft.com/office/drawing/2014/main" id="{023DE07A-A59A-4E2E-A21B-D0CAD48E5C4F}"/>
              </a:ext>
            </a:extLst>
          </p:cNvPr>
          <p:cNvSpPr>
            <a:spLocks xmlns:a="http://schemas.openxmlformats.org/drawingml/2006/main" noGrp="1"/>
          </p:cNvSpPr>
          <p:nvPr/>
        </p:nvSpPr>
        <p:spPr>
          <a:xfrm xmlns:a="http://schemas.openxmlformats.org/drawingml/2006/main">
            <a:off x="34461450" y="15182850"/>
            <a:ext cx="24288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2325" b="1">
                <a:solidFill>
                  <a:srgbClr val="D18B1F"/>
                </a:solidFill>
                <a:latin typeface="Arial"/>
                <a:ea typeface="Arial"/>
                <a:cs typeface="Arial"/>
              </a:defRPr>
            </a:pPr>
            <a:r>
              <a:rPr sz="2325" b="1">
                <a:solidFill>
                  <a:srgbClr val="D18B1F"/>
                </a:solidFill>
                <a:latin typeface="Arial"/>
                <a:ea typeface="Arial"/>
                <a:cs typeface="Arial"/>
              </a:rPr>
              <a:t>28% fewer features</a:t>
            </a:r>
          </a:p>
        </p:txBody>
      </p:sp>
      <p:sp>
        <p:nvSpPr>
          <p:cNvPr id="84" name="">
            <a:extLst xmlns:a="http://schemas.openxmlformats.org/drawingml/2006/main">
              <a:ext uri="{FF2B5EF4-FFF2-40B4-BE49-F238E27FC236}">
                <a16:creationId xmlns:a16="http://schemas.microsoft.com/office/drawing/2014/main" id="{C95DF19D-2C17-4529-814C-C756CD4C8E88}"/>
              </a:ext>
            </a:extLst>
          </p:cNvPr>
          <p:cNvSpPr>
            <a:spLocks xmlns:a="http://schemas.openxmlformats.org/drawingml/2006/main" noGrp="1"/>
          </p:cNvSpPr>
          <p:nvPr/>
        </p:nvSpPr>
        <p:spPr>
          <a:xfrm xmlns:a="http://schemas.openxmlformats.org/drawingml/2006/main">
            <a:off x="37223700" y="15068550"/>
            <a:ext cx="40576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nSpc>
                <a:spcPct val="108000"/>
              </a:lnSpc>
              <a:buNone/>
              <a:defRPr sz="2250" b="1">
                <a:solidFill>
                  <a:srgbClr val="0B1F33"/>
                </a:solidFill>
                <a:latin typeface="Arial"/>
                <a:ea typeface="Arial"/>
                <a:cs typeface="Arial"/>
              </a:defRPr>
            </a:pPr>
            <a:r>
              <a:rPr sz="2250" b="1">
                <a:solidFill>
                  <a:srgbClr val="0B1F33"/>
                </a:solidFill>
                <a:latin typeface="Arial"/>
                <a:ea typeface="Arial"/>
                <a:cs typeface="Arial"/>
              </a:rPr>
              <a:t>Held-out utility was lower than the full model.</a:t>
            </a:r>
          </a:p>
        </p:txBody>
      </p:sp>
      <p:sp>
        <p:nvSpPr>
          <p:cNvPr id="85" name="">
            <a:extLst xmlns:a="http://schemas.openxmlformats.org/drawingml/2006/main">
              <a:ext uri="{FF2B5EF4-FFF2-40B4-BE49-F238E27FC236}">
                <a16:creationId xmlns:a16="http://schemas.microsoft.com/office/drawing/2014/main" id="{B5CFCD75-5BA4-43C5-9C1A-3CBCA0AC5737}"/>
              </a:ext>
            </a:extLst>
          </p:cNvPr>
          <p:cNvSpPr>
            <a:spLocks xmlns:a="http://schemas.openxmlformats.org/drawingml/2006/main" noGrp="1"/>
          </p:cNvSpPr>
          <p:nvPr/>
        </p:nvSpPr>
        <p:spPr>
          <a:xfrm xmlns:a="http://schemas.openxmlformats.org/drawingml/2006/main">
            <a:off x="28174950" y="16268700"/>
            <a:ext cx="13106400" cy="19050"/>
          </a:xfrm>
          <a:prstGeom xmlns:a="http://schemas.openxmlformats.org/drawingml/2006/main" prst="rect">
            <a:avLst/>
          </a:prstGeom>
          <a:solidFill xmlns:a="http://schemas.openxmlformats.org/drawingml/2006/main">
            <a:srgbClr val="CBD5DA"/>
          </a:solidFill>
          <a:ln xmlns:a="http://schemas.openxmlformats.org/drawingml/2006/main" w="0">
            <a:noFill/>
            <a:prstDash val="solid"/>
          </a:ln>
        </p:spPr>
      </p:sp>
      <p:sp>
        <p:nvSpPr>
          <p:cNvPr id="86" name="">
            <a:extLst xmlns:a="http://schemas.openxmlformats.org/drawingml/2006/main">
              <a:ext uri="{FF2B5EF4-FFF2-40B4-BE49-F238E27FC236}">
                <a16:creationId xmlns:a16="http://schemas.microsoft.com/office/drawing/2014/main" id="{E1039D18-442B-4832-AC04-91567F79A527}"/>
              </a:ext>
            </a:extLst>
          </p:cNvPr>
          <p:cNvSpPr>
            <a:spLocks xmlns:a="http://schemas.openxmlformats.org/drawingml/2006/main" noGrp="1"/>
          </p:cNvSpPr>
          <p:nvPr/>
        </p:nvSpPr>
        <p:spPr>
          <a:xfrm xmlns:a="http://schemas.openxmlformats.org/drawingml/2006/main">
            <a:off x="28174950" y="16440150"/>
            <a:ext cx="13106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75">
                <a:solidFill>
                  <a:srgbClr val="536472"/>
                </a:solidFill>
                <a:latin typeface="Arial"/>
                <a:ea typeface="Arial"/>
                <a:cs typeface="Arial"/>
              </a:defRPr>
            </a:pPr>
            <a:r>
              <a:rPr sz="2175">
                <a:solidFill>
                  <a:srgbClr val="536472"/>
                </a:solidFill>
                <a:latin typeface="Arial"/>
                <a:ea typeface="Arial"/>
                <a:cs typeface="Arial"/>
              </a:rPr>
              <a:t>Bars show five-seed mean reduction after the validation gate.</a:t>
            </a:r>
          </a:p>
        </p:txBody>
      </p:sp>
      <p:sp>
        <p:nvSpPr>
          <p:cNvPr id="87" name="">
            <a:extLst xmlns:a="http://schemas.openxmlformats.org/drawingml/2006/main">
              <a:ext uri="{FF2B5EF4-FFF2-40B4-BE49-F238E27FC236}">
                <a16:creationId xmlns:a16="http://schemas.microsoft.com/office/drawing/2014/main" id="{12ECAC70-3AFE-4E0D-BEB5-5A0AA5B75774}"/>
              </a:ext>
            </a:extLst>
          </p:cNvPr>
          <p:cNvSpPr>
            <a:spLocks xmlns:a="http://schemas.openxmlformats.org/drawingml/2006/main" noGrp="1"/>
          </p:cNvSpPr>
          <p:nvPr/>
        </p:nvSpPr>
        <p:spPr>
          <a:xfrm xmlns:a="http://schemas.openxmlformats.org/drawingml/2006/main">
            <a:off x="28174950" y="17164050"/>
            <a:ext cx="13106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73818B"/>
                </a:solidFill>
                <a:latin typeface="Arial"/>
                <a:ea typeface="Arial"/>
                <a:cs typeface="Arial"/>
              </a:defRPr>
            </a:pPr>
            <a:r>
              <a:rPr sz="2325" b="1">
                <a:solidFill>
                  <a:srgbClr val="73818B"/>
                </a:solidFill>
                <a:latin typeface="Arial"/>
                <a:ea typeface="Arial"/>
                <a:cs typeface="Arial"/>
              </a:rPr>
              <a:t>ELSEWHERE</a:t>
            </a:r>
          </a:p>
        </p:txBody>
      </p:sp>
      <p:sp>
        <p:nvSpPr>
          <p:cNvPr id="88" name="">
            <a:extLst xmlns:a="http://schemas.openxmlformats.org/drawingml/2006/main">
              <a:ext uri="{FF2B5EF4-FFF2-40B4-BE49-F238E27FC236}">
                <a16:creationId xmlns:a16="http://schemas.microsoft.com/office/drawing/2014/main" id="{A5542CB7-FA59-407A-B24D-692800FBA5B7}"/>
              </a:ext>
            </a:extLst>
          </p:cNvPr>
          <p:cNvSpPr>
            <a:spLocks xmlns:a="http://schemas.openxmlformats.org/drawingml/2006/main" noGrp="1"/>
          </p:cNvSpPr>
          <p:nvPr/>
        </p:nvSpPr>
        <p:spPr>
          <a:xfrm xmlns:a="http://schemas.openxmlformats.org/drawingml/2006/main">
            <a:off x="28174950" y="17697450"/>
            <a:ext cx="131064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nSpc>
                <a:spcPct val="108000"/>
              </a:lnSpc>
              <a:buNone/>
              <a:defRPr sz="2400">
                <a:solidFill>
                  <a:srgbClr val="536472"/>
                </a:solidFill>
                <a:latin typeface="Arial"/>
                <a:ea typeface="Arial"/>
                <a:cs typeface="Arial"/>
              </a:defRPr>
            </a:pPr>
            <a:r>
              <a:rPr sz="2400">
                <a:solidFill>
                  <a:srgbClr val="536472"/>
                </a:solidFill>
                <a:latin typeface="Arial"/>
                <a:ea typeface="Arial"/>
                <a:cs typeface="Arial"/>
              </a:rPr>
              <a:t>Changes were small or mixed across the other four benchmarks.</a:t>
            </a:r>
          </a:p>
        </p:txBody>
      </p:sp>
      <p:sp>
        <p:nvSpPr>
          <p:cNvPr id="89" name="">
            <a:extLst xmlns:a="http://schemas.openxmlformats.org/drawingml/2006/main">
              <a:ext uri="{FF2B5EF4-FFF2-40B4-BE49-F238E27FC236}">
                <a16:creationId xmlns:a16="http://schemas.microsoft.com/office/drawing/2014/main" id="{CED33887-3059-4051-9D71-F30A8EB5181C}"/>
              </a:ext>
            </a:extLst>
          </p:cNvPr>
          <p:cNvSpPr>
            <a:spLocks xmlns:a="http://schemas.openxmlformats.org/drawingml/2006/main" noGrp="1"/>
          </p:cNvSpPr>
          <p:nvPr/>
        </p:nvSpPr>
        <p:spPr>
          <a:xfrm xmlns:a="http://schemas.openxmlformats.org/drawingml/2006/main">
            <a:off x="28174950" y="18783300"/>
            <a:ext cx="13106400" cy="4381500"/>
          </a:xfrm>
          <a:prstGeom xmlns:a="http://schemas.openxmlformats.org/drawingml/2006/main" prst="roundRect">
            <a:avLst>
              <a:gd name="adj" fmla="val 1739"/>
            </a:avLst>
          </a:prstGeom>
          <a:solidFill xmlns:a="http://schemas.openxmlformats.org/drawingml/2006/main">
            <a:srgbClr val="E3F1EE"/>
          </a:solidFill>
          <a:ln xmlns:a="http://schemas.openxmlformats.org/drawingml/2006/main" w="19050">
            <a:solidFill>
              <a:srgbClr val="B7D8D2"/>
            </a:solidFill>
            <a:prstDash val="solid"/>
          </a:ln>
        </p:spPr>
      </p:sp>
      <p:sp>
        <p:nvSpPr>
          <p:cNvPr id="90" name="">
            <a:extLst xmlns:a="http://schemas.openxmlformats.org/drawingml/2006/main">
              <a:ext uri="{FF2B5EF4-FFF2-40B4-BE49-F238E27FC236}">
                <a16:creationId xmlns:a16="http://schemas.microsoft.com/office/drawing/2014/main" id="{079796C3-4D31-422C-AF0E-1C77A5642409}"/>
              </a:ext>
            </a:extLst>
          </p:cNvPr>
          <p:cNvSpPr>
            <a:spLocks xmlns:a="http://schemas.openxmlformats.org/drawingml/2006/main" noGrp="1"/>
          </p:cNvSpPr>
          <p:nvPr/>
        </p:nvSpPr>
        <p:spPr>
          <a:xfrm xmlns:a="http://schemas.openxmlformats.org/drawingml/2006/main">
            <a:off x="28555950" y="19088100"/>
            <a:ext cx="12344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0F766E"/>
                </a:solidFill>
                <a:latin typeface="Arial"/>
                <a:ea typeface="Arial"/>
                <a:cs typeface="Arial"/>
              </a:defRPr>
            </a:pPr>
            <a:r>
              <a:rPr sz="2325" b="1">
                <a:solidFill>
                  <a:srgbClr val="0F766E"/>
                </a:solidFill>
                <a:latin typeface="Arial"/>
                <a:ea typeface="Arial"/>
                <a:cs typeface="Arial"/>
              </a:rPr>
              <a:t>SEARCH NOTE</a:t>
            </a:r>
          </a:p>
        </p:txBody>
      </p:sp>
      <p:sp>
        <p:nvSpPr>
          <p:cNvPr id="91" name="">
            <a:extLst xmlns:a="http://schemas.openxmlformats.org/drawingml/2006/main">
              <a:ext uri="{FF2B5EF4-FFF2-40B4-BE49-F238E27FC236}">
                <a16:creationId xmlns:a16="http://schemas.microsoft.com/office/drawing/2014/main" id="{31BB8FD6-5602-4B8A-93BE-AFDF5B04D1EF}"/>
              </a:ext>
            </a:extLst>
          </p:cNvPr>
          <p:cNvSpPr>
            <a:spLocks xmlns:a="http://schemas.openxmlformats.org/drawingml/2006/main" noGrp="1"/>
          </p:cNvSpPr>
          <p:nvPr/>
        </p:nvSpPr>
        <p:spPr>
          <a:xfrm xmlns:a="http://schemas.openxmlformats.org/drawingml/2006/main">
            <a:off x="28555950" y="19735800"/>
            <a:ext cx="123444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nSpc>
                <a:spcPct val="114000"/>
              </a:lnSpc>
              <a:buNone/>
              <a:defRPr sz="2475" b="1">
                <a:solidFill>
                  <a:srgbClr val="0B1F33"/>
                </a:solidFill>
                <a:latin typeface="Arial"/>
                <a:ea typeface="Arial"/>
                <a:cs typeface="Arial"/>
              </a:defRPr>
            </a:pPr>
            <a:r>
              <a:rPr sz="2475" b="1">
                <a:solidFill>
                  <a:srgbClr val="0B1F33"/>
                </a:solidFill>
                <a:latin typeface="Arial"/>
                <a:ea typeface="Arial"/>
                <a:cs typeface="Arial"/>
              </a:rPr>
              <a:t>Under the matched search budget, the clearest descriptive difference between prefiltered and full search appeared on Madelon. The pooled comparison was not statistically significant after correction, so recurrence elsewhere remains open.</a:t>
            </a:r>
          </a:p>
        </p:txBody>
      </p:sp>
      <p:sp>
        <p:nvSpPr>
          <p:cNvPr id="92" name="">
            <a:extLst xmlns:a="http://schemas.openxmlformats.org/drawingml/2006/main">
              <a:ext uri="{FF2B5EF4-FFF2-40B4-BE49-F238E27FC236}">
                <a16:creationId xmlns:a16="http://schemas.microsoft.com/office/drawing/2014/main" id="{550E4EC8-0AAA-46BA-A81D-E1C1C7EAD01D}"/>
              </a:ext>
            </a:extLst>
          </p:cNvPr>
          <p:cNvSpPr>
            <a:spLocks xmlns:a="http://schemas.openxmlformats.org/drawingml/2006/main" noGrp="1"/>
          </p:cNvSpPr>
          <p:nvPr/>
        </p:nvSpPr>
        <p:spPr>
          <a:xfrm xmlns:a="http://schemas.openxmlformats.org/drawingml/2006/main">
            <a:off x="0" y="24717375"/>
            <a:ext cx="42805350" cy="5562600"/>
          </a:xfrm>
          <a:prstGeom xmlns:a="http://schemas.openxmlformats.org/drawingml/2006/main" prst="rect">
            <a:avLst/>
          </a:prstGeom>
          <a:solidFill xmlns:a="http://schemas.openxmlformats.org/drawingml/2006/main">
            <a:srgbClr val="0B1F33"/>
          </a:solidFill>
          <a:ln xmlns:a="http://schemas.openxmlformats.org/drawingml/2006/main" w="0">
            <a:noFill/>
            <a:prstDash val="solid"/>
          </a:ln>
        </p:spPr>
      </p:sp>
      <p:sp>
        <p:nvSpPr>
          <p:cNvPr id="93" name="">
            <a:extLst xmlns:a="http://schemas.openxmlformats.org/drawingml/2006/main">
              <a:ext uri="{FF2B5EF4-FFF2-40B4-BE49-F238E27FC236}">
                <a16:creationId xmlns:a16="http://schemas.microsoft.com/office/drawing/2014/main" id="{FEDFD2B9-DC6C-4B57-9AC4-0C0FB0DF90C8}"/>
              </a:ext>
            </a:extLst>
          </p:cNvPr>
          <p:cNvSpPr>
            <a:spLocks xmlns:a="http://schemas.openxmlformats.org/drawingml/2006/main" noGrp="1"/>
          </p:cNvSpPr>
          <p:nvPr/>
        </p:nvSpPr>
        <p:spPr>
          <a:xfrm xmlns:a="http://schemas.openxmlformats.org/drawingml/2006/main">
            <a:off x="1524000" y="25212675"/>
            <a:ext cx="1047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925" b="1">
                <a:solidFill>
                  <a:srgbClr val="75D2C8"/>
                </a:solidFill>
                <a:latin typeface="Arial"/>
                <a:ea typeface="Arial"/>
                <a:cs typeface="Arial"/>
              </a:defRPr>
            </a:pPr>
            <a:r>
              <a:rPr sz="2925" b="1">
                <a:solidFill>
                  <a:srgbClr val="75D2C8"/>
                </a:solidFill>
                <a:latin typeface="Arial"/>
                <a:ea typeface="Arial"/>
                <a:cs typeface="Arial"/>
              </a:rPr>
              <a:t>THE PRACTICAL TAKEAWAY</a:t>
            </a:r>
          </a:p>
        </p:txBody>
      </p:sp>
      <p:sp>
        <p:nvSpPr>
          <p:cNvPr id="94" name="">
            <a:extLst xmlns:a="http://schemas.openxmlformats.org/drawingml/2006/main">
              <a:ext uri="{FF2B5EF4-FFF2-40B4-BE49-F238E27FC236}">
                <a16:creationId xmlns:a16="http://schemas.microsoft.com/office/drawing/2014/main" id="{178E457A-8C92-4546-B421-2F4DBC068CB7}"/>
              </a:ext>
            </a:extLst>
          </p:cNvPr>
          <p:cNvSpPr>
            <a:spLocks xmlns:a="http://schemas.openxmlformats.org/drawingml/2006/main" noGrp="1"/>
          </p:cNvSpPr>
          <p:nvPr/>
        </p:nvSpPr>
        <p:spPr>
          <a:xfrm xmlns:a="http://schemas.openxmlformats.org/drawingml/2006/main">
            <a:off x="1524000" y="25898475"/>
            <a:ext cx="23241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nSpc>
                <a:spcPct val="104000"/>
              </a:lnSpc>
              <a:buNone/>
              <a:defRPr sz="3525" b="1">
                <a:solidFill>
                  <a:srgbClr val="FFFFFF"/>
                </a:solidFill>
                <a:latin typeface="Arial"/>
                <a:ea typeface="Arial"/>
                <a:cs typeface="Arial"/>
              </a:defRPr>
            </a:pPr>
            <a:r>
              <a:rPr sz="3525" b="1">
                <a:solidFill>
                  <a:srgbClr val="FFFFFF"/>
                </a:solidFill>
                <a:latin typeface="Arial"/>
                <a:ea typeface="Arial"/>
                <a:cs typeface="Arial"/>
              </a:rPr>
              <a:t>An observed MinPPI value of −1 links a concrete threshold flip to an auditable removal candidate.</a:t>
            </a:r>
          </a:p>
        </p:txBody>
      </p:sp>
      <p:sp>
        <p:nvSpPr>
          <p:cNvPr id="95" name="">
            <a:extLst xmlns:a="http://schemas.openxmlformats.org/drawingml/2006/main">
              <a:ext uri="{FF2B5EF4-FFF2-40B4-BE49-F238E27FC236}">
                <a16:creationId xmlns:a16="http://schemas.microsoft.com/office/drawing/2014/main" id="{2C15FAD7-91BA-4C2B-A17A-8145BE9AC9F1}"/>
              </a:ext>
            </a:extLst>
          </p:cNvPr>
          <p:cNvSpPr>
            <a:spLocks xmlns:a="http://schemas.openxmlformats.org/drawingml/2006/main" noGrp="1"/>
          </p:cNvSpPr>
          <p:nvPr/>
        </p:nvSpPr>
        <p:spPr>
          <a:xfrm xmlns:a="http://schemas.openxmlformats.org/drawingml/2006/main">
            <a:off x="1524000" y="26984325"/>
            <a:ext cx="23241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550">
                <a:solidFill>
                  <a:srgbClr val="C7D5DD"/>
                </a:solidFill>
                <a:latin typeface="Arial"/>
                <a:ea typeface="Arial"/>
                <a:cs typeface="Arial"/>
              </a:defRPr>
            </a:pPr>
            <a:r>
              <a:rPr sz="2550">
                <a:solidFill>
                  <a:srgbClr val="C7D5DD"/>
                </a:solidFill>
                <a:latin typeface="Arial"/>
                <a:ea typeface="Arial"/>
                <a:cs typeface="Arial"/>
              </a:rPr>
              <a:t>Feature removal is validation-gated and inspectable, not automatic.</a:t>
            </a:r>
          </a:p>
        </p:txBody>
      </p:sp>
      <p:sp>
        <p:nvSpPr>
          <p:cNvPr id="96" name="">
            <a:extLst xmlns:a="http://schemas.openxmlformats.org/drawingml/2006/main">
              <a:ext uri="{FF2B5EF4-FFF2-40B4-BE49-F238E27FC236}">
                <a16:creationId xmlns:a16="http://schemas.microsoft.com/office/drawing/2014/main" id="{DCBCD24F-9906-42C8-A35F-58DD9F158EB5}"/>
              </a:ext>
            </a:extLst>
          </p:cNvPr>
          <p:cNvSpPr>
            <a:spLocks xmlns:a="http://schemas.openxmlformats.org/drawingml/2006/main" noGrp="1"/>
          </p:cNvSpPr>
          <p:nvPr/>
        </p:nvSpPr>
        <p:spPr>
          <a:xfrm xmlns:a="http://schemas.openxmlformats.org/drawingml/2006/main">
            <a:off x="26289000" y="25326975"/>
            <a:ext cx="28575" cy="2914650"/>
          </a:xfrm>
          <a:prstGeom xmlns:a="http://schemas.openxmlformats.org/drawingml/2006/main" prst="rect">
            <a:avLst/>
          </a:prstGeom>
          <a:solidFill xmlns:a="http://schemas.openxmlformats.org/drawingml/2006/main">
            <a:srgbClr val="486174"/>
          </a:solidFill>
          <a:ln xmlns:a="http://schemas.openxmlformats.org/drawingml/2006/main" w="0">
            <a:noFill/>
            <a:prstDash val="solid"/>
          </a:ln>
        </p:spPr>
      </p:sp>
      <p:sp>
        <p:nvSpPr>
          <p:cNvPr id="97" name="">
            <a:extLst xmlns:a="http://schemas.openxmlformats.org/drawingml/2006/main">
              <a:ext uri="{FF2B5EF4-FFF2-40B4-BE49-F238E27FC236}">
                <a16:creationId xmlns:a16="http://schemas.microsoft.com/office/drawing/2014/main" id="{47EC7460-D807-4349-9409-F3E1AFCB43A1}"/>
              </a:ext>
            </a:extLst>
          </p:cNvPr>
          <p:cNvSpPr>
            <a:spLocks xmlns:a="http://schemas.openxmlformats.org/drawingml/2006/main" noGrp="1"/>
          </p:cNvSpPr>
          <p:nvPr/>
        </p:nvSpPr>
        <p:spPr>
          <a:xfrm xmlns:a="http://schemas.openxmlformats.org/drawingml/2006/main">
            <a:off x="27241500" y="25212675"/>
            <a:ext cx="11430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925" b="1">
                <a:solidFill>
                  <a:srgbClr val="F4C567"/>
                </a:solidFill>
                <a:latin typeface="Arial"/>
                <a:ea typeface="Arial"/>
                <a:cs typeface="Arial"/>
              </a:defRPr>
            </a:pPr>
            <a:r>
              <a:rPr sz="2925" b="1">
                <a:solidFill>
                  <a:srgbClr val="F4C567"/>
                </a:solidFill>
                <a:latin typeface="Arial"/>
                <a:ea typeface="Arial"/>
                <a:cs typeface="Arial"/>
              </a:rPr>
              <a:t>WHERE THIS LEADS</a:t>
            </a:r>
          </a:p>
        </p:txBody>
      </p:sp>
      <p:sp>
        <p:nvSpPr>
          <p:cNvPr id="98" name="">
            <a:extLst xmlns:a="http://schemas.openxmlformats.org/drawingml/2006/main">
              <a:ext uri="{FF2B5EF4-FFF2-40B4-BE49-F238E27FC236}">
                <a16:creationId xmlns:a16="http://schemas.microsoft.com/office/drawing/2014/main" id="{1FEB5283-87C0-4547-A8B6-0C0B39020741}"/>
              </a:ext>
            </a:extLst>
          </p:cNvPr>
          <p:cNvSpPr>
            <a:spLocks xmlns:a="http://schemas.openxmlformats.org/drawingml/2006/main" noGrp="1"/>
          </p:cNvSpPr>
          <p:nvPr/>
        </p:nvSpPr>
        <p:spPr>
          <a:xfrm xmlns:a="http://schemas.openxmlformats.org/drawingml/2006/main">
            <a:off x="27241500" y="25917525"/>
            <a:ext cx="130492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nSpc>
                <a:spcPct val="122000"/>
              </a:lnSpc>
              <a:buNone/>
              <a:defRPr sz="2550">
                <a:solidFill>
                  <a:srgbClr val="E7EEF2"/>
                </a:solidFill>
                <a:latin typeface="Arial"/>
                <a:ea typeface="Arial"/>
                <a:cs typeface="Arial"/>
              </a:defRPr>
            </a:pPr>
            <a:r>
              <a:rPr sz="2550">
                <a:solidFill>
                  <a:srgbClr val="E7EEF2"/>
                </a:solidFill>
                <a:latin typeface="Arial"/>
                <a:ea typeface="Arial"/>
                <a:cs typeface="Arial"/>
              </a:rPr>
              <a:t>• Adaptive witness search</a:t>
            </a:r>
          </a:p>
          <a:p xmlns:a="http://schemas.openxmlformats.org/drawingml/2006/main">
            <a:pPr>
              <a:lnSpc>
                <a:spcPct val="122000"/>
              </a:lnSpc>
              <a:buNone/>
              <a:defRPr sz="2550">
                <a:solidFill>
                  <a:srgbClr val="E7EEF2"/>
                </a:solidFill>
                <a:latin typeface="Arial"/>
                <a:ea typeface="Arial"/>
                <a:cs typeface="Arial"/>
              </a:defRPr>
            </a:pPr>
            <a:r>
              <a:rPr sz="2550">
                <a:solidFill>
                  <a:srgbClr val="E7EEF2"/>
                </a:solidFill>
                <a:latin typeface="Arial"/>
                <a:ea typeface="Arial"/>
                <a:cs typeface="Arial"/>
              </a:rPr>
              <a:t>• Broader replication across models and domains</a:t>
            </a:r>
          </a:p>
          <a:p xmlns:a="http://schemas.openxmlformats.org/drawingml/2006/main">
            <a:pPr>
              <a:lnSpc>
                <a:spcPct val="122000"/>
              </a:lnSpc>
              <a:buNone/>
              <a:defRPr sz="2550">
                <a:solidFill>
                  <a:srgbClr val="E7EEF2"/>
                </a:solidFill>
                <a:latin typeface="Arial"/>
                <a:ea typeface="Arial"/>
                <a:cs typeface="Arial"/>
              </a:defRPr>
            </a:pPr>
            <a:r>
              <a:rPr sz="2550">
                <a:solidFill>
                  <a:srgbClr val="E7EEF2"/>
                </a:solidFill>
                <a:latin typeface="Arial"/>
                <a:ea typeface="Arial"/>
                <a:cs typeface="Arial"/>
              </a:rPr>
              <a:t>• Stronger leakage screening</a:t>
            </a:r>
          </a:p>
        </p:txBody>
      </p:sp>
      <p:sp>
        <p:nvSpPr>
          <p:cNvPr id="99" name="">
            <a:extLst xmlns:a="http://schemas.openxmlformats.org/drawingml/2006/main">
              <a:ext uri="{FF2B5EF4-FFF2-40B4-BE49-F238E27FC236}">
                <a16:creationId xmlns:a16="http://schemas.microsoft.com/office/drawing/2014/main" id="{CD51104B-795B-4E32-8297-E91A6B6310D4}"/>
              </a:ext>
            </a:extLst>
          </p:cNvPr>
          <p:cNvSpPr>
            <a:spLocks xmlns:a="http://schemas.openxmlformats.org/drawingml/2006/main" noGrp="1"/>
          </p:cNvSpPr>
          <p:nvPr/>
        </p:nvSpPr>
        <p:spPr>
          <a:xfrm xmlns:a="http://schemas.openxmlformats.org/drawingml/2006/main">
            <a:off x="1524000" y="28717875"/>
            <a:ext cx="39766875" cy="19050"/>
          </a:xfrm>
          <a:prstGeom xmlns:a="http://schemas.openxmlformats.org/drawingml/2006/main" prst="rect">
            <a:avLst/>
          </a:prstGeom>
          <a:solidFill xmlns:a="http://schemas.openxmlformats.org/drawingml/2006/main">
            <a:srgbClr val="486174"/>
          </a:solidFill>
          <a:ln xmlns:a="http://schemas.openxmlformats.org/drawingml/2006/main" w="0">
            <a:noFill/>
            <a:prstDash val="solid"/>
          </a:ln>
        </p:spPr>
      </p:sp>
      <p:sp>
        <p:nvSpPr>
          <p:cNvPr id="100" name="">
            <a:extLst xmlns:a="http://schemas.openxmlformats.org/drawingml/2006/main">
              <a:ext uri="{FF2B5EF4-FFF2-40B4-BE49-F238E27FC236}">
                <a16:creationId xmlns:a16="http://schemas.microsoft.com/office/drawing/2014/main" id="{7D9BB0F0-A692-4FF9-98B9-241F1B79A906}"/>
              </a:ext>
            </a:extLst>
          </p:cNvPr>
          <p:cNvSpPr>
            <a:spLocks xmlns:a="http://schemas.openxmlformats.org/drawingml/2006/main" noGrp="1"/>
          </p:cNvSpPr>
          <p:nvPr/>
        </p:nvSpPr>
        <p:spPr>
          <a:xfrm xmlns:a="http://schemas.openxmlformats.org/drawingml/2006/main">
            <a:off x="1524000" y="28984575"/>
            <a:ext cx="3714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75D2C8"/>
                </a:solidFill>
                <a:latin typeface="Arial"/>
                <a:ea typeface="Arial"/>
                <a:cs typeface="Arial"/>
              </a:defRPr>
            </a:pPr>
            <a:r>
              <a:rPr sz="2400" b="1">
                <a:solidFill>
                  <a:srgbClr val="75D2C8"/>
                </a:solidFill>
                <a:latin typeface="Arial"/>
                <a:ea typeface="Arial"/>
                <a:cs typeface="Arial"/>
              </a:rPr>
              <a:t>SCOPE &amp; INTEGRITY</a:t>
            </a:r>
          </a:p>
        </p:txBody>
      </p:sp>
      <p:sp>
        <p:nvSpPr>
          <p:cNvPr id="101" name="">
            <a:extLst xmlns:a="http://schemas.openxmlformats.org/drawingml/2006/main">
              <a:ext uri="{FF2B5EF4-FFF2-40B4-BE49-F238E27FC236}">
                <a16:creationId xmlns:a16="http://schemas.microsoft.com/office/drawing/2014/main" id="{205AA3DB-F076-45C7-AA27-E19A66F76869}"/>
              </a:ext>
            </a:extLst>
          </p:cNvPr>
          <p:cNvSpPr>
            <a:spLocks xmlns:a="http://schemas.openxmlformats.org/drawingml/2006/main" noGrp="1"/>
          </p:cNvSpPr>
          <p:nvPr/>
        </p:nvSpPr>
        <p:spPr>
          <a:xfrm xmlns:a="http://schemas.openxmlformats.org/drawingml/2006/main">
            <a:off x="4857750" y="28889325"/>
            <a:ext cx="364331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a:solidFill>
                  <a:srgbClr val="C7D5DD"/>
                </a:solidFill>
                <a:latin typeface="Arial"/>
                <a:ea typeface="Arial"/>
                <a:cs typeface="Arial"/>
              </a:defRPr>
            </a:pPr>
            <a:r>
              <a:rPr sz="2325">
                <a:solidFill>
                  <a:srgbClr val="C7D5DD"/>
                </a:solidFill>
                <a:latin typeface="Arial"/>
                <a:ea typeface="Arial"/>
                <a:cs typeface="Arial"/>
              </a:rPr>
              <a:t>Six retained benchmarks · five frozen seeds · one XGBoost model family.</a:t>
            </a:r>
          </a:p>
          <a:p xmlns:a="http://schemas.openxmlformats.org/drawingml/2006/main">
            <a:pPr>
              <a:defRPr sz="2325">
                <a:solidFill>
                  <a:srgbClr val="C7D5DD"/>
                </a:solidFill>
                <a:latin typeface="Arial"/>
                <a:ea typeface="Arial"/>
                <a:cs typeface="Arial"/>
              </a:defRPr>
            </a:pPr>
            <a:r>
              <a:rPr sz="2325">
                <a:solidFill>
                  <a:srgbClr val="C7D5DD"/>
                </a:solidFill>
                <a:latin typeface="Arial"/>
                <a:ea typeface="Arial"/>
                <a:cs typeface="Arial"/>
              </a:rPr>
              <a:t>Communities &amp; Crime was excluded post hoc for outcome-component leakage; all aggregates were recomputed.</a:t>
            </a:r>
          </a:p>
        </p:txBody>
      </p:sp>
    </p:spTree>
    <p:extLst>
      <p:ext uri="{BB962C8B-B14F-4D97-AF65-F5344CB8AC3E}">
        <p14:creationId xmlns:p14="http://schemas.microsoft.com/office/powerpoint/2010/main" val="209819708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2026-08-22T08:52:59.1450000Z</dcterms:created>
  <dcterms:modified xsi:type="dcterms:W3CDTF">2026-08-22T08:52:59.1450000Z</dcterms:modified>
</coreProperties>
</file>